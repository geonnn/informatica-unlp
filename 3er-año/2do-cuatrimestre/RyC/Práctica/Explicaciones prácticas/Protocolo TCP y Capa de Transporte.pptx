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Fira Code SemiBold"/>
      <p:regular r:id="rId26"/>
      <p:bold r:id="rId27"/>
    </p:embeddedFont>
    <p:embeddedFont>
      <p:font typeface="Fira Code"/>
      <p:regular r:id="rId28"/>
      <p:bold r:id="rId29"/>
    </p:embeddedFont>
    <p:embeddedFont>
      <p:font typeface="Inter Medium"/>
      <p:regular r:id="rId30"/>
      <p:bold r:id="rId31"/>
      <p:italic r:id="rId32"/>
      <p:boldItalic r:id="rId33"/>
    </p:embeddedFont>
    <p:embeddedFont>
      <p:font typeface="Space Grotesk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CodeSemiBold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FiraCode-regular.fntdata"/><Relationship Id="rId27" Type="http://schemas.openxmlformats.org/officeDocument/2006/relationships/font" Target="fonts/FiraCode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SpaceGrotesk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a4ed16c3e4c83f9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a4ed16c3e4c83f9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a4ed16c3e4c83f9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a4ed16c3e4c83f9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a4ed16c3e4c83f9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a4ed16c3e4c83f9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a4ed16c3e4c83f9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a4ed16c3e4c83f9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a4ed16c3e4c83f9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a4ed16c3e4c83f9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a4ed16c3e4c83f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a4ed16c3e4c83f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a4ed16c3e4c83f9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a4ed16c3e4c83f9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a4ed16c3e4c83f9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a4ed16c3e4c83f9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a4ed16c3e4c83f9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a4ed16c3e4c83f9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a4ed16c3e4c83f9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ha4ed16c3e4c83f9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a4ed16c3e4c83f9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ha4ed16c3e4c83f9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a4ed16c3e4c83f9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ha4ed16c3e4c83f9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a4ed16c3e4c83f9_13_0)">
  <p:cSld name="Generated (ha4ed16c3e4c83f9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609600" y="571500"/>
            <a:ext cx="609600" cy="228600"/>
            <a:chOff x="38100" y="38100"/>
            <a:chExt cx="609600" cy="228600"/>
          </a:xfrm>
        </p:grpSpPr>
        <p:sp>
          <p:nvSpPr>
            <p:cNvPr id="58" name="Google Shape;58;p14"/>
            <p:cNvSpPr/>
            <p:nvPr/>
          </p:nvSpPr>
          <p:spPr>
            <a:xfrm>
              <a:off x="38100" y="38100"/>
              <a:ext cx="228600" cy="2286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114300" y="114300"/>
              <a:ext cx="76200" cy="762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266700" y="152400"/>
              <a:ext cx="1524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2857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419100" y="38100"/>
              <a:ext cx="228600" cy="2286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495300" y="1143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4"/>
          <p:cNvSpPr/>
          <p:nvPr/>
        </p:nvSpPr>
        <p:spPr>
          <a:xfrm>
            <a:off x="571500" y="1238250"/>
            <a:ext cx="762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571500" y="1485900"/>
            <a:ext cx="1714500" cy="247800"/>
          </a:xfrm>
          <a:prstGeom prst="roundRect">
            <a:avLst>
              <a:gd fmla="val 15384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685800" y="154305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825">
                <a:solidFill>
                  <a:srgbClr val="2563E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CAPA 4 | TRANSPORTE</a:t>
            </a:r>
            <a:endParaRPr b="0" sz="825">
              <a:solidFill>
                <a:srgbClr val="2563EB"/>
              </a:solidFill>
              <a:latin typeface="Fira Code SemiBold"/>
              <a:ea typeface="Fira Code SemiBold"/>
              <a:cs typeface="Fira Code SemiBold"/>
              <a:sym typeface="Fira Code SemiBold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71500" y="1905000"/>
            <a:ext cx="4000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7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Capa de Transporte</a:t>
            </a:r>
            <a:endParaRPr b="1" sz="27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71500" y="2419500"/>
            <a:ext cx="3810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Fundamentos, funcionamiento y diagnóstico</a:t>
            </a:r>
            <a:r>
              <a:rPr lang="es-419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 b="0" sz="12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4572000" y="1238250"/>
            <a:ext cx="4000500" cy="2381400"/>
            <a:chOff x="-95250" y="-95250"/>
            <a:chExt cx="4000500" cy="2381400"/>
          </a:xfrm>
        </p:grpSpPr>
        <p:sp>
          <p:nvSpPr>
            <p:cNvPr id="69" name="Google Shape;69;p14"/>
            <p:cNvSpPr/>
            <p:nvPr/>
          </p:nvSpPr>
          <p:spPr>
            <a:xfrm>
              <a:off x="-95250" y="-95250"/>
              <a:ext cx="4000500" cy="23814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" name="Google Shape;70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3810000" cy="2143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0" y="0"/>
            <a:ext cx="1143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571500" y="33337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Función de la Capa de Transporte</a:t>
            </a:r>
            <a:endParaRPr b="1" sz="195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571500" y="1000125"/>
            <a:ext cx="3905400" cy="1190700"/>
            <a:chOff x="0" y="0"/>
            <a:chExt cx="3905400" cy="119070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3905400" cy="1190700"/>
            </a:xfrm>
            <a:prstGeom prst="roundRect">
              <a:avLst>
                <a:gd fmla="val 64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0" y="0"/>
              <a:ext cx="38100" cy="11907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190500" y="152400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2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Rol Principal</a:t>
              </a:r>
              <a:endParaRPr b="0" sz="12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Proveer </a:t>
              </a:r>
              <a:r>
                <a:rPr b="0" lang="es-419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comunicación lógica</a:t>
              </a:r>
              <a:r>
                <a:rPr b="0" lang="es-419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entre procesos de aplicación que se ejecutan en diferentes hosts dentro de la red.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571500" y="2333625"/>
            <a:ext cx="3905400" cy="2238300"/>
            <a:chOff x="0" y="0"/>
            <a:chExt cx="3905400" cy="2238300"/>
          </a:xfrm>
        </p:grpSpPr>
        <p:sp>
          <p:nvSpPr>
            <p:cNvPr id="83" name="Google Shape;83;p15"/>
            <p:cNvSpPr/>
            <p:nvPr/>
          </p:nvSpPr>
          <p:spPr>
            <a:xfrm>
              <a:off x="0" y="0"/>
              <a:ext cx="3905400" cy="2238300"/>
            </a:xfrm>
            <a:prstGeom prst="roundRect">
              <a:avLst>
                <a:gd fmla="val 340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90500" y="152400"/>
              <a:ext cx="3524400" cy="19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Unidad de Datos de Protocolo (PDU)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975">
                  <a:solidFill>
                    <a:srgbClr val="2563EB"/>
                  </a:solidFill>
                  <a:highlight>
                    <a:srgbClr val="EFF6FF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Protocolo TCP → Segmento</a:t>
              </a:r>
              <a:endParaRPr b="0" sz="975">
                <a:solidFill>
                  <a:srgbClr val="2563EB"/>
                </a:solidFill>
                <a:highlight>
                  <a:srgbClr val="EFF6FF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475569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En esta capa, la PDU se denomina formalmente </a:t>
              </a:r>
              <a:r>
                <a:rPr b="0" lang="es-419" sz="900">
                  <a:solidFill>
                    <a:srgbClr val="0F172A"/>
                  </a:solidFill>
                  <a:highlight>
                    <a:srgbClr val="EFF6FF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"segmento"</a:t>
              </a:r>
              <a:r>
                <a:rPr b="0" lang="es-419" sz="900">
                  <a:solidFill>
                    <a:srgbClr val="475569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 cuando opera bajo TCP.</a:t>
              </a:r>
              <a:endParaRPr b="0" sz="900">
                <a:solidFill>
                  <a:srgbClr val="475569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-419" sz="975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Protocolo UDP → Datagrama</a:t>
              </a:r>
              <a:endParaRPr b="0" sz="975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475569"/>
                  </a:solidFill>
                  <a:highlight>
                    <a:srgbClr val="FEF3C7"/>
                  </a:highlight>
                  <a:latin typeface="Inter"/>
                  <a:ea typeface="Inter"/>
                  <a:cs typeface="Inter"/>
                  <a:sym typeface="Inter"/>
                </a:rPr>
                <a:t>En algunos contextos técnicos se utiliza el término </a:t>
              </a:r>
              <a:r>
                <a:rPr b="0" lang="es-419" sz="900">
                  <a:solidFill>
                    <a:srgbClr val="0F172A"/>
                  </a:solidFill>
                  <a:highlight>
                    <a:srgbClr val="FEF3C7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"datagrama"</a:t>
              </a:r>
              <a:r>
                <a:rPr b="0" lang="es-419" sz="900">
                  <a:solidFill>
                    <a:srgbClr val="475569"/>
                  </a:solidFill>
                  <a:highlight>
                    <a:srgbClr val="FEF3C7"/>
                  </a:highlight>
                  <a:latin typeface="Inter"/>
                  <a:ea typeface="Inter"/>
                  <a:cs typeface="Inter"/>
                  <a:sym typeface="Inter"/>
                </a:rPr>
                <a:t> específicamente para indicar el uso de UDP.</a:t>
              </a:r>
              <a:endParaRPr b="0" sz="900">
                <a:solidFill>
                  <a:srgbClr val="475569"/>
                </a:solidFill>
                <a:highlight>
                  <a:srgbClr val="FEF3C7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4667250" y="1000125"/>
            <a:ext cx="3905400" cy="3571800"/>
            <a:chOff x="0" y="0"/>
            <a:chExt cx="3905400" cy="3571800"/>
          </a:xfrm>
        </p:grpSpPr>
        <p:pic>
          <p:nvPicPr>
            <p:cNvPr id="86" name="Google Shape;8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905400" cy="2928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" name="Google Shape;87;p15"/>
            <p:cNvGrpSpPr/>
            <p:nvPr/>
          </p:nvGrpSpPr>
          <p:grpSpPr>
            <a:xfrm>
              <a:off x="0" y="3048000"/>
              <a:ext cx="3905400" cy="523800"/>
              <a:chOff x="0" y="0"/>
              <a:chExt cx="3905400" cy="5238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905400" cy="523800"/>
              </a:xfrm>
              <a:prstGeom prst="roundRect">
                <a:avLst>
                  <a:gd fmla="val 10909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142875" y="95250"/>
                <a:ext cx="3619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Mapeo de la Capa de Transporte entre la arquitectura del Modelo OSI (7 Capas) y el Modelo TCP/IP (4 Capas).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5" name="Google Shape;95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16"/>
            <p:cNvGrpSpPr/>
            <p:nvPr/>
          </p:nvGrpSpPr>
          <p:grpSpPr>
            <a:xfrm>
              <a:off x="0" y="0"/>
              <a:ext cx="9144000" cy="57300"/>
              <a:chOff x="0" y="0"/>
              <a:chExt cx="9144000" cy="57300"/>
            </a:xfrm>
          </p:grpSpPr>
          <p:sp>
            <p:nvSpPr>
              <p:cNvPr id="97" name="Google Shape;97;p16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6"/>
              <p:cNvSpPr/>
              <p:nvPr/>
            </p:nvSpPr>
            <p:spPr>
              <a:xfrm>
                <a:off x="0" y="0"/>
                <a:ext cx="1143000" cy="5730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9" name="Google Shape;99;p16"/>
          <p:cNvGrpSpPr/>
          <p:nvPr/>
        </p:nvGrpSpPr>
        <p:grpSpPr>
          <a:xfrm>
            <a:off x="571500" y="457200"/>
            <a:ext cx="8001000" cy="447600"/>
            <a:chOff x="0" y="0"/>
            <a:chExt cx="8001000" cy="447600"/>
          </a:xfrm>
        </p:grpSpPr>
        <p:sp>
          <p:nvSpPr>
            <p:cNvPr id="100" name="Google Shape;100;p16"/>
            <p:cNvSpPr txBox="1"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95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Características Principales del Protocolo TCP</a:t>
              </a:r>
              <a:endParaRPr b="1" sz="19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0" y="419100"/>
              <a:ext cx="571500" cy="285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571500" y="1066800"/>
            <a:ext cx="8001000" cy="609600"/>
            <a:chOff x="0" y="0"/>
            <a:chExt cx="8001000" cy="6096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8001000" cy="609600"/>
            </a:xfrm>
            <a:prstGeom prst="roundRect">
              <a:avLst>
                <a:gd fmla="val 937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190500" y="11430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El protocolo TCP se destaca por ser un mecanismo de transporte altamente confiable para la transmisión de datos. Es un protocolo </a:t>
              </a:r>
              <a:r>
                <a:rPr b="1" lang="es-419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orientado a la conexión</a:t>
              </a:r>
              <a:r>
                <a:rPr b="0" lang="es-419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lo que garantiza que los datos lleguen a su destino de manera estructurada.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571500" y="1866900"/>
            <a:ext cx="8001000" cy="2705100"/>
            <a:chOff x="0" y="0"/>
            <a:chExt cx="8001000" cy="2705100"/>
          </a:xfrm>
        </p:grpSpPr>
        <p:grpSp>
          <p:nvGrpSpPr>
            <p:cNvPr id="106" name="Google Shape;106;p16"/>
            <p:cNvGrpSpPr/>
            <p:nvPr/>
          </p:nvGrpSpPr>
          <p:grpSpPr>
            <a:xfrm>
              <a:off x="0" y="0"/>
              <a:ext cx="8001000" cy="800100"/>
              <a:chOff x="0" y="0"/>
              <a:chExt cx="8001000" cy="800100"/>
            </a:xfrm>
          </p:grpSpPr>
          <p:sp>
            <p:nvSpPr>
              <p:cNvPr id="107" name="Google Shape;107;p16"/>
              <p:cNvSpPr/>
              <p:nvPr/>
            </p:nvSpPr>
            <p:spPr>
              <a:xfrm>
                <a:off x="0" y="0"/>
                <a:ext cx="8001000" cy="800100"/>
              </a:xfrm>
              <a:prstGeom prst="roundRect">
                <a:avLst>
                  <a:gd fmla="val 952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0" y="0"/>
                <a:ext cx="38100" cy="800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190500" y="247650"/>
                <a:ext cx="304800" cy="304800"/>
              </a:xfrm>
              <a:prstGeom prst="ellipse">
                <a:avLst/>
              </a:prstGeom>
              <a:solidFill>
                <a:srgbClr val="E0E7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6"/>
              <p:cNvSpPr/>
              <p:nvPr/>
            </p:nvSpPr>
            <p:spPr>
              <a:xfrm>
                <a:off x="266700" y="352425"/>
                <a:ext cx="152400" cy="95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60000"/>
                    </a:moveTo>
                    <a:lnTo>
                      <a:pt x="37500" y="60000"/>
                    </a:lnTo>
                    <a:moveTo>
                      <a:pt x="82500" y="60000"/>
                    </a:moveTo>
                    <a:lnTo>
                      <a:pt x="120000" y="60000"/>
                    </a:lnTo>
                    <a:moveTo>
                      <a:pt x="37500" y="0"/>
                    </a:moveTo>
                    <a:lnTo>
                      <a:pt x="82500" y="120000"/>
                    </a:lnTo>
                    <a:moveTo>
                      <a:pt x="37500" y="120000"/>
                    </a:moveTo>
                    <a:lnTo>
                      <a:pt x="82500" y="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6"/>
              <p:cNvSpPr txBox="1"/>
              <p:nvPr/>
            </p:nvSpPr>
            <p:spPr>
              <a:xfrm>
                <a:off x="647700" y="152400"/>
                <a:ext cx="714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111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 Fiabilidad y Orientación a Conexión</a:t>
                </a:r>
                <a:endParaRPr b="0" sz="111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s-419" sz="902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Establece una conexión previa mediante un saludo de tres vías (handshake), asegurando un transporte altamente confiable y la entrega estructurada e íntegra de paquetes de datos.</a:t>
                </a:r>
                <a:endParaRPr b="0" sz="902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" name="Google Shape;112;p16"/>
            <p:cNvGrpSpPr/>
            <p:nvPr/>
          </p:nvGrpSpPr>
          <p:grpSpPr>
            <a:xfrm>
              <a:off x="0" y="952500"/>
              <a:ext cx="8001000" cy="800100"/>
              <a:chOff x="0" y="0"/>
              <a:chExt cx="8001000" cy="800100"/>
            </a:xfrm>
          </p:grpSpPr>
          <p:sp>
            <p:nvSpPr>
              <p:cNvPr id="113" name="Google Shape;113;p16"/>
              <p:cNvSpPr/>
              <p:nvPr/>
            </p:nvSpPr>
            <p:spPr>
              <a:xfrm>
                <a:off x="0" y="0"/>
                <a:ext cx="8001000" cy="800100"/>
              </a:xfrm>
              <a:prstGeom prst="roundRect">
                <a:avLst>
                  <a:gd fmla="val 952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6"/>
              <p:cNvSpPr/>
              <p:nvPr/>
            </p:nvSpPr>
            <p:spPr>
              <a:xfrm>
                <a:off x="0" y="0"/>
                <a:ext cx="38100" cy="800100"/>
              </a:xfrm>
              <a:prstGeom prst="roundRect">
                <a:avLst>
                  <a:gd fmla="val 50000" name="adj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190500" y="247650"/>
                <a:ext cx="304800" cy="304800"/>
              </a:xfrm>
              <a:prstGeom prst="ellipse">
                <a:avLst/>
              </a:prstGeom>
              <a:solidFill>
                <a:srgbClr val="FEF3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6"/>
              <p:cNvSpPr/>
              <p:nvPr/>
            </p:nvSpPr>
            <p:spPr>
              <a:xfrm>
                <a:off x="247650" y="285750"/>
                <a:ext cx="190500" cy="152400"/>
              </a:xfrm>
              <a:custGeom>
                <a:rect b="b" l="l" r="r" t="t"/>
                <a:pathLst>
                  <a:path extrusionOk="0" h="120000" w="120000">
                    <a:moveTo>
                      <a:pt x="12000" y="120000"/>
                    </a:moveTo>
                    <a:cubicBezTo>
                      <a:pt x="-6565" y="89058"/>
                      <a:pt x="-3262" y="45544"/>
                      <a:pt x="19627" y="19519"/>
                    </a:cubicBezTo>
                    <a:cubicBezTo>
                      <a:pt x="42516" y="-6506"/>
                      <a:pt x="77484" y="-6506"/>
                      <a:pt x="100373" y="19519"/>
                    </a:cubicBezTo>
                    <a:cubicBezTo>
                      <a:pt x="123262" y="45544"/>
                      <a:pt x="126565" y="89058"/>
                      <a:pt x="108000" y="12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59E0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342900" y="333375"/>
                <a:ext cx="47700" cy="666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12000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F59E0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6"/>
              <p:cNvSpPr txBox="1"/>
              <p:nvPr/>
            </p:nvSpPr>
            <p:spPr>
              <a:xfrm>
                <a:off x="647700" y="152400"/>
                <a:ext cx="714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1110">
                    <a:solidFill>
                      <a:srgbClr val="D9770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 Control de Flujo y Congestión</a:t>
                </a:r>
                <a:endParaRPr b="0" sz="111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s-419" sz="902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Implementa mecanismos rigurosos de control de congestión y ventana deslizante para evitar la saturación del canal y optimizar el rendimiento en la red.</a:t>
                </a:r>
                <a:endParaRPr b="0" sz="902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9" name="Google Shape;119;p16"/>
            <p:cNvGrpSpPr/>
            <p:nvPr/>
          </p:nvGrpSpPr>
          <p:grpSpPr>
            <a:xfrm>
              <a:off x="0" y="1905000"/>
              <a:ext cx="8001000" cy="800100"/>
              <a:chOff x="0" y="0"/>
              <a:chExt cx="8001000" cy="800100"/>
            </a:xfrm>
          </p:grpSpPr>
          <p:sp>
            <p:nvSpPr>
              <p:cNvPr id="120" name="Google Shape;120;p16"/>
              <p:cNvSpPr/>
              <p:nvPr/>
            </p:nvSpPr>
            <p:spPr>
              <a:xfrm>
                <a:off x="0" y="0"/>
                <a:ext cx="8001000" cy="800100"/>
              </a:xfrm>
              <a:prstGeom prst="roundRect">
                <a:avLst>
                  <a:gd fmla="val 952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/>
              <p:nvPr/>
            </p:nvSpPr>
            <p:spPr>
              <a:xfrm>
                <a:off x="0" y="0"/>
                <a:ext cx="38100" cy="800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6"/>
              <p:cNvSpPr/>
              <p:nvPr/>
            </p:nvSpPr>
            <p:spPr>
              <a:xfrm>
                <a:off x="190500" y="247650"/>
                <a:ext cx="304800" cy="304800"/>
              </a:xfrm>
              <a:prstGeom prst="ellipse">
                <a:avLst/>
              </a:prstGeom>
              <a:solidFill>
                <a:srgbClr val="E0E7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257175" y="32385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6"/>
              <p:cNvSpPr/>
              <p:nvPr/>
            </p:nvSpPr>
            <p:spPr>
              <a:xfrm>
                <a:off x="257175" y="41910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/>
              <p:nvPr/>
            </p:nvSpPr>
            <p:spPr>
              <a:xfrm>
                <a:off x="371475" y="371475"/>
                <a:ext cx="57300" cy="573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6"/>
              <p:cNvSpPr/>
              <p:nvPr/>
            </p:nvSpPr>
            <p:spPr>
              <a:xfrm>
                <a:off x="314325" y="352425"/>
                <a:ext cx="57300" cy="95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60000"/>
                    </a:lnTo>
                    <a:moveTo>
                      <a:pt x="0" y="12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647700" y="152400"/>
                <a:ext cx="714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111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 Multiplexación de Sockets</a:t>
                </a:r>
                <a:endParaRPr b="0" sz="111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s-419" sz="902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Permite gestionar múltiples comunicaciones simultáneas hacia diferentes aplicaciones en el mismo host mediante el uso de puertos y números de socket.</a:t>
                </a:r>
                <a:endParaRPr b="0" sz="902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0" y="0"/>
            <a:ext cx="9144000" cy="57300"/>
            <a:chOff x="0" y="0"/>
            <a:chExt cx="9144000" cy="573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0" y="0"/>
              <a:ext cx="1143000" cy="573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7"/>
          <p:cNvSpPr txBox="1"/>
          <p:nvPr/>
        </p:nvSpPr>
        <p:spPr>
          <a:xfrm>
            <a:off x="571500" y="3810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Estructura y Parámetros del Segmento TCP</a:t>
            </a:r>
            <a:endParaRPr b="1" sz="195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37" name="Google Shape;137;p17"/>
          <p:cNvGrpSpPr/>
          <p:nvPr/>
        </p:nvGrpSpPr>
        <p:grpSpPr>
          <a:xfrm>
            <a:off x="571500" y="1047750"/>
            <a:ext cx="3905400" cy="3524400"/>
            <a:chOff x="0" y="0"/>
            <a:chExt cx="3905400" cy="3524400"/>
          </a:xfrm>
        </p:grpSpPr>
        <p:sp>
          <p:nvSpPr>
            <p:cNvPr id="138" name="Google Shape;138;p17"/>
            <p:cNvSpPr txBox="1"/>
            <p:nvPr/>
          </p:nvSpPr>
          <p:spPr>
            <a:xfrm>
              <a:off x="0" y="0"/>
              <a:ext cx="390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 cabecera TCP contiene información vital para gestionar la conexión y garantizar una transmisión confiable.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9" name="Google Shape;139;p17"/>
            <p:cNvGrpSpPr/>
            <p:nvPr/>
          </p:nvGrpSpPr>
          <p:grpSpPr>
            <a:xfrm>
              <a:off x="0" y="619125"/>
              <a:ext cx="3905400" cy="666900"/>
              <a:chOff x="0" y="0"/>
              <a:chExt cx="3905400" cy="666900"/>
            </a:xfrm>
          </p:grpSpPr>
          <p:sp>
            <p:nvSpPr>
              <p:cNvPr id="140" name="Google Shape;140;p17"/>
              <p:cNvSpPr/>
              <p:nvPr/>
            </p:nvSpPr>
            <p:spPr>
              <a:xfrm>
                <a:off x="0" y="0"/>
                <a:ext cx="3905400" cy="666900"/>
              </a:xfrm>
              <a:prstGeom prst="roundRect">
                <a:avLst>
                  <a:gd fmla="val 857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7"/>
              <p:cNvSpPr/>
              <p:nvPr/>
            </p:nvSpPr>
            <p:spPr>
              <a:xfrm>
                <a:off x="0" y="0"/>
                <a:ext cx="38100" cy="6669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7"/>
              <p:cNvSpPr txBox="1"/>
              <p:nvPr/>
            </p:nvSpPr>
            <p:spPr>
              <a:xfrm>
                <a:off x="152400" y="95250"/>
                <a:ext cx="3619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71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ISN (Initial Sequence Number)</a:t>
                </a:r>
                <a:endParaRPr b="0" sz="971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s-419" sz="902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Número aleatorio que define el valor inicial de la secuencia de datos.</a:t>
                </a:r>
                <a:endParaRPr b="0" sz="902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3" name="Google Shape;143;p17"/>
            <p:cNvGrpSpPr/>
            <p:nvPr/>
          </p:nvGrpSpPr>
          <p:grpSpPr>
            <a:xfrm>
              <a:off x="0" y="1381125"/>
              <a:ext cx="3905400" cy="809700"/>
              <a:chOff x="0" y="0"/>
              <a:chExt cx="3905400" cy="809700"/>
            </a:xfrm>
          </p:grpSpPr>
          <p:sp>
            <p:nvSpPr>
              <p:cNvPr id="144" name="Google Shape;144;p17"/>
              <p:cNvSpPr/>
              <p:nvPr/>
            </p:nvSpPr>
            <p:spPr>
              <a:xfrm>
                <a:off x="0" y="0"/>
                <a:ext cx="39054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7"/>
              <p:cNvSpPr/>
              <p:nvPr/>
            </p:nvSpPr>
            <p:spPr>
              <a:xfrm>
                <a:off x="0" y="0"/>
                <a:ext cx="38100" cy="8097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7"/>
              <p:cNvSpPr txBox="1"/>
              <p:nvPr/>
            </p:nvSpPr>
            <p:spPr>
              <a:xfrm>
                <a:off x="152400" y="95250"/>
                <a:ext cx="3619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10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MSS (Maximum Segment Size)</a:t>
                </a:r>
                <a:endParaRPr b="0" sz="10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s-419" sz="97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Cantidad máxima de datos a transportar negociada en el establecimiento, basándose en el tamaño de frame (</a:t>
                </a:r>
                <a:r>
                  <a:rPr b="1" lang="es-419" sz="97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MTU</a:t>
                </a:r>
                <a:r>
                  <a:rPr b="0" lang="es-419" sz="97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).</a:t>
                </a:r>
                <a:endParaRPr b="0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7" name="Google Shape;147;p17"/>
            <p:cNvGrpSpPr/>
            <p:nvPr/>
          </p:nvGrpSpPr>
          <p:grpSpPr>
            <a:xfrm>
              <a:off x="0" y="2286000"/>
              <a:ext cx="3905400" cy="1238400"/>
              <a:chOff x="0" y="0"/>
              <a:chExt cx="3905400" cy="1238400"/>
            </a:xfrm>
          </p:grpSpPr>
          <p:sp>
            <p:nvSpPr>
              <p:cNvPr id="148" name="Google Shape;148;p17"/>
              <p:cNvSpPr/>
              <p:nvPr/>
            </p:nvSpPr>
            <p:spPr>
              <a:xfrm>
                <a:off x="0" y="0"/>
                <a:ext cx="3905400" cy="12384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7"/>
              <p:cNvSpPr/>
              <p:nvPr/>
            </p:nvSpPr>
            <p:spPr>
              <a:xfrm>
                <a:off x="0" y="0"/>
                <a:ext cx="38100" cy="1238400"/>
              </a:xfrm>
              <a:prstGeom prst="roundRect">
                <a:avLst>
                  <a:gd fmla="val 50000" name="adj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7"/>
              <p:cNvSpPr txBox="1"/>
              <p:nvPr/>
            </p:nvSpPr>
            <p:spPr>
              <a:xfrm>
                <a:off x="152400" y="95250"/>
                <a:ext cx="3619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10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Flags Fundamentales</a:t>
                </a:r>
                <a:endParaRPr b="0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s-419" sz="97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Controlan los distintos estados de la conexión durante la transmisión:</a:t>
                </a:r>
                <a:endParaRPr b="0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s-419" sz="975">
                    <a:solidFill>
                      <a:srgbClr val="2563EB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SYN · ACK · FIN · RST</a:t>
                </a:r>
                <a:endParaRPr b="0" sz="975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  <p:grpSp>
        <p:nvGrpSpPr>
          <p:cNvPr id="151" name="Google Shape;151;p17"/>
          <p:cNvGrpSpPr/>
          <p:nvPr/>
        </p:nvGrpSpPr>
        <p:grpSpPr>
          <a:xfrm>
            <a:off x="4762500" y="1047750"/>
            <a:ext cx="3810000" cy="3524400"/>
            <a:chOff x="0" y="0"/>
            <a:chExt cx="3810000" cy="35244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3810000" cy="3524400"/>
            </a:xfrm>
            <a:prstGeom prst="roundRect">
              <a:avLst>
                <a:gd fmla="val 2162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0" y="0"/>
              <a:ext cx="3810000" cy="304800"/>
            </a:xfrm>
            <a:prstGeom prst="roundRect">
              <a:avLst>
                <a:gd fmla="val 1875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0" y="247650"/>
              <a:ext cx="38100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114300" y="57150"/>
              <a:ext cx="35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DIAGRAMA DE CABECERA TCP (20 bytes + options)</a:t>
              </a:r>
              <a:endParaRPr b="1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156" name="Google Shape;156;p17"/>
            <p:cNvGrpSpPr/>
            <p:nvPr/>
          </p:nvGrpSpPr>
          <p:grpSpPr>
            <a:xfrm>
              <a:off x="95250" y="381000"/>
              <a:ext cx="3619500" cy="171600"/>
              <a:chOff x="0" y="0"/>
              <a:chExt cx="3619500" cy="171600"/>
            </a:xfrm>
          </p:grpSpPr>
          <p:sp>
            <p:nvSpPr>
              <p:cNvPr id="157" name="Google Shape;157;p17"/>
              <p:cNvSpPr/>
              <p:nvPr/>
            </p:nvSpPr>
            <p:spPr>
              <a:xfrm>
                <a:off x="0" y="0"/>
                <a:ext cx="3619500" cy="171600"/>
              </a:xfrm>
              <a:prstGeom prst="roundRect">
                <a:avLst>
                  <a:gd fmla="val 16666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7"/>
              <p:cNvSpPr txBox="1"/>
              <p:nvPr/>
            </p:nvSpPr>
            <p:spPr>
              <a:xfrm>
                <a:off x="0" y="19050"/>
                <a:ext cx="3619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76200" spcFirstLastPara="1" rIns="762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75"/>
              </a:p>
            </p:txBody>
          </p:sp>
        </p:grpSp>
        <p:grpSp>
          <p:nvGrpSpPr>
            <p:cNvPr id="159" name="Google Shape;159;p17"/>
            <p:cNvGrpSpPr/>
            <p:nvPr/>
          </p:nvGrpSpPr>
          <p:grpSpPr>
            <a:xfrm>
              <a:off x="95250" y="609600"/>
              <a:ext cx="3619425" cy="304800"/>
              <a:chOff x="0" y="0"/>
              <a:chExt cx="3619425" cy="304800"/>
            </a:xfrm>
          </p:grpSpPr>
          <p:sp>
            <p:nvSpPr>
              <p:cNvPr id="160" name="Google Shape;160;p17"/>
              <p:cNvSpPr/>
              <p:nvPr/>
            </p:nvSpPr>
            <p:spPr>
              <a:xfrm>
                <a:off x="0" y="0"/>
                <a:ext cx="17811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7"/>
              <p:cNvSpPr txBox="1"/>
              <p:nvPr/>
            </p:nvSpPr>
            <p:spPr>
              <a:xfrm>
                <a:off x="47625" y="57150"/>
                <a:ext cx="1686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Puerto Origen</a:t>
                </a:r>
                <a:endParaRPr sz="8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1838325" y="0"/>
                <a:ext cx="17811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1885950" y="57150"/>
                <a:ext cx="1686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Puerto Destino</a:t>
                </a:r>
                <a:endParaRPr sz="8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4" name="Google Shape;164;p17"/>
            <p:cNvGrpSpPr/>
            <p:nvPr/>
          </p:nvGrpSpPr>
          <p:grpSpPr>
            <a:xfrm>
              <a:off x="95250" y="971550"/>
              <a:ext cx="3619500" cy="342900"/>
              <a:chOff x="0" y="0"/>
              <a:chExt cx="3619500" cy="342900"/>
            </a:xfrm>
          </p:grpSpPr>
          <p:sp>
            <p:nvSpPr>
              <p:cNvPr id="165" name="Google Shape;165;p17"/>
              <p:cNvSpPr/>
              <p:nvPr/>
            </p:nvSpPr>
            <p:spPr>
              <a:xfrm>
                <a:off x="0" y="0"/>
                <a:ext cx="3619500" cy="342900"/>
              </a:xfrm>
              <a:prstGeom prst="roundRect">
                <a:avLst>
                  <a:gd fmla="val 5555" name="adj"/>
                </a:avLst>
              </a:prstGeom>
              <a:solidFill>
                <a:srgbClr val="EFF6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7"/>
              <p:cNvSpPr txBox="1"/>
              <p:nvPr/>
            </p:nvSpPr>
            <p:spPr>
              <a:xfrm>
                <a:off x="95250" y="76200"/>
                <a:ext cx="3429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0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Número de Secuencia (ISN)</a:t>
                </a:r>
                <a:endParaRPr b="0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67" name="Google Shape;167;p17"/>
            <p:cNvGrpSpPr/>
            <p:nvPr/>
          </p:nvGrpSpPr>
          <p:grpSpPr>
            <a:xfrm>
              <a:off x="95250" y="1371600"/>
              <a:ext cx="3619500" cy="304800"/>
              <a:chOff x="0" y="0"/>
              <a:chExt cx="3619500" cy="304800"/>
            </a:xfrm>
          </p:grpSpPr>
          <p:sp>
            <p:nvSpPr>
              <p:cNvPr id="168" name="Google Shape;168;p17"/>
              <p:cNvSpPr/>
              <p:nvPr/>
            </p:nvSpPr>
            <p:spPr>
              <a:xfrm>
                <a:off x="0" y="0"/>
                <a:ext cx="36195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95250" y="57150"/>
                <a:ext cx="3429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Número de Acuse de Recibo (ACK Number)</a:t>
                </a:r>
                <a:endParaRPr sz="8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0" name="Google Shape;170;p17"/>
            <p:cNvGrpSpPr/>
            <p:nvPr/>
          </p:nvGrpSpPr>
          <p:grpSpPr>
            <a:xfrm>
              <a:off x="813660" y="1733550"/>
              <a:ext cx="2901215" cy="514500"/>
              <a:chOff x="718410" y="0"/>
              <a:chExt cx="2901215" cy="514500"/>
            </a:xfrm>
          </p:grpSpPr>
          <p:sp>
            <p:nvSpPr>
              <p:cNvPr id="171" name="Google Shape;171;p17"/>
              <p:cNvSpPr/>
              <p:nvPr/>
            </p:nvSpPr>
            <p:spPr>
              <a:xfrm>
                <a:off x="718410" y="0"/>
                <a:ext cx="808500" cy="514500"/>
              </a:xfrm>
              <a:prstGeom prst="roundRect">
                <a:avLst>
                  <a:gd fmla="val 370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 txBox="1"/>
              <p:nvPr/>
            </p:nvSpPr>
            <p:spPr>
              <a:xfrm>
                <a:off x="829387" y="95175"/>
                <a:ext cx="6072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7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Data Offset / Reservado</a:t>
                </a:r>
                <a:endParaRPr sz="7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1575425" y="0"/>
                <a:ext cx="2044200" cy="514500"/>
              </a:xfrm>
              <a:prstGeom prst="roundRect">
                <a:avLst>
                  <a:gd fmla="val 7407" name="adj"/>
                </a:avLst>
              </a:prstGeom>
              <a:solidFill>
                <a:srgbClr val="FEF3C7"/>
              </a:solidFill>
              <a:ln cap="flat" cmpd="sng" w="19050">
                <a:solidFill>
                  <a:srgbClr val="F59E0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1838325" y="38100"/>
                <a:ext cx="1743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25">
                    <a:solidFill>
                      <a:srgbClr val="D9770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FLAGS DE CONTROL</a:t>
                </a:r>
                <a:endParaRPr b="1" sz="825">
                  <a:solidFill>
                    <a:srgbClr val="D97706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175" name="Google Shape;175;p17"/>
              <p:cNvGrpSpPr/>
              <p:nvPr/>
            </p:nvGrpSpPr>
            <p:grpSpPr>
              <a:xfrm>
                <a:off x="1655309" y="209550"/>
                <a:ext cx="1905150" cy="228600"/>
                <a:chOff x="493259" y="0"/>
                <a:chExt cx="1905150" cy="2286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93259" y="0"/>
                  <a:ext cx="304800" cy="228600"/>
                </a:xfrm>
                <a:prstGeom prst="roundRect">
                  <a:avLst>
                    <a:gd fmla="val 8333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FCD34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" name="Google Shape;177;p17"/>
                <p:cNvSpPr txBox="1"/>
                <p:nvPr/>
              </p:nvSpPr>
              <p:spPr>
                <a:xfrm>
                  <a:off x="493259" y="38100"/>
                  <a:ext cx="3048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419" sz="675">
                      <a:solidFill>
                        <a:srgbClr val="92400E"/>
                      </a:solidFill>
                      <a:latin typeface="Fira Code"/>
                      <a:ea typeface="Fira Code"/>
                      <a:cs typeface="Fira Code"/>
                      <a:sym typeface="Fira Code"/>
                    </a:rPr>
                    <a:t>URG</a:t>
                  </a:r>
                  <a:endParaRPr sz="675">
                    <a:solidFill>
                      <a:srgbClr val="92400E"/>
                    </a:solidFill>
                    <a:latin typeface="Fira Code"/>
                    <a:ea typeface="Fira Code"/>
                    <a:cs typeface="Fira Code"/>
                    <a:sym typeface="Fira Code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836159" y="0"/>
                  <a:ext cx="362100" cy="228600"/>
                </a:xfrm>
                <a:prstGeom prst="roundRect">
                  <a:avLst>
                    <a:gd fmla="val 8333" name="adj"/>
                  </a:avLst>
                </a:prstGeom>
                <a:solidFill>
                  <a:srgbClr val="2563E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" name="Google Shape;179;p17"/>
                <p:cNvSpPr txBox="1"/>
                <p:nvPr/>
              </p:nvSpPr>
              <p:spPr>
                <a:xfrm>
                  <a:off x="836159" y="38100"/>
                  <a:ext cx="3621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419" sz="750">
                      <a:solidFill>
                        <a:srgbClr val="FFFFFF"/>
                      </a:solidFill>
                      <a:latin typeface="Fira Code"/>
                      <a:ea typeface="Fira Code"/>
                      <a:cs typeface="Fira Code"/>
                      <a:sym typeface="Fira Code"/>
                    </a:rPr>
                    <a:t>ACK</a:t>
                  </a:r>
                  <a:endParaRPr b="1" sz="750">
                    <a:solidFill>
                      <a:srgbClr val="FFFFFF"/>
                    </a:solidFill>
                    <a:latin typeface="Fira Code"/>
                    <a:ea typeface="Fira Code"/>
                    <a:cs typeface="Fira Code"/>
                    <a:sym typeface="Fira Code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236209" y="0"/>
                  <a:ext cx="362100" cy="228600"/>
                </a:xfrm>
                <a:prstGeom prst="roundRect">
                  <a:avLst>
                    <a:gd fmla="val 8333" name="adj"/>
                  </a:avLst>
                </a:prstGeom>
                <a:solidFill>
                  <a:srgbClr val="EF444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" name="Google Shape;181;p17"/>
                <p:cNvSpPr txBox="1"/>
                <p:nvPr/>
              </p:nvSpPr>
              <p:spPr>
                <a:xfrm>
                  <a:off x="1236209" y="38100"/>
                  <a:ext cx="3621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419" sz="750">
                      <a:solidFill>
                        <a:srgbClr val="FFFFFF"/>
                      </a:solidFill>
                      <a:latin typeface="Fira Code"/>
                      <a:ea typeface="Fira Code"/>
                      <a:cs typeface="Fira Code"/>
                      <a:sym typeface="Fira Code"/>
                    </a:rPr>
                    <a:t>RST</a:t>
                  </a:r>
                  <a:endParaRPr b="1" sz="750">
                    <a:solidFill>
                      <a:srgbClr val="FFFFFF"/>
                    </a:solidFill>
                    <a:latin typeface="Fira Code"/>
                    <a:ea typeface="Fira Code"/>
                    <a:cs typeface="Fira Code"/>
                    <a:sym typeface="Fira Code"/>
                  </a:endParaRPr>
                </a:p>
              </p:txBody>
            </p:sp>
            <p:sp>
              <p:nvSpPr>
                <p:cNvPr id="182" name="Google Shape;182;p17"/>
                <p:cNvSpPr/>
                <p:nvPr/>
              </p:nvSpPr>
              <p:spPr>
                <a:xfrm>
                  <a:off x="1636259" y="0"/>
                  <a:ext cx="362100" cy="228600"/>
                </a:xfrm>
                <a:prstGeom prst="roundRect">
                  <a:avLst>
                    <a:gd fmla="val 8333" name="adj"/>
                  </a:avLst>
                </a:prstGeom>
                <a:solidFill>
                  <a:srgbClr val="2563E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" name="Google Shape;183;p17"/>
                <p:cNvSpPr txBox="1"/>
                <p:nvPr/>
              </p:nvSpPr>
              <p:spPr>
                <a:xfrm>
                  <a:off x="1636259" y="38100"/>
                  <a:ext cx="3621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419" sz="750">
                      <a:solidFill>
                        <a:srgbClr val="FFFFFF"/>
                      </a:solidFill>
                      <a:latin typeface="Fira Code"/>
                      <a:ea typeface="Fira Code"/>
                      <a:cs typeface="Fira Code"/>
                      <a:sym typeface="Fira Code"/>
                    </a:rPr>
                    <a:t>SYN</a:t>
                  </a:r>
                  <a:endParaRPr b="1" sz="750">
                    <a:solidFill>
                      <a:srgbClr val="FFFFFF"/>
                    </a:solidFill>
                    <a:latin typeface="Fira Code"/>
                    <a:ea typeface="Fira Code"/>
                    <a:cs typeface="Fira Code"/>
                    <a:sym typeface="Fira Code"/>
                  </a:endParaRPr>
                </a:p>
              </p:txBody>
            </p:sp>
            <p:sp>
              <p:nvSpPr>
                <p:cNvPr id="184" name="Google Shape;184;p17"/>
                <p:cNvSpPr/>
                <p:nvPr/>
              </p:nvSpPr>
              <p:spPr>
                <a:xfrm>
                  <a:off x="2036309" y="0"/>
                  <a:ext cx="362100" cy="228600"/>
                </a:xfrm>
                <a:prstGeom prst="roundRect">
                  <a:avLst>
                    <a:gd fmla="val 8333" name="adj"/>
                  </a:avLst>
                </a:prstGeom>
                <a:solidFill>
                  <a:srgbClr val="F59E0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" name="Google Shape;185;p17"/>
                <p:cNvSpPr txBox="1"/>
                <p:nvPr/>
              </p:nvSpPr>
              <p:spPr>
                <a:xfrm>
                  <a:off x="2036309" y="38100"/>
                  <a:ext cx="3621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419" sz="750">
                      <a:solidFill>
                        <a:srgbClr val="FFFFFF"/>
                      </a:solidFill>
                      <a:latin typeface="Fira Code"/>
                      <a:ea typeface="Fira Code"/>
                      <a:cs typeface="Fira Code"/>
                      <a:sym typeface="Fira Code"/>
                    </a:rPr>
                    <a:t>FIN</a:t>
                  </a:r>
                  <a:endParaRPr b="1" sz="750">
                    <a:solidFill>
                      <a:srgbClr val="FFFFFF"/>
                    </a:solidFill>
                    <a:latin typeface="Fira Code"/>
                    <a:ea typeface="Fira Code"/>
                    <a:cs typeface="Fira Code"/>
                    <a:sym typeface="Fira Code"/>
                  </a:endParaRPr>
                </a:p>
              </p:txBody>
            </p:sp>
          </p:grpSp>
        </p:grpSp>
        <p:grpSp>
          <p:nvGrpSpPr>
            <p:cNvPr id="186" name="Google Shape;186;p17"/>
            <p:cNvGrpSpPr/>
            <p:nvPr/>
          </p:nvGrpSpPr>
          <p:grpSpPr>
            <a:xfrm>
              <a:off x="95250" y="2305050"/>
              <a:ext cx="3619500" cy="304800"/>
              <a:chOff x="0" y="0"/>
              <a:chExt cx="3619500" cy="304800"/>
            </a:xfrm>
          </p:grpSpPr>
          <p:sp>
            <p:nvSpPr>
              <p:cNvPr id="187" name="Google Shape;187;p17"/>
              <p:cNvSpPr/>
              <p:nvPr/>
            </p:nvSpPr>
            <p:spPr>
              <a:xfrm>
                <a:off x="0" y="0"/>
                <a:ext cx="36195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7"/>
              <p:cNvSpPr txBox="1"/>
              <p:nvPr/>
            </p:nvSpPr>
            <p:spPr>
              <a:xfrm>
                <a:off x="95250" y="57150"/>
                <a:ext cx="3429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Tamaño de Ventana (Window Size / MSS Related)</a:t>
                </a:r>
                <a:endParaRPr sz="8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9" name="Google Shape;189;p17"/>
            <p:cNvGrpSpPr/>
            <p:nvPr/>
          </p:nvGrpSpPr>
          <p:grpSpPr>
            <a:xfrm>
              <a:off x="95250" y="2667000"/>
              <a:ext cx="3619425" cy="304800"/>
              <a:chOff x="0" y="0"/>
              <a:chExt cx="3619425" cy="304800"/>
            </a:xfrm>
          </p:grpSpPr>
          <p:sp>
            <p:nvSpPr>
              <p:cNvPr id="190" name="Google Shape;190;p17"/>
              <p:cNvSpPr/>
              <p:nvPr/>
            </p:nvSpPr>
            <p:spPr>
              <a:xfrm>
                <a:off x="0" y="0"/>
                <a:ext cx="17811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7"/>
              <p:cNvSpPr txBox="1"/>
              <p:nvPr/>
            </p:nvSpPr>
            <p:spPr>
              <a:xfrm>
                <a:off x="47625" y="57150"/>
                <a:ext cx="1686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Checksum</a:t>
                </a:r>
                <a:endParaRPr sz="8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838325" y="0"/>
                <a:ext cx="17811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7"/>
              <p:cNvSpPr txBox="1"/>
              <p:nvPr/>
            </p:nvSpPr>
            <p:spPr>
              <a:xfrm>
                <a:off x="1885950" y="57150"/>
                <a:ext cx="1686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Puntero Urgente</a:t>
                </a:r>
                <a:endParaRPr sz="8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4" name="Google Shape;194;p17"/>
            <p:cNvGrpSpPr/>
            <p:nvPr/>
          </p:nvGrpSpPr>
          <p:grpSpPr>
            <a:xfrm>
              <a:off x="90488" y="3024188"/>
              <a:ext cx="3629100" cy="390600"/>
              <a:chOff x="-4762" y="-4762"/>
              <a:chExt cx="3629100" cy="390600"/>
            </a:xfrm>
          </p:grpSpPr>
          <p:pic>
            <p:nvPicPr>
              <p:cNvPr id="195" name="Google Shape;195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3629100" cy="390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6" name="Google Shape;196;p17"/>
              <p:cNvSpPr txBox="1"/>
              <p:nvPr/>
            </p:nvSpPr>
            <p:spPr>
              <a:xfrm>
                <a:off x="95250" y="95250"/>
                <a:ext cx="3429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825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Opciones TCP (incluye negociación MSS durante SYN)</a:t>
                </a:r>
                <a:endParaRPr b="0" sz="82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197" name="Google Shape;197;p17"/>
          <p:cNvGrpSpPr/>
          <p:nvPr/>
        </p:nvGrpSpPr>
        <p:grpSpPr>
          <a:xfrm>
            <a:off x="4861099" y="2777779"/>
            <a:ext cx="661110" cy="510950"/>
            <a:chOff x="-524441" y="-209738"/>
            <a:chExt cx="808500" cy="514500"/>
          </a:xfrm>
        </p:grpSpPr>
        <p:sp>
          <p:nvSpPr>
            <p:cNvPr id="198" name="Google Shape;198;p17"/>
            <p:cNvSpPr/>
            <p:nvPr/>
          </p:nvSpPr>
          <p:spPr>
            <a:xfrm>
              <a:off x="-524441" y="-209738"/>
              <a:ext cx="808500" cy="514500"/>
            </a:xfrm>
            <a:prstGeom prst="roundRect">
              <a:avLst>
                <a:gd fmla="val 3703" name="adj"/>
              </a:avLst>
            </a:prstGeom>
            <a:solidFill>
              <a:srgbClr val="FFFFFF"/>
            </a:solidFill>
            <a:ln cap="flat" cmpd="sng" w="94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 txBox="1"/>
            <p:nvPr/>
          </p:nvSpPr>
          <p:spPr>
            <a:xfrm>
              <a:off x="-423813" y="-119110"/>
              <a:ext cx="6072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74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Length</a:t>
              </a:r>
              <a:endParaRPr sz="74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05" name="Google Shape;205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0" y="0"/>
              <a:ext cx="1143000" cy="573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18"/>
          <p:cNvSpPr txBox="1"/>
          <p:nvPr/>
        </p:nvSpPr>
        <p:spPr>
          <a:xfrm>
            <a:off x="571500" y="3429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Establecimiento de Conexión: Handshake de 3 Vías</a:t>
            </a:r>
            <a:endParaRPr b="1" sz="18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TCP requiere establecer una sesión antes de transmitir datos mediante un proceso conocido como saludo de tres vías.</a:t>
            </a:r>
            <a:endParaRPr b="0"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9" name="Google Shape;209;p18"/>
          <p:cNvGrpSpPr/>
          <p:nvPr/>
        </p:nvGrpSpPr>
        <p:grpSpPr>
          <a:xfrm>
            <a:off x="571500" y="1095375"/>
            <a:ext cx="8000850" cy="809700"/>
            <a:chOff x="0" y="0"/>
            <a:chExt cx="8000850" cy="809700"/>
          </a:xfrm>
        </p:grpSpPr>
        <p:grpSp>
          <p:nvGrpSpPr>
            <p:cNvPr id="210" name="Google Shape;210;p18"/>
            <p:cNvGrpSpPr/>
            <p:nvPr/>
          </p:nvGrpSpPr>
          <p:grpSpPr>
            <a:xfrm>
              <a:off x="0" y="0"/>
              <a:ext cx="2571750" cy="809700"/>
              <a:chOff x="0" y="0"/>
              <a:chExt cx="2571750" cy="809700"/>
            </a:xfrm>
          </p:grpSpPr>
          <p:sp>
            <p:nvSpPr>
              <p:cNvPr id="211" name="Google Shape;211;p18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8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13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1</a:t>
                </a:r>
                <a:endParaRPr b="1" sz="13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13" name="Google Shape;213;p18"/>
              <p:cNvSpPr txBox="1"/>
              <p:nvPr/>
            </p:nvSpPr>
            <p:spPr>
              <a:xfrm>
                <a:off x="476250" y="0"/>
                <a:ext cx="2095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 SYN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s-419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cliente envía un segmento con el flag SYN activo.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214" name="Google Shape;21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71750" y="180975"/>
              <a:ext cx="2382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5" name="Google Shape;215;p18"/>
            <p:cNvGrpSpPr/>
            <p:nvPr/>
          </p:nvGrpSpPr>
          <p:grpSpPr>
            <a:xfrm>
              <a:off x="2857500" y="0"/>
              <a:ext cx="2571750" cy="809700"/>
              <a:chOff x="0" y="0"/>
              <a:chExt cx="2571750" cy="809700"/>
            </a:xfrm>
          </p:grpSpPr>
          <p:sp>
            <p:nvSpPr>
              <p:cNvPr id="216" name="Google Shape;216;p18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8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13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</a:t>
                </a:r>
                <a:endParaRPr b="1" sz="13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18" name="Google Shape;218;p18"/>
              <p:cNvSpPr txBox="1"/>
              <p:nvPr/>
            </p:nvSpPr>
            <p:spPr>
              <a:xfrm>
                <a:off x="476250" y="0"/>
                <a:ext cx="2095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 SYN-ACK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s-419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servidor responde con un segmento que tiene los flags SYN y ACK seteados.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219" name="Google Shape;21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29250" y="180975"/>
              <a:ext cx="2382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0" name="Google Shape;220;p18"/>
            <p:cNvGrpSpPr/>
            <p:nvPr/>
          </p:nvGrpSpPr>
          <p:grpSpPr>
            <a:xfrm>
              <a:off x="5715000" y="0"/>
              <a:ext cx="2285850" cy="809700"/>
              <a:chOff x="0" y="0"/>
              <a:chExt cx="2285850" cy="809700"/>
            </a:xfrm>
          </p:grpSpPr>
          <p:sp>
            <p:nvSpPr>
              <p:cNvPr id="221" name="Google Shape;221;p18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8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13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3</a:t>
                </a:r>
                <a:endParaRPr b="1" sz="13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23" name="Google Shape;223;p18"/>
              <p:cNvSpPr txBox="1"/>
              <p:nvPr/>
            </p:nvSpPr>
            <p:spPr>
              <a:xfrm>
                <a:off x="476250" y="0"/>
                <a:ext cx="18096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 ACK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s-419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Finalmente, el cliente confirma la recepción enviando un segmento con el flag ACK.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224" name="Google Shape;224;p18"/>
          <p:cNvPicPr preferRelativeResize="0"/>
          <p:nvPr/>
        </p:nvPicPr>
        <p:blipFill rotWithShape="1">
          <a:blip r:embed="rId4">
            <a:alphaModFix/>
          </a:blip>
          <a:srcRect b="2648" l="387" r="387" t="3128"/>
          <a:stretch/>
        </p:blipFill>
        <p:spPr>
          <a:xfrm>
            <a:off x="2190750" y="1905000"/>
            <a:ext cx="4762500" cy="25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0" y="0"/>
            <a:ext cx="1143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571500" y="3429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Cierre de Conexión TCP: 4 Vías vs 3 Vías</a:t>
            </a:r>
            <a:endParaRPr b="1" sz="195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cierre de una sesión TCP puede ser independiente por cada sentido (4 vías) o combinado si hay respuesta inmediata de datos/fin (3 vías).</a:t>
            </a:r>
            <a:endParaRPr b="0"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3" name="Google Shape;233;p19"/>
          <p:cNvGrpSpPr/>
          <p:nvPr/>
        </p:nvGrpSpPr>
        <p:grpSpPr>
          <a:xfrm>
            <a:off x="571500" y="1095375"/>
            <a:ext cx="3857700" cy="3619500"/>
            <a:chOff x="0" y="0"/>
            <a:chExt cx="3857700" cy="3619500"/>
          </a:xfrm>
        </p:grpSpPr>
        <p:sp>
          <p:nvSpPr>
            <p:cNvPr id="234" name="Google Shape;234;p19"/>
            <p:cNvSpPr/>
            <p:nvPr/>
          </p:nvSpPr>
          <p:spPr>
            <a:xfrm>
              <a:off x="0" y="0"/>
              <a:ext cx="3857700" cy="3619500"/>
            </a:xfrm>
            <a:prstGeom prst="roundRect">
              <a:avLst>
                <a:gd fmla="val 21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0" y="0"/>
              <a:ext cx="38100" cy="3619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 txBox="1"/>
            <p:nvPr/>
          </p:nvSpPr>
          <p:spPr>
            <a:xfrm>
              <a:off x="190500" y="152400"/>
              <a:ext cx="347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Cierre Convencional (4 Vías)</a:t>
              </a:r>
              <a:endParaRPr b="1" sz="1200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237" name="Google Shape;237;p19"/>
            <p:cNvGrpSpPr/>
            <p:nvPr/>
          </p:nvGrpSpPr>
          <p:grpSpPr>
            <a:xfrm>
              <a:off x="190500" y="495300"/>
              <a:ext cx="3448200" cy="476400"/>
              <a:chOff x="0" y="0"/>
              <a:chExt cx="3448200" cy="476400"/>
            </a:xfrm>
          </p:grpSpPr>
          <p:sp>
            <p:nvSpPr>
              <p:cNvPr id="238" name="Google Shape;238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1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40" name="Google Shape;240;p19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 (Cliente → Servidor)</a:t>
                </a:r>
                <a:endParaRPr b="0" sz="9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cliente inicia el cierre activo enviando un segmento con el flag </a:t>
                </a:r>
                <a:r>
                  <a:rPr b="0" lang="es-419" sz="8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1" name="Google Shape;241;p19"/>
            <p:cNvGrpSpPr/>
            <p:nvPr/>
          </p:nvGrpSpPr>
          <p:grpSpPr>
            <a:xfrm>
              <a:off x="190500" y="1238250"/>
              <a:ext cx="3448200" cy="476400"/>
              <a:chOff x="0" y="0"/>
              <a:chExt cx="3448200" cy="476400"/>
            </a:xfrm>
          </p:grpSpPr>
          <p:sp>
            <p:nvSpPr>
              <p:cNvPr id="242" name="Google Shape;242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44" name="Google Shape;244;p19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ACK (Servidor → Cliente)</a:t>
                </a:r>
                <a:endParaRPr b="0" sz="9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servidor acusa recibo del FIN. El cliente entra en estado </a:t>
                </a:r>
                <a:r>
                  <a:rPr b="0" lang="es-419" sz="8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FIN-WAIT-2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5" name="Google Shape;245;p19"/>
            <p:cNvGrpSpPr/>
            <p:nvPr/>
          </p:nvGrpSpPr>
          <p:grpSpPr>
            <a:xfrm>
              <a:off x="190500" y="1981200"/>
              <a:ext cx="3448200" cy="476400"/>
              <a:chOff x="0" y="0"/>
              <a:chExt cx="3448200" cy="476400"/>
            </a:xfrm>
          </p:grpSpPr>
          <p:sp>
            <p:nvSpPr>
              <p:cNvPr id="246" name="Google Shape;246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3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48" name="Google Shape;248;p19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 (Servidor → Cliente)</a:t>
                </a:r>
                <a:endParaRPr b="0" sz="9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Al finalizar sus transmisiones, el servidor envía su propio segmento </a:t>
                </a:r>
                <a:r>
                  <a:rPr b="0" lang="es-419" sz="8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9" name="Google Shape;249;p19"/>
            <p:cNvGrpSpPr/>
            <p:nvPr/>
          </p:nvGrpSpPr>
          <p:grpSpPr>
            <a:xfrm>
              <a:off x="190500" y="2724150"/>
              <a:ext cx="3448200" cy="476400"/>
              <a:chOff x="0" y="0"/>
              <a:chExt cx="3448200" cy="476400"/>
            </a:xfrm>
          </p:grpSpPr>
          <p:sp>
            <p:nvSpPr>
              <p:cNvPr id="250" name="Google Shape;250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4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52" name="Google Shape;252;p19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ACK (Cliente → Servidor)</a:t>
                </a:r>
                <a:endParaRPr b="0" sz="9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cliente confirma la recepción y entra en estado </a:t>
                </a:r>
                <a:r>
                  <a:rPr b="0" lang="es-419" sz="8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TIME-WAIT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3" name="Google Shape;253;p19"/>
          <p:cNvGrpSpPr/>
          <p:nvPr/>
        </p:nvGrpSpPr>
        <p:grpSpPr>
          <a:xfrm>
            <a:off x="4714875" y="1095375"/>
            <a:ext cx="3857700" cy="3619500"/>
            <a:chOff x="0" y="0"/>
            <a:chExt cx="3857700" cy="3619500"/>
          </a:xfrm>
        </p:grpSpPr>
        <p:sp>
          <p:nvSpPr>
            <p:cNvPr id="254" name="Google Shape;254;p19"/>
            <p:cNvSpPr/>
            <p:nvPr/>
          </p:nvSpPr>
          <p:spPr>
            <a:xfrm>
              <a:off x="0" y="0"/>
              <a:ext cx="3857700" cy="3619500"/>
            </a:xfrm>
            <a:prstGeom prst="roundRect">
              <a:avLst>
                <a:gd fmla="val 21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0" y="0"/>
              <a:ext cx="38100" cy="36195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190500" y="152400"/>
              <a:ext cx="2381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D9770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Cierre Optimizado (3 Vías)</a:t>
              </a:r>
              <a:endParaRPr b="1" sz="120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2619375" y="152400"/>
              <a:ext cx="1047900" cy="190500"/>
            </a:xfrm>
            <a:prstGeom prst="roundRect">
              <a:avLst>
                <a:gd fmla="val 20000" name="adj"/>
              </a:avLst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2619375" y="152400"/>
              <a:ext cx="1047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750">
                  <a:solidFill>
                    <a:srgbClr val="D9770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FIN-ACK Piggybacking</a:t>
              </a:r>
              <a:endParaRPr b="1" sz="7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259" name="Google Shape;259;p19"/>
            <p:cNvGrpSpPr/>
            <p:nvPr/>
          </p:nvGrpSpPr>
          <p:grpSpPr>
            <a:xfrm>
              <a:off x="190500" y="495300"/>
              <a:ext cx="3448200" cy="476400"/>
              <a:chOff x="0" y="0"/>
              <a:chExt cx="3448200" cy="476400"/>
            </a:xfrm>
          </p:grpSpPr>
          <p:sp>
            <p:nvSpPr>
              <p:cNvPr id="260" name="Google Shape;260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1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62" name="Google Shape;262;p19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 (Cliente → Servidor)</a:t>
                </a:r>
                <a:endParaRPr b="0" sz="9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cliente solicita el cierre de la conexión enviando la bandera </a:t>
                </a:r>
                <a:r>
                  <a:rPr b="0" lang="es-419" sz="850">
                    <a:solidFill>
                      <a:srgbClr val="D9770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3" name="Google Shape;263;p19"/>
            <p:cNvGrpSpPr/>
            <p:nvPr/>
          </p:nvGrpSpPr>
          <p:grpSpPr>
            <a:xfrm>
              <a:off x="190500" y="1238250"/>
              <a:ext cx="3448200" cy="619200"/>
              <a:chOff x="0" y="0"/>
              <a:chExt cx="3448200" cy="619200"/>
            </a:xfrm>
          </p:grpSpPr>
          <p:sp>
            <p:nvSpPr>
              <p:cNvPr id="264" name="Google Shape;264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66" name="Google Shape;266;p19"/>
              <p:cNvSpPr txBox="1"/>
              <p:nvPr/>
            </p:nvSpPr>
            <p:spPr>
              <a:xfrm>
                <a:off x="304800" y="0"/>
                <a:ext cx="3143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 + ACK (Servidor → Cliente)</a:t>
                </a:r>
                <a:endParaRPr b="0" sz="9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Si el servidor no tiene datos pendientes por enviar, combina la confirmación del cliente y su propio fin en un solo paquete (</a:t>
                </a:r>
                <a:r>
                  <a:rPr b="0" lang="es-419" sz="850">
                    <a:solidFill>
                      <a:srgbClr val="D9770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FIN-ACK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).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7" name="Google Shape;267;p19"/>
            <p:cNvGrpSpPr/>
            <p:nvPr/>
          </p:nvGrpSpPr>
          <p:grpSpPr>
            <a:xfrm>
              <a:off x="190500" y="2133600"/>
              <a:ext cx="3448200" cy="476400"/>
              <a:chOff x="0" y="0"/>
              <a:chExt cx="3448200" cy="476400"/>
            </a:xfrm>
          </p:grpSpPr>
          <p:sp>
            <p:nvSpPr>
              <p:cNvPr id="268" name="Google Shape;268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3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70" name="Google Shape;270;p19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ACK (Cliente → Servidor)</a:t>
                </a:r>
                <a:endParaRPr b="0" sz="9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cliente responde con la confirmación final </a:t>
                </a:r>
                <a:r>
                  <a:rPr b="0" lang="es-419" sz="850">
                    <a:solidFill>
                      <a:srgbClr val="D9770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ACK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para cerrar ambos sentidos.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71" name="Google Shape;271;p19"/>
            <p:cNvSpPr/>
            <p:nvPr/>
          </p:nvSpPr>
          <p:spPr>
            <a:xfrm>
              <a:off x="190500" y="2857500"/>
              <a:ext cx="3476700" cy="571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 txBox="1"/>
            <p:nvPr/>
          </p:nvSpPr>
          <p:spPr>
            <a:xfrm>
              <a:off x="304800" y="2933700"/>
              <a:ext cx="3248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85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Nota: El cierre en 3 vías reduce el overhead en la red combinando los pasos 2 y 3 cuando la aplicación remota cierra de forma inmediata.</a:t>
              </a:r>
              <a:endParaRPr b="0" sz="85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638" y="152400"/>
            <a:ext cx="5960715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" name="Google Shape;283;p21"/>
          <p:cNvGrpSpPr/>
          <p:nvPr/>
        </p:nvGrpSpPr>
        <p:grpSpPr>
          <a:xfrm>
            <a:off x="0" y="0"/>
            <a:ext cx="9144000" cy="57300"/>
            <a:chOff x="0" y="0"/>
            <a:chExt cx="9144000" cy="57300"/>
          </a:xfrm>
        </p:grpSpPr>
        <p:sp>
          <p:nvSpPr>
            <p:cNvPr id="284" name="Google Shape;284;p21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0" y="0"/>
              <a:ext cx="1143000" cy="573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" name="Google Shape;286;p21"/>
          <p:cNvSpPr txBox="1"/>
          <p:nvPr/>
        </p:nvSpPr>
        <p:spPr>
          <a:xfrm>
            <a:off x="571500" y="3429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4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Acuse de Recibo con Datos: Incremento de ACK</a:t>
            </a:r>
            <a:endParaRPr b="1" sz="1804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83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Cuando un segmento transporta datos (len &gt; 0), el número de ACK se incrementa según la cantidad exacta de bytes recibidos, acumulando la secuencia.</a:t>
            </a:r>
            <a:endParaRPr b="0" sz="833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7" name="Google Shape;287;p21"/>
          <p:cNvGrpSpPr/>
          <p:nvPr/>
        </p:nvGrpSpPr>
        <p:grpSpPr>
          <a:xfrm>
            <a:off x="571500" y="1095375"/>
            <a:ext cx="3857700" cy="3619500"/>
            <a:chOff x="0" y="0"/>
            <a:chExt cx="3857700" cy="3619500"/>
          </a:xfrm>
        </p:grpSpPr>
        <p:sp>
          <p:nvSpPr>
            <p:cNvPr id="288" name="Google Shape;288;p21"/>
            <p:cNvSpPr/>
            <p:nvPr/>
          </p:nvSpPr>
          <p:spPr>
            <a:xfrm>
              <a:off x="0" y="0"/>
              <a:ext cx="3857700" cy="3619500"/>
            </a:xfrm>
            <a:prstGeom prst="roundRect">
              <a:avLst>
                <a:gd fmla="val 21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0" y="0"/>
              <a:ext cx="38100" cy="3619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190500" y="152400"/>
              <a:ext cx="3476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Caso 1: Segmento de Control (len = 0)</a:t>
              </a:r>
              <a:endParaRPr b="1" sz="1100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291" name="Google Shape;291;p21"/>
            <p:cNvGrpSpPr/>
            <p:nvPr/>
          </p:nvGrpSpPr>
          <p:grpSpPr>
            <a:xfrm>
              <a:off x="190500" y="495300"/>
              <a:ext cx="3448200" cy="476400"/>
              <a:chOff x="0" y="0"/>
              <a:chExt cx="3448200" cy="476400"/>
            </a:xfrm>
          </p:grpSpPr>
          <p:sp>
            <p:nvSpPr>
              <p:cNvPr id="292" name="Google Shape;292;p21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1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1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94" name="Google Shape;294;p21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Envío sin datos (SYN / ACK)</a:t>
                </a:r>
                <a:endParaRPr b="0" sz="8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cliente envía un segmento sin payload (</a:t>
                </a:r>
                <a:r>
                  <a:rPr b="0" lang="es-419" sz="800">
                    <a:solidFill>
                      <a:srgbClr val="2563E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len = 0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, </a:t>
                </a:r>
                <a:r>
                  <a:rPr b="0" lang="es-419" sz="800">
                    <a:solidFill>
                      <a:srgbClr val="2563E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seq = 1000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).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5" name="Google Shape;295;p21"/>
            <p:cNvGrpSpPr/>
            <p:nvPr/>
          </p:nvGrpSpPr>
          <p:grpSpPr>
            <a:xfrm>
              <a:off x="190500" y="1238250"/>
              <a:ext cx="3448200" cy="476400"/>
              <a:chOff x="0" y="0"/>
              <a:chExt cx="3448200" cy="476400"/>
            </a:xfrm>
          </p:grpSpPr>
          <p:sp>
            <p:nvSpPr>
              <p:cNvPr id="296" name="Google Shape;296;p21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1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98" name="Google Shape;298;p21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Incremento por Flag (+1)</a:t>
                </a:r>
                <a:endParaRPr b="0" sz="8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Los flags de control (como SYN/FIN) consumen 1 número de secuencia: </a:t>
                </a:r>
                <a:r>
                  <a:rPr b="0" lang="es-419" sz="800">
                    <a:solidFill>
                      <a:srgbClr val="2563E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ack = 1001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99" name="Google Shape;299;p21"/>
            <p:cNvSpPr/>
            <p:nvPr/>
          </p:nvSpPr>
          <p:spPr>
            <a:xfrm>
              <a:off x="190500" y="2000250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0" name="Google Shape;3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7238" y="2276475"/>
              <a:ext cx="22956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21"/>
            <p:cNvSpPr/>
            <p:nvPr/>
          </p:nvSpPr>
          <p:spPr>
            <a:xfrm>
              <a:off x="2952750" y="2505075"/>
              <a:ext cx="95400" cy="85800"/>
            </a:xfrm>
            <a:custGeom>
              <a:rect b="b" l="l" r="r" t="t"/>
              <a:pathLst>
                <a:path extrusionOk="0" h="120000" w="120000">
                  <a:moveTo>
                    <a:pt x="120000" y="93333"/>
                  </a:moveTo>
                  <a:lnTo>
                    <a:pt x="0" y="0"/>
                  </a:lnTo>
                  <a:lnTo>
                    <a:pt x="2400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1"/>
            <p:cNvSpPr txBox="1"/>
            <p:nvPr/>
          </p:nvSpPr>
          <p:spPr>
            <a:xfrm>
              <a:off x="1353141" y="2276475"/>
              <a:ext cx="11037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563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SEQ = 1000, LEN = 0 (SYN)</a:t>
              </a:r>
              <a:endParaRPr sz="563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303" name="Google Shape;303;p21"/>
            <p:cNvCxnSpPr/>
            <p:nvPr/>
          </p:nvCxnSpPr>
          <p:spPr>
            <a:xfrm flipH="1">
              <a:off x="762000" y="2762250"/>
              <a:ext cx="228600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4" name="Google Shape;304;p21"/>
            <p:cNvSpPr/>
            <p:nvPr/>
          </p:nvSpPr>
          <p:spPr>
            <a:xfrm>
              <a:off x="762000" y="3028950"/>
              <a:ext cx="95400" cy="85800"/>
            </a:xfrm>
            <a:custGeom>
              <a:rect b="b" l="l" r="r" t="t"/>
              <a:pathLst>
                <a:path extrusionOk="0" h="120000" w="120000">
                  <a:moveTo>
                    <a:pt x="0" y="26667"/>
                  </a:moveTo>
                  <a:lnTo>
                    <a:pt x="120000" y="120000"/>
                  </a:lnTo>
                  <a:lnTo>
                    <a:pt x="96000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 txBox="1"/>
            <p:nvPr/>
          </p:nvSpPr>
          <p:spPr>
            <a:xfrm>
              <a:off x="1397289" y="2781300"/>
              <a:ext cx="10155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563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ACK = 1001 (+1 por SYN)</a:t>
              </a:r>
              <a:endParaRPr sz="563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306" name="Google Shape;306;p21"/>
            <p:cNvSpPr txBox="1"/>
            <p:nvPr/>
          </p:nvSpPr>
          <p:spPr>
            <a:xfrm>
              <a:off x="337109" y="2177415"/>
              <a:ext cx="3297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Cliente</a:t>
              </a:r>
              <a:endParaRPr b="0" sz="6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7" name="Google Shape;307;p21"/>
            <p:cNvSpPr txBox="1"/>
            <p:nvPr/>
          </p:nvSpPr>
          <p:spPr>
            <a:xfrm>
              <a:off x="3143250" y="2177415"/>
              <a:ext cx="3768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Servidor</a:t>
              </a:r>
              <a:endParaRPr b="0" sz="6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308" name="Google Shape;308;p21"/>
            <p:cNvCxnSpPr/>
            <p:nvPr/>
          </p:nvCxnSpPr>
          <p:spPr>
            <a:xfrm>
              <a:off x="714375" y="2286000"/>
              <a:ext cx="0" cy="857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9" name="Google Shape;309;p21"/>
            <p:cNvCxnSpPr/>
            <p:nvPr/>
          </p:nvCxnSpPr>
          <p:spPr>
            <a:xfrm>
              <a:off x="3095625" y="2286000"/>
              <a:ext cx="0" cy="857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0" name="Google Shape;310;p21"/>
          <p:cNvGrpSpPr/>
          <p:nvPr/>
        </p:nvGrpSpPr>
        <p:grpSpPr>
          <a:xfrm>
            <a:off x="4714875" y="1095375"/>
            <a:ext cx="3857700" cy="3619500"/>
            <a:chOff x="0" y="0"/>
            <a:chExt cx="3857700" cy="3619500"/>
          </a:xfrm>
        </p:grpSpPr>
        <p:sp>
          <p:nvSpPr>
            <p:cNvPr id="311" name="Google Shape;311;p21"/>
            <p:cNvSpPr/>
            <p:nvPr/>
          </p:nvSpPr>
          <p:spPr>
            <a:xfrm>
              <a:off x="0" y="0"/>
              <a:ext cx="3857700" cy="3619500"/>
            </a:xfrm>
            <a:prstGeom prst="roundRect">
              <a:avLst>
                <a:gd fmla="val 21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0" y="0"/>
              <a:ext cx="38100" cy="36195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1"/>
            <p:cNvSpPr txBox="1"/>
            <p:nvPr/>
          </p:nvSpPr>
          <p:spPr>
            <a:xfrm>
              <a:off x="190500" y="152400"/>
              <a:ext cx="3476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D9770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Caso 2: Segmento con Datos (len = N)</a:t>
              </a:r>
              <a:endParaRPr b="1" sz="110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314" name="Google Shape;314;p21"/>
            <p:cNvGrpSpPr/>
            <p:nvPr/>
          </p:nvGrpSpPr>
          <p:grpSpPr>
            <a:xfrm>
              <a:off x="190500" y="495300"/>
              <a:ext cx="3448200" cy="476400"/>
              <a:chOff x="0" y="0"/>
              <a:chExt cx="3448200" cy="476400"/>
            </a:xfrm>
          </p:grpSpPr>
          <p:sp>
            <p:nvSpPr>
              <p:cNvPr id="315" name="Google Shape;315;p21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1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1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317" name="Google Shape;317;p21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Envío con Payload (ej: 500 bytes)</a:t>
                </a:r>
                <a:endParaRPr b="0" sz="8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cliente envía un segmento cargado con datos (</a:t>
                </a:r>
                <a:r>
                  <a:rPr b="0" lang="es-419" sz="800">
                    <a:solidFill>
                      <a:srgbClr val="D97706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len = 500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, </a:t>
                </a:r>
                <a:r>
                  <a:rPr b="0" lang="es-419" sz="800">
                    <a:solidFill>
                      <a:srgbClr val="D97706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seq = 1001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).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8" name="Google Shape;318;p21"/>
            <p:cNvGrpSpPr/>
            <p:nvPr/>
          </p:nvGrpSpPr>
          <p:grpSpPr>
            <a:xfrm>
              <a:off x="190500" y="1238250"/>
              <a:ext cx="3448200" cy="476400"/>
              <a:chOff x="0" y="0"/>
              <a:chExt cx="3448200" cy="476400"/>
            </a:xfrm>
          </p:grpSpPr>
          <p:sp>
            <p:nvSpPr>
              <p:cNvPr id="319" name="Google Shape;319;p21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21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419" sz="85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</a:t>
                </a:r>
                <a:endParaRPr b="1" sz="85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321" name="Google Shape;321;p21"/>
              <p:cNvSpPr txBox="1"/>
              <p:nvPr/>
            </p:nvSpPr>
            <p:spPr>
              <a:xfrm>
                <a:off x="304800" y="0"/>
                <a:ext cx="3143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Incremento Proporcional (+N)</a:t>
                </a:r>
                <a:endParaRPr b="0" sz="8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 ACK del servidor incrementa exactamente los bytes recibidos: </a:t>
                </a:r>
                <a:r>
                  <a:rPr b="0" lang="es-419" sz="800">
                    <a:solidFill>
                      <a:srgbClr val="D97706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ack = 1001 + 500 = 1501</a:t>
                </a:r>
                <a:r>
                  <a:rPr b="0" lang="es-419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22" name="Google Shape;322;p21"/>
            <p:cNvSpPr/>
            <p:nvPr/>
          </p:nvSpPr>
          <p:spPr>
            <a:xfrm>
              <a:off x="190500" y="2000250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3" name="Google Shape;323;p21"/>
            <p:cNvCxnSpPr/>
            <p:nvPr/>
          </p:nvCxnSpPr>
          <p:spPr>
            <a:xfrm>
              <a:off x="762000" y="2286000"/>
              <a:ext cx="228600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4" name="Google Shape;324;p21"/>
            <p:cNvSpPr/>
            <p:nvPr/>
          </p:nvSpPr>
          <p:spPr>
            <a:xfrm>
              <a:off x="2952750" y="2505075"/>
              <a:ext cx="95400" cy="85800"/>
            </a:xfrm>
            <a:custGeom>
              <a:rect b="b" l="l" r="r" t="t"/>
              <a:pathLst>
                <a:path extrusionOk="0" h="120000" w="120000">
                  <a:moveTo>
                    <a:pt x="120000" y="93333"/>
                  </a:moveTo>
                  <a:lnTo>
                    <a:pt x="0" y="0"/>
                  </a:lnTo>
                  <a:lnTo>
                    <a:pt x="24000" y="12000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1"/>
            <p:cNvSpPr txBox="1"/>
            <p:nvPr/>
          </p:nvSpPr>
          <p:spPr>
            <a:xfrm>
              <a:off x="1397289" y="2276475"/>
              <a:ext cx="10155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563">
                  <a:solidFill>
                    <a:srgbClr val="D97706"/>
                  </a:solidFill>
                  <a:latin typeface="Fira Code"/>
                  <a:ea typeface="Fira Code"/>
                  <a:cs typeface="Fira Code"/>
                  <a:sym typeface="Fira Code"/>
                </a:rPr>
                <a:t>SEQ = 1001, LEN = 500 B</a:t>
              </a:r>
              <a:endParaRPr sz="563">
                <a:solidFill>
                  <a:srgbClr val="D9770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326" name="Google Shape;326;p21"/>
            <p:cNvCxnSpPr/>
            <p:nvPr/>
          </p:nvCxnSpPr>
          <p:spPr>
            <a:xfrm flipH="1">
              <a:off x="762000" y="2762250"/>
              <a:ext cx="228600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7" name="Google Shape;327;p21"/>
            <p:cNvSpPr/>
            <p:nvPr/>
          </p:nvSpPr>
          <p:spPr>
            <a:xfrm>
              <a:off x="762000" y="3028950"/>
              <a:ext cx="95400" cy="85800"/>
            </a:xfrm>
            <a:custGeom>
              <a:rect b="b" l="l" r="r" t="t"/>
              <a:pathLst>
                <a:path extrusionOk="0" h="120000" w="120000">
                  <a:moveTo>
                    <a:pt x="0" y="26667"/>
                  </a:moveTo>
                  <a:lnTo>
                    <a:pt x="120000" y="120000"/>
                  </a:lnTo>
                  <a:lnTo>
                    <a:pt x="96000" y="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1397289" y="2781300"/>
              <a:ext cx="10155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563">
                  <a:solidFill>
                    <a:srgbClr val="D97706"/>
                  </a:solidFill>
                  <a:latin typeface="Fira Code"/>
                  <a:ea typeface="Fira Code"/>
                  <a:cs typeface="Fira Code"/>
                  <a:sym typeface="Fira Code"/>
                </a:rPr>
                <a:t>ACK = 1501 (+500 bytes)</a:t>
              </a:r>
              <a:endParaRPr sz="563">
                <a:solidFill>
                  <a:srgbClr val="D9770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329" name="Google Shape;329;p21"/>
            <p:cNvSpPr txBox="1"/>
            <p:nvPr/>
          </p:nvSpPr>
          <p:spPr>
            <a:xfrm>
              <a:off x="337109" y="2177415"/>
              <a:ext cx="3297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Cliente</a:t>
              </a:r>
              <a:endParaRPr b="0" sz="6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30" name="Google Shape;330;p21"/>
            <p:cNvSpPr txBox="1"/>
            <p:nvPr/>
          </p:nvSpPr>
          <p:spPr>
            <a:xfrm>
              <a:off x="3143250" y="2177415"/>
              <a:ext cx="3768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Servidor</a:t>
              </a:r>
              <a:endParaRPr b="0" sz="6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331" name="Google Shape;331;p21"/>
            <p:cNvCxnSpPr/>
            <p:nvPr/>
          </p:nvCxnSpPr>
          <p:spPr>
            <a:xfrm>
              <a:off x="714375" y="2286000"/>
              <a:ext cx="0" cy="857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21"/>
            <p:cNvCxnSpPr/>
            <p:nvPr/>
          </p:nvCxnSpPr>
          <p:spPr>
            <a:xfrm>
              <a:off x="3095625" y="2286000"/>
              <a:ext cx="0" cy="857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2"/>
          <p:cNvGrpSpPr/>
          <p:nvPr/>
        </p:nvGrpSpPr>
        <p:grpSpPr>
          <a:xfrm>
            <a:off x="0" y="0"/>
            <a:ext cx="9144000" cy="57300"/>
            <a:chOff x="0" y="0"/>
            <a:chExt cx="9144000" cy="57300"/>
          </a:xfrm>
        </p:grpSpPr>
        <p:sp>
          <p:nvSpPr>
            <p:cNvPr id="338" name="Google Shape;338;p22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0" y="0"/>
              <a:ext cx="1143000" cy="573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0" name="Google Shape;340;p22"/>
          <p:cNvSpPr txBox="1"/>
          <p:nvPr/>
        </p:nvSpPr>
        <p:spPr>
          <a:xfrm>
            <a:off x="571500" y="381000"/>
            <a:ext cx="800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Multiplexación y Demultiplexación de Puertos</a:t>
            </a:r>
            <a:endParaRPr b="1" sz="195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41" name="Google Shape;341;p22"/>
          <p:cNvGrpSpPr/>
          <p:nvPr/>
        </p:nvGrpSpPr>
        <p:grpSpPr>
          <a:xfrm>
            <a:off x="571500" y="1000125"/>
            <a:ext cx="3619500" cy="3571800"/>
            <a:chOff x="0" y="0"/>
            <a:chExt cx="3619500" cy="3571800"/>
          </a:xfrm>
        </p:grpSpPr>
        <p:sp>
          <p:nvSpPr>
            <p:cNvPr id="342" name="Google Shape;342;p22"/>
            <p:cNvSpPr txBox="1"/>
            <p:nvPr/>
          </p:nvSpPr>
          <p:spPr>
            <a:xfrm>
              <a:off x="0" y="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3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Objetivo Principal</a:t>
              </a:r>
              <a:endParaRPr b="0" sz="13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El uso de puertos en el modelo TCP/IP permite identificar a qué proceso específico le corresponde un segmento recibido, identificando el socket exacto para la multiplexación y demultiplexación del tráfico.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43" name="Google Shape;343;p22"/>
            <p:cNvGrpSpPr/>
            <p:nvPr/>
          </p:nvGrpSpPr>
          <p:grpSpPr>
            <a:xfrm>
              <a:off x="0" y="1143000"/>
              <a:ext cx="3619500" cy="2428800"/>
              <a:chOff x="0" y="0"/>
              <a:chExt cx="3619500" cy="2428800"/>
            </a:xfrm>
          </p:grpSpPr>
          <p:sp>
            <p:nvSpPr>
              <p:cNvPr id="344" name="Google Shape;344;p22"/>
              <p:cNvSpPr/>
              <p:nvPr/>
            </p:nvSpPr>
            <p:spPr>
              <a:xfrm>
                <a:off x="0" y="0"/>
                <a:ext cx="3619500" cy="2428800"/>
              </a:xfrm>
              <a:prstGeom prst="roundRect">
                <a:avLst>
                  <a:gd fmla="val 313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2"/>
              <p:cNvSpPr txBox="1"/>
              <p:nvPr/>
            </p:nvSpPr>
            <p:spPr>
              <a:xfrm>
                <a:off x="190500" y="152400"/>
                <a:ext cx="3238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-419" sz="1125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Tupla de 4 Valores (TCP)</a:t>
                </a:r>
                <a:endParaRPr b="0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s-419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Requerida obligatoriamente para identificar un proceso: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346" name="Google Shape;346;p22"/>
              <p:cNvGrpSpPr/>
              <p:nvPr/>
            </p:nvGrpSpPr>
            <p:grpSpPr>
              <a:xfrm>
                <a:off x="190500" y="571500"/>
                <a:ext cx="1543200" cy="714300"/>
                <a:chOff x="0" y="0"/>
                <a:chExt cx="1543200" cy="714300"/>
              </a:xfrm>
            </p:grpSpPr>
            <p:sp>
              <p:nvSpPr>
                <p:cNvPr id="347" name="Google Shape;347;p22"/>
                <p:cNvSpPr/>
                <p:nvPr/>
              </p:nvSpPr>
              <p:spPr>
                <a:xfrm>
                  <a:off x="0" y="0"/>
                  <a:ext cx="15432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22"/>
                <p:cNvSpPr txBox="1"/>
                <p:nvPr/>
              </p:nvSpPr>
              <p:spPr>
                <a:xfrm>
                  <a:off x="114300" y="95250"/>
                  <a:ext cx="1314600" cy="523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s-419" sz="825">
                      <a:solidFill>
                        <a:srgbClr val="2563EB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Origen</a:t>
                  </a:r>
                  <a:endParaRPr b="0" sz="82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s-419" sz="975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IP de Origen</a:t>
                  </a:r>
                  <a:endParaRPr b="0" sz="975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s-419" sz="825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Ej: 192.168.1.50</a:t>
                  </a:r>
                  <a:endParaRPr b="0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49" name="Google Shape;349;p22"/>
              <p:cNvGrpSpPr/>
              <p:nvPr/>
            </p:nvGrpSpPr>
            <p:grpSpPr>
              <a:xfrm>
                <a:off x="1885950" y="571500"/>
                <a:ext cx="1543200" cy="714300"/>
                <a:chOff x="0" y="0"/>
                <a:chExt cx="1543200" cy="714300"/>
              </a:xfrm>
            </p:grpSpPr>
            <p:sp>
              <p:nvSpPr>
                <p:cNvPr id="350" name="Google Shape;350;p22"/>
                <p:cNvSpPr/>
                <p:nvPr/>
              </p:nvSpPr>
              <p:spPr>
                <a:xfrm>
                  <a:off x="0" y="0"/>
                  <a:ext cx="15432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1" name="Google Shape;351;p22"/>
                <p:cNvSpPr txBox="1"/>
                <p:nvPr/>
              </p:nvSpPr>
              <p:spPr>
                <a:xfrm>
                  <a:off x="114300" y="95250"/>
                  <a:ext cx="1314600" cy="523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s-419" sz="825">
                      <a:solidFill>
                        <a:srgbClr val="2563EB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Origen</a:t>
                  </a:r>
                  <a:endParaRPr b="0" sz="82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s-419" sz="975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Puerto Origen</a:t>
                  </a:r>
                  <a:endParaRPr b="0" sz="975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s-419" sz="825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Ej: Port 80 / 21 / 22</a:t>
                  </a:r>
                  <a:endParaRPr b="0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52" name="Google Shape;352;p22"/>
              <p:cNvGrpSpPr/>
              <p:nvPr/>
            </p:nvGrpSpPr>
            <p:grpSpPr>
              <a:xfrm>
                <a:off x="190500" y="1381125"/>
                <a:ext cx="1543200" cy="714300"/>
                <a:chOff x="0" y="0"/>
                <a:chExt cx="1543200" cy="714300"/>
              </a:xfrm>
            </p:grpSpPr>
            <p:sp>
              <p:nvSpPr>
                <p:cNvPr id="353" name="Google Shape;353;p22"/>
                <p:cNvSpPr/>
                <p:nvPr/>
              </p:nvSpPr>
              <p:spPr>
                <a:xfrm>
                  <a:off x="0" y="0"/>
                  <a:ext cx="15432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F59E0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" name="Google Shape;354;p22"/>
                <p:cNvSpPr txBox="1"/>
                <p:nvPr/>
              </p:nvSpPr>
              <p:spPr>
                <a:xfrm>
                  <a:off x="114300" y="95250"/>
                  <a:ext cx="1314600" cy="523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s-419" sz="825">
                      <a:solidFill>
                        <a:srgbClr val="D9770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Destino</a:t>
                  </a:r>
                  <a:endParaRPr b="0" sz="825">
                    <a:solidFill>
                      <a:srgbClr val="D9770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s-419" sz="975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IP de Destino</a:t>
                  </a:r>
                  <a:endParaRPr b="0" sz="975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s-419" sz="825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Ej: IP Cliente Ext.</a:t>
                  </a:r>
                  <a:endParaRPr b="0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55" name="Google Shape;355;p22"/>
              <p:cNvGrpSpPr/>
              <p:nvPr/>
            </p:nvGrpSpPr>
            <p:grpSpPr>
              <a:xfrm>
                <a:off x="1885950" y="1381125"/>
                <a:ext cx="1543200" cy="714300"/>
                <a:chOff x="0" y="0"/>
                <a:chExt cx="1543200" cy="714300"/>
              </a:xfrm>
            </p:grpSpPr>
            <p:sp>
              <p:nvSpPr>
                <p:cNvPr id="356" name="Google Shape;356;p22"/>
                <p:cNvSpPr/>
                <p:nvPr/>
              </p:nvSpPr>
              <p:spPr>
                <a:xfrm>
                  <a:off x="0" y="0"/>
                  <a:ext cx="15432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F59E0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7" name="Google Shape;357;p22"/>
                <p:cNvSpPr txBox="1"/>
                <p:nvPr/>
              </p:nvSpPr>
              <p:spPr>
                <a:xfrm>
                  <a:off x="114300" y="95250"/>
                  <a:ext cx="1314600" cy="523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s-419" sz="825">
                      <a:solidFill>
                        <a:srgbClr val="D9770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Destino</a:t>
                  </a:r>
                  <a:endParaRPr b="0" sz="825">
                    <a:solidFill>
                      <a:srgbClr val="D9770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s-419" sz="975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Puerto Destino</a:t>
                  </a:r>
                  <a:endParaRPr b="0" sz="975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s-419" sz="825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Ej: Port Cliente</a:t>
                  </a:r>
                  <a:endParaRPr b="0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358" name="Google Shape;358;p22"/>
          <p:cNvGrpSpPr/>
          <p:nvPr/>
        </p:nvGrpSpPr>
        <p:grpSpPr>
          <a:xfrm>
            <a:off x="4476750" y="904875"/>
            <a:ext cx="4095900" cy="3619500"/>
            <a:chOff x="0" y="0"/>
            <a:chExt cx="4095900" cy="3619500"/>
          </a:xfrm>
        </p:grpSpPr>
        <p:pic>
          <p:nvPicPr>
            <p:cNvPr id="359" name="Google Shape;35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4095900" cy="307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22"/>
            <p:cNvSpPr txBox="1"/>
            <p:nvPr/>
          </p:nvSpPr>
          <p:spPr>
            <a:xfrm>
              <a:off x="0" y="3162300"/>
              <a:ext cx="4095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Esquema de comunicación: los procesos de aplicación se asocian a sockets específicos canalizados por la pila TCP/IP a través de una única interfaz física.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66" name="Google Shape;366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7" name="Google Shape;36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23"/>
            <p:cNvSpPr/>
            <p:nvPr/>
          </p:nvSpPr>
          <p:spPr>
            <a:xfrm>
              <a:off x="571500" y="1190625"/>
              <a:ext cx="762000" cy="573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23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Protocolo UDP y Diferencias Clave con TCP</a:t>
            </a:r>
            <a:endParaRPr b="1" sz="19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71500" y="1428750"/>
            <a:ext cx="8001000" cy="323850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" name="Google Shape;371;p23"/>
          <p:cNvGrpSpPr/>
          <p:nvPr/>
        </p:nvGrpSpPr>
        <p:grpSpPr>
          <a:xfrm>
            <a:off x="857250" y="1714500"/>
            <a:ext cx="7429650" cy="2667000"/>
            <a:chOff x="0" y="0"/>
            <a:chExt cx="7429650" cy="2667000"/>
          </a:xfrm>
        </p:grpSpPr>
        <p:sp>
          <p:nvSpPr>
            <p:cNvPr id="372" name="Google Shape;372;p23"/>
            <p:cNvSpPr txBox="1"/>
            <p:nvPr/>
          </p:nvSpPr>
          <p:spPr>
            <a:xfrm>
              <a:off x="0" y="0"/>
              <a:ext cx="3524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5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Protocolo TCP</a:t>
              </a:r>
              <a:endParaRPr b="0" sz="15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Orientado a la conexión (realiza handshake inicial).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Alta confiabilidad en la entrega de datos.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SzPts val="1400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Cuenta con mecanismos de control de flujo y congestión.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73" name="Google Shape;373;p23"/>
            <p:cNvCxnSpPr/>
            <p:nvPr/>
          </p:nvCxnSpPr>
          <p:spPr>
            <a:xfrm>
              <a:off x="3714750" y="0"/>
              <a:ext cx="0" cy="266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4" name="Google Shape;374;p23"/>
            <p:cNvSpPr txBox="1"/>
            <p:nvPr/>
          </p:nvSpPr>
          <p:spPr>
            <a:xfrm>
              <a:off x="3905250" y="0"/>
              <a:ext cx="3524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500">
                  <a:solidFill>
                    <a:srgbClr val="F59E0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Protocolo UDP</a:t>
              </a:r>
              <a:endParaRPr b="0" sz="1500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No orientado a conexión (sin handshake inicial).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Significativamente menos confiable.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Carece de controles de congestión (envía datos sin verificar la red).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SzPts val="1400"/>
                <a:buChar char="●"/>
              </a:pPr>
              <a:r>
                <a:rPr lang="es-419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</a:t>
              </a:r>
              <a:r>
                <a:rPr b="0" lang="es-419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uerto de origen opcional, solo son obligatorios IP y puerto de destino.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80" name="Google Shape;380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1" name="Google Shape;381;p24"/>
            <p:cNvGrpSpPr/>
            <p:nvPr/>
          </p:nvGrpSpPr>
          <p:grpSpPr>
            <a:xfrm>
              <a:off x="0" y="0"/>
              <a:ext cx="9144000" cy="57300"/>
              <a:chOff x="0" y="0"/>
              <a:chExt cx="9144000" cy="57300"/>
            </a:xfrm>
          </p:grpSpPr>
          <p:sp>
            <p:nvSpPr>
              <p:cNvPr id="382" name="Google Shape;382;p24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4"/>
              <p:cNvSpPr/>
              <p:nvPr/>
            </p:nvSpPr>
            <p:spPr>
              <a:xfrm>
                <a:off x="0" y="0"/>
                <a:ext cx="1143000" cy="5730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4" name="Google Shape;384;p24"/>
          <p:cNvGrpSpPr/>
          <p:nvPr/>
        </p:nvGrpSpPr>
        <p:grpSpPr>
          <a:xfrm>
            <a:off x="571500" y="381000"/>
            <a:ext cx="8001000" cy="781050"/>
            <a:chOff x="0" y="0"/>
            <a:chExt cx="8001000" cy="781050"/>
          </a:xfrm>
        </p:grpSpPr>
        <p:sp>
          <p:nvSpPr>
            <p:cNvPr id="385" name="Google Shape;385;p24"/>
            <p:cNvSpPr txBox="1"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95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Diagnóstico de Conexiones con el Comando ss</a:t>
              </a:r>
              <a:endParaRPr b="1" sz="19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86" name="Google Shape;386;p24"/>
            <p:cNvSpPr txBox="1"/>
            <p:nvPr/>
          </p:nvSpPr>
          <p:spPr>
            <a:xfrm>
              <a:off x="0" y="40005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El comando </a:t>
              </a:r>
              <a:r>
                <a:rPr b="0" lang="es-419" sz="1050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ss</a:t>
              </a:r>
              <a:r>
                <a:rPr b="0" lang="es-419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es la herramienta moderna (reemplazo de netstat) para monitorear conexiones en redes. Ejemplos prácticos de uso incluyen: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7" name="Google Shape;387;p24"/>
          <p:cNvGrpSpPr/>
          <p:nvPr/>
        </p:nvGrpSpPr>
        <p:grpSpPr>
          <a:xfrm>
            <a:off x="571500" y="1333500"/>
            <a:ext cx="4667400" cy="3238500"/>
            <a:chOff x="0" y="0"/>
            <a:chExt cx="4667400" cy="3238500"/>
          </a:xfrm>
        </p:grpSpPr>
        <p:sp>
          <p:nvSpPr>
            <p:cNvPr id="388" name="Google Shape;388;p24"/>
            <p:cNvSpPr/>
            <p:nvPr/>
          </p:nvSpPr>
          <p:spPr>
            <a:xfrm>
              <a:off x="0" y="0"/>
              <a:ext cx="4667400" cy="3238500"/>
            </a:xfrm>
            <a:prstGeom prst="roundRect">
              <a:avLst>
                <a:gd fmla="val 176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3238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5143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0" y="381000"/>
              <a:ext cx="4667400" cy="96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4"/>
            <p:cNvSpPr txBox="1"/>
            <p:nvPr/>
          </p:nvSpPr>
          <p:spPr>
            <a:xfrm>
              <a:off x="190500" y="523875"/>
              <a:ext cx="4286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10B981"/>
                  </a:solidFill>
                  <a:latin typeface="Fira Code"/>
                  <a:ea typeface="Fira Code"/>
                  <a:cs typeface="Fira Code"/>
                  <a:sym typeface="Fira Code"/>
                </a:rPr>
                <a:t>$ ss -net</a:t>
              </a:r>
              <a:endParaRPr b="0" sz="900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94A3B8"/>
                  </a:solidFill>
                  <a:latin typeface="Fira Code"/>
                  <a:ea typeface="Fira Code"/>
                  <a:cs typeface="Fira Code"/>
                  <a:sym typeface="Fira Code"/>
                </a:rPr>
                <a:t># Lista todas las comunicaciones TCP establecidas.</a:t>
              </a:r>
              <a:endParaRPr b="0" sz="9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10B981"/>
                  </a:solidFill>
                  <a:latin typeface="Fira Code"/>
                  <a:ea typeface="Fira Code"/>
                  <a:cs typeface="Fira Code"/>
                  <a:sym typeface="Fira Code"/>
                </a:rPr>
                <a:t>$ ss -neu</a:t>
              </a:r>
              <a:endParaRPr b="0" sz="900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94A3B8"/>
                  </a:solidFill>
                  <a:latin typeface="Fira Code"/>
                  <a:ea typeface="Fira Code"/>
                  <a:cs typeface="Fira Code"/>
                  <a:sym typeface="Fira Code"/>
                </a:rPr>
                <a:t># Lista las comunicaciones UDP establecidas.</a:t>
              </a:r>
              <a:endParaRPr b="0" sz="9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10B981"/>
                  </a:solidFill>
                  <a:latin typeface="Fira Code"/>
                  <a:ea typeface="Fira Code"/>
                  <a:cs typeface="Fira Code"/>
                  <a:sym typeface="Fira Code"/>
                </a:rPr>
                <a:t>$ ss -ntl</a:t>
              </a:r>
              <a:endParaRPr b="0" sz="900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94A3B8"/>
                  </a:solidFill>
                  <a:latin typeface="Fira Code"/>
                  <a:ea typeface="Fira Code"/>
                  <a:cs typeface="Fira Code"/>
                  <a:sym typeface="Fira Code"/>
                </a:rPr>
                <a:t># Muestra únicamente los servicios TCP que están esperando comunicaciones (estado LISTEN).</a:t>
              </a:r>
              <a:endParaRPr b="0" sz="9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10B981"/>
                  </a:solidFill>
                  <a:latin typeface="Fira Code"/>
                  <a:ea typeface="Fira Code"/>
                  <a:cs typeface="Fira Code"/>
                  <a:sym typeface="Fira Code"/>
                </a:rPr>
                <a:t>$ ss -ntlp</a:t>
              </a:r>
              <a:endParaRPr b="0" sz="900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94A3B8"/>
                  </a:solidFill>
                  <a:latin typeface="Fira Code"/>
                  <a:ea typeface="Fira Code"/>
                  <a:cs typeface="Fira Code"/>
                  <a:sym typeface="Fira Code"/>
                </a:rPr>
                <a:t># Visualiza el proceso del sistema específico asociado a cada conexión TCP.</a:t>
              </a:r>
              <a:endParaRPr b="0" sz="9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394" name="Google Shape;394;p24"/>
          <p:cNvPicPr preferRelativeResize="0"/>
          <p:nvPr/>
        </p:nvPicPr>
        <p:blipFill rotWithShape="1">
          <a:blip r:embed="rId3">
            <a:alphaModFix/>
          </a:blip>
          <a:srcRect b="120" l="0" r="0" t="120"/>
          <a:stretch/>
        </p:blipFill>
        <p:spPr>
          <a:xfrm>
            <a:off x="5476875" y="1333500"/>
            <a:ext cx="30957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5"/>
          <p:cNvSpPr txBox="1"/>
          <p:nvPr/>
        </p:nvSpPr>
        <p:spPr>
          <a:xfrm>
            <a:off x="3580500" y="374725"/>
            <a:ext cx="19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¿PREGUNTAS?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00" name="Google Shape;4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7600" y="1075113"/>
            <a:ext cx="4988800" cy="299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