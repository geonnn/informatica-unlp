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9"/>
  </p:notesMasterIdLst>
  <p:sldIdLst>
    <p:sldId id="300" r:id="rId2"/>
    <p:sldId id="312" r:id="rId3"/>
    <p:sldId id="313" r:id="rId4"/>
    <p:sldId id="316" r:id="rId5"/>
    <p:sldId id="31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</p:sldIdLst>
  <p:sldSz cx="12192000" cy="6858000"/>
  <p:notesSz cx="6858000" cy="9144000"/>
  <p:embeddedFontLst>
    <p:embeddedFont>
      <p:font typeface="Noto Sans Symbols2" panose="020B0502040504020204" pitchFamily="34" charset="0"/>
      <p:regular r:id="rId40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h9X3cRF6K/VEKQefNBLIC+bSzE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4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FB35E58-88ED-261C-5BA8-1743F3E4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437ADD5-AE33-8F13-B739-35AC3A074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14A5576-D950-F858-C866-4042839FE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5987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CAEE8E-8B57-F589-2139-5D726231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E8F67C9-433D-AB13-4FA8-8770ABBE0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D94391B-2FD8-3B0D-C4D8-3661CDBB4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825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B984E8-E8D0-DF0D-5956-C04EC4CF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EF64A40-42B8-56FC-BD94-80FCAED68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5D7D3B6-01DA-60B6-1C93-7F18EB85B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662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4970B18-3063-946C-2DA2-DAA20265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0B6849E-E06D-7CA2-6260-A20418912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4935F02-671D-5CCA-52D1-DF09AAF0A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3733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A92DA9E-13A8-DC93-A50E-FCA7DAA4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2062164-1CD4-CFC8-129B-86D152E55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6B45A60-81FA-56BE-23FA-7B5658E77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2226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CC4238C-018D-5F78-B7CB-3FA53F96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58862A1-E665-D129-2A9A-C9EB40D47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51EDC85-F424-5B43-3D5E-671E54311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642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780B005-A35D-4D3B-634E-58CBEEB6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D6A89D4-CDB4-9F3E-0CC8-4812B3517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99C7EE5-5AC8-0B55-943C-A02A41F56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5129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700BAC1-9B22-7D55-25EB-36DF264B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766018F-AEFD-F9C5-35D4-FF904F52C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8B7C85C-0EB9-6DC2-70C4-202A5D1CE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171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7479D10-CE99-CF5F-CE42-A267A6F2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2E58763-BBB3-70A4-9FB5-03FC63A25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9B9B69E-2CAF-4A0E-A6CD-7FF423370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28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A1B8A54-5CBF-D5A3-143D-358874BC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630DEC0-BEC8-405D-7E6C-2AB39A392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FC865DD3-7432-4FCF-F2FD-4A8B29358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482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515DBA4-4937-3093-52B4-2FF2A0C4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09040BBB-F756-07A6-8942-24372B215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3DB58D7-3A4B-61C3-912A-8D9DF0D33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2962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BD8FF8E-F4D3-48D4-9A7C-BEE5098D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E74F0303-9F86-D842-FE8B-FAF5AE552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61025FB-04A9-4F85-3AEB-4CBE072ED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6867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9979871-A628-9BD4-BA4D-6F132068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AAA0908-9496-DCFB-03EB-C4CEC9193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AC1B4EB-3803-3845-6755-DB9816741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0537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E2F9FE6-5B00-F6F4-10D4-443359C1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85F4D68-0ECC-CEDC-080C-CEF513A75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F45E33E-33A0-3F30-3E8C-84719367B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0688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E0F4974-8B4F-3157-FAEC-E47EBAA6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2B6D2F4-AC04-AE65-D120-486A66351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DF0A51A-06BF-C58A-F943-8B821D0BE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4047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8D69AB6-3652-D254-F398-5B5174FB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25AB15B-7FE1-8D46-FA6B-A6FAD788C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D70CEBE-D06B-5593-535B-4389DE73F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168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BE7ADA6-B112-96FB-CC79-7F2ED957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600AA66-3ECE-E740-51A8-D0AE8E95F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4DA2862-8867-CCCE-030B-D431B05AC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6679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5D62A29-0D8E-51B6-7749-129D0590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FBD2D285-3E8E-F9A7-7C83-612F936A2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7C1DAEA-E92F-2883-4C90-8316664C1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820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DD5D8F6-A808-FE59-C8D4-49B1D310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9CF9230-8C37-0AE3-F2E3-663864F8B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2E7433EE-D6FA-A1FD-268B-7F000A086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8300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C2A255A-BDA0-C155-CE88-4A6010E4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D4DB64A-AEE3-6879-0C12-B4A79B437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A62DEF2-B578-4134-0E77-74FEF2362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063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91BE5E8-5E78-3ED2-5FF9-F6B888F4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28270F3-E372-4870-6713-C378DF7CF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85A44E4-B440-26F3-2E54-6B3935B7E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15977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8FCC55A-C84E-C276-599B-658E5EF5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5B1EAD2-5BFC-7A22-14E6-55587EC5A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3975451-DB82-3202-30B7-7E6DE331D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7696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7EAA3B5-2932-CEDF-17E4-619E0FE6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55301B2-DD35-45BB-4E34-B5769284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9B3ACDE-6611-2A21-929A-D4D0DE395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65674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FD0A4F1-A3C2-6A7E-0A9C-988C01EF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3419FAE6-6663-425C-28F1-FAD2E31D3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D45BEE0-909D-A6C7-6E6B-AE518C5E0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966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2BBE2A9-7C99-73AB-CDDB-501250E7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78FB3F5B-593A-09D2-D92A-6852DB368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0905D18-1831-3C15-EDFE-B0D7230A6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0217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48CBF11-2BAC-7B9F-82EC-D889B396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C54CE4D-EB0C-402D-C943-F97B1B073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35B0F6E-BB33-925A-AFF4-AEAE9613A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0548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B5663F-BEB6-5E7C-07A0-23C883FD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A2FB2A6-79FA-39BB-0A77-91976D16A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2106F82C-A1BB-1153-E4E9-4C8BDC01B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1516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4E180D5-D7BB-7B2F-730A-2A9A1155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A53D408-5DA9-1167-CB99-E76ECD198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E930820-FBF4-29F7-B836-7D8E14357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403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D34A10C-562E-C667-399E-A461930C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54F25E3F-6290-85E5-B43F-98022B8CE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B587EF0-AD15-F4A7-7547-CF0EAD61A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9314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B8DE777-8C26-E66F-6C50-FE80E8C9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49B4531-6CD8-F1DD-E514-79CE50FE0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D0AFB25-3CA9-F96F-E3FF-2192CBD24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2826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5817B6E-565E-5FE5-02CA-1C76BC17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8309F8E-16BA-50AD-3A15-D10C87D51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45430F2-2434-B0CC-C468-641281D91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6609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92F5A52-33B1-78B4-DEAD-52E15E2F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C8CD201-51FF-50BC-38F7-FD5F7B4FE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99FF1F2-531F-FFBE-5C89-1D0BFD924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063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29667D5-54A3-AF64-5480-73857D41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8B08E18-D740-BB98-BB2F-305B6C649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E9C1AC3-067F-EBCC-379F-9E912928C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65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D9B66E1-C5AD-1390-376B-0ED145F373CD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21F00AD-25D2-3453-D3C4-173FE7D821FC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B2B499D-7C39-389F-DC63-126D8F21E649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0D45B34-0D70-B853-4651-FDF86AE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FF89B3F-3E78-BD2C-BFC8-57827C3D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0099B9-3065-0229-3717-114AAE8A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70126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4A06-6E61-3457-FDD1-C08365D7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BED8-880B-3F71-5EF6-361B4F87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CCC5-521F-0656-66F8-39EF4C08E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90114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7500718A-FD61-CEC1-FE41-41024AB7B13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1567E10-9D0F-BEF3-C34E-127149D4D571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8B40BF51-BC81-F841-CB09-992983323095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58ABBB9-A2A0-4888-670F-988FDCFE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11CC39-B07A-90D4-6793-D02358EE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A8E2EF-9D1A-7F64-AE2C-4B5406E2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36398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F8FEA54-48F0-24E8-DF83-DA43FE38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E610E-39B9-3621-4970-5A4088FD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FEE16-CA14-21BE-BE6C-987A7D4C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199415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0F42960-9C1C-3E3C-2BC6-10154F25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9208AE5-E8DD-E629-9B6B-07B55CBB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E45030-62E5-CE94-9AD8-EF2558C6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0599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F745952-8BE2-3C07-4518-665CA2BB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E0B60A-4E65-3921-86E8-9A1246D5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76B882-1F8A-1125-E181-6F401774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981036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ACAC53-00BF-F9EC-AB23-C223C87ADA5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4A8E98-6DDA-099C-F5F8-AFD2F7BDCDE5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1EB9C38C-E4D7-C659-934A-E2C0A8DE840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B04B77D4-B4C2-1022-33EA-7D711CDE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BF76017-0491-9938-31AA-C679CFF8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09BD096-6595-A4A8-DAE1-67EAF99F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896385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6C8241-71F4-2A9E-1891-5133DE1170A0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E0CF968-AB31-83A2-A45F-E871C237F5DE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359BA7A-4600-A0F8-80CC-B6158C5E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55FA17-DE51-2E16-984D-29B11514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863F8E7-23C6-6A1B-67D8-CE4B8C22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7439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448C5D-E87F-6601-564C-B0464478320D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1AE8375-F63D-A8DB-D575-3C326C5971B6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8FEFD99-DD2D-E1FC-3086-C859EE0F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96CAEEE5-B497-1249-E90D-A8370CAE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72CC953-01AB-D343-497F-A05A3660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03247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F607-A188-3D75-A1AA-84C63B7B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910A-1307-4080-BFCD-22D1ABE1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80827-9F30-1307-A91D-39A16D92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15178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8F51EDE6-AB37-208A-BAF2-4C18B9E643D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098EA30-1D1E-EE16-4EB5-1B6376F6698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8118592-0907-F1BE-E3F7-C5B56F07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106D4AA-96F3-E728-6041-EB4644B7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8980A4C-FEC5-5904-0572-135F269F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81847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E6D3284-679F-4A89-1A2F-65DA28C1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F74CDF0-685F-BDE9-38BE-EF2A1ACA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33274F-3731-5183-7BF2-81E71A90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268094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41DCAF5-5CA5-EEC9-8E95-A6390053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59AE36-633E-6B1D-11B3-EE9E6AEA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485218-FCE2-8150-C032-FD64104A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368043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0DC9DF0-3B9A-2217-AFBB-78D81CA9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1DB56CF-F6ED-BB36-EA2F-0DA4D6FB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5F566CE-F24E-A387-D14E-12FA555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4346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7CF77F-0229-501D-C37A-90D86092FA3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F58DDD-B56E-37D8-3F3D-33BB9B3AA4B5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0F4FF-E22E-DEE6-5459-CF4389A9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A9CC662B-76E0-4374-F95B-200026691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08BD-8AD2-1C65-21D6-98552942E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C7396-ED55-5B02-41E6-E52737F92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D745C-BFBF-FF22-691D-BC534F3B6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2F9BB5-F27B-035A-16B6-C0FA2A0B1C9E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5AC925A1-1B00-93C2-3A68-BD2AA2E3F0C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25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g-ssi.com/2021/09/metodologia-octave-para-el-analisis-de-riesgos-en-sgsi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</a:pPr>
            <a:r>
              <a:rPr lang="es-AR" dirty="0"/>
              <a:t>Ingeniería de Software II</a:t>
            </a:r>
            <a:endParaRPr b="1" dirty="0">
              <a:solidFill>
                <a:srgbClr val="4A6617"/>
              </a:solidFill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2300"/>
            </a:pPr>
            <a:r>
              <a:rPr lang="es-AR" dirty="0"/>
              <a:t>2026 – CLASE 11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2CB20-B78C-1990-D42A-63E20E8E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Google Shape;139;p2">
            <a:extLst>
              <a:ext uri="{FF2B5EF4-FFF2-40B4-BE49-F238E27FC236}">
                <a16:creationId xmlns:a16="http://schemas.microsoft.com/office/drawing/2014/main" id="{96B343B4-C220-21D8-663E-A95EB26AE944}"/>
              </a:ext>
            </a:extLst>
          </p:cNvPr>
          <p:cNvSpPr txBox="1">
            <a:spLocks/>
          </p:cNvSpPr>
          <p:nvPr/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105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es-AR" smtClean="0"/>
              <a:pPr>
                <a:buSzPts val="1000"/>
              </a:pPr>
              <a:t>1</a:t>
            </a:fld>
            <a:endParaRPr lang="es-AR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37;p2">
            <a:extLst>
              <a:ext uri="{FF2B5EF4-FFF2-40B4-BE49-F238E27FC236}">
                <a16:creationId xmlns:a16="http://schemas.microsoft.com/office/drawing/2014/main" id="{E76F2B96-E0E5-4767-88C2-D55D769E39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Auditoría Informática</a:t>
            </a: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AR"/>
              <a:t>Contenidos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Ingeniería de Software II</a:t>
            </a:r>
            <a:endParaRPr/>
          </a:p>
        </p:txBody>
      </p:sp>
      <p:sp>
        <p:nvSpPr>
          <p:cNvPr id="139" name="Google Shape;139;p2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s-AR"/>
              <a:pPr>
                <a:buSzPts val="1000"/>
              </a:pPr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457200" y="1902542"/>
            <a:ext cx="3200400" cy="97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noProof="0" dirty="0" err="1"/>
              <a:t>Auditorí</a:t>
            </a:r>
            <a:r>
              <a:rPr lang="es-AR" dirty="0"/>
              <a:t>a Informática</a:t>
            </a:r>
            <a:endParaRPr lang="es-AR" noProof="0" dirty="0"/>
          </a:p>
        </p:txBody>
      </p:sp>
      <p:sp>
        <p:nvSpPr>
          <p:cNvPr id="66" name="Google Shape;66;p2"/>
          <p:cNvSpPr txBox="1">
            <a:spLocks noGrp="1"/>
          </p:cNvSpPr>
          <p:nvPr>
            <p:ph idx="1"/>
          </p:nvPr>
        </p:nvSpPr>
        <p:spPr>
          <a:xfrm>
            <a:off x="4800599" y="731520"/>
            <a:ext cx="6644149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2913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Es una actividad preventiva que permite definir estrategias para prevenir delitos, problemas legales, etc. El auditor </a:t>
            </a:r>
            <a:r>
              <a:rPr lang="es-ES" sz="2800" i="1" dirty="0">
                <a:solidFill>
                  <a:schemeClr val="tx1"/>
                </a:solidFill>
              </a:rPr>
              <a:t>sugiere</a:t>
            </a:r>
            <a:r>
              <a:rPr lang="es-ES" sz="2800" dirty="0">
                <a:solidFill>
                  <a:schemeClr val="tx1"/>
                </a:solidFill>
              </a:rPr>
              <a:t>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Los procedimientos de auditoría en informática varían de acuerdo con la filosofía y técnica de cada organización y departamento de auditoría en particular.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La auditoría en informática debe evaluar todo: informática, organización del centro de cómputo, computadoras, comunicación y programas.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B22B7A-ADDD-A921-3961-E7EC7DCAA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7" name="Google Shape;67;p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II</a:t>
            </a:r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D60904-A681-7189-2DBC-B0CB7FFC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noProof="0"/>
              <a:t>2026</a:t>
            </a:r>
            <a:endParaRPr lang="es-AR" noProof="0"/>
          </a:p>
        </p:txBody>
      </p:sp>
      <p:pic>
        <p:nvPicPr>
          <p:cNvPr id="85" name="Google Shape;85;p23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474655" y="4923384"/>
            <a:ext cx="2260145" cy="153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13E5F47-ED05-70F7-4346-6AE5ACAE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8302A3C-F964-29FD-BE16-B29DB927A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6297939-5790-9C16-3B5E-649597BC0C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BB08D080-6ACE-CAF2-1B37-1788843059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929DD3E-7896-E17A-C98F-D99FB8728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9725CD6E-3BC7-C169-F5C1-7F97CB88F1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Es un examen crítico que se realiza con el objeto de evaluar la eficiencia y la eficacia de una sección o de un organismo y determinar cursos alternativos de acción para mejorar la organización y lograr los objetivos propuestos.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No es una actividad meramente mecánica.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Puede ser </a:t>
            </a:r>
            <a:r>
              <a:rPr lang="es-ES" sz="3000" u="sng" dirty="0">
                <a:solidFill>
                  <a:schemeClr val="dk1"/>
                </a:solidFill>
              </a:rPr>
              <a:t>interna</a:t>
            </a:r>
            <a:r>
              <a:rPr lang="es-ES" sz="3000" dirty="0">
                <a:solidFill>
                  <a:schemeClr val="dk1"/>
                </a:solidFill>
              </a:rPr>
              <a:t>, </a:t>
            </a:r>
            <a:r>
              <a:rPr lang="es-ES" sz="3000" u="sng" dirty="0">
                <a:solidFill>
                  <a:schemeClr val="dk1"/>
                </a:solidFill>
              </a:rPr>
              <a:t>externa</a:t>
            </a:r>
            <a:r>
              <a:rPr lang="es-ES" sz="3000" dirty="0">
                <a:solidFill>
                  <a:schemeClr val="dk1"/>
                </a:solidFill>
              </a:rPr>
              <a:t> o una combinación de </a:t>
            </a:r>
            <a:r>
              <a:rPr lang="es-ES" sz="3000" u="sng" dirty="0">
                <a:solidFill>
                  <a:schemeClr val="dk1"/>
                </a:solidFill>
              </a:rPr>
              <a:t>ambas</a:t>
            </a:r>
            <a:r>
              <a:rPr lang="es-ES" sz="3000" dirty="0">
                <a:solidFill>
                  <a:schemeClr val="dk1"/>
                </a:solidFill>
              </a:rPr>
              <a:t>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Google Shape;105;p21">
            <a:extLst>
              <a:ext uri="{FF2B5EF4-FFF2-40B4-BE49-F238E27FC236}">
                <a16:creationId xmlns:a16="http://schemas.microsoft.com/office/drawing/2014/main" id="{33D8A40D-AC1C-5B47-A85D-BA6F4A929D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2116" y="4704324"/>
            <a:ext cx="2812570" cy="1601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81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Objetivos: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Salvaguardar los activos. 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Integridad de datos.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Efectividad de sistemas. 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Eficiencia de los sistemas.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Seguridad y confidencialidad.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3" name="Google Shape;95;p25">
            <a:extLst>
              <a:ext uri="{FF2B5EF4-FFF2-40B4-BE49-F238E27FC236}">
                <a16:creationId xmlns:a16="http://schemas.microsoft.com/office/drawing/2014/main" id="{73947398-9F99-ADE9-1883-70E310F1B3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5973" y="3429000"/>
            <a:ext cx="3130902" cy="224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BE9975E-FFC1-5E03-68F7-17BDFBEF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122567B-8DBF-1E9B-D9A0-F2A290402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BA6C067-ED77-7945-EB1F-70BC715C2E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48DCF08-E831-98B6-54D9-BBD976157E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FEDB4F7-4196-7658-F611-B56CE335E8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2868267-6F83-25F8-F64F-BDA891BEF0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i="1" dirty="0">
                <a:solidFill>
                  <a:schemeClr val="dk1"/>
                </a:solidFill>
              </a:rPr>
              <a:t>“Es una función que ha sido desarrollada para asegurar la salvaguarda de los activos de los sistemas de computadoras, mantener la integridad de los datos y lograr los objetivos de la organización en forma eficaz y eficiente”. </a:t>
            </a:r>
            <a:r>
              <a:rPr lang="es-ES" sz="3000" b="1" dirty="0">
                <a:solidFill>
                  <a:schemeClr val="dk1"/>
                </a:solidFill>
              </a:rPr>
              <a:t>Ron Weber.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s-ES" sz="30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i="1" dirty="0">
                <a:solidFill>
                  <a:schemeClr val="dk1"/>
                </a:solidFill>
              </a:rPr>
              <a:t>“Es la verificación de los controles en las siguientes tres áreas de la organización (informática): Aplicaciones, Desarrollo de sistemas, Instalación del centro de cómputos”. </a:t>
            </a:r>
            <a:r>
              <a:rPr lang="es-ES" sz="3000" b="1" dirty="0">
                <a:solidFill>
                  <a:schemeClr val="dk1"/>
                </a:solidFill>
              </a:rPr>
              <a:t>William Mair.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0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1604599-3249-8DC8-BBB4-A310AF23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51B1B1D-1006-540C-7D37-C29D696F2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DAE9723A-9964-F58E-012A-7A2AA07FA4F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E1327DD-3DE3-1ABA-7EC1-7D20B3D589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6D69B1E2-7995-5EAC-6458-45F3378AE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48D63AD1-98B8-C854-1A74-7D124F17CB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Por lo tanto, es la </a:t>
            </a:r>
            <a:r>
              <a:rPr lang="es-ES" sz="3000" u="sng" dirty="0">
                <a:solidFill>
                  <a:schemeClr val="dk1"/>
                </a:solidFill>
              </a:rPr>
              <a:t>revisión y evaluación</a:t>
            </a:r>
            <a:r>
              <a:rPr lang="es-ES" sz="3000" dirty="0">
                <a:solidFill>
                  <a:schemeClr val="dk1"/>
                </a:solidFill>
              </a:rPr>
              <a:t> de: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los controles, sistemas y procedimientos de la informática;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los equipos de cómputo;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organización que participa en el procesamiento de la información.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Google Shape;125;p22">
            <a:extLst>
              <a:ext uri="{FF2B5EF4-FFF2-40B4-BE49-F238E27FC236}">
                <a16:creationId xmlns:a16="http://schemas.microsoft.com/office/drawing/2014/main" id="{79E4CD9D-B646-5264-D71E-C1C27B8777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0597" y="3905573"/>
            <a:ext cx="3450750" cy="2438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015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CCD1D19-4B5A-7CC8-8D2A-5DDC7024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9E7DDAA-EA6B-51E7-9A15-58189AE3C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8100B0ED-F76D-0F16-B899-7CDF7550CA0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B256194-7AAE-AFBD-209D-EC92B5B336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D2402E9-86AE-4151-361E-260A9CDF16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4B30916-AAAB-980D-AEB9-2213ACCFDE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Factores que pueden influir en la organización a través del control y la auditoría en informática: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Controlar el uso de la computadora.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Pérdida de capacidades de procesamiento de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Necesidad de mantener la privacidad individual.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Posibilidad de pérdida de información, o mal uso de esta.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Toma de decisiones incorrectas.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Necesidad de mantener la privacidad de la organización.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...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72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CB249AF-7FEB-4438-6DA8-1A4E0010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1B58DA0-9244-70BA-0C88-F0D621DDE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F1AC380-6B54-0452-003B-A0929539C4E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5E36202-E658-BD83-4F1A-950F20F9EB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8C327CEA-C8B3-CAB3-2FF9-5C025393C7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8673AE9-A755-C49F-2B94-C0C68BF91E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Campo de acción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administrativa del área de informática.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 los sistemas y procedimientos, y de la eficiencia que se tiene en el uso de la información.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del proceso de datos, de los sistemas y de los equipos de cómputo (software, hardware, redes, comunicaciones, bases de datos).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Seguridad y confidencialidad.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Aspectos legales de los sistemas y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11914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5874454-03F8-85F9-EDFB-F6E4C7D6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19AB55F-0F73-EFD8-A746-DF7B4A5D1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E4C8F20-26ED-5B66-5B62-FA2FC33A603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9C6AF72-4682-CCB5-1EE4-B8D3DC187C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01FF2BC-3212-1696-6946-8B8DC03F5C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7509FB6-D1FA-0352-3653-5AACA632D8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¿Qué hace un auditor informático?</a:t>
            </a: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Es responsable de evaluar los sistemas informáticos y los procesos relacionados con la tecnología de una empresa, lo que incluye la infraestructura tecnológica.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El objetivo de dicha evaluación es asegurarse de que los sistemas y procesos son los que la empresa verdaderamente necesita, al mismo tiempo que ofrece soluciones viables para cualquier problema que se haya detectado durante la evaluación.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9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A2C6310-48CB-E413-7F3D-469B032A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A1BEB29-E888-49F4-0079-B0F5FC01E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929A353-3104-D394-DA76-2789A5853C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2BAE4D92-2BF7-63DF-6FC9-55A0878B8A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15C6E4A-9AB7-B595-7B95-648CDA0B1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C863630E-4A55-C5BB-188D-9C866D5C88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Auditor informático - Funciones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Identificar el potencial de optimización de procesos informáticos a partir de un análisis de debilidades y errores.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Seguir los estándares de auditoría establecidos por cada empresa y la normativa vigente.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Analizar la situación actual de los sistemas informáticos y procesos de la empresa.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Elaborar informes detallados que incluyan los resultados de cada auditoría realizada.</a:t>
            </a:r>
          </a:p>
        </p:txBody>
      </p:sp>
    </p:spTree>
    <p:extLst>
      <p:ext uri="{BB962C8B-B14F-4D97-AF65-F5344CB8AC3E}">
        <p14:creationId xmlns:p14="http://schemas.microsoft.com/office/powerpoint/2010/main" val="22495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771881B-4916-FAF7-1BFC-E7BC4402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220EFEF-38BC-643D-F110-38899A751F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318D0C5-F945-7572-6417-C6B2C85F90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777F439-49C7-652E-45AA-B98D85DF82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E3720FA-3302-9BF4-3289-FA20E1395F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053FBC9-D668-7F4A-FE22-4F5AA389ED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Auditor informático - Funciones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Controlar y verificar el funcionamiento de los sistemas informáticos internos y de cualquier otro servicio que dependa de la infraestructura tecnológica de la empresa.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Detectar riesgos del entorno informático para prevenir posibles ciberataques y desvíos de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Diseñar soluciones para los problemas o errores detectados en la auditoría.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Proponer estrategias para mejorar los sistemas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269679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279F206-6A42-EBFB-56B9-5707EFB0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090066D-12CD-7EBA-06C6-8A67E48D4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D9550CF0-FCFF-191A-4B6B-2035135995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8D21B51-FFAC-3A20-B7DB-AAD4C0F3CC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FDE347A-03D4-2C7D-3F82-C035C492E7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B1F6CF6-C229-9E69-352F-FA9AD0F433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¿Dónde trabaja un auditor informático?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Este profesional encuentra oportunidades laborales en grandes empresas que cuentan con su propio departamento de informática y ciberseguridad.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Por otro lado, puede ser contratado de forma externa por las compañías que requieran de las funciones de un auditor informático, o bien, puede ejercer de forma independiente. </a:t>
            </a:r>
          </a:p>
        </p:txBody>
      </p:sp>
    </p:spTree>
    <p:extLst>
      <p:ext uri="{BB962C8B-B14F-4D97-AF65-F5344CB8AC3E}">
        <p14:creationId xmlns:p14="http://schemas.microsoft.com/office/powerpoint/2010/main" val="200925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358A124-B9FD-90CB-7424-3DB3D75E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4A53BCC-1A1B-8934-64C6-D4C4C5F30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66CAAED-33FE-A283-4648-14961E2250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C15CD8B7-97F3-F36C-5960-1CB399AF43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A781156-51B6-5417-7E08-BFE903F78D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6152131A-4AB8-30D3-DAC0-4214B3C6F74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Etapas genéricas</a:t>
            </a:r>
            <a:endParaRPr lang="es-ES" sz="2600" dirty="0">
              <a:solidFill>
                <a:schemeClr val="dk1"/>
              </a:solidFill>
            </a:endParaRPr>
          </a:p>
        </p:txBody>
      </p:sp>
      <p:pic>
        <p:nvPicPr>
          <p:cNvPr id="2" name="Google Shape;184;p40">
            <a:extLst>
              <a:ext uri="{FF2B5EF4-FFF2-40B4-BE49-F238E27FC236}">
                <a16:creationId xmlns:a16="http://schemas.microsoft.com/office/drawing/2014/main" id="{C8E620EF-59A9-8D04-356B-EE77E59B18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872" t="729" r="20961" b="11639"/>
          <a:stretch>
            <a:fillRect/>
          </a:stretch>
        </p:blipFill>
        <p:spPr>
          <a:xfrm>
            <a:off x="4006850" y="2520497"/>
            <a:ext cx="4229100" cy="370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0"/>
          <p:cNvSpPr txBox="1"/>
          <p:nvPr/>
        </p:nvSpPr>
        <p:spPr>
          <a:xfrm>
            <a:off x="192513" y="4713253"/>
            <a:ext cx="4021111" cy="1815841"/>
          </a:xfrm>
          <a:prstGeom prst="borderCallout2">
            <a:avLst>
              <a:gd name="adj1" fmla="val -686"/>
              <a:gd name="adj2" fmla="val 69063"/>
              <a:gd name="adj3" fmla="val -18355"/>
              <a:gd name="adj4" fmla="val 69107"/>
              <a:gd name="adj5" fmla="val 301"/>
              <a:gd name="adj6" fmla="val 110119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1. Se identifican los objetivos específicos de la auditoría y se define su alcance, considerando los recursos disponibles y las áreas clave a examinar. </a:t>
            </a:r>
            <a:endParaRPr sz="1600"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elabora un plan detallado donde se incluyen los métodos y herramientas a utilizar, así como un cronograma de las actividades.</a:t>
            </a:r>
            <a:endParaRPr sz="1600" dirty="0">
              <a:latin typeface="+mn-lt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104494" y="2889957"/>
            <a:ext cx="4021111" cy="830956"/>
          </a:xfrm>
          <a:prstGeom prst="borderCallout2">
            <a:avLst>
              <a:gd name="adj1" fmla="val 1374"/>
              <a:gd name="adj2" fmla="val 89409"/>
              <a:gd name="adj3" fmla="val -25653"/>
              <a:gd name="adj4" fmla="val 89453"/>
              <a:gd name="adj5" fmla="val 29486"/>
              <a:gd name="adj6" fmla="val 12887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2. Se recopilan datos a partir de entrevistas, revisión de documentos y del uso de herramientas tecnológicas. 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 txBox="1"/>
          <p:nvPr/>
        </p:nvSpPr>
        <p:spPr>
          <a:xfrm>
            <a:off x="7915263" y="4713252"/>
            <a:ext cx="4164038" cy="1815841"/>
          </a:xfrm>
          <a:prstGeom prst="borderCallout2">
            <a:avLst>
              <a:gd name="adj1" fmla="val 72640"/>
              <a:gd name="adj2" fmla="val 142"/>
              <a:gd name="adj3" fmla="val 72641"/>
              <a:gd name="adj4" fmla="val -8577"/>
              <a:gd name="adj5" fmla="val 53309"/>
              <a:gd name="adj6" fmla="val -3125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4. Una vez recopilados y analizados los datos, se redacta un informe detallado que incluye las conclusiones de la auditoría, las áreas de mejora, y las recomendaciones.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 documento es crucial para la toma de decisiones a futuro y se presenta a la dirección y otros interesados de la organización</a:t>
            </a:r>
            <a:r>
              <a:rPr lang="es-AR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.</a:t>
            </a:r>
            <a:endParaRPr sz="1600" dirty="0">
              <a:latin typeface="+mn-lt"/>
            </a:endParaRPr>
          </a:p>
        </p:txBody>
      </p:sp>
      <p:sp>
        <p:nvSpPr>
          <p:cNvPr id="188" name="Google Shape;188;p40"/>
          <p:cNvSpPr txBox="1"/>
          <p:nvPr/>
        </p:nvSpPr>
        <p:spPr>
          <a:xfrm>
            <a:off x="8373555" y="2163325"/>
            <a:ext cx="3764752" cy="1569620"/>
          </a:xfrm>
          <a:prstGeom prst="borderCallout2">
            <a:avLst>
              <a:gd name="adj1" fmla="val 18750"/>
              <a:gd name="adj2" fmla="val -237"/>
              <a:gd name="adj3" fmla="val 18750"/>
              <a:gd name="adj4" fmla="val -10275"/>
              <a:gd name="adj5" fmla="val 65486"/>
              <a:gd name="adj6" fmla="val -2024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3. Se evalúan los controles internos y procesos de los sistemas para determinar su eficacia y eficiencia, así como su alineación con los objetivos de la empresa.</a:t>
            </a:r>
            <a:endParaRPr sz="1600"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analizan e identifican posibles deficiencias o riesgos en los sistemas. </a:t>
            </a:r>
            <a:endParaRPr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588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87" grpId="0" animBg="1"/>
      <p:bldP spid="1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456F07FE-C030-FD90-25C4-F6DA0617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B12E558-5EAE-AEBB-487E-2839A4CE3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BA3DD8B-598F-00F1-23F0-3BC7597E005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572293E-1B61-4961-014C-7D97ADD9AAA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CC9DC20-C8E0-D041-F764-79C8ABBC52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6E9BA49-6A54-37D9-A297-0B299B5F59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Finalización de la auditoría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 finalizar la auditoría se deben implementar las mejoras recomendadas para fortalecer los sistemas de información de la empresa.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Además, es esencial realizar un seguimiento continuo para asegurar que las mejoras sean efectivas, así como para adaptarse a cualquier cambio en el entorno tecnológico y empresarial.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Aunque la frecuencia con la que debe hacerse una auditoría informática depende de varios factores, incluyendo el tamaño de la organización y la naturaleza de sus actividades, se recomienda hacerla anualmente. </a:t>
            </a:r>
          </a:p>
        </p:txBody>
      </p:sp>
    </p:spTree>
    <p:extLst>
      <p:ext uri="{BB962C8B-B14F-4D97-AF65-F5344CB8AC3E}">
        <p14:creationId xmlns:p14="http://schemas.microsoft.com/office/powerpoint/2010/main" val="61929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9AE3478-21F8-6784-49E3-C8C8628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1E68377-50DF-728C-4B6E-22D796FF9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2202A70-99F2-4814-555D-F45B90D689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16591F3-AAF7-8D25-AABA-53DE79C760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4EA33CF-B83C-D59B-7997-B11848949A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19E6DA1-9F6E-C3DF-3F3B-827DD35AA3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Tipos de auditoría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2" name="Google Shape;203;p42">
            <a:extLst>
              <a:ext uri="{FF2B5EF4-FFF2-40B4-BE49-F238E27FC236}">
                <a16:creationId xmlns:a16="http://schemas.microsoft.com/office/drawing/2014/main" id="{BB7D9349-1699-9F3A-DF3E-6358310CAB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4855" r="-5090"/>
          <a:stretch/>
        </p:blipFill>
        <p:spPr>
          <a:xfrm>
            <a:off x="3280230" y="2558885"/>
            <a:ext cx="5631539" cy="34785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5;p40">
            <a:extLst>
              <a:ext uri="{FF2B5EF4-FFF2-40B4-BE49-F238E27FC236}">
                <a16:creationId xmlns:a16="http://schemas.microsoft.com/office/drawing/2014/main" id="{CFB7FECE-F73F-34FB-217B-0A0FB1B0BA31}"/>
              </a:ext>
            </a:extLst>
          </p:cNvPr>
          <p:cNvSpPr txBox="1"/>
          <p:nvPr/>
        </p:nvSpPr>
        <p:spPr>
          <a:xfrm>
            <a:off x="144704" y="3066646"/>
            <a:ext cx="4287811" cy="1815841"/>
          </a:xfrm>
          <a:prstGeom prst="borderCallout2">
            <a:avLst>
              <a:gd name="adj1" fmla="val 100881"/>
              <a:gd name="adj2" fmla="val 33219"/>
              <a:gd name="adj3" fmla="val 122473"/>
              <a:gd name="adj4" fmla="val 33263"/>
              <a:gd name="adj5" fmla="val 136862"/>
              <a:gd name="adj6" fmla="val 92775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la realizada con recursos, materiales y personas que pertenecen a la empresa auditada.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Los empleados que realizan esta tarea son remunerados económicamente.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La auditoría interna existe por expresa decisión de la empresa, o sea, que se puede optar por su disolución en cualquier momento.</a:t>
            </a:r>
          </a:p>
        </p:txBody>
      </p:sp>
      <p:sp>
        <p:nvSpPr>
          <p:cNvPr id="4" name="Google Shape;185;p40">
            <a:extLst>
              <a:ext uri="{FF2B5EF4-FFF2-40B4-BE49-F238E27FC236}">
                <a16:creationId xmlns:a16="http://schemas.microsoft.com/office/drawing/2014/main" id="{3B253F6F-8FD9-8AA0-A3FB-A372671D65A5}"/>
              </a:ext>
            </a:extLst>
          </p:cNvPr>
          <p:cNvSpPr txBox="1"/>
          <p:nvPr/>
        </p:nvSpPr>
        <p:spPr>
          <a:xfrm>
            <a:off x="8026185" y="3312867"/>
            <a:ext cx="4021111" cy="1569620"/>
          </a:xfrm>
          <a:prstGeom prst="borderCallout2">
            <a:avLst>
              <a:gd name="adj1" fmla="val 100881"/>
              <a:gd name="adj2" fmla="val 69834"/>
              <a:gd name="adj3" fmla="val 120766"/>
              <a:gd name="adj4" fmla="val 69878"/>
              <a:gd name="adj5" fmla="val 141398"/>
              <a:gd name="adj6" fmla="val 3742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realizada por personas afines a la empresa auditada.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siempre remunerada.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presupone una mayor objetividad que en la auditoría interna, debido al mayor distanciamiento entre auditores y auditados</a:t>
            </a: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.</a:t>
            </a:r>
            <a:endParaRPr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45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D891FDD-AC66-B7E8-D6DA-1EA344F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678620A-9051-61B6-AB23-161DB17CA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8CF2057-F7C0-AC39-031C-EDC06A8107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E226EE9-FB69-8670-62F0-E5B7BA51F2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2F0B3F3-629E-90E2-E8F8-E7D411829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3319ACAC-2CD1-D2F0-2174-3E93B587EC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870932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511C728-3BC2-ABD3-BB5F-4BD4EB65D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57409"/>
              </p:ext>
            </p:extLst>
          </p:nvPr>
        </p:nvGraphicFramePr>
        <p:xfrm>
          <a:off x="1022396" y="2301712"/>
          <a:ext cx="10260000" cy="400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310672977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89615078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1309171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BENEFICIO DE AUDITADO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ECONOMÍA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NO DISCRIMINACIÓN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58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CALIDAD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FORMACION CONTINUADA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NO INJERENCIA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03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CAPACIDAD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FORTALECIMIENTO Y RESPETO DE LA PROFESIÓN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PRECISIÓN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8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</a:t>
                      </a: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COMPORTAMIENTO PROFESIONAL</a:t>
                      </a:r>
                      <a:endParaRPr lang="es-E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INDEPENDENCIA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PUBLICIDAD ADECUADA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42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CONCENTRACIÓN EN EL TRABAJO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INFORMACIÓN SUFICIENTE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RESPONSABILIDAD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80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CONFIANZA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INTEGRIDAD MORAL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SECRETO PROFESIONAL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4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CRITERIO PROPIO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LEGALIDAD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SERVICIO PÚBLICO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61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DISCRECIÓN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LIBRE COMPETENCIA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VERACIDAD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696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66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10E026F-BDAC-FADF-026E-268FB65F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A017C1B-43F1-708C-C4F9-8F3E7AC72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865CEEF-8FEB-618F-C097-0F1178ACBD5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65939BE-9421-593D-487C-728B5769D1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AE0328C-FCD9-EDB2-7A3E-87A4602581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CB25126-1F7C-A6C8-58B7-E5CC266EB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BENEFICIO DE AUDITADO</a:t>
            </a:r>
            <a:r>
              <a:rPr lang="es-ES" sz="2600" dirty="0">
                <a:solidFill>
                  <a:schemeClr val="dk1"/>
                </a:solidFill>
              </a:rPr>
              <a:t>: El auditor debe conseguir la máxima eficacia y rentabilidad de los medios informáticos de la empresa auditada, no debe obtener beneficio propio.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CALIDAD</a:t>
            </a:r>
            <a:r>
              <a:rPr lang="es-ES" sz="2600" dirty="0">
                <a:solidFill>
                  <a:schemeClr val="dk1"/>
                </a:solidFill>
              </a:rPr>
              <a:t>: El auditor deberá prestar sus servicios conforme las posibilidades de la ciencia y medios a su alcance, con absoluta libertad respecto a la utilización de dichos medios y en condiciones técnicas adecuadas para el cumplimiento de su labor.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CAPACIDAD</a:t>
            </a:r>
            <a:r>
              <a:rPr lang="es-ES" sz="2600" dirty="0">
                <a:solidFill>
                  <a:schemeClr val="dk1"/>
                </a:solidFill>
              </a:rPr>
              <a:t>: El auditor debe estar plenamente capacitado para la realización de la auditoría encomendada, teniendo en cuenta que a los auditados les puede ser difícil verificar sus recomendaciones y evaluar correctamente la precisión de estas.</a:t>
            </a:r>
          </a:p>
        </p:txBody>
      </p:sp>
    </p:spTree>
    <p:extLst>
      <p:ext uri="{BB962C8B-B14F-4D97-AF65-F5344CB8AC3E}">
        <p14:creationId xmlns:p14="http://schemas.microsoft.com/office/powerpoint/2010/main" val="49818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ABAD4D4-BC89-67FC-4CBF-14245D38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CE90A49-AE3B-5D37-AA6F-26590CD6C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1BB91F88-92BB-1327-CD2F-748D311884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2B9D657-F957-2D99-0FF9-54AF4098018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128CB60-F8B1-B8ED-F1EB-C3286758A4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11DB02F1-53B8-CB32-81D1-5E3617C47A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COMPORTAMIENTO PROFESIONAL</a:t>
            </a:r>
            <a:r>
              <a:rPr lang="es-ES" sz="2600" dirty="0">
                <a:solidFill>
                  <a:schemeClr val="dk1"/>
                </a:solidFill>
              </a:rPr>
              <a:t>: El auditor, tanto en sus relaciones con el auditado como con terceras personas, deberá actuar conforme a las normas, implícitas o explícitas, de dignidad de la profesión y de corrección en el trato personal.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CONCENTRACION EN EL TRABAJO</a:t>
            </a:r>
            <a:r>
              <a:rPr lang="es-ES" sz="2600" dirty="0">
                <a:solidFill>
                  <a:schemeClr val="dk1"/>
                </a:solidFill>
              </a:rPr>
              <a:t>: El auditor deberá evitar que un exceso de trabajo supere sus posibilidades de concentración y precisión en las tareas encomendadas, provocando la conclusión de las mismas sin las debidas garantías de seguridad.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CONFIANZA</a:t>
            </a:r>
            <a:r>
              <a:rPr lang="es-ES" sz="2600" dirty="0">
                <a:solidFill>
                  <a:schemeClr val="dk1"/>
                </a:solidFill>
              </a:rPr>
              <a:t>: El auditor deberá facilitar e incrementar la confianza del auditor en base a una actuación de transparencia en su actividad profesional sin alardes científicos-técnicos.</a:t>
            </a:r>
          </a:p>
        </p:txBody>
      </p:sp>
    </p:spTree>
    <p:extLst>
      <p:ext uri="{BB962C8B-B14F-4D97-AF65-F5344CB8AC3E}">
        <p14:creationId xmlns:p14="http://schemas.microsoft.com/office/powerpoint/2010/main" val="223610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BFEF833-9FE9-1E09-4B54-07F40B9E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59F0B06-7440-01AC-E994-08815D58C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FE9A8D9-0AB8-1A6C-31E0-085CDA3DA88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2CED7B3-BABC-1ED7-311F-61F4A83F9F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F08EA9A4-BE6F-BCBB-A5B3-5664D65390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ECA7BA5-87BE-2DAC-6371-9ED260A399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CRITERIO PROPIO</a:t>
            </a:r>
            <a:r>
              <a:rPr lang="es-ES" sz="2600" dirty="0">
                <a:solidFill>
                  <a:schemeClr val="dk1"/>
                </a:solidFill>
              </a:rPr>
              <a:t>: El auditor durante la ejecución deberá actuar con criterio propio y no permitir que esté subordinado al de otros profesionales que no coincidan con el mismo.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DISCRECIÓN</a:t>
            </a:r>
            <a:r>
              <a:rPr lang="es-ES" sz="2600" dirty="0">
                <a:solidFill>
                  <a:schemeClr val="dk1"/>
                </a:solidFill>
              </a:rPr>
              <a:t>: El auditor deberá, en todo momento, mantener una cierta discreción en la divulgación de datos, aparentemente inocuos, que se le hayan puesto de manifiesto durante la ejecución de la auditoria.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ECONOMÍA</a:t>
            </a:r>
            <a:r>
              <a:rPr lang="es-ES" sz="2600" dirty="0">
                <a:solidFill>
                  <a:schemeClr val="dk1"/>
                </a:solidFill>
              </a:rPr>
              <a:t>: El auditor deberá proteger, en la medida de sus conocimientos, los derechos económicos del auditado evitando generar gastos innecesarios en el ejercicio de su actividad.</a:t>
            </a:r>
          </a:p>
        </p:txBody>
      </p:sp>
    </p:spTree>
    <p:extLst>
      <p:ext uri="{BB962C8B-B14F-4D97-AF65-F5344CB8AC3E}">
        <p14:creationId xmlns:p14="http://schemas.microsoft.com/office/powerpoint/2010/main" val="3033396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8F74CFE-D833-2379-9F42-E6A4A678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83D9307-011F-292A-7656-EF59EF3D3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859A68B-6CF2-2079-B42A-26AE74BCB4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FE94ABE-4BC0-ADF4-033E-42F72BD1B4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5095029-98FB-53E3-4028-17C6130105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CBF9700-F0C2-B04B-4E99-CF29084F704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FORMACIÓN CONTINUADA</a:t>
            </a:r>
            <a:r>
              <a:rPr lang="es-ES" sz="2600" dirty="0">
                <a:solidFill>
                  <a:schemeClr val="dk1"/>
                </a:solidFill>
              </a:rPr>
              <a:t>: El auditor debe mantener una permanente actualización de sus conocimientos y métodos a fin de adecuarlos a las necesidades de la demanda y a las exigencias de la competencia de la oferta.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FORTALECIMIENTO Y RESPETO DE LA PROFESIÓN</a:t>
            </a:r>
            <a:r>
              <a:rPr lang="es-ES" sz="2600" dirty="0">
                <a:solidFill>
                  <a:schemeClr val="dk1"/>
                </a:solidFill>
              </a:rPr>
              <a:t>: El auditor debe tener respeto por el ejercicio de la actividad desarrollada por el mismo y un comportamiento acorde con los requisitos exigibles para el idóneo cumplimiento de las auditorias.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INDEPENDENCIA</a:t>
            </a:r>
            <a:r>
              <a:rPr lang="es-ES" sz="2600" dirty="0">
                <a:solidFill>
                  <a:schemeClr val="dk1"/>
                </a:solidFill>
              </a:rPr>
              <a:t>: El auditor, sea profesional externo o con dependencia laboral respecto a la empresa, debe exigir una total autonomía e independencia en su trabajo.</a:t>
            </a:r>
          </a:p>
        </p:txBody>
      </p:sp>
    </p:spTree>
    <p:extLst>
      <p:ext uri="{BB962C8B-B14F-4D97-AF65-F5344CB8AC3E}">
        <p14:creationId xmlns:p14="http://schemas.microsoft.com/office/powerpoint/2010/main" val="4116770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2CCD40F5-CF20-4EE3-FDF2-E5610CC5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182557E-0A6B-1358-98C1-5E7071AA1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BDCB4FA-8274-D6E0-3213-ED50E3DC1C8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861B4E5-32B9-765B-4520-DE4D03BF50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26A6DB90-EF95-24F6-AB8E-6F226221FE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3A17CC7-B790-5A63-D81A-7C2D869B64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INFORMACIÓN SUFICIENTE</a:t>
            </a:r>
            <a:r>
              <a:rPr lang="es-ES" sz="2600" dirty="0">
                <a:solidFill>
                  <a:schemeClr val="dk1"/>
                </a:solidFill>
              </a:rPr>
              <a:t>: El auditor debe aportar, en forma pormenorizada, clara, precisa e inteligible para el auditado, información de los puntos y conclusiones relacionados con la auditoria.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INTEGRIDAD MORAL</a:t>
            </a:r>
            <a:r>
              <a:rPr lang="es-ES" sz="2600" dirty="0">
                <a:solidFill>
                  <a:schemeClr val="dk1"/>
                </a:solidFill>
              </a:rPr>
              <a:t>: El auditor está obligado a ser honesto, leal y diligente en el desempeño de su misión, como también a ajustarse a las normas morales de justicia y prioridad.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LEGALIDAD</a:t>
            </a:r>
            <a:r>
              <a:rPr lang="es-ES" sz="2600" dirty="0">
                <a:solidFill>
                  <a:schemeClr val="dk1"/>
                </a:solidFill>
              </a:rPr>
              <a:t>: El auditor debe tener un comportamiento activo de oposición a todo intento, por parte del auditado o de terceras personas, a infringir cualquier precepto integrado en el derecho positivo.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89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A27060AD-E07B-8614-B64C-AE67DD89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052EC70-605C-01A9-46CF-DBBAE2E33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C181FEB-DFE7-51C0-2977-80ECAF3BA5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BD77587-AE45-A9DF-ED6F-1E753E4BD2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F64BBB7-136D-19AB-B97D-999FB0960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7552B96F-DFD1-E4A5-BBF4-CEEE6E709C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LIBRE COMPETENCIA</a:t>
            </a:r>
            <a:r>
              <a:rPr lang="es-ES" sz="2600" dirty="0">
                <a:solidFill>
                  <a:schemeClr val="dk1"/>
                </a:solidFill>
              </a:rPr>
              <a:t>: La actual economía de mercado exige que el ejercicio de la profesión se realice en el marco de la libre competencia, siendo rechazables las prácticas colusorias tendentes a impedir o limitar la legítima competencia de otros profesionales.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NO DISCRIMINACIÓN</a:t>
            </a:r>
            <a:r>
              <a:rPr lang="es-ES" sz="2600" dirty="0">
                <a:solidFill>
                  <a:schemeClr val="dk1"/>
                </a:solidFill>
              </a:rPr>
              <a:t>: El auditor en su actuación previa, durante y posterior a la auditoria deberá evitar cualquier tipo de condicionantes y actuar en todos los casos con similar diligencia.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NO INJERENCIA</a:t>
            </a:r>
            <a:r>
              <a:rPr lang="es-ES" sz="2600" dirty="0">
                <a:solidFill>
                  <a:schemeClr val="dk1"/>
                </a:solidFill>
              </a:rPr>
              <a:t>: El auditor deberá evitar injerencias en los trabajos de otros profesionales, respetar su labor y eludir hacer comentarios que pudieran interpretarse como despreciativos de la misma, deberá igualmente evitar aprovechar los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836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D7458FF-CE8A-9D10-975C-2DFB7128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E8C18E4-4577-172F-C0A9-6DBE422165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A8E0600-AAB5-CAB9-D15C-65A69EE5A5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8F242A1-F494-C2ED-3901-07D7DBF913B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CE247D6-045E-466B-846F-B72139FBE4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8DD06E8C-F965-95AA-2D82-E2D18A19FF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PRECISIÓN</a:t>
            </a:r>
            <a:r>
              <a:rPr lang="es-ES" sz="2600" dirty="0">
                <a:solidFill>
                  <a:schemeClr val="dk1"/>
                </a:solidFill>
              </a:rPr>
              <a:t>: El auditor no debe concluir su trabajo hasta estar convencido, en la medida de lo posible, de la viabilidad de sus propuestas.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PUBLICIDAD ADECUADA</a:t>
            </a:r>
            <a:r>
              <a:rPr lang="es-ES" sz="2600" dirty="0">
                <a:solidFill>
                  <a:schemeClr val="dk1"/>
                </a:solidFill>
              </a:rPr>
              <a:t>: La oferta y promoción de los servicios de auditoria deberán, en todo momento, ajustarse a las características, condiciones y finalidad perseguidas.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RESPONSABILIDAD</a:t>
            </a:r>
            <a:r>
              <a:rPr lang="es-ES" sz="2600" dirty="0">
                <a:solidFill>
                  <a:schemeClr val="dk1"/>
                </a:solidFill>
              </a:rPr>
              <a:t>: El auditor deberá, como elemento intrínseco de todo comportamiento profesional, responsabilizarse de lo que haga, diga o aconseje.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07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B340EAC-376A-94C7-1DB9-1C5D88FA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4EA2CF2-6382-D928-C68A-FCA07C4E2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3F4D10A-9DE2-010B-A751-E292C37F626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53FBACC-F541-A733-54DF-3031C688849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201ED44-AF90-EAB4-50BB-8A53C14FFB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BF733C4B-F5AB-865B-736C-A38DE75B90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SECRETO PROFESIONAL</a:t>
            </a:r>
            <a:r>
              <a:rPr lang="es-ES" sz="2600" dirty="0">
                <a:solidFill>
                  <a:schemeClr val="dk1"/>
                </a:solidFill>
              </a:rPr>
              <a:t>: La confidencia y confianza entre el auditor y el auditado imponen al primero la obligación de guardar en secreto los hechos e informaciones que conozca en el ejercicio de su actividad profesional.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SERVICIO PÚBLICO</a:t>
            </a:r>
            <a:r>
              <a:rPr lang="es-ES" sz="2600" dirty="0">
                <a:solidFill>
                  <a:schemeClr val="dk1"/>
                </a:solidFill>
              </a:rPr>
              <a:t>: El auditor debe hacer lo que este en sus manos, y sin perjuicio de los intereses de su cliente, para evitar daños sociales.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VERACIDAD</a:t>
            </a:r>
            <a:r>
              <a:rPr lang="es-ES" sz="2600" dirty="0">
                <a:solidFill>
                  <a:schemeClr val="dk1"/>
                </a:solidFill>
              </a:rPr>
              <a:t>: El auditor, en sus comunicaciones con el auditado, deberá tener siempre presente la obligación de asegurar la veracidad de sus manifestaciones con los límites impuestos por los deberes de respeto, corrección, y secreto profesional.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20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5720DAE-C60B-BC13-51EE-1ABA1447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780541A0-1A21-5AD3-7DB6-25915A035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12CF19E-5A56-E6E0-2E2A-3BCD62134C1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00DC14E-BA4B-0D31-8092-F039711159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A5E780F-39A5-57CF-D519-31E572F63B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ECD3B9D-4FA8-784E-0513-B80E4DFEED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Herramientas para realizar auditorías informáticas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Las auditorías informáticas requieren de un conjunto de herramientas especializadas para examinar y evaluar los sistemas, procesos y controles de una organización.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Abarcan desde escáneres de vulnerabilidades hasta analizadores de tráfico de red, pasando por herramientas de monitoreo y diagnóstico.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Algunas de las herramientas más comunes utilizadas en auditorías informáticas son: Nessus, Wireshark, </a:t>
            </a:r>
            <a:r>
              <a:rPr lang="es-ES" sz="2600" dirty="0" err="1">
                <a:solidFill>
                  <a:schemeClr val="dk1"/>
                </a:solidFill>
              </a:rPr>
              <a:t>Metasploit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Burp</a:t>
            </a:r>
            <a:r>
              <a:rPr lang="es-ES" sz="2600" dirty="0">
                <a:solidFill>
                  <a:schemeClr val="dk1"/>
                </a:solidFill>
              </a:rPr>
              <a:t> Suite, </a:t>
            </a:r>
            <a:r>
              <a:rPr lang="es-ES" sz="2600" dirty="0" err="1">
                <a:solidFill>
                  <a:schemeClr val="dk1"/>
                </a:solidFill>
              </a:rPr>
              <a:t>Sqlmap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Maltego</a:t>
            </a:r>
            <a:r>
              <a:rPr lang="es-ES" sz="2600" dirty="0">
                <a:solidFill>
                  <a:schemeClr val="dk1"/>
                </a:solidFill>
              </a:rPr>
              <a:t> y OSSEC, entre otras, y permiten identificar puntos débiles, detectar intrusiones, analizar el flujo de información y evaluar el cumplimiento normativo.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57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DE115DB-B11B-02C5-E71E-08B218B3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4BE232F-32D3-2B9E-42F1-0D6846CBB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11BEBB7-138E-4117-BC90-D0739F5388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678744D-7271-0D5E-960E-E5402826B4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FA97345-22CC-8CE9-6E21-007C27331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7DEFAEB-C341-9E11-BD74-6D97E86CEF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Octave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Octave (</a:t>
            </a:r>
            <a:r>
              <a:rPr lang="es-ES" sz="2600" dirty="0" err="1">
                <a:solidFill>
                  <a:schemeClr val="dk1"/>
                </a:solidFill>
              </a:rPr>
              <a:t>Operationally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Critical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Threat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Asset</a:t>
            </a:r>
            <a:r>
              <a:rPr lang="es-ES" sz="2600" dirty="0">
                <a:solidFill>
                  <a:schemeClr val="dk1"/>
                </a:solidFill>
              </a:rPr>
              <a:t>, and </a:t>
            </a:r>
            <a:r>
              <a:rPr lang="es-ES" sz="2600" dirty="0" err="1">
                <a:solidFill>
                  <a:schemeClr val="dk1"/>
                </a:solidFill>
              </a:rPr>
              <a:t>Vulnerability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Evaluation</a:t>
            </a:r>
            <a:r>
              <a:rPr lang="es-ES" sz="2600" dirty="0">
                <a:solidFill>
                  <a:schemeClr val="dk1"/>
                </a:solidFill>
              </a:rPr>
              <a:t>) es un enfoque integral para la evaluación de riesgos de seguridad de la información.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Consiste en una serie de pasos estructurados que ayudan a identificar los activos críticos, analizar las amenazas y evaluar las vulnerabilidades de una organización.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AR" sz="1800" u="sng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https://www.pmg-ssi.com/2021/09/metodologia-octave-para-el-analisis-de-riesgos-en-sgsi/</a:t>
            </a:r>
            <a:r>
              <a:rPr lang="es-AR" sz="18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s-ES" sz="18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472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5BBDCAD-5D89-561F-F950-9C91FA55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233C5A5-2FBA-BF05-7676-8F13552656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213D33A-040B-A8F9-BCF2-FB8DCAF30F9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CD7FE721-3BE1-0532-997F-EFE41AE351E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1456290A-096D-84BD-78D2-5CC6EE9916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D038797-4B94-9CE1-C533-F31D56FC9C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Octave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  <p:sp>
        <p:nvSpPr>
          <p:cNvPr id="2" name="Google Shape;294;p4">
            <a:extLst>
              <a:ext uri="{FF2B5EF4-FFF2-40B4-BE49-F238E27FC236}">
                <a16:creationId xmlns:a16="http://schemas.microsoft.com/office/drawing/2014/main" id="{EF8362E1-EA2B-27EA-C23B-6B0EFE6F7BA0}"/>
              </a:ext>
            </a:extLst>
          </p:cNvPr>
          <p:cNvSpPr/>
          <p:nvPr/>
        </p:nvSpPr>
        <p:spPr>
          <a:xfrm>
            <a:off x="1929805" y="2503794"/>
            <a:ext cx="1388666" cy="960239"/>
          </a:xfrm>
          <a:prstGeom prst="roundRect">
            <a:avLst>
              <a:gd name="adj" fmla="val 7810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5;p4">
            <a:extLst>
              <a:ext uri="{FF2B5EF4-FFF2-40B4-BE49-F238E27FC236}">
                <a16:creationId xmlns:a16="http://schemas.microsoft.com/office/drawing/2014/main" id="{9E16DF8F-00A6-E79F-BB72-3AB38A207E28}"/>
              </a:ext>
            </a:extLst>
          </p:cNvPr>
          <p:cNvSpPr/>
          <p:nvPr/>
        </p:nvSpPr>
        <p:spPr>
          <a:xfrm>
            <a:off x="2102743" y="2817225"/>
            <a:ext cx="1225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1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296;p4">
            <a:extLst>
              <a:ext uri="{FF2B5EF4-FFF2-40B4-BE49-F238E27FC236}">
                <a16:creationId xmlns:a16="http://schemas.microsoft.com/office/drawing/2014/main" id="{99F18AC1-3D2C-4FDA-D6A2-E6514920BC7F}"/>
              </a:ext>
            </a:extLst>
          </p:cNvPr>
          <p:cNvSpPr/>
          <p:nvPr/>
        </p:nvSpPr>
        <p:spPr>
          <a:xfrm>
            <a:off x="3485040" y="2670375"/>
            <a:ext cx="48168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Identificar activos</a:t>
            </a:r>
            <a:endParaRPr sz="16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7;p4">
            <a:extLst>
              <a:ext uri="{FF2B5EF4-FFF2-40B4-BE49-F238E27FC236}">
                <a16:creationId xmlns:a16="http://schemas.microsoft.com/office/drawing/2014/main" id="{42F8A122-3ACF-8DC5-BD82-1F6C69F91DE7}"/>
              </a:ext>
            </a:extLst>
          </p:cNvPr>
          <p:cNvSpPr/>
          <p:nvPr/>
        </p:nvSpPr>
        <p:spPr>
          <a:xfrm>
            <a:off x="3485058" y="3030744"/>
            <a:ext cx="5162996" cy="22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Enumerar los activos de información clave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8;p4">
            <a:extLst>
              <a:ext uri="{FF2B5EF4-FFF2-40B4-BE49-F238E27FC236}">
                <a16:creationId xmlns:a16="http://schemas.microsoft.com/office/drawing/2014/main" id="{5F52FFE6-AB75-0FA0-3695-EE9BE0F31CA5}"/>
              </a:ext>
            </a:extLst>
          </p:cNvPr>
          <p:cNvSpPr/>
          <p:nvPr/>
        </p:nvSpPr>
        <p:spPr>
          <a:xfrm>
            <a:off x="3401715" y="3445453"/>
            <a:ext cx="6777236" cy="0"/>
          </a:xfrm>
          <a:prstGeom prst="roundRect">
            <a:avLst>
              <a:gd name="adj" fmla="val 45123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99;p4">
            <a:extLst>
              <a:ext uri="{FF2B5EF4-FFF2-40B4-BE49-F238E27FC236}">
                <a16:creationId xmlns:a16="http://schemas.microsoft.com/office/drawing/2014/main" id="{00764986-6950-8CB6-AD10-D73041CCBEF9}"/>
              </a:ext>
            </a:extLst>
          </p:cNvPr>
          <p:cNvSpPr/>
          <p:nvPr/>
        </p:nvSpPr>
        <p:spPr>
          <a:xfrm>
            <a:off x="1929805" y="3547277"/>
            <a:ext cx="2777431" cy="960239"/>
          </a:xfrm>
          <a:prstGeom prst="roundRect">
            <a:avLst>
              <a:gd name="adj" fmla="val 7810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8" name="Google Shape;300;p4">
            <a:extLst>
              <a:ext uri="{FF2B5EF4-FFF2-40B4-BE49-F238E27FC236}">
                <a16:creationId xmlns:a16="http://schemas.microsoft.com/office/drawing/2014/main" id="{87CA12C9-614E-C95B-40BC-7B0B46F3D8B8}"/>
              </a:ext>
            </a:extLst>
          </p:cNvPr>
          <p:cNvSpPr/>
          <p:nvPr/>
        </p:nvSpPr>
        <p:spPr>
          <a:xfrm>
            <a:off x="2102744" y="3860708"/>
            <a:ext cx="1739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2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301;p4">
            <a:extLst>
              <a:ext uri="{FF2B5EF4-FFF2-40B4-BE49-F238E27FC236}">
                <a16:creationId xmlns:a16="http://schemas.microsoft.com/office/drawing/2014/main" id="{194BD891-ACAB-B2DF-4ACF-0B8776A1A702}"/>
              </a:ext>
            </a:extLst>
          </p:cNvPr>
          <p:cNvSpPr/>
          <p:nvPr/>
        </p:nvSpPr>
        <p:spPr>
          <a:xfrm>
            <a:off x="4873824" y="3713867"/>
            <a:ext cx="3635176" cy="345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Analizar amenazas</a:t>
            </a:r>
            <a:endParaRPr sz="16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2;p4">
            <a:extLst>
              <a:ext uri="{FF2B5EF4-FFF2-40B4-BE49-F238E27FC236}">
                <a16:creationId xmlns:a16="http://schemas.microsoft.com/office/drawing/2014/main" id="{BE0448DF-11F4-0BE3-13C9-8157D55A3DEC}"/>
              </a:ext>
            </a:extLst>
          </p:cNvPr>
          <p:cNvSpPr/>
          <p:nvPr/>
        </p:nvSpPr>
        <p:spPr>
          <a:xfrm>
            <a:off x="4873823" y="4074227"/>
            <a:ext cx="5556536" cy="266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Evaluar las posibles amenazas a los activos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03;p4">
            <a:extLst>
              <a:ext uri="{FF2B5EF4-FFF2-40B4-BE49-F238E27FC236}">
                <a16:creationId xmlns:a16="http://schemas.microsoft.com/office/drawing/2014/main" id="{1CFFB0F3-7D97-E556-4914-38094E0E0342}"/>
              </a:ext>
            </a:extLst>
          </p:cNvPr>
          <p:cNvSpPr/>
          <p:nvPr/>
        </p:nvSpPr>
        <p:spPr>
          <a:xfrm>
            <a:off x="4790480" y="4488936"/>
            <a:ext cx="5388471" cy="0"/>
          </a:xfrm>
          <a:prstGeom prst="roundRect">
            <a:avLst>
              <a:gd name="adj" fmla="val 45123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304;p4">
            <a:extLst>
              <a:ext uri="{FF2B5EF4-FFF2-40B4-BE49-F238E27FC236}">
                <a16:creationId xmlns:a16="http://schemas.microsoft.com/office/drawing/2014/main" id="{D1A87552-E55B-C782-9146-9C7160C7E252}"/>
              </a:ext>
            </a:extLst>
          </p:cNvPr>
          <p:cNvSpPr/>
          <p:nvPr/>
        </p:nvSpPr>
        <p:spPr>
          <a:xfrm>
            <a:off x="1929805" y="4590761"/>
            <a:ext cx="4166195" cy="1226939"/>
          </a:xfrm>
          <a:prstGeom prst="roundRect">
            <a:avLst>
              <a:gd name="adj" fmla="val 6112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05;p4">
            <a:extLst>
              <a:ext uri="{FF2B5EF4-FFF2-40B4-BE49-F238E27FC236}">
                <a16:creationId xmlns:a16="http://schemas.microsoft.com/office/drawing/2014/main" id="{16472D67-CAF8-058A-8335-E79C136805FF}"/>
              </a:ext>
            </a:extLst>
          </p:cNvPr>
          <p:cNvSpPr/>
          <p:nvPr/>
        </p:nvSpPr>
        <p:spPr>
          <a:xfrm>
            <a:off x="2102743" y="5037543"/>
            <a:ext cx="1835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3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06;p4">
            <a:extLst>
              <a:ext uri="{FF2B5EF4-FFF2-40B4-BE49-F238E27FC236}">
                <a16:creationId xmlns:a16="http://schemas.microsoft.com/office/drawing/2014/main" id="{96D2281D-29F5-EFD7-73A4-D24294F5479B}"/>
              </a:ext>
            </a:extLst>
          </p:cNvPr>
          <p:cNvSpPr/>
          <p:nvPr/>
        </p:nvSpPr>
        <p:spPr>
          <a:xfrm>
            <a:off x="6262589" y="4757349"/>
            <a:ext cx="4166195" cy="2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Determinar vulnerabilidades</a:t>
            </a:r>
            <a:endParaRPr sz="16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07;p4">
            <a:extLst>
              <a:ext uri="{FF2B5EF4-FFF2-40B4-BE49-F238E27FC236}">
                <a16:creationId xmlns:a16="http://schemas.microsoft.com/office/drawing/2014/main" id="{17952B05-EF6A-CA67-6E72-EE080D290588}"/>
              </a:ext>
            </a:extLst>
          </p:cNvPr>
          <p:cNvSpPr/>
          <p:nvPr/>
        </p:nvSpPr>
        <p:spPr>
          <a:xfrm>
            <a:off x="6262589" y="5117710"/>
            <a:ext cx="4166195" cy="561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Identificar las debilidades que pueden ser explotadas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1984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452F2EF-B82B-4629-B11F-16DA1DA2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080B11A-D144-3974-F9B3-FCBF3DD88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3AAC602-9E20-CECA-185B-50C7EE42C5C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78DAD96-D5B2-5B48-FF74-4BF4B6EA0F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836AFE3-B89C-946E-2002-A92B0945B5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298AF32-9336-5AD7-BA31-B70EB45A1B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</a:t>
            </a:r>
            <a:r>
              <a:rPr lang="es-ES" sz="3000" dirty="0" err="1">
                <a:solidFill>
                  <a:schemeClr val="dk1"/>
                </a:solidFill>
              </a:rPr>
              <a:t>Margerit</a:t>
            </a:r>
            <a:r>
              <a:rPr lang="es-ES" sz="3000" dirty="0">
                <a:solidFill>
                  <a:schemeClr val="dk1"/>
                </a:solidFill>
              </a:rPr>
              <a:t>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 err="1">
                <a:solidFill>
                  <a:schemeClr val="dk1"/>
                </a:solidFill>
              </a:rPr>
              <a:t>Margerit</a:t>
            </a:r>
            <a:r>
              <a:rPr lang="es-ES" sz="2600" dirty="0">
                <a:solidFill>
                  <a:schemeClr val="dk1"/>
                </a:solidFill>
              </a:rPr>
              <a:t> es un marco completo para realizar auditorías informáticas de manera sistemática y exhaustiva.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Comienza con una etapa de planificación donde se definen los objetivos y el alcance del proyecto. Luego sigue un análisis detallado de los riesgos y los controles existentes en la organización.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evaluación permite valorar la eficacia de estos controles y finalmente se generan recomendaciones específicas para mejorar la seguridad informática..</a:t>
            </a: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AR" sz="1750" u="sng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https://www.ccn-cert.cni.es/es/documentos-publicos/1789-magerit-libro-i-metodo/file?format=html</a:t>
            </a: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47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439AFBB-CEE9-458B-4CD4-BFBFDD6C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0D09F2E-384C-3EA1-F67C-1A8D3ADD3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2C127CB-D6C1-91F4-2AFB-8D1C9AAB184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2A3B088-327A-8019-826D-2136A25962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1EFCFB5-8960-5AD5-516F-FDD2C6410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B634BA2-D2F0-2188-AFAB-DFB1F18DB9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</a:t>
            </a:r>
            <a:r>
              <a:rPr lang="es-ES" sz="3000" dirty="0" err="1">
                <a:solidFill>
                  <a:schemeClr val="dk1"/>
                </a:solidFill>
              </a:rPr>
              <a:t>Margerit</a:t>
            </a:r>
            <a:r>
              <a:rPr lang="es-ES" sz="3000" dirty="0">
                <a:solidFill>
                  <a:schemeClr val="dk1"/>
                </a:solidFill>
              </a:rPr>
              <a:t> para auditoría informática</a:t>
            </a:r>
          </a:p>
        </p:txBody>
      </p:sp>
      <p:pic>
        <p:nvPicPr>
          <p:cNvPr id="2" name="Google Shape;316;p5" descr="preencoded.png">
            <a:extLst>
              <a:ext uri="{FF2B5EF4-FFF2-40B4-BE49-F238E27FC236}">
                <a16:creationId xmlns:a16="http://schemas.microsoft.com/office/drawing/2014/main" id="{EE2F997A-D98D-1796-893A-2C66FDDE3E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1554" y="2693771"/>
            <a:ext cx="909142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17;p5">
            <a:extLst>
              <a:ext uri="{FF2B5EF4-FFF2-40B4-BE49-F238E27FC236}">
                <a16:creationId xmlns:a16="http://schemas.microsoft.com/office/drawing/2014/main" id="{0FDE8D4F-305D-0DD7-15B8-4555A86CEF4C}"/>
              </a:ext>
            </a:extLst>
          </p:cNvPr>
          <p:cNvSpPr/>
          <p:nvPr/>
        </p:nvSpPr>
        <p:spPr>
          <a:xfrm>
            <a:off x="3632100" y="3074869"/>
            <a:ext cx="107950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1</a:t>
            </a:r>
            <a:endParaRPr sz="2000" b="1" i="0" u="none" strike="noStrike" cap="none" dirty="0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318;p5">
            <a:extLst>
              <a:ext uri="{FF2B5EF4-FFF2-40B4-BE49-F238E27FC236}">
                <a16:creationId xmlns:a16="http://schemas.microsoft.com/office/drawing/2014/main" id="{D755AB8D-7819-51F7-1BED-95D19A8A725F}"/>
              </a:ext>
            </a:extLst>
          </p:cNvPr>
          <p:cNvSpPr/>
          <p:nvPr/>
        </p:nvSpPr>
        <p:spPr>
          <a:xfrm>
            <a:off x="4287536" y="2840604"/>
            <a:ext cx="2727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Planificación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319;p5">
            <a:extLst>
              <a:ext uri="{FF2B5EF4-FFF2-40B4-BE49-F238E27FC236}">
                <a16:creationId xmlns:a16="http://schemas.microsoft.com/office/drawing/2014/main" id="{0356DB21-5152-6D5F-72CE-CB973DEEE3E2}"/>
              </a:ext>
            </a:extLst>
          </p:cNvPr>
          <p:cNvSpPr/>
          <p:nvPr/>
        </p:nvSpPr>
        <p:spPr>
          <a:xfrm>
            <a:off x="4415540" y="3188926"/>
            <a:ext cx="4744036" cy="22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Establecer objetivos y alcance de la auditoría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320;p5">
            <a:extLst>
              <a:ext uri="{FF2B5EF4-FFF2-40B4-BE49-F238E27FC236}">
                <a16:creationId xmlns:a16="http://schemas.microsoft.com/office/drawing/2014/main" id="{FD15861A-62F4-7C4F-718A-BEED59FD9029}"/>
              </a:ext>
            </a:extLst>
          </p:cNvPr>
          <p:cNvSpPr/>
          <p:nvPr/>
        </p:nvSpPr>
        <p:spPr>
          <a:xfrm>
            <a:off x="4177406" y="3542785"/>
            <a:ext cx="4982170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21;p5" descr="preencoded.png">
            <a:extLst>
              <a:ext uri="{FF2B5EF4-FFF2-40B4-BE49-F238E27FC236}">
                <a16:creationId xmlns:a16="http://schemas.microsoft.com/office/drawing/2014/main" id="{10569BE4-5B59-958A-F1F8-1124024B92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7033" y="3576817"/>
            <a:ext cx="1818283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22;p5">
            <a:extLst>
              <a:ext uri="{FF2B5EF4-FFF2-40B4-BE49-F238E27FC236}">
                <a16:creationId xmlns:a16="http://schemas.microsoft.com/office/drawing/2014/main" id="{B5A06E1C-E967-FD75-43F0-F64CB12331E0}"/>
              </a:ext>
            </a:extLst>
          </p:cNvPr>
          <p:cNvSpPr/>
          <p:nvPr/>
        </p:nvSpPr>
        <p:spPr>
          <a:xfrm>
            <a:off x="3609479" y="3853042"/>
            <a:ext cx="153293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2</a:t>
            </a:r>
            <a:endParaRPr sz="2000" b="1" i="0" u="none" strike="noStrike" cap="none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323;p5">
            <a:extLst>
              <a:ext uri="{FF2B5EF4-FFF2-40B4-BE49-F238E27FC236}">
                <a16:creationId xmlns:a16="http://schemas.microsoft.com/office/drawing/2014/main" id="{3F215CB1-96AA-6563-E7FA-F29019C6AFD6}"/>
              </a:ext>
            </a:extLst>
          </p:cNvPr>
          <p:cNvSpPr/>
          <p:nvPr/>
        </p:nvSpPr>
        <p:spPr>
          <a:xfrm>
            <a:off x="4742160" y="3723661"/>
            <a:ext cx="1836638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Análisis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24;p5">
            <a:extLst>
              <a:ext uri="{FF2B5EF4-FFF2-40B4-BE49-F238E27FC236}">
                <a16:creationId xmlns:a16="http://schemas.microsoft.com/office/drawing/2014/main" id="{8D3AEC0C-86D7-C3F7-44C8-D9A1C0DCA53A}"/>
              </a:ext>
            </a:extLst>
          </p:cNvPr>
          <p:cNvSpPr/>
          <p:nvPr/>
        </p:nvSpPr>
        <p:spPr>
          <a:xfrm>
            <a:off x="4742160" y="4041260"/>
            <a:ext cx="4527550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Identificar riesgos y controles existentes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25;p5">
            <a:extLst>
              <a:ext uri="{FF2B5EF4-FFF2-40B4-BE49-F238E27FC236}">
                <a16:creationId xmlns:a16="http://schemas.microsoft.com/office/drawing/2014/main" id="{5FC278E9-2A81-D87B-D2F6-E9573FDC1291}"/>
              </a:ext>
            </a:extLst>
          </p:cNvPr>
          <p:cNvSpPr/>
          <p:nvPr/>
        </p:nvSpPr>
        <p:spPr>
          <a:xfrm>
            <a:off x="4632027" y="4425833"/>
            <a:ext cx="4527550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326;p5" descr="preencoded.png">
            <a:extLst>
              <a:ext uri="{FF2B5EF4-FFF2-40B4-BE49-F238E27FC236}">
                <a16:creationId xmlns:a16="http://schemas.microsoft.com/office/drawing/2014/main" id="{C48886E2-A141-9DFD-A83E-E4C6E6CEFA2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2413" y="4459864"/>
            <a:ext cx="2727424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7;p5">
            <a:extLst>
              <a:ext uri="{FF2B5EF4-FFF2-40B4-BE49-F238E27FC236}">
                <a16:creationId xmlns:a16="http://schemas.microsoft.com/office/drawing/2014/main" id="{F6585BDF-2E8B-42DD-932D-3F4982017046}"/>
              </a:ext>
            </a:extLst>
          </p:cNvPr>
          <p:cNvSpPr/>
          <p:nvPr/>
        </p:nvSpPr>
        <p:spPr>
          <a:xfrm>
            <a:off x="3605212" y="4736089"/>
            <a:ext cx="161727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3</a:t>
            </a:r>
            <a:endParaRPr sz="2000" b="1" i="0" u="none" strike="noStrike" cap="none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8;p5">
            <a:extLst>
              <a:ext uri="{FF2B5EF4-FFF2-40B4-BE49-F238E27FC236}">
                <a16:creationId xmlns:a16="http://schemas.microsoft.com/office/drawing/2014/main" id="{A6ACF822-E87A-0365-37BA-CD0A709A4767}"/>
              </a:ext>
            </a:extLst>
          </p:cNvPr>
          <p:cNvSpPr/>
          <p:nvPr/>
        </p:nvSpPr>
        <p:spPr>
          <a:xfrm>
            <a:off x="5196681" y="4606708"/>
            <a:ext cx="1836638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Evaluación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29;p5">
            <a:extLst>
              <a:ext uri="{FF2B5EF4-FFF2-40B4-BE49-F238E27FC236}">
                <a16:creationId xmlns:a16="http://schemas.microsoft.com/office/drawing/2014/main" id="{D525E100-D798-076B-AC2B-69D4B5BFF913}"/>
              </a:ext>
            </a:extLst>
          </p:cNvPr>
          <p:cNvSpPr/>
          <p:nvPr/>
        </p:nvSpPr>
        <p:spPr>
          <a:xfrm>
            <a:off x="5196681" y="4924309"/>
            <a:ext cx="4073028" cy="1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Valorar la efectividad de los controles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30;p5">
            <a:extLst>
              <a:ext uri="{FF2B5EF4-FFF2-40B4-BE49-F238E27FC236}">
                <a16:creationId xmlns:a16="http://schemas.microsoft.com/office/drawing/2014/main" id="{0CEB40AC-243E-94CE-7F7B-4265C4515248}"/>
              </a:ext>
            </a:extLst>
          </p:cNvPr>
          <p:cNvSpPr/>
          <p:nvPr/>
        </p:nvSpPr>
        <p:spPr>
          <a:xfrm>
            <a:off x="5086548" y="5308879"/>
            <a:ext cx="4073029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31;p5" descr="preencoded.png">
            <a:extLst>
              <a:ext uri="{FF2B5EF4-FFF2-40B4-BE49-F238E27FC236}">
                <a16:creationId xmlns:a16="http://schemas.microsoft.com/office/drawing/2014/main" id="{AB7E7328-7691-63CA-B3BE-1DB327D761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7892" y="5342911"/>
            <a:ext cx="3636566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32;p5">
            <a:extLst>
              <a:ext uri="{FF2B5EF4-FFF2-40B4-BE49-F238E27FC236}">
                <a16:creationId xmlns:a16="http://schemas.microsoft.com/office/drawing/2014/main" id="{7F4ED403-A326-7ABA-F0F2-8840A427718F}"/>
              </a:ext>
            </a:extLst>
          </p:cNvPr>
          <p:cNvSpPr/>
          <p:nvPr/>
        </p:nvSpPr>
        <p:spPr>
          <a:xfrm>
            <a:off x="3601244" y="5619135"/>
            <a:ext cx="169664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4</a:t>
            </a:r>
            <a:endParaRPr sz="2000" b="1" i="0" u="none" strike="noStrike" cap="none" dirty="0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p5">
            <a:extLst>
              <a:ext uri="{FF2B5EF4-FFF2-40B4-BE49-F238E27FC236}">
                <a16:creationId xmlns:a16="http://schemas.microsoft.com/office/drawing/2014/main" id="{19E0F1D2-75F9-A4FD-A20C-E1577A47DC31}"/>
              </a:ext>
            </a:extLst>
          </p:cNvPr>
          <p:cNvSpPr/>
          <p:nvPr/>
        </p:nvSpPr>
        <p:spPr>
          <a:xfrm>
            <a:off x="5651302" y="5489755"/>
            <a:ext cx="2003326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Recomendaciones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34;p5">
            <a:extLst>
              <a:ext uri="{FF2B5EF4-FFF2-40B4-BE49-F238E27FC236}">
                <a16:creationId xmlns:a16="http://schemas.microsoft.com/office/drawing/2014/main" id="{3A73FDAA-A883-758C-3320-D2787329B34B}"/>
              </a:ext>
            </a:extLst>
          </p:cNvPr>
          <p:cNvSpPr/>
          <p:nvPr/>
        </p:nvSpPr>
        <p:spPr>
          <a:xfrm>
            <a:off x="5651300" y="5807354"/>
            <a:ext cx="3781457" cy="25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Proponer mejoras y un plan de acción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5369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24B248A-C492-C2AA-E7DC-DC24BD1B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7F84B33-35DA-0E15-39B2-0778D9758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7CEE327-227A-67EE-7D50-71439B6F63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DD36CBB-B6A7-9270-24F0-EFABF20612A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7D83B2A-A1D2-F97A-BD62-30A554D64C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62B762AB-D579-D014-042C-9D19CDC21B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Evaluación de controles en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Revisión de controles técnicos 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Durante la auditoría, el equipo evaluará los controles técnicos implementados, como firewalls, sistemas de detección de intrusos y configuración de servidores, para asegurar su eficacia y cumplimiento con las políticas de seguridad.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Inspección de controles físicos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realizarán inspecciones in situ para verificar la efectividad de los controles físicos, como sistemas de acceso, monitoreo por cámaras y resguardo de áreas críticas, que protejan la infraestructura tecnológica.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 controles administrativos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Además, se revisarán los controles administrativos, como políticas de seguridad de la información, procedimientos de gestión de incidentes y concienciación de los usuarios, para evaluar su implementación y eficacia.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02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ECA8137-E463-C1B9-0FE6-9C532F8B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9ECA8B3-9621-D0EE-DEB5-F1077BCFD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00C7784-609A-6C99-2B85-BB2178D13B7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742DB746-B7E7-F8A3-78EB-2976FCCAAB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8E465D3-4ADD-586D-9442-D988186C72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B7A6FF4D-02F1-C68C-EE36-18C4F9FFCBE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42318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Ejemplo de un reporte de hallazgos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1271918" y="2250976"/>
            <a:ext cx="6480770" cy="4208562"/>
          </a:xfrm>
          <a:prstGeom prst="roundRect">
            <a:avLst>
              <a:gd name="adj" fmla="val 1386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1278268" y="2234177"/>
            <a:ext cx="7607196" cy="41453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1408642" y="229323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Hallazgo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3567344" y="2293239"/>
            <a:ext cx="1890018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Descripción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974159" y="229323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Nivel de Riesgo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1278267" y="2632671"/>
            <a:ext cx="7607197" cy="120441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1408642" y="2716709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Falta de controles de acceso adecuados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325788" y="2694759"/>
            <a:ext cx="3620307" cy="103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Se identificó que no hay controles suficientes para restringir el acceso a sistemas críticos. Varios usuarios tienen privilegios excesivos.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6974159" y="271670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Alto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302220" y="3797896"/>
            <a:ext cx="7607198" cy="120441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1408642" y="3921126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Vulnerabilidades en el sistema de backups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25788" y="3837362"/>
            <a:ext cx="3648370" cy="103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proceso de respaldo de información presenta fallas y no se realiza de manera sistemática. Existe riesgo de pérdida de datos críticos.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6974159" y="3921126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Medio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1278268" y="5041504"/>
            <a:ext cx="7631150" cy="141168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1408642" y="5125542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Falta de monitoreo de actividad en la red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3329899" y="5064585"/>
            <a:ext cx="3602194" cy="1243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No se implementan herramientas ni procesos para el monitoreo y análisis del tráfico de red. Esto dificulta la detección temprana de incidentes de seguridad.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6974159" y="5125542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Alto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" name="Google Shape;359;p8">
            <a:extLst>
              <a:ext uri="{FF2B5EF4-FFF2-40B4-BE49-F238E27FC236}">
                <a16:creationId xmlns:a16="http://schemas.microsoft.com/office/drawing/2014/main" id="{5C9A5730-6826-0F09-9F04-233F135CC1AD}"/>
              </a:ext>
            </a:extLst>
          </p:cNvPr>
          <p:cNvSpPr/>
          <p:nvPr/>
        </p:nvSpPr>
        <p:spPr>
          <a:xfrm>
            <a:off x="8419556" y="1949403"/>
            <a:ext cx="3234912" cy="38067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reporte de hallazgos es un componente clave de la auditoría informática. En esta etapa, se documentan de manera clara y concisa los problemas, debilidades o riesgos identificados durante el proceso de evaluación. </a:t>
            </a:r>
          </a:p>
          <a:p>
            <a:pPr marL="0" marR="0" lvl="0" indent="0" algn="just" rtl="0">
              <a:lnSpc>
                <a:spcPct val="15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informe debe proporcionar una visión general de los hallazgos más importantes, clasificados por nivel de criticidad y acompañados de recomendaciones específicas.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705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D554573-099D-13D1-41A1-BFC34C77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495F90D-75A2-D2E9-5468-4B433BA42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870007A-2104-F6E6-A846-3B51F86129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02651CF-8CAE-2DB6-0022-D389DD43E9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E5F6E79-8B05-2E3E-22C1-6A8F14A6D1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143ACE9-262C-9127-D056-1BFAF8C77F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Recomendaciones y plan de acción en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Recomendaciones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Basado en los hallazgos de la auditoría, se brindan recomendaciones específicas y detalladas para mejorar la seguridad, eficiencia y cumplimiento de los sistemas y procesos informáticos.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Plan de acción 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establece un plan de acción claro y estructurado, con plazos, responsables y recursos definidos, para implementar las recomendaciones de manera efectiva y oportuna.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Seguimiento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diseña un sistema de seguimiento y monitoreo para evaluar el progreso y el impacto de las acciones implementadas, con el fin de asegurar el cumplimiento de los objetivos de la auditoría.</a:t>
            </a: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4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3855DEC-5AD3-1B08-06DE-5C7E9AE8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D9CA137-5818-DAF2-B7D3-86D401FB9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A7A79485-44A3-B7EC-36F2-AF54BAF3086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3DAB86BC-20F3-F6F0-953C-CD5122A3E8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9D4B7EE-59FE-55E9-4FD8-A4F3040C5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368E8CE3-13A6-E670-DE01-5123649DBF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Beneficios de la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auditoría informática ofrece múltiples beneficios a las organizaciones, como la identificación de riesgos, la mejora de controles internos y la optimización de recursos tecnológicos. Además, ayuda a garantizar el cumplimiento normativo y la seguridad de la información.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 implementar recomendaciones de auditoría, las empresas pueden fortalecer su posición competitiva, aumentar la confianza de clientes y partes interesadas, y prepararse mejor para enfrentar amenazas cibernéticas.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907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48CEFBD-A894-ED1C-B65D-600B3A6B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998C9D5-CAEF-631C-2503-80309828F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79A9A0D-FB92-633A-968B-FE29F0F320F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6DE2F6DC-D8AE-7EA5-BF46-BC9449ED792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2106B5B-6455-3DE0-4D08-8C26AA56ED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80E1BC6-8649-0A77-F959-9BE6D5AFF1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07;p52">
            <a:extLst>
              <a:ext uri="{FF2B5EF4-FFF2-40B4-BE49-F238E27FC236}">
                <a16:creationId xmlns:a16="http://schemas.microsoft.com/office/drawing/2014/main" id="{15B7C532-2B20-CAED-AED7-974F56720757}"/>
              </a:ext>
            </a:extLst>
          </p:cNvPr>
          <p:cNvSpPr txBox="1"/>
          <p:nvPr/>
        </p:nvSpPr>
        <p:spPr>
          <a:xfrm>
            <a:off x="1579381" y="2640807"/>
            <a:ext cx="9084038" cy="31700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CONSULTOR INFORMÁTICO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consultor informático asesora a las organizaciones en cuestiones relacionadas con la tecnología y los sistemas de información.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más amplio y estratégico. Busca optimizar los procesos, mejorar la eficiencia y alinear la tecnología con los objetivos empresariales.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Realiza análisis de necesidades, propone soluciones tecnológicas, diseña estrategias de implementación y brinda recomendaciones.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5434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A3723AC-57EF-0EAE-D872-8F833AC6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31A4168-F76F-6F9C-015E-1BF1F781C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C915017-E415-100C-9163-D57A99998D0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445CB9A-EB58-61E9-30DD-5980B669ACE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8EE98E8B-446C-E48C-347F-F2DA94E59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7588449A-5BCA-D9AB-32C1-8626AEECB4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13;p53">
            <a:extLst>
              <a:ext uri="{FF2B5EF4-FFF2-40B4-BE49-F238E27FC236}">
                <a16:creationId xmlns:a16="http://schemas.microsoft.com/office/drawing/2014/main" id="{803B06AA-FFCF-A8B8-2439-29EAF5DA2790}"/>
              </a:ext>
            </a:extLst>
          </p:cNvPr>
          <p:cNvSpPr txBox="1"/>
          <p:nvPr/>
        </p:nvSpPr>
        <p:spPr>
          <a:xfrm>
            <a:off x="1580400" y="2640766"/>
            <a:ext cx="9082800" cy="3170099"/>
          </a:xfrm>
          <a:prstGeom prst="rect">
            <a:avLst/>
          </a:prstGeom>
          <a:solidFill>
            <a:srgbClr val="F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AUDITOR INFORMATICO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sng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auditor informático evalúa y verifica los sistemas de información y los controles internos de una organización.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más específico y técnico. Busca identificar riesgos, vulnerabilidades y deficiencias en los sistemas.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Realiza revisiones, pruebas y análisis exhaustivos de los procesos, la seguridad, la integridad de los datos y el cumplimiento normativo.</a:t>
            </a: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624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A5552F2-777B-9455-4D28-2CDCA595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CC5C66E-0799-6A35-CE63-8A7596AAB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354D2D0-1FFF-B536-61F9-C6AAC1B4EA3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4ABB0819-DA3D-1EAF-578A-15B679ACCA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4C36D9D-F4D6-0E2F-C833-F7BE6C25B7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07E1F3F-680B-FC60-9A8A-1276EFEC80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20;p54">
            <a:extLst>
              <a:ext uri="{FF2B5EF4-FFF2-40B4-BE49-F238E27FC236}">
                <a16:creationId xmlns:a16="http://schemas.microsoft.com/office/drawing/2014/main" id="{5794FB95-CAC5-B181-050B-BE020216B311}"/>
              </a:ext>
            </a:extLst>
          </p:cNvPr>
          <p:cNvSpPr txBox="1"/>
          <p:nvPr/>
        </p:nvSpPr>
        <p:spPr>
          <a:xfrm>
            <a:off x="1580400" y="2642400"/>
            <a:ext cx="9082800" cy="3170099"/>
          </a:xfrm>
          <a:prstGeom prst="rect">
            <a:avLst/>
          </a:prstGeom>
          <a:solidFill>
            <a:srgbClr val="F5CDA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PERITO INFORMATICO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sng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perito informático actúa como experto en casos legales o judiciales relacionados con la informática.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legal y forense. Ayuda a recopilar pruebas digitales, analiza incidentes de seguridad y presenta informes periciales.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Participa en investigaciones, realiza análisis forenses de dispositivos y colabora con abogados y tribunales.</a:t>
            </a: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6377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Clase 1_Comunicacion_SRS.pptx" id="{F39401A9-85DB-4349-A76B-94D95506DA4C}" vid="{1FC3EF6D-30C9-4320-8FF3-A71339F5A8A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117</TotalTime>
  <Words>3337</Words>
  <Application>Microsoft Office PowerPoint</Application>
  <PresentationFormat>Panorámica</PresentationFormat>
  <Paragraphs>374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4" baseType="lpstr">
      <vt:lpstr>Times New Roman</vt:lpstr>
      <vt:lpstr>Noto Sans Symbols2</vt:lpstr>
      <vt:lpstr>Noto Sans Symbols</vt:lpstr>
      <vt:lpstr>Wingdings</vt:lpstr>
      <vt:lpstr>Arial</vt:lpstr>
      <vt:lpstr>Calibri</vt:lpstr>
      <vt:lpstr>Retrospección</vt:lpstr>
      <vt:lpstr>Ingeniería de Software II</vt:lpstr>
      <vt:lpstr>Contenidos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Ariel Pasini</dc:creator>
  <cp:lastModifiedBy>Rocio Muñoz</cp:lastModifiedBy>
  <cp:revision>20</cp:revision>
  <dcterms:created xsi:type="dcterms:W3CDTF">2016-02-19T02:46:31Z</dcterms:created>
  <dcterms:modified xsi:type="dcterms:W3CDTF">2026-05-26T17:37:18Z</dcterms:modified>
</cp:coreProperties>
</file>