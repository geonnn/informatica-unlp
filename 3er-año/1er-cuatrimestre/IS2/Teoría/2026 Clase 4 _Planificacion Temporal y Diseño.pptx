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sldSz cx="12192000" cy="6858000"/>
  <p:notesSz cx="6797675" cy="99266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0" roundtripDataSignature="AMtx7mgxJByl6j8eOO2Mu484TWWTMYZh/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272FAEC-E20E-4765-AF0E-9200B05B628A}">
  <a:tblStyle styleId="{4272FAEC-E20E-4765-AF0E-9200B05B628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834"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2" y="1"/>
            <a:ext cx="2945659" cy="496333"/>
          </a:xfrm>
          <a:prstGeom prst="rect">
            <a:avLst/>
          </a:prstGeom>
          <a:noFill/>
          <a:ln>
            <a:noFill/>
          </a:ln>
        </p:spPr>
        <p:txBody>
          <a:bodyPr spcFirstLastPara="1" wrap="square" lIns="91675" tIns="45825" rIns="91675" bIns="4582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0445" y="1"/>
            <a:ext cx="2945659" cy="496333"/>
          </a:xfrm>
          <a:prstGeom prst="rect">
            <a:avLst/>
          </a:prstGeom>
          <a:noFill/>
          <a:ln>
            <a:noFill/>
          </a:ln>
        </p:spPr>
        <p:txBody>
          <a:bodyPr spcFirstLastPara="1" wrap="square" lIns="91675" tIns="45825" rIns="91675" bIns="458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2" y="9428585"/>
            <a:ext cx="2945659" cy="496333"/>
          </a:xfrm>
          <a:prstGeom prst="rect">
            <a:avLst/>
          </a:prstGeom>
          <a:noFill/>
          <a:ln>
            <a:noFill/>
          </a:ln>
        </p:spPr>
        <p:txBody>
          <a:bodyPr spcFirstLastPara="1" wrap="square" lIns="91675" tIns="45825" rIns="91675" bIns="4582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0445" y="9428585"/>
            <a:ext cx="2945659" cy="496333"/>
          </a:xfrm>
          <a:prstGeom prst="rect">
            <a:avLst/>
          </a:prstGeom>
          <a:noFill/>
          <a:ln>
            <a:noFill/>
          </a:ln>
        </p:spPr>
        <p:txBody>
          <a:bodyPr spcFirstLastPara="1" wrap="square" lIns="91675" tIns="45825" rIns="91675" bIns="4582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rmAutofit/>
          </a:bodyPr>
          <a:lstStyle/>
          <a:p>
            <a:pPr marL="0" lvl="0" indent="0" algn="l" rtl="0">
              <a:lnSpc>
                <a:spcPct val="100000"/>
              </a:lnSpc>
              <a:spcBef>
                <a:spcPts val="0"/>
              </a:spcBef>
              <a:spcAft>
                <a:spcPts val="0"/>
              </a:spcAft>
              <a:buSzPts val="1400"/>
              <a:buNone/>
            </a:pPr>
            <a:endParaRPr/>
          </a:p>
        </p:txBody>
      </p:sp>
      <p:sp>
        <p:nvSpPr>
          <p:cNvPr id="125" name="Google Shape;125;p1:notes"/>
          <p:cNvSpPr txBox="1">
            <a:spLocks noGrp="1"/>
          </p:cNvSpPr>
          <p:nvPr>
            <p:ph type="sldNum" idx="12"/>
          </p:nvPr>
        </p:nvSpPr>
        <p:spPr>
          <a:xfrm>
            <a:off x="3850445" y="9428585"/>
            <a:ext cx="2945659" cy="496333"/>
          </a:xfrm>
          <a:prstGeom prst="rect">
            <a:avLst/>
          </a:prstGeom>
          <a:noFill/>
          <a:ln>
            <a:noFill/>
          </a:ln>
        </p:spPr>
        <p:txBody>
          <a:bodyPr spcFirstLastPara="1" wrap="square" lIns="91675" tIns="45825" rIns="91675" bIns="45825" anchor="b" anchorCtr="0">
            <a:noAutofit/>
          </a:bodyPr>
          <a:lstStyle/>
          <a:p>
            <a:pPr marL="0" lvl="0" indent="0" algn="r" rtl="0">
              <a:lnSpc>
                <a:spcPct val="100000"/>
              </a:lnSpc>
              <a:spcBef>
                <a:spcPts val="0"/>
              </a:spcBef>
              <a:spcAft>
                <a:spcPts val="0"/>
              </a:spcAft>
              <a:buSzPts val="1400"/>
              <a:buNone/>
            </a:pPr>
            <a:fld id="{00000000-1234-1234-1234-123412341234}" type="slidenum">
              <a:rPr lang="es-A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30: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Arial"/>
              <a:ea typeface="Arial"/>
              <a:cs typeface="Arial"/>
              <a:sym typeface="Arial"/>
            </a:endParaRPr>
          </a:p>
        </p:txBody>
      </p:sp>
      <p:sp>
        <p:nvSpPr>
          <p:cNvPr id="134" name="Google Shape;13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5" name="Google Shape;135;p30:notes"/>
          <p:cNvSpPr txBox="1">
            <a:spLocks noGrp="1"/>
          </p:cNvSpPr>
          <p:nvPr>
            <p:ph type="body" idx="1"/>
          </p:nvPr>
        </p:nvSpPr>
        <p:spPr>
          <a:xfrm>
            <a:off x="685800" y="4343400"/>
            <a:ext cx="5485680" cy="41140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36" name="Google Shape;136;p30:notes"/>
          <p:cNvSpPr/>
          <p:nvPr/>
        </p:nvSpPr>
        <p:spPr>
          <a:xfrm>
            <a:off x="3884760" y="8685360"/>
            <a:ext cx="2971080" cy="45648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rgbClr val="000000"/>
                </a:solidFill>
                <a:latin typeface="Arial"/>
                <a:ea typeface="Arial"/>
                <a:cs typeface="Arial"/>
                <a:sym typeface="Arial"/>
              </a:rPr>
              <a:t>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35:notes"/>
          <p:cNvSpPr txBox="1">
            <a:spLocks noGrp="1"/>
          </p:cNvSpPr>
          <p:nvPr>
            <p:ph type="body" idx="1"/>
          </p:nvPr>
        </p:nvSpPr>
        <p:spPr>
          <a:xfrm>
            <a:off x="756000" y="5105465"/>
            <a:ext cx="6047640" cy="483656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35:notes"/>
          <p:cNvSpPr>
            <a:spLocks noGrp="1" noRot="1" noChangeAspect="1"/>
          </p:cNvSpPr>
          <p:nvPr>
            <p:ph type="sldImg" idx="2"/>
          </p:nvPr>
        </p:nvSpPr>
        <p:spPr>
          <a:xfrm>
            <a:off x="198438" y="817563"/>
            <a:ext cx="7162800" cy="40290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31: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66" name="Google Shape;166;p3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32: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76" name="Google Shape;176;p3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33: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88" name="Google Shape;188;p3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34: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98" name="Google Shape;198;p3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89: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207" name="Google Shape;207;p8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90: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216" name="Google Shape;216;p9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91: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225" name="Google Shape;225;p9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92: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234" name="Google Shape;234;p9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0: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244" name="Google Shape;244;p1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93: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252" name="Google Shape;252;p9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94: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261" name="Google Shape;261;p9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95: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270" name="Google Shape;270;p9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96: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279" name="Google Shape;279;p9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97: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288" name="Google Shape;288;p9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98: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299" name="Google Shape;299;p9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99: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347" name="Google Shape;347;p9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100: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358" name="Google Shape;358;p10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01: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414" name="Google Shape;414;p10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102: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423" name="Google Shape;423;p10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03: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487" name="Google Shape;487;p10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104: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496" name="Google Shape;496;p10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105: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505" name="Google Shape;505;p10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106: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514" name="Google Shape;514;p10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107: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523" name="Google Shape;523;p10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108: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600" name="Google Shape;600;p10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109: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610" name="Google Shape;610;p10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110: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673" name="Google Shape;673;p11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11: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1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112: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693" name="Google Shape;693;p11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p113: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764" name="Google Shape;764;p11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114: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774" name="Google Shape;774;p11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3" name="Google Shape;783;p43:notes"/>
          <p:cNvSpPr txBox="1">
            <a:spLocks noGrp="1"/>
          </p:cNvSpPr>
          <p:nvPr>
            <p:ph type="body" idx="1"/>
          </p:nvPr>
        </p:nvSpPr>
        <p:spPr>
          <a:xfrm>
            <a:off x="685800" y="4400640"/>
            <a:ext cx="5485680" cy="35996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784" name="Google Shape;784;p43:notes"/>
          <p:cNvSpPr/>
          <p:nvPr/>
        </p:nvSpPr>
        <p:spPr>
          <a:xfrm>
            <a:off x="3884760" y="8685360"/>
            <a:ext cx="2971080" cy="45792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rgbClr val="000000"/>
                </a:solidFill>
                <a:latin typeface="Arial"/>
                <a:ea typeface="Arial"/>
                <a:cs typeface="Arial"/>
                <a:sym typeface="Arial"/>
              </a:rPr>
              <a:t>36</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45: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800" name="Google Shape;800;p4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p115: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814" name="Google Shape;814;p11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p116: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826" name="Google Shape;826;p11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117: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838" name="Google Shape;838;p117: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p118: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850" name="Google Shape;850;p118: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p119: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862" name="Google Shape;862;p11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p120: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871" name="Google Shape;871;p12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p121: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880" name="Google Shape;880;p12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122: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889" name="Google Shape;889;p12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p123: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898" name="Google Shape;898;p12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124: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907" name="Google Shape;907;p12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p125: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917" name="Google Shape;917;p12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p126: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927" name="Google Shape;927;p12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127: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938" name="Google Shape;938;p12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p128: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949" name="Google Shape;949;p12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p129: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960" name="Google Shape;960;p12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p130: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971" name="Google Shape;971;p13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p131: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982" name="Google Shape;982;p13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p132: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p13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p133: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014" name="Google Shape;1014;p13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p134: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p13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p135: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054" name="Google Shape;1054;p13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p136: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070" name="Google Shape;1070;p13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g3d60e2a03bb_0_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0" name="Google Shape;1080;g3d60e2a03bb_0_0:notes"/>
          <p:cNvSpPr txBox="1">
            <a:spLocks noGrp="1"/>
          </p:cNvSpPr>
          <p:nvPr>
            <p:ph type="body" idx="1"/>
          </p:nvPr>
        </p:nvSpPr>
        <p:spPr>
          <a:xfrm>
            <a:off x="679768" y="4715156"/>
            <a:ext cx="5438100" cy="4467000"/>
          </a:xfrm>
          <a:prstGeom prst="rect">
            <a:avLst/>
          </a:prstGeom>
        </p:spPr>
        <p:txBody>
          <a:bodyPr spcFirstLastPara="1" wrap="square" lIns="91675" tIns="45825" rIns="91675" bIns="45825" anchor="t" anchorCtr="0">
            <a:noAutofit/>
          </a:bodyPr>
          <a:lstStyle/>
          <a:p>
            <a:pPr marL="0" lvl="0" indent="0" algn="l" rtl="0">
              <a:spcBef>
                <a:spcPts val="0"/>
              </a:spcBef>
              <a:spcAft>
                <a:spcPts val="0"/>
              </a:spcAft>
              <a:buNone/>
            </a:pPr>
            <a:endParaRPr/>
          </a:p>
        </p:txBody>
      </p:sp>
      <p:sp>
        <p:nvSpPr>
          <p:cNvPr id="1081" name="Google Shape;1081;g3d60e2a03bb_0_0:notes"/>
          <p:cNvSpPr txBox="1">
            <a:spLocks noGrp="1"/>
          </p:cNvSpPr>
          <p:nvPr>
            <p:ph type="sldNum" idx="12"/>
          </p:nvPr>
        </p:nvSpPr>
        <p:spPr>
          <a:xfrm>
            <a:off x="3850445" y="9428585"/>
            <a:ext cx="2945700" cy="496200"/>
          </a:xfrm>
          <a:prstGeom prst="rect">
            <a:avLst/>
          </a:prstGeom>
        </p:spPr>
        <p:txBody>
          <a:bodyPr spcFirstLastPara="1" wrap="square" lIns="91675" tIns="45825" rIns="91675" bIns="45825"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AR"/>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p137: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088" name="Google Shape;1088;p13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p138: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099" name="Google Shape;1099;p13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p139: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110" name="Google Shape;1110;p13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a de título con pie" type="title">
  <p:cSld name="TITLE">
    <p:spTree>
      <p:nvGrpSpPr>
        <p:cNvPr id="1" name="Shape 19"/>
        <p:cNvGrpSpPr/>
        <p:nvPr/>
      </p:nvGrpSpPr>
      <p:grpSpPr>
        <a:xfrm>
          <a:off x="0" y="0"/>
          <a:ext cx="0" cy="0"/>
          <a:chOff x="0" y="0"/>
          <a:chExt cx="0" cy="0"/>
        </a:xfrm>
      </p:grpSpPr>
      <p:sp>
        <p:nvSpPr>
          <p:cNvPr id="20" name="Google Shape;20;p141"/>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141"/>
          <p:cNvSpPr/>
          <p:nvPr/>
        </p:nvSpPr>
        <p:spPr>
          <a:xfrm>
            <a:off x="0" y="6334125"/>
            <a:ext cx="12188825" cy="6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 name="Google Shape;22;p141"/>
          <p:cNvCxnSpPr/>
          <p:nvPr/>
        </p:nvCxnSpPr>
        <p:spPr>
          <a:xfrm>
            <a:off x="1208088" y="4343400"/>
            <a:ext cx="9875837" cy="0"/>
          </a:xfrm>
          <a:prstGeom prst="straightConnector1">
            <a:avLst/>
          </a:prstGeom>
          <a:noFill/>
          <a:ln w="9525" cap="flat" cmpd="sng">
            <a:solidFill>
              <a:srgbClr val="7F7F7F"/>
            </a:solidFill>
            <a:prstDash val="solid"/>
            <a:round/>
            <a:headEnd type="none" w="sm" len="sm"/>
            <a:tailEnd type="none" w="sm" len="sm"/>
          </a:ln>
        </p:spPr>
      </p:cxnSp>
      <p:sp>
        <p:nvSpPr>
          <p:cNvPr id="23" name="Google Shape;23;p141"/>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1400"/>
              <a:buNone/>
              <a:defRPr sz="7200">
                <a:solidFill>
                  <a:srgbClr val="262626"/>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24" name="Google Shape;24;p141"/>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5" name="Google Shape;25;p14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4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4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 blanco">
  <p:cSld name="1_En blanco">
    <p:spTree>
      <p:nvGrpSpPr>
        <p:cNvPr id="1" name="Shape 28"/>
        <p:cNvGrpSpPr/>
        <p:nvPr/>
      </p:nvGrpSpPr>
      <p:grpSpPr>
        <a:xfrm>
          <a:off x="0" y="0"/>
          <a:ext cx="0" cy="0"/>
          <a:chOff x="0" y="0"/>
          <a:chExt cx="0" cy="0"/>
        </a:xfrm>
      </p:grpSpPr>
      <p:sp>
        <p:nvSpPr>
          <p:cNvPr id="29" name="Google Shape;29;p142"/>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sz="44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30" name="Google Shape;30;p14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4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4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33"/>
        <p:cNvGrpSpPr/>
        <p:nvPr/>
      </p:nvGrpSpPr>
      <p:grpSpPr>
        <a:xfrm>
          <a:off x="0" y="0"/>
          <a:ext cx="0" cy="0"/>
          <a:chOff x="0" y="0"/>
          <a:chExt cx="0" cy="0"/>
        </a:xfrm>
      </p:grpSpPr>
      <p:sp>
        <p:nvSpPr>
          <p:cNvPr id="34" name="Google Shape;34;p143"/>
          <p:cNvSpPr/>
          <p:nvPr/>
        </p:nvSpPr>
        <p:spPr>
          <a:xfrm>
            <a:off x="0" y="0"/>
            <a:ext cx="4051300"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143"/>
          <p:cNvSpPr/>
          <p:nvPr/>
        </p:nvSpPr>
        <p:spPr>
          <a:xfrm>
            <a:off x="4040188" y="0"/>
            <a:ext cx="63500"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143"/>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1400"/>
              <a:buNone/>
              <a:defRPr sz="3600" b="0">
                <a:solidFill>
                  <a:srgbClr val="FFFFFF"/>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37" name="Google Shape;37;p143"/>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8" name="Google Shape;38;p143"/>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39" name="Google Shape;39;p143"/>
          <p:cNvSpPr txBox="1">
            <a:spLocks noGrp="1"/>
          </p:cNvSpPr>
          <p:nvPr>
            <p:ph type="dt" idx="10"/>
          </p:nvPr>
        </p:nvSpPr>
        <p:spPr>
          <a:xfrm>
            <a:off x="465138" y="6459538"/>
            <a:ext cx="261937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43"/>
          <p:cNvSpPr txBox="1">
            <a:spLocks noGrp="1"/>
          </p:cNvSpPr>
          <p:nvPr>
            <p:ph type="ftr" idx="11"/>
          </p:nvPr>
        </p:nvSpPr>
        <p:spPr>
          <a:xfrm>
            <a:off x="4800600" y="6459538"/>
            <a:ext cx="4648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4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En blanco" type="blank">
  <p:cSld name="BLANK">
    <p:spTree>
      <p:nvGrpSpPr>
        <p:cNvPr id="1" name="Shape 42"/>
        <p:cNvGrpSpPr/>
        <p:nvPr/>
      </p:nvGrpSpPr>
      <p:grpSpPr>
        <a:xfrm>
          <a:off x="0" y="0"/>
          <a:ext cx="0" cy="0"/>
          <a:chOff x="0" y="0"/>
          <a:chExt cx="0" cy="0"/>
        </a:xfrm>
      </p:grpSpPr>
      <p:sp>
        <p:nvSpPr>
          <p:cNvPr id="43" name="Google Shape;43;p14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144"/>
          <p:cNvSpPr/>
          <p:nvPr/>
        </p:nvSpPr>
        <p:spPr>
          <a:xfrm>
            <a:off x="0" y="6334125"/>
            <a:ext cx="12188825" cy="6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 name="Google Shape;45;p144"/>
          <p:cNvPicPr preferRelativeResize="0"/>
          <p:nvPr/>
        </p:nvPicPr>
        <p:blipFill rotWithShape="1">
          <a:blip r:embed="rId2">
            <a:alphaModFix/>
          </a:blip>
          <a:srcRect/>
          <a:stretch/>
        </p:blipFill>
        <p:spPr>
          <a:xfrm>
            <a:off x="10779125" y="177800"/>
            <a:ext cx="1206500" cy="1214438"/>
          </a:xfrm>
          <a:prstGeom prst="rect">
            <a:avLst/>
          </a:prstGeom>
          <a:noFill/>
          <a:ln>
            <a:noFill/>
          </a:ln>
        </p:spPr>
      </p:pic>
      <p:sp>
        <p:nvSpPr>
          <p:cNvPr id="46" name="Google Shape;46;p14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4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4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49"/>
        <p:cNvGrpSpPr/>
        <p:nvPr/>
      </p:nvGrpSpPr>
      <p:grpSpPr>
        <a:xfrm>
          <a:off x="0" y="0"/>
          <a:ext cx="0" cy="0"/>
          <a:chOff x="0" y="0"/>
          <a:chExt cx="0" cy="0"/>
        </a:xfrm>
      </p:grpSpPr>
      <p:sp>
        <p:nvSpPr>
          <p:cNvPr id="50" name="Google Shape;50;p145"/>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sz="44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51" name="Google Shape;51;p145"/>
          <p:cNvSpPr txBox="1">
            <a:spLocks noGrp="1"/>
          </p:cNvSpPr>
          <p:nvPr>
            <p:ph type="body" idx="1"/>
          </p:nvPr>
        </p:nvSpPr>
        <p:spPr>
          <a:xfrm>
            <a:off x="1096963" y="1846263"/>
            <a:ext cx="10058400" cy="4022725"/>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2" name="Google Shape;52;p145"/>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45"/>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45"/>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SECTION_HEADER">
    <p:spTree>
      <p:nvGrpSpPr>
        <p:cNvPr id="1" name="Shape 55"/>
        <p:cNvGrpSpPr/>
        <p:nvPr/>
      </p:nvGrpSpPr>
      <p:grpSpPr>
        <a:xfrm>
          <a:off x="0" y="0"/>
          <a:ext cx="0" cy="0"/>
          <a:chOff x="0" y="0"/>
          <a:chExt cx="0" cy="0"/>
        </a:xfrm>
      </p:grpSpPr>
      <p:sp>
        <p:nvSpPr>
          <p:cNvPr id="56" name="Google Shape;56;p146"/>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46"/>
          <p:cNvSpPr/>
          <p:nvPr/>
        </p:nvSpPr>
        <p:spPr>
          <a:xfrm>
            <a:off x="0" y="6334125"/>
            <a:ext cx="12188825" cy="6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 name="Google Shape;58;p146"/>
          <p:cNvCxnSpPr/>
          <p:nvPr/>
        </p:nvCxnSpPr>
        <p:spPr>
          <a:xfrm>
            <a:off x="1208088" y="4343400"/>
            <a:ext cx="9875837" cy="0"/>
          </a:xfrm>
          <a:prstGeom prst="straightConnector1">
            <a:avLst/>
          </a:prstGeom>
          <a:noFill/>
          <a:ln w="9525" cap="flat" cmpd="sng">
            <a:solidFill>
              <a:srgbClr val="7F7F7F"/>
            </a:solidFill>
            <a:prstDash val="solid"/>
            <a:round/>
            <a:headEnd type="none" w="sm" len="sm"/>
            <a:tailEnd type="none" w="sm" len="sm"/>
          </a:ln>
        </p:spPr>
      </p:cxnSp>
      <p:sp>
        <p:nvSpPr>
          <p:cNvPr id="59" name="Google Shape;59;p146"/>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1400"/>
              <a:buNone/>
              <a:defRPr sz="8000" b="0">
                <a:solidFill>
                  <a:srgbClr val="262626"/>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60" name="Google Shape;60;p146"/>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61" name="Google Shape;61;p146"/>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46"/>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6"/>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64"/>
        <p:cNvGrpSpPr/>
        <p:nvPr/>
      </p:nvGrpSpPr>
      <p:grpSpPr>
        <a:xfrm>
          <a:off x="0" y="0"/>
          <a:ext cx="0" cy="0"/>
          <a:chOff x="0" y="0"/>
          <a:chExt cx="0" cy="0"/>
        </a:xfrm>
      </p:grpSpPr>
      <p:sp>
        <p:nvSpPr>
          <p:cNvPr id="65" name="Google Shape;65;p14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66" name="Google Shape;66;p147"/>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7" name="Google Shape;67;p147"/>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8" name="Google Shape;68;p147"/>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47"/>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7"/>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71"/>
        <p:cNvGrpSpPr/>
        <p:nvPr/>
      </p:nvGrpSpPr>
      <p:grpSpPr>
        <a:xfrm>
          <a:off x="0" y="0"/>
          <a:ext cx="0" cy="0"/>
          <a:chOff x="0" y="0"/>
          <a:chExt cx="0" cy="0"/>
        </a:xfrm>
      </p:grpSpPr>
      <p:sp>
        <p:nvSpPr>
          <p:cNvPr id="72" name="Google Shape;72;p14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73" name="Google Shape;73;p148"/>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74" name="Google Shape;74;p148"/>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5" name="Google Shape;75;p148"/>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76" name="Google Shape;76;p148"/>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7" name="Google Shape;77;p148"/>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48"/>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4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80"/>
        <p:cNvGrpSpPr/>
        <p:nvPr/>
      </p:nvGrpSpPr>
      <p:grpSpPr>
        <a:xfrm>
          <a:off x="0" y="0"/>
          <a:ext cx="0" cy="0"/>
          <a:chOff x="0" y="0"/>
          <a:chExt cx="0" cy="0"/>
        </a:xfrm>
      </p:grpSpPr>
      <p:sp>
        <p:nvSpPr>
          <p:cNvPr id="81" name="Google Shape;81;p149"/>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82" name="Google Shape;82;p14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4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4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spTree>
      <p:nvGrpSpPr>
        <p:cNvPr id="1" name="Shape 85"/>
        <p:cNvGrpSpPr/>
        <p:nvPr/>
      </p:nvGrpSpPr>
      <p:grpSpPr>
        <a:xfrm>
          <a:off x="0" y="0"/>
          <a:ext cx="0" cy="0"/>
          <a:chOff x="0" y="0"/>
          <a:chExt cx="0" cy="0"/>
        </a:xfrm>
      </p:grpSpPr>
      <p:sp>
        <p:nvSpPr>
          <p:cNvPr id="86" name="Google Shape;86;p150"/>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0"/>
          <p:cNvSpPr/>
          <p:nvPr/>
        </p:nvSpPr>
        <p:spPr>
          <a:xfrm>
            <a:off x="0" y="4914900"/>
            <a:ext cx="12188825" cy="6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50"/>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SzPts val="1400"/>
              <a:buNone/>
              <a:defRPr sz="3600" b="0">
                <a:solidFill>
                  <a:srgbClr val="FFFFFF"/>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pic>
        <p:nvPicPr>
          <p:cNvPr id="89" name="Google Shape;89;p150"/>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90" name="Google Shape;90;p150"/>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91" name="Google Shape;91;p15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5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5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94"/>
        <p:cNvGrpSpPr/>
        <p:nvPr/>
      </p:nvGrpSpPr>
      <p:grpSpPr>
        <a:xfrm>
          <a:off x="0" y="0"/>
          <a:ext cx="0" cy="0"/>
          <a:chOff x="0" y="0"/>
          <a:chExt cx="0" cy="0"/>
        </a:xfrm>
      </p:grpSpPr>
      <p:sp>
        <p:nvSpPr>
          <p:cNvPr id="95" name="Google Shape;95;p151"/>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96" name="Google Shape;96;p151"/>
          <p:cNvSpPr txBox="1">
            <a:spLocks noGrp="1"/>
          </p:cNvSpPr>
          <p:nvPr>
            <p:ph type="body" idx="1"/>
          </p:nvPr>
        </p:nvSpPr>
        <p:spPr>
          <a:xfrm rot="5400000">
            <a:off x="4114801" y="-1171574"/>
            <a:ext cx="4022725" cy="10058400"/>
          </a:xfrm>
          <a:prstGeom prst="rect">
            <a:avLst/>
          </a:prstGeom>
          <a:noFill/>
          <a:ln>
            <a:noFill/>
          </a:ln>
        </p:spPr>
        <p:txBody>
          <a:bodyPr spcFirstLastPara="1" wrap="square" lIns="45700" tIns="0" rIns="45700" bIns="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7" name="Google Shape;97;p15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15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15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VERTICAL_TITLE_AND_VERTICAL_TEXT">
    <p:spTree>
      <p:nvGrpSpPr>
        <p:cNvPr id="1" name="Shape 100"/>
        <p:cNvGrpSpPr/>
        <p:nvPr/>
      </p:nvGrpSpPr>
      <p:grpSpPr>
        <a:xfrm>
          <a:off x="0" y="0"/>
          <a:ext cx="0" cy="0"/>
          <a:chOff x="0" y="0"/>
          <a:chExt cx="0" cy="0"/>
        </a:xfrm>
      </p:grpSpPr>
      <p:sp>
        <p:nvSpPr>
          <p:cNvPr id="101" name="Google Shape;101;p15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2"/>
          <p:cNvSpPr/>
          <p:nvPr/>
        </p:nvSpPr>
        <p:spPr>
          <a:xfrm>
            <a:off x="0" y="6334125"/>
            <a:ext cx="12188825" cy="6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52"/>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104" name="Google Shape;104;p152"/>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05" name="Google Shape;105;p15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5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15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08"/>
        <p:cNvGrpSpPr/>
        <p:nvPr/>
      </p:nvGrpSpPr>
      <p:grpSpPr>
        <a:xfrm>
          <a:off x="0" y="0"/>
          <a:ext cx="0" cy="0"/>
          <a:chOff x="0" y="0"/>
          <a:chExt cx="0" cy="0"/>
        </a:xfrm>
      </p:grpSpPr>
      <p:sp>
        <p:nvSpPr>
          <p:cNvPr id="109" name="Google Shape;109;p15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15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15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ormal con fuente ">
  <p:cSld name="Normal con fuente ">
    <p:spTree>
      <p:nvGrpSpPr>
        <p:cNvPr id="1" name="Shape 112"/>
        <p:cNvGrpSpPr/>
        <p:nvPr/>
      </p:nvGrpSpPr>
      <p:grpSpPr>
        <a:xfrm>
          <a:off x="0" y="0"/>
          <a:ext cx="0" cy="0"/>
          <a:chOff x="0" y="0"/>
          <a:chExt cx="0" cy="0"/>
        </a:xfrm>
      </p:grpSpPr>
      <p:sp>
        <p:nvSpPr>
          <p:cNvPr id="113" name="Google Shape;113;p15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15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15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magen con título">
  <p:cSld name="1_Imagen con título 2">
    <p:spTree>
      <p:nvGrpSpPr>
        <p:cNvPr id="1" name="Shape 116"/>
        <p:cNvGrpSpPr/>
        <p:nvPr/>
      </p:nvGrpSpPr>
      <p:grpSpPr>
        <a:xfrm>
          <a:off x="0" y="0"/>
          <a:ext cx="0" cy="0"/>
          <a:chOff x="0" y="0"/>
          <a:chExt cx="0" cy="0"/>
        </a:xfrm>
      </p:grpSpPr>
      <p:sp>
        <p:nvSpPr>
          <p:cNvPr id="117" name="Google Shape;117;p155"/>
          <p:cNvSpPr txBox="1">
            <a:spLocks noGrp="1"/>
          </p:cNvSpPr>
          <p:nvPr>
            <p:ph type="title"/>
          </p:nvPr>
        </p:nvSpPr>
        <p:spPr>
          <a:xfrm>
            <a:off x="653976" y="4737544"/>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4A6617"/>
              </a:buClr>
              <a:buSzPts val="4400"/>
              <a:buFont typeface="Calibri"/>
              <a:buNone/>
              <a:defRPr sz="3300" b="1">
                <a:solidFill>
                  <a:srgbClr val="4A6617"/>
                </a:solidFill>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18" name="Google Shape;118;p155"/>
          <p:cNvSpPr txBox="1">
            <a:spLocks noGrp="1"/>
          </p:cNvSpPr>
          <p:nvPr>
            <p:ph type="body" idx="1"/>
          </p:nvPr>
        </p:nvSpPr>
        <p:spPr>
          <a:xfrm>
            <a:off x="653976" y="5487888"/>
            <a:ext cx="9229344" cy="5334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975"/>
              </a:spcBef>
              <a:spcAft>
                <a:spcPts val="0"/>
              </a:spcAft>
              <a:buSzPts val="2400"/>
              <a:buNone/>
              <a:defRPr sz="1800">
                <a:solidFill>
                  <a:srgbClr val="4A6617"/>
                </a:solidFill>
              </a:defRPr>
            </a:lvl1pPr>
            <a:lvl2pPr marL="914400" lvl="1" indent="-228600" algn="l">
              <a:lnSpc>
                <a:spcPct val="85000"/>
              </a:lnSpc>
              <a:spcBef>
                <a:spcPts val="450"/>
              </a:spcBef>
              <a:spcAft>
                <a:spcPts val="0"/>
              </a:spcAft>
              <a:buClr>
                <a:srgbClr val="262626"/>
              </a:buClr>
              <a:buSzPts val="1200"/>
              <a:buNone/>
              <a:defRPr sz="900"/>
            </a:lvl2pPr>
            <a:lvl3pPr marL="1371600" lvl="2" indent="-228600" algn="l">
              <a:lnSpc>
                <a:spcPct val="85000"/>
              </a:lnSpc>
              <a:spcBef>
                <a:spcPts val="450"/>
              </a:spcBef>
              <a:spcAft>
                <a:spcPts val="0"/>
              </a:spcAft>
              <a:buClr>
                <a:srgbClr val="262626"/>
              </a:buClr>
              <a:buSzPts val="1000"/>
              <a:buNone/>
              <a:defRPr sz="750"/>
            </a:lvl3pPr>
            <a:lvl4pPr marL="1828800" lvl="3" indent="-228600" algn="l">
              <a:lnSpc>
                <a:spcPct val="85000"/>
              </a:lnSpc>
              <a:spcBef>
                <a:spcPts val="450"/>
              </a:spcBef>
              <a:spcAft>
                <a:spcPts val="0"/>
              </a:spcAft>
              <a:buClr>
                <a:srgbClr val="262626"/>
              </a:buClr>
              <a:buSzPts val="900"/>
              <a:buNone/>
              <a:defRPr sz="675"/>
            </a:lvl4pPr>
            <a:lvl5pPr marL="2286000" lvl="4" indent="-228600" algn="l">
              <a:lnSpc>
                <a:spcPct val="85000"/>
              </a:lnSpc>
              <a:spcBef>
                <a:spcPts val="450"/>
              </a:spcBef>
              <a:spcAft>
                <a:spcPts val="0"/>
              </a:spcAft>
              <a:buClr>
                <a:srgbClr val="262626"/>
              </a:buClr>
              <a:buSzPts val="900"/>
              <a:buNone/>
              <a:defRPr sz="675"/>
            </a:lvl5pPr>
            <a:lvl6pPr marL="2743200" lvl="5" indent="-228600" algn="l">
              <a:lnSpc>
                <a:spcPct val="85000"/>
              </a:lnSpc>
              <a:spcBef>
                <a:spcPts val="450"/>
              </a:spcBef>
              <a:spcAft>
                <a:spcPts val="0"/>
              </a:spcAft>
              <a:buClr>
                <a:srgbClr val="262626"/>
              </a:buClr>
              <a:buSzPts val="900"/>
              <a:buNone/>
              <a:defRPr sz="675"/>
            </a:lvl6pPr>
            <a:lvl7pPr marL="3200400" lvl="6" indent="-228600" algn="l">
              <a:lnSpc>
                <a:spcPct val="85000"/>
              </a:lnSpc>
              <a:spcBef>
                <a:spcPts val="450"/>
              </a:spcBef>
              <a:spcAft>
                <a:spcPts val="0"/>
              </a:spcAft>
              <a:buClr>
                <a:srgbClr val="262626"/>
              </a:buClr>
              <a:buSzPts val="900"/>
              <a:buNone/>
              <a:defRPr sz="675"/>
            </a:lvl7pPr>
            <a:lvl8pPr marL="3657600" lvl="7" indent="-228600" algn="l">
              <a:lnSpc>
                <a:spcPct val="85000"/>
              </a:lnSpc>
              <a:spcBef>
                <a:spcPts val="450"/>
              </a:spcBef>
              <a:spcAft>
                <a:spcPts val="0"/>
              </a:spcAft>
              <a:buClr>
                <a:srgbClr val="262626"/>
              </a:buClr>
              <a:buSzPts val="900"/>
              <a:buNone/>
              <a:defRPr sz="675"/>
            </a:lvl8pPr>
            <a:lvl9pPr marL="4114800" lvl="8" indent="-228600" algn="l">
              <a:lnSpc>
                <a:spcPct val="85000"/>
              </a:lnSpc>
              <a:spcBef>
                <a:spcPts val="450"/>
              </a:spcBef>
              <a:spcAft>
                <a:spcPts val="0"/>
              </a:spcAft>
              <a:buClr>
                <a:srgbClr val="262626"/>
              </a:buClr>
              <a:buSzPts val="900"/>
              <a:buNone/>
              <a:defRPr sz="675"/>
            </a:lvl9pPr>
          </a:lstStyle>
          <a:p>
            <a:endParaRPr/>
          </a:p>
        </p:txBody>
      </p:sp>
      <p:sp>
        <p:nvSpPr>
          <p:cNvPr id="119" name="Google Shape;119;p155"/>
          <p:cNvSpPr txBox="1">
            <a:spLocks noGrp="1"/>
          </p:cNvSpPr>
          <p:nvPr>
            <p:ph type="dt" idx="10"/>
          </p:nvPr>
        </p:nvSpPr>
        <p:spPr>
          <a:xfrm>
            <a:off x="3211248" y="6481096"/>
            <a:ext cx="4114800" cy="2286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4A661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155"/>
          <p:cNvSpPr txBox="1">
            <a:spLocks noGrp="1"/>
          </p:cNvSpPr>
          <p:nvPr>
            <p:ph type="ftr" idx="11"/>
          </p:nvPr>
        </p:nvSpPr>
        <p:spPr>
          <a:xfrm>
            <a:off x="685800" y="6481098"/>
            <a:ext cx="2241848" cy="302201"/>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4A661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155"/>
          <p:cNvSpPr txBox="1">
            <a:spLocks noGrp="1"/>
          </p:cNvSpPr>
          <p:nvPr>
            <p:ph type="sldNum" idx="12"/>
          </p:nvPr>
        </p:nvSpPr>
        <p:spPr>
          <a:xfrm>
            <a:off x="9265920" y="2780930"/>
            <a:ext cx="2926080" cy="1397039"/>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0"/>
          <p:cNvSpPr/>
          <p:nvPr/>
        </p:nvSpPr>
        <p:spPr>
          <a:xfrm>
            <a:off x="0"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40"/>
          <p:cNvSpPr/>
          <p:nvPr/>
        </p:nvSpPr>
        <p:spPr>
          <a:xfrm>
            <a:off x="0" y="6334125"/>
            <a:ext cx="12192000" cy="66675"/>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40"/>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lvl1pPr marR="0" lvl="0"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1pPr>
            <a:lvl2pPr marR="0" lvl="1"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2pPr>
            <a:lvl3pPr marR="0" lvl="2"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3pPr>
            <a:lvl4pPr marR="0" lvl="3"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4pPr>
            <a:lvl5pPr marR="0" lvl="4"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5pPr>
            <a:lvl6pPr marR="0" lvl="5"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6pPr>
            <a:lvl7pPr marR="0" lvl="6"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7pPr>
            <a:lvl8pPr marR="0" lvl="7"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8pPr>
            <a:lvl9pPr marR="0" lvl="8"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9pPr>
          </a:lstStyle>
          <a:p>
            <a:endParaRPr/>
          </a:p>
        </p:txBody>
      </p:sp>
      <p:sp>
        <p:nvSpPr>
          <p:cNvPr id="13" name="Google Shape;13;p140"/>
          <p:cNvSpPr txBox="1">
            <a:spLocks noGrp="1"/>
          </p:cNvSpPr>
          <p:nvPr>
            <p:ph type="body" idx="1"/>
          </p:nvPr>
        </p:nvSpPr>
        <p:spPr>
          <a:xfrm>
            <a:off x="1096963" y="1846263"/>
            <a:ext cx="10058400" cy="4022725"/>
          </a:xfrm>
          <a:prstGeom prst="rect">
            <a:avLst/>
          </a:prstGeom>
          <a:noFill/>
          <a:ln>
            <a:noFill/>
          </a:ln>
        </p:spPr>
        <p:txBody>
          <a:bodyPr spcFirstLastPara="1" wrap="square" lIns="0" tIns="45700" rIns="0" bIns="45700" anchor="t" anchorCtr="0">
            <a:no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404040"/>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404040"/>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404040"/>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404040"/>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404040"/>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14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5" name="Google Shape;15;p14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6" name="Google Shape;16;p14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cxnSp>
        <p:nvCxnSpPr>
          <p:cNvPr id="17" name="Google Shape;17;p140"/>
          <p:cNvCxnSpPr/>
          <p:nvPr/>
        </p:nvCxnSpPr>
        <p:spPr>
          <a:xfrm>
            <a:off x="1193800" y="1738313"/>
            <a:ext cx="9966325" cy="0"/>
          </a:xfrm>
          <a:prstGeom prst="straightConnector1">
            <a:avLst/>
          </a:prstGeom>
          <a:noFill/>
          <a:ln w="9525" cap="flat" cmpd="sng">
            <a:solidFill>
              <a:srgbClr val="7F7F7F"/>
            </a:solidFill>
            <a:prstDash val="solid"/>
            <a:round/>
            <a:headEnd type="none" w="sm" len="sm"/>
            <a:tailEnd type="none" w="sm" len="sm"/>
          </a:ln>
        </p:spPr>
      </p:cxnSp>
      <p:pic>
        <p:nvPicPr>
          <p:cNvPr id="18" name="Google Shape;18;p140"/>
          <p:cNvPicPr preferRelativeResize="0"/>
          <p:nvPr/>
        </p:nvPicPr>
        <p:blipFill rotWithShape="1">
          <a:blip r:embed="rId17">
            <a:alphaModFix/>
          </a:blip>
          <a:srcRect/>
          <a:stretch/>
        </p:blipFill>
        <p:spPr>
          <a:xfrm>
            <a:off x="10779125" y="177800"/>
            <a:ext cx="1206500" cy="121443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5.png"/></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6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262626"/>
              </a:buClr>
              <a:buSzPts val="3300"/>
              <a:buFont typeface="Calibri"/>
              <a:buNone/>
            </a:pPr>
            <a:r>
              <a:rPr lang="es-AR"/>
              <a:t>Ingeniería de Software II</a:t>
            </a:r>
            <a:endParaRPr/>
          </a:p>
        </p:txBody>
      </p:sp>
      <p:sp>
        <p:nvSpPr>
          <p:cNvPr id="128" name="Google Shape;128;p1"/>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es-AR"/>
              <a:t>2026 – CLASE 4</a:t>
            </a:r>
            <a:endParaRPr/>
          </a:p>
        </p:txBody>
      </p:sp>
      <p:sp>
        <p:nvSpPr>
          <p:cNvPr id="129" name="Google Shape;129;p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30" name="Google Shape;130;p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31" name="Google Shape;131;p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a:t>
            </a:fld>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30"/>
          <p:cNvSpPr/>
          <p:nvPr/>
        </p:nvSpPr>
        <p:spPr>
          <a:xfrm>
            <a:off x="9170372" y="2852665"/>
            <a:ext cx="2851962" cy="1047817"/>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89275" tIns="44625" rIns="89275" bIns="44625" anchor="t" anchorCtr="0">
            <a:noAutofit/>
          </a:bodyPr>
          <a:lstStyle/>
          <a:p>
            <a:pPr marL="0" marR="0" lvl="0" indent="0" algn="l" rtl="0">
              <a:lnSpc>
                <a:spcPct val="100000"/>
              </a:lnSpc>
              <a:spcBef>
                <a:spcPts val="0"/>
              </a:spcBef>
              <a:spcAft>
                <a:spcPts val="0"/>
              </a:spcAft>
              <a:buNone/>
            </a:pPr>
            <a:endParaRPr sz="1367" b="0" i="0" u="none" strike="noStrike" cap="none">
              <a:solidFill>
                <a:srgbClr val="000000"/>
              </a:solidFill>
              <a:latin typeface="Arial"/>
              <a:ea typeface="Arial"/>
              <a:cs typeface="Arial"/>
              <a:sym typeface="Arial"/>
            </a:endParaRPr>
          </a:p>
        </p:txBody>
      </p:sp>
      <p:sp>
        <p:nvSpPr>
          <p:cNvPr id="139" name="Google Shape;139;p30"/>
          <p:cNvSpPr/>
          <p:nvPr/>
        </p:nvSpPr>
        <p:spPr>
          <a:xfrm>
            <a:off x="5955542" y="6509477"/>
            <a:ext cx="2107590" cy="30485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89275" tIns="44625" rIns="89275" bIns="44625" anchor="t" anchorCtr="0">
            <a:noAutofit/>
          </a:bodyPr>
          <a:lstStyle/>
          <a:p>
            <a:pPr marL="0" marR="0" lvl="0" indent="0" algn="l" rtl="0">
              <a:lnSpc>
                <a:spcPct val="100000"/>
              </a:lnSpc>
              <a:spcBef>
                <a:spcPts val="0"/>
              </a:spcBef>
              <a:spcAft>
                <a:spcPts val="0"/>
              </a:spcAft>
              <a:buNone/>
            </a:pPr>
            <a:endParaRPr sz="1367" b="0" i="0" u="none" strike="noStrike" cap="none">
              <a:solidFill>
                <a:srgbClr val="000000"/>
              </a:solidFill>
              <a:latin typeface="Arial"/>
              <a:ea typeface="Arial"/>
              <a:cs typeface="Arial"/>
              <a:sym typeface="Arial"/>
            </a:endParaRPr>
          </a:p>
        </p:txBody>
      </p:sp>
      <p:sp>
        <p:nvSpPr>
          <p:cNvPr id="140" name="Google Shape;140;p30"/>
          <p:cNvSpPr/>
          <p:nvPr/>
        </p:nvSpPr>
        <p:spPr>
          <a:xfrm>
            <a:off x="1222279" y="1859038"/>
            <a:ext cx="9902083" cy="4478188"/>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marR="0" lvl="0" indent="-558360" algn="l" rtl="0">
              <a:lnSpc>
                <a:spcPct val="85000"/>
              </a:lnSpc>
              <a:spcBef>
                <a:spcPts val="1642"/>
              </a:spcBef>
              <a:spcAft>
                <a:spcPts val="0"/>
              </a:spcAft>
              <a:buClr>
                <a:srgbClr val="C00000"/>
              </a:buClr>
              <a:buSzPts val="3600"/>
              <a:buFont typeface="Noto Sans Symbols"/>
              <a:buChar char="❖"/>
            </a:pPr>
            <a:r>
              <a:rPr lang="es-AR" sz="3516" b="0" i="0" u="none" strike="noStrike" cap="none">
                <a:solidFill>
                  <a:srgbClr val="000000"/>
                </a:solidFill>
                <a:latin typeface="Calibri"/>
                <a:ea typeface="Calibri"/>
                <a:cs typeface="Calibri"/>
                <a:sym typeface="Calibri"/>
              </a:rPr>
              <a:t>Gestión de Proyectos</a:t>
            </a:r>
            <a:endParaRPr/>
          </a:p>
          <a:p>
            <a:pPr marL="1076325" marR="0" lvl="2" indent="-354013" algn="l" rtl="0">
              <a:lnSpc>
                <a:spcPct val="85000"/>
              </a:lnSpc>
              <a:spcBef>
                <a:spcPts val="1642"/>
              </a:spcBef>
              <a:spcAft>
                <a:spcPts val="0"/>
              </a:spcAft>
              <a:buClr>
                <a:srgbClr val="000000"/>
              </a:buClr>
              <a:buSzPts val="3516"/>
              <a:buFont typeface="Arial"/>
              <a:buChar char="•"/>
            </a:pPr>
            <a:r>
              <a:rPr lang="es-AR" sz="3516" b="0" i="0" u="none" strike="noStrike" cap="none">
                <a:solidFill>
                  <a:srgbClr val="000000"/>
                </a:solidFill>
                <a:latin typeface="Calibri"/>
                <a:ea typeface="Calibri"/>
                <a:cs typeface="Calibri"/>
                <a:sym typeface="Calibri"/>
              </a:rPr>
              <a:t>Planificación Temporal</a:t>
            </a:r>
            <a:endParaRPr sz="3516" b="0" i="0" u="none" strike="noStrike" cap="none">
              <a:solidFill>
                <a:srgbClr val="000000"/>
              </a:solidFill>
              <a:latin typeface="Calibri"/>
              <a:ea typeface="Calibri"/>
              <a:cs typeface="Calibri"/>
              <a:sym typeface="Calibri"/>
            </a:endParaRPr>
          </a:p>
          <a:p>
            <a:pPr marL="558360" marR="0" lvl="0" indent="-558360" algn="l" rtl="0">
              <a:lnSpc>
                <a:spcPct val="85000"/>
              </a:lnSpc>
              <a:spcBef>
                <a:spcPts val="1642"/>
              </a:spcBef>
              <a:spcAft>
                <a:spcPts val="0"/>
              </a:spcAft>
              <a:buClr>
                <a:srgbClr val="C00000"/>
              </a:buClr>
              <a:buSzPts val="3600"/>
              <a:buFont typeface="Noto Sans Symbols"/>
              <a:buChar char="❖"/>
            </a:pPr>
            <a:r>
              <a:rPr lang="es-AR" sz="3516" b="0" i="0" u="none" strike="noStrike" cap="none">
                <a:solidFill>
                  <a:srgbClr val="000000"/>
                </a:solidFill>
                <a:latin typeface="Calibri"/>
                <a:ea typeface="Calibri"/>
                <a:cs typeface="Calibri"/>
                <a:sym typeface="Calibri"/>
              </a:rPr>
              <a:t>Diseño de Software - Conceptos</a:t>
            </a:r>
            <a:endParaRPr sz="3516" b="0" i="0" u="none" strike="noStrike" cap="none">
              <a:solidFill>
                <a:srgbClr val="000000"/>
              </a:solidFill>
              <a:latin typeface="Arial"/>
              <a:ea typeface="Arial"/>
              <a:cs typeface="Arial"/>
              <a:sym typeface="Arial"/>
            </a:endParaRPr>
          </a:p>
          <a:p>
            <a:pPr marL="0" marR="0" lvl="0" indent="0" algn="l" rtl="0">
              <a:lnSpc>
                <a:spcPct val="85000"/>
              </a:lnSpc>
              <a:spcBef>
                <a:spcPts val="1642"/>
              </a:spcBef>
              <a:spcAft>
                <a:spcPts val="0"/>
              </a:spcAft>
              <a:buNone/>
            </a:pPr>
            <a:endParaRPr sz="3516" b="0" i="0" u="none" strike="noStrike" cap="none">
              <a:solidFill>
                <a:srgbClr val="000000"/>
              </a:solidFill>
              <a:latin typeface="Arial"/>
              <a:ea typeface="Arial"/>
              <a:cs typeface="Arial"/>
              <a:sym typeface="Arial"/>
            </a:endParaRPr>
          </a:p>
        </p:txBody>
      </p:sp>
      <p:sp>
        <p:nvSpPr>
          <p:cNvPr id="141" name="Google Shape;141;p30"/>
          <p:cNvSpPr txBox="1">
            <a:spLocks noGrp="1"/>
          </p:cNvSpPr>
          <p:nvPr>
            <p:ph type="title"/>
          </p:nvPr>
        </p:nvSpPr>
        <p:spPr>
          <a:xfrm>
            <a:off x="1222279" y="287339"/>
            <a:ext cx="9806257" cy="1449387"/>
          </a:xfrm>
          <a:prstGeom prst="rect">
            <a:avLst/>
          </a:prstGeom>
          <a:noFill/>
          <a:ln>
            <a:noFill/>
          </a:ln>
        </p:spPr>
        <p:txBody>
          <a:bodyPr spcFirstLastPara="1" wrap="square" lIns="89275" tIns="44625" rIns="89275" bIns="44625" anchor="b" anchorCtr="0">
            <a:noAutofit/>
          </a:bodyPr>
          <a:lstStyle/>
          <a:p>
            <a:pPr marL="0" lvl="0" indent="0" algn="l" rtl="0">
              <a:lnSpc>
                <a:spcPct val="85000"/>
              </a:lnSpc>
              <a:spcBef>
                <a:spcPts val="0"/>
              </a:spcBef>
              <a:spcAft>
                <a:spcPts val="0"/>
              </a:spcAft>
              <a:buNone/>
            </a:pPr>
            <a:r>
              <a:rPr lang="es-AR"/>
              <a:t>Contenidos</a:t>
            </a:r>
            <a:endParaRPr/>
          </a:p>
        </p:txBody>
      </p:sp>
      <p:sp>
        <p:nvSpPr>
          <p:cNvPr id="142" name="Google Shape;142;p30"/>
          <p:cNvSpPr txBox="1">
            <a:spLocks noGrp="1"/>
          </p:cNvSpPr>
          <p:nvPr>
            <p:ph type="dt" idx="10"/>
          </p:nvPr>
        </p:nvSpPr>
        <p:spPr>
          <a:xfrm>
            <a:off x="1222279" y="6459540"/>
            <a:ext cx="2411324" cy="365125"/>
          </a:xfrm>
          <a:prstGeom prst="rect">
            <a:avLst/>
          </a:prstGeom>
          <a:noFill/>
          <a:ln>
            <a:noFill/>
          </a:ln>
        </p:spPr>
        <p:txBody>
          <a:bodyPr spcFirstLastPara="1" wrap="square" lIns="89275" tIns="44625" rIns="89275" bIns="44625" anchor="ctr" anchorCtr="0">
            <a:noAutofit/>
          </a:bodyPr>
          <a:lstStyle/>
          <a:p>
            <a:pPr marL="0" lvl="0" indent="0" algn="l" rtl="0">
              <a:lnSpc>
                <a:spcPct val="100000"/>
              </a:lnSpc>
              <a:spcBef>
                <a:spcPts val="0"/>
              </a:spcBef>
              <a:spcAft>
                <a:spcPts val="0"/>
              </a:spcAft>
              <a:buNone/>
            </a:pPr>
            <a:r>
              <a:rPr lang="es-AR"/>
              <a:t>2026</a:t>
            </a:r>
            <a:endParaRPr/>
          </a:p>
        </p:txBody>
      </p:sp>
      <p:sp>
        <p:nvSpPr>
          <p:cNvPr id="143" name="Google Shape;143;p30"/>
          <p:cNvSpPr txBox="1">
            <a:spLocks noGrp="1"/>
          </p:cNvSpPr>
          <p:nvPr>
            <p:ph type="ftr" idx="11"/>
          </p:nvPr>
        </p:nvSpPr>
        <p:spPr>
          <a:xfrm>
            <a:off x="3746586" y="6459540"/>
            <a:ext cx="4701927" cy="365125"/>
          </a:xfrm>
          <a:prstGeom prst="rect">
            <a:avLst/>
          </a:prstGeom>
          <a:noFill/>
          <a:ln>
            <a:noFill/>
          </a:ln>
        </p:spPr>
        <p:txBody>
          <a:bodyPr spcFirstLastPara="1" wrap="square" lIns="89275" tIns="44625" rIns="89275" bIns="44625"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44" name="Google Shape;144;p30"/>
          <p:cNvSpPr txBox="1">
            <a:spLocks noGrp="1"/>
          </p:cNvSpPr>
          <p:nvPr>
            <p:ph type="sldNum" idx="12"/>
          </p:nvPr>
        </p:nvSpPr>
        <p:spPr>
          <a:xfrm>
            <a:off x="9805850" y="6459540"/>
            <a:ext cx="1278405" cy="365125"/>
          </a:xfrm>
          <a:prstGeom prst="rect">
            <a:avLst/>
          </a:prstGeom>
          <a:noFill/>
          <a:ln>
            <a:noFill/>
          </a:ln>
        </p:spPr>
        <p:txBody>
          <a:bodyPr spcFirstLastPara="1" wrap="square" lIns="89275" tIns="44625" rIns="89275" bIns="44625" anchor="ctr" anchorCtr="0">
            <a:noAutofit/>
          </a:bodyPr>
          <a:lstStyle/>
          <a:p>
            <a:pPr marL="0" lvl="0" indent="0" algn="r" rtl="0">
              <a:lnSpc>
                <a:spcPct val="100000"/>
              </a:lnSpc>
              <a:spcBef>
                <a:spcPts val="0"/>
              </a:spcBef>
              <a:spcAft>
                <a:spcPts val="0"/>
              </a:spcAft>
              <a:buNone/>
            </a:pPr>
            <a:fld id="{00000000-1234-1234-1234-123412341234}" type="slidenum">
              <a:rPr lang="es-AR"/>
              <a:t>2</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35"/>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None/>
            </a:pPr>
            <a:r>
              <a:rPr lang="es-AR"/>
              <a:t>Gestión de Proyectos	</a:t>
            </a:r>
            <a:endParaRPr/>
          </a:p>
        </p:txBody>
      </p:sp>
      <p:sp>
        <p:nvSpPr>
          <p:cNvPr id="150" name="Google Shape;150;p35"/>
          <p:cNvSpPr txBox="1">
            <a:spLocks noGrp="1"/>
          </p:cNvSpPr>
          <p:nvPr>
            <p:ph type="body" idx="1"/>
          </p:nvPr>
        </p:nvSpPr>
        <p:spPr>
          <a:xfrm>
            <a:off x="4800600" y="731520"/>
            <a:ext cx="6614652" cy="5257800"/>
          </a:xfrm>
          <a:prstGeom prst="rect">
            <a:avLst/>
          </a:prstGeom>
          <a:noFill/>
          <a:ln>
            <a:noFill/>
          </a:ln>
        </p:spPr>
        <p:txBody>
          <a:bodyPr spcFirstLastPara="1" wrap="square" lIns="0" tIns="45700" rIns="0" bIns="45700" anchor="t" anchorCtr="0">
            <a:noAutofit/>
          </a:bodyPr>
          <a:lstStyle/>
          <a:p>
            <a:pPr marL="0" lvl="0" indent="0" algn="just" rtl="0">
              <a:lnSpc>
                <a:spcPct val="90000"/>
              </a:lnSpc>
              <a:spcBef>
                <a:spcPts val="0"/>
              </a:spcBef>
              <a:spcAft>
                <a:spcPts val="0"/>
              </a:spcAft>
              <a:buSzPts val="3000"/>
              <a:buNone/>
            </a:pPr>
            <a:r>
              <a:rPr lang="es-AR" sz="3000" dirty="0"/>
              <a:t>L</a:t>
            </a:r>
            <a:r>
              <a:rPr lang="es-AR" sz="3000" dirty="0">
                <a:solidFill>
                  <a:schemeClr val="dk1"/>
                </a:solidFill>
              </a:rPr>
              <a:t>a planificación temporal es una actividad que </a:t>
            </a:r>
            <a:r>
              <a:rPr lang="es-AR" sz="3000" u="sng" dirty="0">
                <a:solidFill>
                  <a:schemeClr val="dk1"/>
                </a:solidFill>
              </a:rPr>
              <a:t>distribuye el esfuerzo estimado</a:t>
            </a:r>
            <a:r>
              <a:rPr lang="es-AR" sz="3000" dirty="0">
                <a:solidFill>
                  <a:schemeClr val="dk1"/>
                </a:solidFill>
              </a:rPr>
              <a:t> a lo largo de la duración prevista del proyecto.</a:t>
            </a:r>
            <a:endParaRPr sz="3000" b="0" i="0" u="none" strike="noStrike" cap="none" dirty="0">
              <a:solidFill>
                <a:schemeClr val="dk1"/>
              </a:solidFill>
            </a:endParaRPr>
          </a:p>
          <a:p>
            <a:pPr marL="90488" lvl="0" indent="0" algn="l" rtl="0">
              <a:lnSpc>
                <a:spcPct val="90000"/>
              </a:lnSpc>
              <a:spcBef>
                <a:spcPts val="1400"/>
              </a:spcBef>
              <a:spcAft>
                <a:spcPts val="0"/>
              </a:spcAft>
              <a:buSzPts val="2000"/>
              <a:buNone/>
            </a:pPr>
            <a:endParaRPr dirty="0"/>
          </a:p>
          <a:p>
            <a:pPr marL="90488" lvl="0" indent="0" algn="l" rtl="0">
              <a:lnSpc>
                <a:spcPct val="90000"/>
              </a:lnSpc>
              <a:spcBef>
                <a:spcPts val="1400"/>
              </a:spcBef>
              <a:spcAft>
                <a:spcPts val="0"/>
              </a:spcAft>
              <a:buSzPts val="2000"/>
              <a:buNone/>
            </a:pPr>
            <a:endParaRPr dirty="0"/>
          </a:p>
          <a:p>
            <a:pPr marL="90488" lvl="0" indent="-177800" algn="l" rtl="0">
              <a:lnSpc>
                <a:spcPct val="100000"/>
              </a:lnSpc>
              <a:spcBef>
                <a:spcPts val="200"/>
              </a:spcBef>
              <a:spcAft>
                <a:spcPts val="0"/>
              </a:spcAft>
              <a:buSzPts val="2800"/>
              <a:buChar char=" "/>
            </a:pPr>
            <a:r>
              <a:rPr lang="es-AR" sz="2800" dirty="0">
                <a:solidFill>
                  <a:schemeClr val="dk1"/>
                </a:solidFill>
              </a:rPr>
              <a:t>La precisión es muy importante para no generar:</a:t>
            </a:r>
            <a:endParaRPr dirty="0"/>
          </a:p>
          <a:p>
            <a:pPr marL="811213" lvl="0" indent="-368300" algn="l" rtl="0">
              <a:lnSpc>
                <a:spcPct val="100000"/>
              </a:lnSpc>
              <a:spcBef>
                <a:spcPts val="200"/>
              </a:spcBef>
              <a:spcAft>
                <a:spcPts val="0"/>
              </a:spcAft>
              <a:buClr>
                <a:schemeClr val="dk1"/>
              </a:buClr>
              <a:buSzPts val="2800"/>
              <a:buFont typeface="Calibri"/>
              <a:buChar char="-"/>
            </a:pPr>
            <a:r>
              <a:rPr lang="es-AR" sz="2800" dirty="0">
                <a:solidFill>
                  <a:schemeClr val="dk1"/>
                </a:solidFill>
              </a:rPr>
              <a:t>clientes insatisfechos, </a:t>
            </a:r>
            <a:endParaRPr dirty="0"/>
          </a:p>
          <a:p>
            <a:pPr marL="811213" lvl="0" indent="-368300" algn="l" rtl="0">
              <a:lnSpc>
                <a:spcPct val="100000"/>
              </a:lnSpc>
              <a:spcBef>
                <a:spcPts val="200"/>
              </a:spcBef>
              <a:spcAft>
                <a:spcPts val="0"/>
              </a:spcAft>
              <a:buClr>
                <a:schemeClr val="dk1"/>
              </a:buClr>
              <a:buSzPts val="2800"/>
              <a:buFont typeface="Calibri"/>
              <a:buChar char="-"/>
            </a:pPr>
            <a:r>
              <a:rPr lang="es-AR" sz="2800" dirty="0">
                <a:solidFill>
                  <a:schemeClr val="dk1"/>
                </a:solidFill>
              </a:rPr>
              <a:t>costos adicionales, </a:t>
            </a:r>
            <a:endParaRPr dirty="0"/>
          </a:p>
          <a:p>
            <a:pPr marL="811213" lvl="0" indent="-368300" algn="l" rtl="0">
              <a:lnSpc>
                <a:spcPct val="100000"/>
              </a:lnSpc>
              <a:spcBef>
                <a:spcPts val="200"/>
              </a:spcBef>
              <a:spcAft>
                <a:spcPts val="0"/>
              </a:spcAft>
              <a:buClr>
                <a:schemeClr val="dk1"/>
              </a:buClr>
              <a:buSzPts val="2800"/>
              <a:buFont typeface="Calibri"/>
              <a:buChar char="-"/>
            </a:pPr>
            <a:r>
              <a:rPr lang="es-AR" sz="2800" dirty="0">
                <a:solidFill>
                  <a:schemeClr val="dk1"/>
                </a:solidFill>
              </a:rPr>
              <a:t>reducción del impacto en el mercado, </a:t>
            </a:r>
            <a:endParaRPr dirty="0"/>
          </a:p>
          <a:p>
            <a:pPr marL="811213" lvl="0" indent="-368300" algn="l" rtl="0">
              <a:lnSpc>
                <a:spcPct val="100000"/>
              </a:lnSpc>
              <a:spcBef>
                <a:spcPts val="200"/>
              </a:spcBef>
              <a:spcAft>
                <a:spcPts val="0"/>
              </a:spcAft>
              <a:buClr>
                <a:schemeClr val="dk1"/>
              </a:buClr>
              <a:buSzPts val="2800"/>
              <a:buFont typeface="Calibri"/>
              <a:buChar char="-"/>
            </a:pPr>
            <a:r>
              <a:rPr lang="es-AR" sz="2800" dirty="0">
                <a:solidFill>
                  <a:schemeClr val="dk1"/>
                </a:solidFill>
              </a:rPr>
              <a:t>...</a:t>
            </a:r>
            <a:endParaRPr dirty="0"/>
          </a:p>
          <a:p>
            <a:pPr marL="90488" lvl="0" indent="0" algn="l" rtl="0">
              <a:lnSpc>
                <a:spcPct val="90000"/>
              </a:lnSpc>
              <a:spcBef>
                <a:spcPts val="1400"/>
              </a:spcBef>
              <a:spcAft>
                <a:spcPts val="0"/>
              </a:spcAft>
              <a:buSzPts val="2000"/>
              <a:buNone/>
            </a:pPr>
            <a:endParaRPr dirty="0"/>
          </a:p>
        </p:txBody>
      </p:sp>
      <p:sp>
        <p:nvSpPr>
          <p:cNvPr id="151" name="Google Shape;151;p35"/>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500"/>
              <a:buNone/>
            </a:pPr>
            <a:r>
              <a:rPr lang="es-AR"/>
              <a:t>Planificación Temporal</a:t>
            </a:r>
            <a:endParaRPr/>
          </a:p>
        </p:txBody>
      </p:sp>
      <p:sp>
        <p:nvSpPr>
          <p:cNvPr id="152" name="Google Shape;152;p35"/>
          <p:cNvSpPr txBox="1">
            <a:spLocks noGrp="1"/>
          </p:cNvSpPr>
          <p:nvPr>
            <p:ph type="dt" idx="10"/>
          </p:nvPr>
        </p:nvSpPr>
        <p:spPr>
          <a:xfrm>
            <a:off x="465138" y="6459538"/>
            <a:ext cx="261937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53" name="Google Shape;153;p35"/>
          <p:cNvSpPr txBox="1">
            <a:spLocks noGrp="1"/>
          </p:cNvSpPr>
          <p:nvPr>
            <p:ph type="ftr" idx="11"/>
          </p:nvPr>
        </p:nvSpPr>
        <p:spPr>
          <a:xfrm>
            <a:off x="4800600" y="6459538"/>
            <a:ext cx="4648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INGENIERÍA DE SOFTWARE II</a:t>
            </a:r>
            <a:endParaRPr/>
          </a:p>
        </p:txBody>
      </p:sp>
      <p:sp>
        <p:nvSpPr>
          <p:cNvPr id="154" name="Google Shape;154;p35"/>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a:t>Calendarización</a:t>
            </a:r>
            <a:endParaRPr/>
          </a:p>
        </p:txBody>
      </p:sp>
      <p:sp>
        <p:nvSpPr>
          <p:cNvPr id="160" name="Google Shape;160;p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a:t>
            </a:fld>
            <a:endParaRPr/>
          </a:p>
        </p:txBody>
      </p:sp>
      <p:sp>
        <p:nvSpPr>
          <p:cNvPr id="163" name="Google Shape;163;p4"/>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85000"/>
              </a:lnSpc>
              <a:spcBef>
                <a:spcPts val="0"/>
              </a:spcBef>
              <a:spcAft>
                <a:spcPts val="0"/>
              </a:spcAft>
              <a:buClr>
                <a:srgbClr val="C00000"/>
              </a:buClr>
              <a:buSzPts val="3200"/>
              <a:buFont typeface="Noto Sans Symbols"/>
              <a:buChar char="❖"/>
            </a:pPr>
            <a:r>
              <a:rPr lang="es-AR" sz="3200">
                <a:solidFill>
                  <a:schemeClr val="dk1"/>
                </a:solidFill>
              </a:rPr>
              <a:t>La </a:t>
            </a:r>
            <a:r>
              <a:rPr lang="es-AR" sz="3200" b="1" i="1">
                <a:solidFill>
                  <a:schemeClr val="dk1"/>
                </a:solidFill>
              </a:rPr>
              <a:t>calendarización del proyecto </a:t>
            </a:r>
            <a:r>
              <a:rPr lang="es-AR" sz="3200">
                <a:solidFill>
                  <a:schemeClr val="dk1"/>
                </a:solidFill>
              </a:rPr>
              <a:t>de software es una acción que distribuye el esfuerzo estimado a través de la duración planificada del proyecto, asignando el esfuerzo a </a:t>
            </a:r>
            <a:r>
              <a:rPr lang="es-AR" sz="3200" b="1" i="1">
                <a:solidFill>
                  <a:schemeClr val="dk1"/>
                </a:solidFill>
              </a:rPr>
              <a:t>tareas</a:t>
            </a:r>
            <a:r>
              <a:rPr lang="es-AR" sz="3200">
                <a:solidFill>
                  <a:schemeClr val="dk1"/>
                </a:solidFill>
              </a:rPr>
              <a:t> específicas del desarrollo de software.</a:t>
            </a:r>
            <a:endParaRPr sz="3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1"/>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a:t>Calendarización</a:t>
            </a:r>
            <a:endParaRPr/>
          </a:p>
        </p:txBody>
      </p:sp>
      <p:sp>
        <p:nvSpPr>
          <p:cNvPr id="169" name="Google Shape;169;p3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70" name="Google Shape;170;p3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71" name="Google Shape;171;p3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a:t>
            </a:fld>
            <a:endParaRPr/>
          </a:p>
        </p:txBody>
      </p:sp>
      <p:sp>
        <p:nvSpPr>
          <p:cNvPr id="172" name="Google Shape;172;p31"/>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457200" lvl="0" indent="-457200" algn="just" rtl="0">
              <a:lnSpc>
                <a:spcPct val="85000"/>
              </a:lnSpc>
              <a:spcBef>
                <a:spcPts val="0"/>
              </a:spcBef>
              <a:spcAft>
                <a:spcPts val="0"/>
              </a:spcAft>
              <a:buClr>
                <a:srgbClr val="C00000"/>
              </a:buClr>
              <a:buSzPts val="3200"/>
              <a:buFont typeface="Noto Sans Symbols"/>
              <a:buChar char="❖"/>
            </a:pPr>
            <a:r>
              <a:rPr lang="es-AR" sz="3200">
                <a:solidFill>
                  <a:schemeClr val="dk1"/>
                </a:solidFill>
              </a:rPr>
              <a:t>Las fechas de los proyectos pueden ser de dos tipos:</a:t>
            </a:r>
            <a:endParaRPr/>
          </a:p>
          <a:p>
            <a:pPr marL="457200" lvl="0" indent="-254000" algn="just" rtl="0">
              <a:lnSpc>
                <a:spcPct val="85000"/>
              </a:lnSpc>
              <a:spcBef>
                <a:spcPts val="0"/>
              </a:spcBef>
              <a:spcAft>
                <a:spcPts val="0"/>
              </a:spcAft>
              <a:buClr>
                <a:srgbClr val="C00000"/>
              </a:buClr>
              <a:buSzPts val="3200"/>
              <a:buFont typeface="Noto Sans Symbols"/>
              <a:buNone/>
            </a:pPr>
            <a:endParaRPr sz="3200">
              <a:solidFill>
                <a:schemeClr val="dk1"/>
              </a:solidFill>
            </a:endParaRPr>
          </a:p>
          <a:p>
            <a:pPr marL="457200" lvl="0" indent="-254000" algn="just" rtl="0">
              <a:lnSpc>
                <a:spcPct val="85000"/>
              </a:lnSpc>
              <a:spcBef>
                <a:spcPts val="0"/>
              </a:spcBef>
              <a:spcAft>
                <a:spcPts val="0"/>
              </a:spcAft>
              <a:buClr>
                <a:srgbClr val="C00000"/>
              </a:buClr>
              <a:buSzPts val="3200"/>
              <a:buFont typeface="Noto Sans Symbols"/>
              <a:buNone/>
            </a:pPr>
            <a:endParaRPr sz="3200">
              <a:solidFill>
                <a:schemeClr val="dk1"/>
              </a:solidFill>
            </a:endParaRPr>
          </a:p>
          <a:p>
            <a:pPr marL="457200" lvl="0" indent="-254000" algn="just" rtl="0">
              <a:lnSpc>
                <a:spcPct val="85000"/>
              </a:lnSpc>
              <a:spcBef>
                <a:spcPts val="0"/>
              </a:spcBef>
              <a:spcAft>
                <a:spcPts val="0"/>
              </a:spcAft>
              <a:buClr>
                <a:srgbClr val="C00000"/>
              </a:buClr>
              <a:buSzPts val="3200"/>
              <a:buFont typeface="Noto Sans Symbols"/>
              <a:buNone/>
            </a:pPr>
            <a:endParaRPr sz="3200">
              <a:solidFill>
                <a:schemeClr val="dk1"/>
              </a:solidFill>
            </a:endParaRPr>
          </a:p>
          <a:p>
            <a:pPr marL="457200" lvl="0" indent="-254000" algn="just" rtl="0">
              <a:lnSpc>
                <a:spcPct val="85000"/>
              </a:lnSpc>
              <a:spcBef>
                <a:spcPts val="0"/>
              </a:spcBef>
              <a:spcAft>
                <a:spcPts val="0"/>
              </a:spcAft>
              <a:buClr>
                <a:srgbClr val="C00000"/>
              </a:buClr>
              <a:buSzPts val="3200"/>
              <a:buFont typeface="Noto Sans Symbols"/>
              <a:buNone/>
            </a:pPr>
            <a:endParaRPr sz="3200">
              <a:solidFill>
                <a:schemeClr val="dk1"/>
              </a:solidFill>
            </a:endParaRPr>
          </a:p>
          <a:p>
            <a:pPr marL="457200" lvl="0" indent="-254000" algn="just" rtl="0">
              <a:lnSpc>
                <a:spcPct val="85000"/>
              </a:lnSpc>
              <a:spcBef>
                <a:spcPts val="0"/>
              </a:spcBef>
              <a:spcAft>
                <a:spcPts val="0"/>
              </a:spcAft>
              <a:buClr>
                <a:srgbClr val="C00000"/>
              </a:buClr>
              <a:buSzPts val="3200"/>
              <a:buFont typeface="Noto Sans Symbols"/>
              <a:buNone/>
            </a:pPr>
            <a:endParaRPr sz="3200">
              <a:solidFill>
                <a:schemeClr val="dk1"/>
              </a:solidFill>
            </a:endParaRPr>
          </a:p>
          <a:p>
            <a:pPr marL="457200" lvl="0" indent="-254000" algn="just" rtl="0">
              <a:lnSpc>
                <a:spcPct val="85000"/>
              </a:lnSpc>
              <a:spcBef>
                <a:spcPts val="0"/>
              </a:spcBef>
              <a:spcAft>
                <a:spcPts val="0"/>
              </a:spcAft>
              <a:buClr>
                <a:srgbClr val="C00000"/>
              </a:buClr>
              <a:buSzPts val="3200"/>
              <a:buFont typeface="Noto Sans Symbols"/>
              <a:buNone/>
            </a:pPr>
            <a:endParaRPr sz="3200">
              <a:solidFill>
                <a:schemeClr val="dk1"/>
              </a:solidFill>
            </a:endParaRPr>
          </a:p>
          <a:p>
            <a:pPr marL="457200" lvl="0" indent="-254000" algn="just" rtl="0">
              <a:lnSpc>
                <a:spcPct val="85000"/>
              </a:lnSpc>
              <a:spcBef>
                <a:spcPts val="0"/>
              </a:spcBef>
              <a:spcAft>
                <a:spcPts val="0"/>
              </a:spcAft>
              <a:buClr>
                <a:srgbClr val="C00000"/>
              </a:buClr>
              <a:buSzPts val="3200"/>
              <a:buFont typeface="Noto Sans Symbols"/>
              <a:buNone/>
            </a:pPr>
            <a:endParaRPr sz="3200">
              <a:solidFill>
                <a:schemeClr val="dk1"/>
              </a:solidFill>
            </a:endParaRPr>
          </a:p>
          <a:p>
            <a:pPr marL="457200" lvl="0" indent="-254000" algn="just" rtl="0">
              <a:lnSpc>
                <a:spcPct val="85000"/>
              </a:lnSpc>
              <a:spcBef>
                <a:spcPts val="0"/>
              </a:spcBef>
              <a:spcAft>
                <a:spcPts val="0"/>
              </a:spcAft>
              <a:buClr>
                <a:srgbClr val="C00000"/>
              </a:buClr>
              <a:buSzPts val="3200"/>
              <a:buFont typeface="Noto Sans Symbols"/>
              <a:buNone/>
            </a:pPr>
            <a:endParaRPr sz="3200">
              <a:solidFill>
                <a:schemeClr val="dk1"/>
              </a:solidFill>
            </a:endParaRPr>
          </a:p>
          <a:p>
            <a:pPr marL="457200" lvl="0" indent="-457200" algn="just" rtl="0">
              <a:lnSpc>
                <a:spcPct val="85000"/>
              </a:lnSpc>
              <a:spcBef>
                <a:spcPts val="0"/>
              </a:spcBef>
              <a:spcAft>
                <a:spcPts val="0"/>
              </a:spcAft>
              <a:buClr>
                <a:srgbClr val="C00000"/>
              </a:buClr>
              <a:buSzPts val="2800"/>
              <a:buFont typeface="Noto Sans Symbols"/>
              <a:buChar char="❖"/>
            </a:pPr>
            <a:r>
              <a:rPr lang="es-AR" sz="2800">
                <a:solidFill>
                  <a:schemeClr val="dk1"/>
                </a:solidFill>
              </a:rPr>
              <a:t>La fecha impuesta por el cliente suele ser la más frecuente.</a:t>
            </a:r>
            <a:r>
              <a:rPr lang="es-AR" sz="3200">
                <a:solidFill>
                  <a:schemeClr val="dk1"/>
                </a:solidFill>
              </a:rPr>
              <a:t>  </a:t>
            </a:r>
            <a:endParaRPr/>
          </a:p>
        </p:txBody>
      </p:sp>
      <p:pic>
        <p:nvPicPr>
          <p:cNvPr id="173" name="Google Shape;173;p31" descr="Diagrama&#10;&#10;El contenido generado por IA puede ser incorrecto."/>
          <p:cNvPicPr preferRelativeResize="0"/>
          <p:nvPr/>
        </p:nvPicPr>
        <p:blipFill rotWithShape="1">
          <a:blip r:embed="rId3">
            <a:alphaModFix/>
          </a:blip>
          <a:srcRect t="8330" b="25077"/>
          <a:stretch/>
        </p:blipFill>
        <p:spPr>
          <a:xfrm>
            <a:off x="2730003" y="2433483"/>
            <a:ext cx="6731993" cy="316291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2"/>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a:t>Calendarización</a:t>
            </a:r>
            <a:endParaRPr/>
          </a:p>
        </p:txBody>
      </p:sp>
      <p:sp>
        <p:nvSpPr>
          <p:cNvPr id="179" name="Google Shape;179;p3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80" name="Google Shape;180;p3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81" name="Google Shape;181;p3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6</a:t>
            </a:fld>
            <a:endParaRPr/>
          </a:p>
        </p:txBody>
      </p:sp>
      <p:sp>
        <p:nvSpPr>
          <p:cNvPr id="182" name="Google Shape;182;p32"/>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457200" lvl="0" indent="-457200" algn="just" rtl="0">
              <a:lnSpc>
                <a:spcPct val="85000"/>
              </a:lnSpc>
              <a:spcBef>
                <a:spcPts val="0"/>
              </a:spcBef>
              <a:spcAft>
                <a:spcPts val="0"/>
              </a:spcAft>
              <a:buClr>
                <a:srgbClr val="C00000"/>
              </a:buClr>
              <a:buSzPts val="3200"/>
              <a:buFont typeface="Noto Sans Symbols"/>
              <a:buChar char="❖"/>
            </a:pPr>
            <a:r>
              <a:rPr lang="es-AR" sz="3200">
                <a:solidFill>
                  <a:schemeClr val="dk1"/>
                </a:solidFill>
              </a:rPr>
              <a:t>La Planificación Temporal está compuesta por:</a:t>
            </a:r>
            <a:endParaRPr/>
          </a:p>
        </p:txBody>
      </p:sp>
      <p:grpSp>
        <p:nvGrpSpPr>
          <p:cNvPr id="183" name="Google Shape;183;p32"/>
          <p:cNvGrpSpPr/>
          <p:nvPr/>
        </p:nvGrpSpPr>
        <p:grpSpPr>
          <a:xfrm>
            <a:off x="2667000" y="2518800"/>
            <a:ext cx="6858000" cy="3690272"/>
            <a:chOff x="2667000" y="2518800"/>
            <a:chExt cx="6858000" cy="3690272"/>
          </a:xfrm>
        </p:grpSpPr>
        <p:pic>
          <p:nvPicPr>
            <p:cNvPr id="184" name="Google Shape;184;p32" descr="Diagrama&#10;&#10;El contenido generado por IA puede ser incorrecto."/>
            <p:cNvPicPr preferRelativeResize="0"/>
            <p:nvPr/>
          </p:nvPicPr>
          <p:blipFill rotWithShape="1">
            <a:blip r:embed="rId3">
              <a:alphaModFix/>
            </a:blip>
            <a:srcRect t="26306" b="3508"/>
            <a:stretch/>
          </p:blipFill>
          <p:spPr>
            <a:xfrm>
              <a:off x="2667000" y="2518800"/>
              <a:ext cx="6858000" cy="3690272"/>
            </a:xfrm>
            <a:prstGeom prst="rect">
              <a:avLst/>
            </a:prstGeom>
            <a:noFill/>
            <a:ln>
              <a:noFill/>
            </a:ln>
          </p:spPr>
        </p:pic>
        <p:sp>
          <p:nvSpPr>
            <p:cNvPr id="185" name="Google Shape;185;p32"/>
            <p:cNvSpPr/>
            <p:nvPr/>
          </p:nvSpPr>
          <p:spPr>
            <a:xfrm>
              <a:off x="2861187" y="6032090"/>
              <a:ext cx="1165123" cy="16223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3"/>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a:t>Calendarización</a:t>
            </a:r>
            <a:endParaRPr/>
          </a:p>
        </p:txBody>
      </p:sp>
      <p:sp>
        <p:nvSpPr>
          <p:cNvPr id="191" name="Google Shape;191;p3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92" name="Google Shape;192;p3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93" name="Google Shape;193;p3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7</a:t>
            </a:fld>
            <a:endParaRPr/>
          </a:p>
        </p:txBody>
      </p:sp>
      <p:sp>
        <p:nvSpPr>
          <p:cNvPr id="194" name="Google Shape;194;p33"/>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457200" lvl="0" indent="-457200" algn="just" rtl="0">
              <a:lnSpc>
                <a:spcPct val="85000"/>
              </a:lnSpc>
              <a:spcBef>
                <a:spcPts val="0"/>
              </a:spcBef>
              <a:spcAft>
                <a:spcPts val="0"/>
              </a:spcAft>
              <a:buClr>
                <a:srgbClr val="C00000"/>
              </a:buClr>
              <a:buSzPts val="3200"/>
              <a:buFont typeface="Noto Sans Symbols"/>
              <a:buChar char="❖"/>
            </a:pPr>
            <a:r>
              <a:rPr lang="es-AR" sz="3200">
                <a:solidFill>
                  <a:schemeClr val="dk1"/>
                </a:solidFill>
              </a:rPr>
              <a:t>Una tarea se describe por 4 parámetros:</a:t>
            </a:r>
            <a:endParaRPr/>
          </a:p>
        </p:txBody>
      </p:sp>
      <p:pic>
        <p:nvPicPr>
          <p:cNvPr id="195" name="Google Shape;195;p33" descr="Diagrama&#10;&#10;El contenido generado por IA puede ser incorrecto."/>
          <p:cNvPicPr preferRelativeResize="0"/>
          <p:nvPr/>
        </p:nvPicPr>
        <p:blipFill rotWithShape="1">
          <a:blip r:embed="rId3">
            <a:alphaModFix/>
          </a:blip>
          <a:srcRect t="20373" b="7390"/>
          <a:stretch/>
        </p:blipFill>
        <p:spPr>
          <a:xfrm>
            <a:off x="2095500" y="2684206"/>
            <a:ext cx="8001000" cy="339213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a:t>Calendarización - Red de tareas</a:t>
            </a:r>
            <a:endParaRPr/>
          </a:p>
        </p:txBody>
      </p:sp>
      <p:sp>
        <p:nvSpPr>
          <p:cNvPr id="201" name="Google Shape;201;p3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02" name="Google Shape;202;p3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03" name="Google Shape;203;p3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8</a:t>
            </a:fld>
            <a:endParaRPr/>
          </a:p>
        </p:txBody>
      </p:sp>
      <p:sp>
        <p:nvSpPr>
          <p:cNvPr id="204" name="Google Shape;204;p34"/>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3200"/>
              <a:buFont typeface="Noto Sans Symbols"/>
              <a:buChar char="❖"/>
            </a:pPr>
            <a:r>
              <a:rPr lang="es-AR" sz="3200">
                <a:solidFill>
                  <a:schemeClr val="dk1"/>
                </a:solidFill>
              </a:rPr>
              <a:t>Es una representación gráfica del flujo de las tareas desde el inicio hasta el fin de un proyecto.</a:t>
            </a:r>
            <a:endParaRPr/>
          </a:p>
          <a:p>
            <a:pPr marL="633413" lvl="0" indent="-544513" algn="just" rtl="0">
              <a:lnSpc>
                <a:spcPct val="85000"/>
              </a:lnSpc>
              <a:spcBef>
                <a:spcPts val="1200"/>
              </a:spcBef>
              <a:spcAft>
                <a:spcPts val="0"/>
              </a:spcAft>
              <a:buClr>
                <a:srgbClr val="C00000"/>
              </a:buClr>
              <a:buSzPts val="3200"/>
              <a:buFont typeface="Noto Sans Symbols"/>
              <a:buChar char="❖"/>
            </a:pPr>
            <a:r>
              <a:rPr lang="es-AR" sz="3200">
                <a:solidFill>
                  <a:schemeClr val="dk1"/>
                </a:solidFill>
              </a:rPr>
              <a:t>En algunos casos los conjuntos de tareas permiten realizar algunas actividades en paralelo. </a:t>
            </a:r>
            <a:endParaRPr/>
          </a:p>
          <a:p>
            <a:pPr marL="633413" lvl="0" indent="-544513" algn="just" rtl="0">
              <a:lnSpc>
                <a:spcPct val="85000"/>
              </a:lnSpc>
              <a:spcBef>
                <a:spcPts val="1200"/>
              </a:spcBef>
              <a:spcAft>
                <a:spcPts val="0"/>
              </a:spcAft>
              <a:buClr>
                <a:srgbClr val="C00000"/>
              </a:buClr>
              <a:buSzPts val="3200"/>
              <a:buFont typeface="Noto Sans Symbols"/>
              <a:buChar char="❖"/>
            </a:pPr>
            <a:r>
              <a:rPr lang="es-AR" sz="3200">
                <a:solidFill>
                  <a:schemeClr val="dk1"/>
                </a:solidFill>
              </a:rPr>
              <a:t>Representan la secuencia de las tareas y su interdependencia.</a:t>
            </a:r>
            <a:endParaRPr/>
          </a:p>
          <a:p>
            <a:pPr marL="457200" lvl="0" indent="-254000" algn="just" rtl="0">
              <a:lnSpc>
                <a:spcPct val="85000"/>
              </a:lnSpc>
              <a:spcBef>
                <a:spcPts val="1200"/>
              </a:spcBef>
              <a:spcAft>
                <a:spcPts val="0"/>
              </a:spcAft>
              <a:buClr>
                <a:srgbClr val="C00000"/>
              </a:buClr>
              <a:buSzPts val="3200"/>
              <a:buFont typeface="Noto Sans Symbols"/>
              <a:buNone/>
            </a:pPr>
            <a:endParaRPr sz="32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89"/>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a:t>Calendarización - Red de tareas</a:t>
            </a:r>
            <a:endParaRPr/>
          </a:p>
        </p:txBody>
      </p:sp>
      <p:sp>
        <p:nvSpPr>
          <p:cNvPr id="210" name="Google Shape;210;p8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11" name="Google Shape;211;p8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12" name="Google Shape;212;p8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9</a:t>
            </a:fld>
            <a:endParaRPr/>
          </a:p>
        </p:txBody>
      </p:sp>
      <p:sp>
        <p:nvSpPr>
          <p:cNvPr id="213" name="Google Shape;213;p89"/>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3200"/>
              <a:buFont typeface="Noto Sans Symbols"/>
              <a:buChar char="❖"/>
            </a:pPr>
            <a:r>
              <a:rPr lang="es-AR" sz="3200">
                <a:solidFill>
                  <a:schemeClr val="dk1"/>
                </a:solidFill>
              </a:rPr>
              <a:t>El conjunto de tareas variará dependiendo del tipo de proyecto y grado de rigor. </a:t>
            </a:r>
            <a:endParaRPr/>
          </a:p>
          <a:p>
            <a:pPr marL="633413" lvl="0" indent="-449263" algn="just" rtl="0">
              <a:lnSpc>
                <a:spcPct val="85000"/>
              </a:lnSpc>
              <a:spcBef>
                <a:spcPts val="1200"/>
              </a:spcBef>
              <a:spcAft>
                <a:spcPts val="0"/>
              </a:spcAft>
              <a:buClr>
                <a:srgbClr val="C00000"/>
              </a:buClr>
              <a:buSzPts val="1500"/>
              <a:buFont typeface="Noto Sans Symbols"/>
              <a:buNone/>
            </a:pPr>
            <a:endParaRPr sz="1500">
              <a:solidFill>
                <a:schemeClr val="dk1"/>
              </a:solidFill>
            </a:endParaRPr>
          </a:p>
          <a:p>
            <a:pPr marL="633413" lvl="0" indent="-544513" algn="just" rtl="0">
              <a:lnSpc>
                <a:spcPct val="85000"/>
              </a:lnSpc>
              <a:spcBef>
                <a:spcPts val="1200"/>
              </a:spcBef>
              <a:spcAft>
                <a:spcPts val="0"/>
              </a:spcAft>
              <a:buClr>
                <a:srgbClr val="C00000"/>
              </a:buClr>
              <a:buSzPts val="2800"/>
              <a:buFont typeface="Noto Sans Symbols"/>
              <a:buChar char="❖"/>
            </a:pPr>
            <a:r>
              <a:rPr lang="es-AR" sz="2800">
                <a:solidFill>
                  <a:schemeClr val="dk1"/>
                </a:solidFill>
              </a:rPr>
              <a:t>Los factores que influyen en el conjunto de tareas a elegir son :</a:t>
            </a:r>
            <a:endParaRPr/>
          </a:p>
          <a:p>
            <a:pPr marL="987425" lvl="0" indent="-354013" algn="just" rtl="0">
              <a:lnSpc>
                <a:spcPct val="85000"/>
              </a:lnSpc>
              <a:spcBef>
                <a:spcPts val="600"/>
              </a:spcBef>
              <a:spcAft>
                <a:spcPts val="0"/>
              </a:spcAft>
              <a:buClr>
                <a:schemeClr val="dk1"/>
              </a:buClr>
              <a:buSzPts val="2400"/>
              <a:buFont typeface="Arial"/>
              <a:buChar char="•"/>
            </a:pPr>
            <a:r>
              <a:rPr lang="es-AR" sz="2400">
                <a:solidFill>
                  <a:schemeClr val="dk1"/>
                </a:solidFill>
              </a:rPr>
              <a:t>Tamaño  del proyecto</a:t>
            </a:r>
            <a:endParaRPr/>
          </a:p>
          <a:p>
            <a:pPr marL="987425" lvl="0" indent="-354013" algn="just" rtl="0">
              <a:lnSpc>
                <a:spcPct val="85000"/>
              </a:lnSpc>
              <a:spcBef>
                <a:spcPts val="0"/>
              </a:spcBef>
              <a:spcAft>
                <a:spcPts val="0"/>
              </a:spcAft>
              <a:buClr>
                <a:schemeClr val="dk1"/>
              </a:buClr>
              <a:buSzPts val="2400"/>
              <a:buFont typeface="Arial"/>
              <a:buChar char="•"/>
            </a:pPr>
            <a:r>
              <a:rPr lang="es-AR" sz="2400">
                <a:solidFill>
                  <a:schemeClr val="dk1"/>
                </a:solidFill>
              </a:rPr>
              <a:t>Número de usuarios potenciales</a:t>
            </a:r>
            <a:endParaRPr/>
          </a:p>
          <a:p>
            <a:pPr marL="987425" lvl="0" indent="-354013" algn="just" rtl="0">
              <a:lnSpc>
                <a:spcPct val="85000"/>
              </a:lnSpc>
              <a:spcBef>
                <a:spcPts val="0"/>
              </a:spcBef>
              <a:spcAft>
                <a:spcPts val="0"/>
              </a:spcAft>
              <a:buClr>
                <a:schemeClr val="dk1"/>
              </a:buClr>
              <a:buSzPts val="2400"/>
              <a:buFont typeface="Arial"/>
              <a:buChar char="•"/>
            </a:pPr>
            <a:r>
              <a:rPr lang="es-AR" sz="2400">
                <a:solidFill>
                  <a:schemeClr val="dk1"/>
                </a:solidFill>
              </a:rPr>
              <a:t>Criticidad del proyecto</a:t>
            </a:r>
            <a:endParaRPr/>
          </a:p>
          <a:p>
            <a:pPr marL="987425" lvl="0" indent="-354013" algn="just" rtl="0">
              <a:lnSpc>
                <a:spcPct val="85000"/>
              </a:lnSpc>
              <a:spcBef>
                <a:spcPts val="0"/>
              </a:spcBef>
              <a:spcAft>
                <a:spcPts val="0"/>
              </a:spcAft>
              <a:buClr>
                <a:schemeClr val="dk1"/>
              </a:buClr>
              <a:buSzPts val="2400"/>
              <a:buFont typeface="Arial"/>
              <a:buChar char="•"/>
            </a:pPr>
            <a:r>
              <a:rPr lang="es-AR" sz="2400">
                <a:solidFill>
                  <a:schemeClr val="dk1"/>
                </a:solidFill>
              </a:rPr>
              <a:t>Estabilidad de los requerimientos</a:t>
            </a:r>
            <a:endParaRPr/>
          </a:p>
          <a:p>
            <a:pPr marL="987425" lvl="0" indent="-354013" algn="just" rtl="0">
              <a:lnSpc>
                <a:spcPct val="85000"/>
              </a:lnSpc>
              <a:spcBef>
                <a:spcPts val="0"/>
              </a:spcBef>
              <a:spcAft>
                <a:spcPts val="0"/>
              </a:spcAft>
              <a:buClr>
                <a:schemeClr val="dk1"/>
              </a:buClr>
              <a:buSzPts val="2400"/>
              <a:buFont typeface="Arial"/>
              <a:buChar char="•"/>
            </a:pPr>
            <a:r>
              <a:rPr lang="es-AR" sz="2400">
                <a:solidFill>
                  <a:schemeClr val="dk1"/>
                </a:solidFill>
              </a:rPr>
              <a:t>Facilidad de comunicación con el cliente/usuario</a:t>
            </a:r>
            <a:endParaRPr/>
          </a:p>
          <a:p>
            <a:pPr marL="987425" lvl="0" indent="-354013" algn="just" rtl="0">
              <a:lnSpc>
                <a:spcPct val="85000"/>
              </a:lnSpc>
              <a:spcBef>
                <a:spcPts val="0"/>
              </a:spcBef>
              <a:spcAft>
                <a:spcPts val="0"/>
              </a:spcAft>
              <a:buClr>
                <a:schemeClr val="dk1"/>
              </a:buClr>
              <a:buSzPts val="2400"/>
              <a:buFont typeface="Arial"/>
              <a:buChar char="•"/>
            </a:pPr>
            <a:r>
              <a:rPr lang="es-AR" sz="2400">
                <a:solidFill>
                  <a:schemeClr val="dk1"/>
                </a:solidFill>
              </a:rPr>
              <a:t>Madurez de la tecnología aplicable</a:t>
            </a:r>
            <a:endParaRPr/>
          </a:p>
          <a:p>
            <a:pPr marL="987425" lvl="0" indent="-354013" algn="just" rtl="0">
              <a:lnSpc>
                <a:spcPct val="85000"/>
              </a:lnSpc>
              <a:spcBef>
                <a:spcPts val="0"/>
              </a:spcBef>
              <a:spcAft>
                <a:spcPts val="0"/>
              </a:spcAft>
              <a:buClr>
                <a:schemeClr val="dk1"/>
              </a:buClr>
              <a:buSzPts val="2400"/>
              <a:buFont typeface="Arial"/>
              <a:buChar char="•"/>
            </a:pPr>
            <a:r>
              <a:rPr lang="es-AR" sz="2400">
                <a:solidFill>
                  <a:schemeClr val="dk1"/>
                </a:solidFill>
              </a:rPr>
              <a:t>Restricciones</a:t>
            </a:r>
            <a:endParaRPr/>
          </a:p>
          <a:p>
            <a:pPr marL="987425" lvl="0" indent="-354013" algn="just" rtl="0">
              <a:lnSpc>
                <a:spcPct val="85000"/>
              </a:lnSpc>
              <a:spcBef>
                <a:spcPts val="0"/>
              </a:spcBef>
              <a:spcAft>
                <a:spcPts val="0"/>
              </a:spcAft>
              <a:buClr>
                <a:schemeClr val="dk1"/>
              </a:buClr>
              <a:buSzPts val="2400"/>
              <a:buFont typeface="Arial"/>
              <a:buChar char="•"/>
            </a:pPr>
            <a:r>
              <a:rPr lang="es-AR" sz="2400">
                <a:solidFill>
                  <a:schemeClr val="dk1"/>
                </a:solidFill>
              </a:rPr>
              <a:t>…</a:t>
            </a:r>
            <a:endParaRPr sz="3200">
              <a:solidFill>
                <a:schemeClr val="dk1"/>
              </a:solidFill>
            </a:endParaRPr>
          </a:p>
          <a:p>
            <a:pPr marL="633413" lvl="0" indent="-341313" algn="just" rtl="0">
              <a:lnSpc>
                <a:spcPct val="85000"/>
              </a:lnSpc>
              <a:spcBef>
                <a:spcPts val="0"/>
              </a:spcBef>
              <a:spcAft>
                <a:spcPts val="0"/>
              </a:spcAft>
              <a:buClr>
                <a:srgbClr val="C00000"/>
              </a:buClr>
              <a:buSzPts val="3200"/>
              <a:buFont typeface="Noto Sans Symbols"/>
              <a:buNone/>
            </a:pPr>
            <a:endParaRPr sz="3200">
              <a:solidFill>
                <a:schemeClr val="dk1"/>
              </a:solidFill>
            </a:endParaRPr>
          </a:p>
          <a:p>
            <a:pPr marL="457200" lvl="0" indent="-254000" algn="just" rtl="0">
              <a:lnSpc>
                <a:spcPct val="85000"/>
              </a:lnSpc>
              <a:spcBef>
                <a:spcPts val="1200"/>
              </a:spcBef>
              <a:spcAft>
                <a:spcPts val="0"/>
              </a:spcAft>
              <a:buClr>
                <a:srgbClr val="C00000"/>
              </a:buClr>
              <a:buSzPts val="3200"/>
              <a:buFont typeface="Noto Sans Symbols"/>
              <a:buNone/>
            </a:pPr>
            <a:endParaRPr sz="32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90"/>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a:t>Calendarización - Red de tareas</a:t>
            </a:r>
            <a:endParaRPr/>
          </a:p>
        </p:txBody>
      </p:sp>
      <p:sp>
        <p:nvSpPr>
          <p:cNvPr id="219" name="Google Shape;219;p9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20" name="Google Shape;220;p9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21" name="Google Shape;221;p9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10</a:t>
            </a:fld>
            <a:endParaRPr/>
          </a:p>
        </p:txBody>
      </p:sp>
      <p:pic>
        <p:nvPicPr>
          <p:cNvPr id="222" name="Google Shape;222;p90"/>
          <p:cNvPicPr preferRelativeResize="0"/>
          <p:nvPr/>
        </p:nvPicPr>
        <p:blipFill rotWithShape="1">
          <a:blip r:embed="rId3">
            <a:alphaModFix/>
          </a:blip>
          <a:srcRect/>
          <a:stretch/>
        </p:blipFill>
        <p:spPr>
          <a:xfrm>
            <a:off x="1390476" y="1839964"/>
            <a:ext cx="9471374" cy="426564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91"/>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rgbClr val="4A6617"/>
              </a:buClr>
              <a:buSzPts val="4000"/>
              <a:buFont typeface="Calibri"/>
              <a:buNone/>
            </a:pPr>
            <a:r>
              <a:rPr lang="es-AR" sz="4300" dirty="0"/>
              <a:t>Planificación Temporal – Diagrama de Gantt</a:t>
            </a:r>
            <a:endParaRPr sz="4300" dirty="0"/>
          </a:p>
        </p:txBody>
      </p:sp>
      <p:sp>
        <p:nvSpPr>
          <p:cNvPr id="228" name="Google Shape;228;p9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29" name="Google Shape;229;p9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30" name="Google Shape;230;p9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11</a:t>
            </a:fld>
            <a:endParaRPr/>
          </a:p>
        </p:txBody>
      </p:sp>
      <p:sp>
        <p:nvSpPr>
          <p:cNvPr id="231" name="Google Shape;231;p91"/>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3200"/>
              <a:buFont typeface="Noto Sans Symbols"/>
              <a:buChar char="❖"/>
            </a:pPr>
            <a:r>
              <a:rPr lang="es-AR" sz="3200">
                <a:solidFill>
                  <a:schemeClr val="dk1"/>
                </a:solidFill>
              </a:rPr>
              <a:t>Un diagrama de Gantt es una herramienta visual de gestión de proyectos utilizada para planificar y rastrear el progreso de diversas tareas y actividades dentro del ciclo de vida de un proyecto de software. </a:t>
            </a:r>
            <a:endParaRPr/>
          </a:p>
          <a:p>
            <a:pPr marL="633413" lvl="0" indent="-544513" algn="just" rtl="0">
              <a:lnSpc>
                <a:spcPct val="85000"/>
              </a:lnSpc>
              <a:spcBef>
                <a:spcPts val="1200"/>
              </a:spcBef>
              <a:spcAft>
                <a:spcPts val="0"/>
              </a:spcAft>
              <a:buClr>
                <a:srgbClr val="C00000"/>
              </a:buClr>
              <a:buSzPts val="3200"/>
              <a:buFont typeface="Noto Sans Symbols"/>
              <a:buChar char="❖"/>
            </a:pPr>
            <a:r>
              <a:rPr lang="es-AR" sz="3200">
                <a:solidFill>
                  <a:schemeClr val="dk1"/>
                </a:solidFill>
              </a:rPr>
              <a:t>Funciona como una línea de tiempo visual, ofreciendo una visión general de alto nivel de los cronogramas del proyecto, lo que simplifica la gestión de planes complejos que involucran múltiples equipos y plazos cambiantes. </a:t>
            </a:r>
            <a:endParaRPr/>
          </a:p>
          <a:p>
            <a:pPr marL="633413" lvl="0" indent="-341313" algn="just" rtl="0">
              <a:lnSpc>
                <a:spcPct val="85000"/>
              </a:lnSpc>
              <a:spcBef>
                <a:spcPts val="1200"/>
              </a:spcBef>
              <a:spcAft>
                <a:spcPts val="0"/>
              </a:spcAft>
              <a:buClr>
                <a:srgbClr val="C00000"/>
              </a:buClr>
              <a:buSzPts val="3200"/>
              <a:buFont typeface="Noto Sans Symbols"/>
              <a:buNone/>
            </a:pPr>
            <a:endParaRPr sz="3200">
              <a:solidFill>
                <a:schemeClr val="dk1"/>
              </a:solidFill>
            </a:endParaRPr>
          </a:p>
          <a:p>
            <a:pPr marL="633413" lvl="0" indent="-341313" algn="just" rtl="0">
              <a:lnSpc>
                <a:spcPct val="85000"/>
              </a:lnSpc>
              <a:spcBef>
                <a:spcPts val="1200"/>
              </a:spcBef>
              <a:spcAft>
                <a:spcPts val="0"/>
              </a:spcAft>
              <a:buClr>
                <a:srgbClr val="C00000"/>
              </a:buClr>
              <a:buSzPts val="3200"/>
              <a:buFont typeface="Noto Sans Symbols"/>
              <a:buNone/>
            </a:pPr>
            <a:endParaRPr sz="3200">
              <a:solidFill>
                <a:schemeClr val="dk1"/>
              </a:solidFill>
            </a:endParaRPr>
          </a:p>
          <a:p>
            <a:pPr marL="457200" lvl="0" indent="-254000" algn="just" rtl="0">
              <a:lnSpc>
                <a:spcPct val="85000"/>
              </a:lnSpc>
              <a:spcBef>
                <a:spcPts val="1200"/>
              </a:spcBef>
              <a:spcAft>
                <a:spcPts val="0"/>
              </a:spcAft>
              <a:buClr>
                <a:srgbClr val="C00000"/>
              </a:buClr>
              <a:buSzPts val="3200"/>
              <a:buFont typeface="Noto Sans Symbols"/>
              <a:buNone/>
            </a:pPr>
            <a:endParaRPr sz="32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92"/>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sz="4300" dirty="0"/>
              <a:t>Planificación Temporal – Diagrama de Gantt</a:t>
            </a:r>
            <a:endParaRPr sz="4300" dirty="0"/>
          </a:p>
        </p:txBody>
      </p:sp>
      <p:sp>
        <p:nvSpPr>
          <p:cNvPr id="237" name="Google Shape;237;p9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38" name="Google Shape;238;p9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39" name="Google Shape;239;p9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12</a:t>
            </a:fld>
            <a:endParaRPr/>
          </a:p>
        </p:txBody>
      </p:sp>
      <p:sp>
        <p:nvSpPr>
          <p:cNvPr id="240" name="Google Shape;240;p92"/>
          <p:cNvSpPr txBox="1">
            <a:spLocks noGrp="1"/>
          </p:cNvSpPr>
          <p:nvPr>
            <p:ph type="body" idx="4294967295"/>
          </p:nvPr>
        </p:nvSpPr>
        <p:spPr>
          <a:xfrm>
            <a:off x="1030288" y="1884620"/>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3200"/>
              <a:buFont typeface="Noto Sans Symbols"/>
              <a:buChar char="❖"/>
            </a:pPr>
            <a:r>
              <a:rPr lang="es-AR" sz="3200">
                <a:solidFill>
                  <a:schemeClr val="dk1"/>
                </a:solidFill>
              </a:rPr>
              <a:t>Componentes:</a:t>
            </a:r>
            <a:endParaRPr/>
          </a:p>
          <a:p>
            <a:pPr marL="633413" lvl="0" indent="-341313" algn="just" rtl="0">
              <a:lnSpc>
                <a:spcPct val="85000"/>
              </a:lnSpc>
              <a:spcBef>
                <a:spcPts val="1200"/>
              </a:spcBef>
              <a:spcAft>
                <a:spcPts val="0"/>
              </a:spcAft>
              <a:buClr>
                <a:srgbClr val="C00000"/>
              </a:buClr>
              <a:buSzPts val="3200"/>
              <a:buFont typeface="Noto Sans Symbols"/>
              <a:buNone/>
            </a:pPr>
            <a:endParaRPr sz="3200">
              <a:solidFill>
                <a:schemeClr val="dk1"/>
              </a:solidFill>
            </a:endParaRPr>
          </a:p>
          <a:p>
            <a:pPr marL="633413" lvl="0" indent="-341313" algn="just" rtl="0">
              <a:lnSpc>
                <a:spcPct val="85000"/>
              </a:lnSpc>
              <a:spcBef>
                <a:spcPts val="1200"/>
              </a:spcBef>
              <a:spcAft>
                <a:spcPts val="0"/>
              </a:spcAft>
              <a:buClr>
                <a:srgbClr val="C00000"/>
              </a:buClr>
              <a:buSzPts val="3200"/>
              <a:buFont typeface="Noto Sans Symbols"/>
              <a:buNone/>
            </a:pPr>
            <a:endParaRPr sz="3200">
              <a:solidFill>
                <a:schemeClr val="dk1"/>
              </a:solidFill>
            </a:endParaRPr>
          </a:p>
          <a:p>
            <a:pPr marL="457200" lvl="0" indent="-254000" algn="just" rtl="0">
              <a:lnSpc>
                <a:spcPct val="85000"/>
              </a:lnSpc>
              <a:spcBef>
                <a:spcPts val="1200"/>
              </a:spcBef>
              <a:spcAft>
                <a:spcPts val="0"/>
              </a:spcAft>
              <a:buClr>
                <a:srgbClr val="C00000"/>
              </a:buClr>
              <a:buSzPts val="3200"/>
              <a:buFont typeface="Noto Sans Symbols"/>
              <a:buNone/>
            </a:pPr>
            <a:endParaRPr sz="3200">
              <a:solidFill>
                <a:schemeClr val="dk1"/>
              </a:solidFill>
            </a:endParaRPr>
          </a:p>
        </p:txBody>
      </p:sp>
      <p:pic>
        <p:nvPicPr>
          <p:cNvPr id="241" name="Google Shape;241;p92" descr="Diagrama&#10;&#10;El contenido generado por IA puede ser incorrecto."/>
          <p:cNvPicPr preferRelativeResize="0"/>
          <p:nvPr/>
        </p:nvPicPr>
        <p:blipFill rotWithShape="1">
          <a:blip r:embed="rId3">
            <a:alphaModFix/>
          </a:blip>
          <a:srcRect t="19172" b="5752"/>
          <a:stretch/>
        </p:blipFill>
        <p:spPr>
          <a:xfrm>
            <a:off x="2451023" y="2374490"/>
            <a:ext cx="7289953" cy="391622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47" name="Google Shape;247;p1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48" name="Google Shape;248;p1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13</a:t>
            </a:fld>
            <a:endParaRPr/>
          </a:p>
        </p:txBody>
      </p:sp>
      <p:pic>
        <p:nvPicPr>
          <p:cNvPr id="249" name="Google Shape;249;p10"/>
          <p:cNvPicPr preferRelativeResize="0"/>
          <p:nvPr/>
        </p:nvPicPr>
        <p:blipFill rotWithShape="1">
          <a:blip r:embed="rId3">
            <a:alphaModFix/>
          </a:blip>
          <a:srcRect b="1219"/>
          <a:stretch/>
        </p:blipFill>
        <p:spPr>
          <a:xfrm>
            <a:off x="1994408" y="0"/>
            <a:ext cx="8203183" cy="631738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93"/>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255" name="Google Shape;255;p9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56" name="Google Shape;256;p9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57" name="Google Shape;257;p9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14</a:t>
            </a:fld>
            <a:endParaRPr/>
          </a:p>
        </p:txBody>
      </p:sp>
      <p:sp>
        <p:nvSpPr>
          <p:cNvPr id="258" name="Google Shape;258;p93"/>
          <p:cNvSpPr txBox="1">
            <a:spLocks noGrp="1"/>
          </p:cNvSpPr>
          <p:nvPr>
            <p:ph type="body" idx="4294967295"/>
          </p:nvPr>
        </p:nvSpPr>
        <p:spPr>
          <a:xfrm>
            <a:off x="1030288" y="1810880"/>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b="1">
                <a:solidFill>
                  <a:schemeClr val="dk1"/>
                </a:solidFill>
              </a:rPr>
              <a:t>PERT</a:t>
            </a:r>
            <a:r>
              <a:rPr lang="es-AR" sz="2800">
                <a:solidFill>
                  <a:schemeClr val="dk1"/>
                </a:solidFill>
              </a:rPr>
              <a:t> (</a:t>
            </a:r>
            <a:r>
              <a:rPr lang="es-AR" sz="2800" u="sng">
                <a:solidFill>
                  <a:schemeClr val="dk1"/>
                </a:solidFill>
              </a:rPr>
              <a:t>Técnica de Evaluación y Revisión de Programas</a:t>
            </a:r>
            <a:r>
              <a:rPr lang="es-AR" sz="2800">
                <a:solidFill>
                  <a:schemeClr val="dk1"/>
                </a:solidFill>
              </a:rPr>
              <a:t>) es una herramienta utilizada para analizar las estimaciones de tareas en un cronograma y evaluar las opciones de la ruta crítica, especialmente cuando las duraciones de las tareas son inciertas. </a:t>
            </a:r>
            <a:endParaRPr/>
          </a:p>
          <a:p>
            <a:pPr marL="633413" lvl="0" indent="-544513" algn="just" rtl="0">
              <a:lnSpc>
                <a:spcPct val="85000"/>
              </a:lnSpc>
              <a:spcBef>
                <a:spcPts val="1200"/>
              </a:spcBef>
              <a:spcAft>
                <a:spcPts val="0"/>
              </a:spcAft>
              <a:buClr>
                <a:srgbClr val="C00000"/>
              </a:buClr>
              <a:buSzPts val="2800"/>
              <a:buFont typeface="Noto Sans Symbols"/>
              <a:buChar char="❖"/>
            </a:pPr>
            <a:r>
              <a:rPr lang="es-AR" sz="2800" b="1">
                <a:solidFill>
                  <a:schemeClr val="dk1"/>
                </a:solidFill>
              </a:rPr>
              <a:t>CPM</a:t>
            </a:r>
            <a:r>
              <a:rPr lang="es-AR" sz="2800">
                <a:solidFill>
                  <a:schemeClr val="dk1"/>
                </a:solidFill>
              </a:rPr>
              <a:t> (</a:t>
            </a:r>
            <a:r>
              <a:rPr lang="es-AR" sz="2800" u="sng">
                <a:solidFill>
                  <a:schemeClr val="dk1"/>
                </a:solidFill>
              </a:rPr>
              <a:t>Método de la Ruta Crítica</a:t>
            </a:r>
            <a:r>
              <a:rPr lang="es-AR" sz="2800">
                <a:solidFill>
                  <a:schemeClr val="dk1"/>
                </a:solidFill>
              </a:rPr>
              <a:t>) es un método que identifica la secuencia de actividades que determinan el tiempo mínimo de finalización de un proyecto, centrándose en tareas bien definidas con duraciones conocidas. </a:t>
            </a:r>
            <a:endParaRPr/>
          </a:p>
          <a:p>
            <a:pPr marL="633413" lvl="0" indent="-544513" algn="just" rtl="0">
              <a:lnSpc>
                <a:spcPct val="85000"/>
              </a:lnSpc>
              <a:spcBef>
                <a:spcPts val="1200"/>
              </a:spcBef>
              <a:spcAft>
                <a:spcPts val="0"/>
              </a:spcAft>
              <a:buClr>
                <a:srgbClr val="C00000"/>
              </a:buClr>
              <a:buSzPts val="2800"/>
              <a:buFont typeface="Noto Sans Symbols"/>
              <a:buChar char="❖"/>
            </a:pPr>
            <a:r>
              <a:rPr lang="es-AR" sz="2800">
                <a:solidFill>
                  <a:schemeClr val="dk1"/>
                </a:solidFill>
              </a:rPr>
              <a:t>Ambos ayudan a desglosar proyectos complejos en tareas manejables, visualizar cronogramas, identificar dependencias, etc., apuntando a la finalización del proyecto a tiempo.   </a:t>
            </a:r>
            <a:endParaRPr/>
          </a:p>
          <a:p>
            <a:pPr marL="633413" lvl="0" indent="-366713" algn="just" rtl="0">
              <a:lnSpc>
                <a:spcPct val="85000"/>
              </a:lnSpc>
              <a:spcBef>
                <a:spcPts val="1200"/>
              </a:spcBef>
              <a:spcAft>
                <a:spcPts val="0"/>
              </a:spcAft>
              <a:buClr>
                <a:srgbClr val="C00000"/>
              </a:buClr>
              <a:buSzPts val="2800"/>
              <a:buFont typeface="Noto Sans Symbols"/>
              <a:buNone/>
            </a:pPr>
            <a:endParaRPr sz="2800">
              <a:solidFill>
                <a:schemeClr val="dk1"/>
              </a:solidFill>
            </a:endParaRPr>
          </a:p>
          <a:p>
            <a:pPr marL="633413" lvl="0" indent="-366713" algn="just" rtl="0">
              <a:lnSpc>
                <a:spcPct val="85000"/>
              </a:lnSpc>
              <a:spcBef>
                <a:spcPts val="1200"/>
              </a:spcBef>
              <a:spcAft>
                <a:spcPts val="0"/>
              </a:spcAft>
              <a:buClr>
                <a:srgbClr val="C00000"/>
              </a:buClr>
              <a:buSzPts val="2800"/>
              <a:buFont typeface="Noto Sans Symbols"/>
              <a:buNone/>
            </a:pPr>
            <a:endParaRPr sz="2800">
              <a:solidFill>
                <a:schemeClr val="dk1"/>
              </a:solidFill>
            </a:endParaRPr>
          </a:p>
          <a:p>
            <a:pPr marL="457200" lvl="0" indent="-279400" algn="just" rtl="0">
              <a:lnSpc>
                <a:spcPct val="85000"/>
              </a:lnSpc>
              <a:spcBef>
                <a:spcPts val="1200"/>
              </a:spcBef>
              <a:spcAft>
                <a:spcPts val="0"/>
              </a:spcAft>
              <a:buClr>
                <a:srgbClr val="C00000"/>
              </a:buClr>
              <a:buSzPts val="2800"/>
              <a:buFont typeface="Noto Sans Symbols"/>
              <a:buNone/>
            </a:pPr>
            <a:endParaRPr sz="2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94"/>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264" name="Google Shape;264;p9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65" name="Google Shape;265;p9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66" name="Google Shape;266;p9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15</a:t>
            </a:fld>
            <a:endParaRPr/>
          </a:p>
        </p:txBody>
      </p:sp>
      <p:sp>
        <p:nvSpPr>
          <p:cNvPr id="267" name="Google Shape;267;p94"/>
          <p:cNvSpPr txBox="1">
            <a:spLocks noGrp="1"/>
          </p:cNvSpPr>
          <p:nvPr>
            <p:ph type="body" idx="4294967295"/>
          </p:nvPr>
        </p:nvSpPr>
        <p:spPr>
          <a:xfrm>
            <a:off x="1030288" y="1825628"/>
            <a:ext cx="10182225" cy="3162916"/>
          </a:xfrm>
          <a:prstGeom prst="rect">
            <a:avLst/>
          </a:prstGeom>
          <a:noFill/>
          <a:ln>
            <a:noFill/>
          </a:ln>
        </p:spPr>
        <p:txBody>
          <a:bodyPr spcFirstLastPara="1" wrap="square" lIns="91425" tIns="45700" rIns="91425" bIns="45700" anchor="t" anchorCtr="0">
            <a:noAutofit/>
          </a:bodyPr>
          <a:lstStyle/>
          <a:p>
            <a:pPr marL="88900" lvl="0" indent="0" algn="just" rtl="0">
              <a:lnSpc>
                <a:spcPct val="85000"/>
              </a:lnSpc>
              <a:spcBef>
                <a:spcPts val="0"/>
              </a:spcBef>
              <a:spcAft>
                <a:spcPts val="0"/>
              </a:spcAft>
              <a:buClr>
                <a:srgbClr val="C00000"/>
              </a:buClr>
              <a:buSzPts val="3200"/>
              <a:buNone/>
            </a:pPr>
            <a:r>
              <a:rPr lang="es-AR" sz="3200" b="1">
                <a:solidFill>
                  <a:schemeClr val="dk1"/>
                </a:solidFill>
              </a:rPr>
              <a:t>PERT</a:t>
            </a:r>
            <a:r>
              <a:rPr lang="es-AR" sz="3200">
                <a:solidFill>
                  <a:schemeClr val="dk1"/>
                </a:solidFill>
              </a:rPr>
              <a:t> (Program Evaluation &amp; Review Technique):</a:t>
            </a:r>
            <a:endParaRPr sz="3200">
              <a:solidFill>
                <a:schemeClr val="dk1"/>
              </a:solidFill>
            </a:endParaRPr>
          </a:p>
          <a:p>
            <a:pPr marL="633413" lvl="0" indent="-544513" algn="just" rtl="0">
              <a:lnSpc>
                <a:spcPct val="85000"/>
              </a:lnSpc>
              <a:spcBef>
                <a:spcPts val="1200"/>
              </a:spcBef>
              <a:spcAft>
                <a:spcPts val="0"/>
              </a:spcAft>
              <a:buClr>
                <a:srgbClr val="C00000"/>
              </a:buClr>
              <a:buSzPts val="2800"/>
              <a:buFont typeface="Noto Sans Symbols"/>
              <a:buChar char="❖"/>
            </a:pPr>
            <a:r>
              <a:rPr lang="es-AR" sz="2800">
                <a:solidFill>
                  <a:schemeClr val="dk1"/>
                </a:solidFill>
              </a:rPr>
              <a:t>Creado para proyectos del programa de defensa del gobierno norteamericano entre 1958 y 1959. </a:t>
            </a:r>
            <a:endParaRPr/>
          </a:p>
          <a:p>
            <a:pPr marL="633413" lvl="0" indent="-544513" algn="just" rtl="0">
              <a:lnSpc>
                <a:spcPct val="85000"/>
              </a:lnSpc>
              <a:spcBef>
                <a:spcPts val="1200"/>
              </a:spcBef>
              <a:spcAft>
                <a:spcPts val="0"/>
              </a:spcAft>
              <a:buClr>
                <a:srgbClr val="C00000"/>
              </a:buClr>
              <a:buSzPts val="2800"/>
              <a:buFont typeface="Noto Sans Symbols"/>
              <a:buChar char="❖"/>
            </a:pPr>
            <a:r>
              <a:rPr lang="es-AR" sz="2800">
                <a:solidFill>
                  <a:schemeClr val="dk1"/>
                </a:solidFill>
              </a:rPr>
              <a:t>Se utiliza para controlar la ejecución de proyectos con gran número de actividades que implican investigación, desarrollo y pruebas.</a:t>
            </a:r>
            <a:endParaRPr/>
          </a:p>
          <a:p>
            <a:pPr marL="633413" lvl="0" indent="-544513" algn="just" rtl="0">
              <a:lnSpc>
                <a:spcPct val="85000"/>
              </a:lnSpc>
              <a:spcBef>
                <a:spcPts val="1200"/>
              </a:spcBef>
              <a:spcAft>
                <a:spcPts val="0"/>
              </a:spcAft>
              <a:buClr>
                <a:srgbClr val="C00000"/>
              </a:buClr>
              <a:buSzPts val="2800"/>
              <a:buFont typeface="Noto Sans Symbols"/>
              <a:buChar char="❖"/>
            </a:pPr>
            <a:r>
              <a:rPr lang="es-AR" sz="2800">
                <a:solidFill>
                  <a:schemeClr val="dk1"/>
                </a:solidFill>
              </a:rPr>
              <a:t>Red de tareas con Fechas tempranas, tardías, Camino crítico. </a:t>
            </a:r>
            <a:endParaRPr/>
          </a:p>
          <a:p>
            <a:pPr marL="633413" lvl="0" indent="-544513" algn="just" rtl="0">
              <a:lnSpc>
                <a:spcPct val="85000"/>
              </a:lnSpc>
              <a:spcBef>
                <a:spcPts val="1200"/>
              </a:spcBef>
              <a:spcAft>
                <a:spcPts val="0"/>
              </a:spcAft>
              <a:buClr>
                <a:srgbClr val="C00000"/>
              </a:buClr>
              <a:buSzPts val="2800"/>
              <a:buFont typeface="Noto Sans Symbols"/>
              <a:buChar char="❖"/>
            </a:pPr>
            <a:r>
              <a:rPr lang="es-AR" sz="2800" i="1">
                <a:solidFill>
                  <a:schemeClr val="dk1"/>
                </a:solidFill>
              </a:rPr>
              <a:t>Probabilístico.</a:t>
            </a:r>
            <a:r>
              <a:rPr lang="es-AR" sz="2800">
                <a:solidFill>
                  <a:schemeClr val="dk1"/>
                </a:solidFill>
              </a:rPr>
              <a:t> </a:t>
            </a:r>
            <a:endParaRPr/>
          </a:p>
          <a:p>
            <a:pPr marL="633413" lvl="0" indent="-366713" algn="just" rtl="0">
              <a:lnSpc>
                <a:spcPct val="85000"/>
              </a:lnSpc>
              <a:spcBef>
                <a:spcPts val="1200"/>
              </a:spcBef>
              <a:spcAft>
                <a:spcPts val="0"/>
              </a:spcAft>
              <a:buClr>
                <a:srgbClr val="C00000"/>
              </a:buClr>
              <a:buSzPts val="2800"/>
              <a:buFont typeface="Noto Sans Symbols"/>
              <a:buNone/>
            </a:pPr>
            <a:endParaRPr sz="2800">
              <a:solidFill>
                <a:schemeClr val="dk1"/>
              </a:solidFill>
            </a:endParaRPr>
          </a:p>
          <a:p>
            <a:pPr marL="457200" lvl="0" indent="-279400" algn="just" rtl="0">
              <a:lnSpc>
                <a:spcPct val="85000"/>
              </a:lnSpc>
              <a:spcBef>
                <a:spcPts val="1200"/>
              </a:spcBef>
              <a:spcAft>
                <a:spcPts val="0"/>
              </a:spcAft>
              <a:buClr>
                <a:srgbClr val="C00000"/>
              </a:buClr>
              <a:buSzPts val="2800"/>
              <a:buFont typeface="Noto Sans Symbols"/>
              <a:buNone/>
            </a:pPr>
            <a:endParaRPr sz="2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95"/>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273" name="Google Shape;273;p95"/>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74" name="Google Shape;274;p95"/>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75" name="Google Shape;275;p95"/>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16</a:t>
            </a:fld>
            <a:endParaRPr/>
          </a:p>
        </p:txBody>
      </p:sp>
      <p:sp>
        <p:nvSpPr>
          <p:cNvPr id="276" name="Google Shape;276;p95"/>
          <p:cNvSpPr txBox="1">
            <a:spLocks noGrp="1"/>
          </p:cNvSpPr>
          <p:nvPr>
            <p:ph type="body" idx="4294967295"/>
          </p:nvPr>
        </p:nvSpPr>
        <p:spPr>
          <a:xfrm>
            <a:off x="1030288" y="1825628"/>
            <a:ext cx="10182225" cy="3162916"/>
          </a:xfrm>
          <a:prstGeom prst="rect">
            <a:avLst/>
          </a:prstGeom>
          <a:noFill/>
          <a:ln>
            <a:noFill/>
          </a:ln>
        </p:spPr>
        <p:txBody>
          <a:bodyPr spcFirstLastPara="1" wrap="square" lIns="91425" tIns="45700" rIns="91425" bIns="45700" anchor="t" anchorCtr="0">
            <a:noAutofit/>
          </a:bodyPr>
          <a:lstStyle/>
          <a:p>
            <a:pPr marL="88900" lvl="0" indent="0" algn="just" rtl="0">
              <a:lnSpc>
                <a:spcPct val="85000"/>
              </a:lnSpc>
              <a:spcBef>
                <a:spcPts val="0"/>
              </a:spcBef>
              <a:spcAft>
                <a:spcPts val="0"/>
              </a:spcAft>
              <a:buClr>
                <a:srgbClr val="C00000"/>
              </a:buClr>
              <a:buSzPts val="3200"/>
              <a:buNone/>
            </a:pPr>
            <a:r>
              <a:rPr lang="es-AR" sz="3200" b="1">
                <a:solidFill>
                  <a:schemeClr val="dk1"/>
                </a:solidFill>
              </a:rPr>
              <a:t>CPM </a:t>
            </a:r>
            <a:r>
              <a:rPr lang="es-AR" sz="3200">
                <a:solidFill>
                  <a:schemeClr val="dk1"/>
                </a:solidFill>
              </a:rPr>
              <a:t>(Critical Path Method):</a:t>
            </a:r>
            <a:endParaRPr/>
          </a:p>
          <a:p>
            <a:pPr marL="633413" lvl="0" indent="-544513" algn="just" rtl="0">
              <a:lnSpc>
                <a:spcPct val="85000"/>
              </a:lnSpc>
              <a:spcBef>
                <a:spcPts val="1200"/>
              </a:spcBef>
              <a:spcAft>
                <a:spcPts val="0"/>
              </a:spcAft>
              <a:buClr>
                <a:srgbClr val="C00000"/>
              </a:buClr>
              <a:buSzPts val="2800"/>
              <a:buFont typeface="Noto Sans Symbols"/>
              <a:buChar char="❖"/>
            </a:pPr>
            <a:r>
              <a:rPr lang="es-AR" sz="2800">
                <a:solidFill>
                  <a:schemeClr val="dk1"/>
                </a:solidFill>
              </a:rPr>
              <a:t>Desarrollado para dos empresas americanas entre 1956 y 1958. </a:t>
            </a:r>
            <a:endParaRPr/>
          </a:p>
          <a:p>
            <a:pPr marL="633413" lvl="0" indent="-544513" algn="just" rtl="0">
              <a:lnSpc>
                <a:spcPct val="85000"/>
              </a:lnSpc>
              <a:spcBef>
                <a:spcPts val="1200"/>
              </a:spcBef>
              <a:spcAft>
                <a:spcPts val="0"/>
              </a:spcAft>
              <a:buClr>
                <a:srgbClr val="C00000"/>
              </a:buClr>
              <a:buSzPts val="2800"/>
              <a:buFont typeface="Noto Sans Symbols"/>
              <a:buChar char="❖"/>
            </a:pPr>
            <a:r>
              <a:rPr lang="es-AR" sz="2800">
                <a:solidFill>
                  <a:schemeClr val="dk1"/>
                </a:solidFill>
              </a:rPr>
              <a:t>Se utiliza en proyectos en los que hay poca incertidumbre en las estimaciones.</a:t>
            </a:r>
            <a:endParaRPr/>
          </a:p>
          <a:p>
            <a:pPr marL="633413" lvl="0" indent="-544513" algn="just" rtl="0">
              <a:lnSpc>
                <a:spcPct val="85000"/>
              </a:lnSpc>
              <a:spcBef>
                <a:spcPts val="1200"/>
              </a:spcBef>
              <a:spcAft>
                <a:spcPts val="0"/>
              </a:spcAft>
              <a:buClr>
                <a:srgbClr val="C00000"/>
              </a:buClr>
              <a:buSzPts val="2800"/>
              <a:buFont typeface="Noto Sans Symbols"/>
              <a:buChar char="❖"/>
            </a:pPr>
            <a:r>
              <a:rPr lang="es-AR" sz="2800">
                <a:solidFill>
                  <a:schemeClr val="dk1"/>
                </a:solidFill>
              </a:rPr>
              <a:t>Tiempo de inicio temprano y tardío.</a:t>
            </a:r>
            <a:endParaRPr/>
          </a:p>
          <a:p>
            <a:pPr marL="633413" lvl="0" indent="-544513" algn="just" rtl="0">
              <a:lnSpc>
                <a:spcPct val="85000"/>
              </a:lnSpc>
              <a:spcBef>
                <a:spcPts val="1200"/>
              </a:spcBef>
              <a:spcAft>
                <a:spcPts val="0"/>
              </a:spcAft>
              <a:buClr>
                <a:srgbClr val="C00000"/>
              </a:buClr>
              <a:buSzPts val="2800"/>
              <a:buFont typeface="Noto Sans Symbols"/>
              <a:buChar char="❖"/>
            </a:pPr>
            <a:r>
              <a:rPr lang="es-AR" sz="2800" i="1">
                <a:solidFill>
                  <a:schemeClr val="dk1"/>
                </a:solidFill>
              </a:rPr>
              <a:t>Determinístico.</a:t>
            </a:r>
            <a:endParaRPr/>
          </a:p>
          <a:p>
            <a:pPr marL="88900" lvl="0" indent="0" algn="just" rtl="0">
              <a:lnSpc>
                <a:spcPct val="85000"/>
              </a:lnSpc>
              <a:spcBef>
                <a:spcPts val="1200"/>
              </a:spcBef>
              <a:spcAft>
                <a:spcPts val="0"/>
              </a:spcAft>
              <a:buClr>
                <a:srgbClr val="C00000"/>
              </a:buClr>
              <a:buSzPts val="2800"/>
              <a:buNone/>
            </a:pPr>
            <a:endParaRPr sz="2800">
              <a:solidFill>
                <a:schemeClr val="dk1"/>
              </a:solidFill>
            </a:endParaRPr>
          </a:p>
          <a:p>
            <a:pPr marL="457200" lvl="0" indent="-279400" algn="just" rtl="0">
              <a:lnSpc>
                <a:spcPct val="85000"/>
              </a:lnSpc>
              <a:spcBef>
                <a:spcPts val="1200"/>
              </a:spcBef>
              <a:spcAft>
                <a:spcPts val="0"/>
              </a:spcAft>
              <a:buClr>
                <a:srgbClr val="C00000"/>
              </a:buClr>
              <a:buSzPts val="2800"/>
              <a:buFont typeface="Noto Sans Symbols"/>
              <a:buNone/>
            </a:pPr>
            <a:endParaRPr sz="2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96"/>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282" name="Google Shape;282;p96"/>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83" name="Google Shape;283;p96"/>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84" name="Google Shape;284;p96"/>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17</a:t>
            </a:fld>
            <a:endParaRPr/>
          </a:p>
        </p:txBody>
      </p:sp>
      <p:sp>
        <p:nvSpPr>
          <p:cNvPr id="285" name="Google Shape;285;p96"/>
          <p:cNvSpPr txBox="1">
            <a:spLocks noGrp="1"/>
          </p:cNvSpPr>
          <p:nvPr>
            <p:ph type="body" idx="4294967295"/>
          </p:nvPr>
        </p:nvSpPr>
        <p:spPr>
          <a:xfrm>
            <a:off x="1030288" y="1825628"/>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Actualmente se ha tomado lo mejor de ambos métodos y se han vuelto uno solo, conocido como </a:t>
            </a:r>
            <a:r>
              <a:rPr lang="es-AR" sz="2800" b="1" i="1">
                <a:solidFill>
                  <a:schemeClr val="dk1"/>
                </a:solidFill>
              </a:rPr>
              <a:t>Método del Camino Crítico</a:t>
            </a:r>
            <a:r>
              <a:rPr lang="es-AR" sz="2800" i="1">
                <a:solidFill>
                  <a:schemeClr val="dk1"/>
                </a:solidFill>
              </a:rPr>
              <a:t>.</a:t>
            </a:r>
            <a:endParaRPr/>
          </a:p>
          <a:p>
            <a:pPr marL="530225" lvl="2" indent="-354013" algn="l" rtl="0">
              <a:lnSpc>
                <a:spcPct val="85000"/>
              </a:lnSpc>
              <a:spcBef>
                <a:spcPts val="1800"/>
              </a:spcBef>
              <a:spcAft>
                <a:spcPts val="0"/>
              </a:spcAft>
              <a:buClr>
                <a:schemeClr val="dk1"/>
              </a:buClr>
              <a:buSzPts val="2400"/>
              <a:buFont typeface="Calibri"/>
              <a:buAutoNum type="arabicPeriod"/>
            </a:pPr>
            <a:r>
              <a:rPr lang="es-AR" sz="2400">
                <a:solidFill>
                  <a:schemeClr val="dk1"/>
                </a:solidFill>
              </a:rPr>
              <a:t>Establecer lista de tareas</a:t>
            </a:r>
            <a:endParaRPr>
              <a:solidFill>
                <a:schemeClr val="dk1"/>
              </a:solidFill>
            </a:endParaRPr>
          </a:p>
          <a:p>
            <a:pPr marL="530225" lvl="2" indent="-354013" algn="l" rtl="0">
              <a:lnSpc>
                <a:spcPct val="85000"/>
              </a:lnSpc>
              <a:spcBef>
                <a:spcPts val="600"/>
              </a:spcBef>
              <a:spcAft>
                <a:spcPts val="0"/>
              </a:spcAft>
              <a:buClr>
                <a:schemeClr val="dk1"/>
              </a:buClr>
              <a:buSzPts val="2400"/>
              <a:buFont typeface="Calibri"/>
              <a:buAutoNum type="arabicPeriod"/>
            </a:pPr>
            <a:r>
              <a:rPr lang="es-AR" sz="2400">
                <a:solidFill>
                  <a:schemeClr val="dk1"/>
                </a:solidFill>
              </a:rPr>
              <a:t>Fijar dependencia entre tareas y duración</a:t>
            </a:r>
            <a:endParaRPr>
              <a:solidFill>
                <a:schemeClr val="dk1"/>
              </a:solidFill>
            </a:endParaRPr>
          </a:p>
          <a:p>
            <a:pPr marL="530225" lvl="2" indent="-354013" algn="l" rtl="0">
              <a:lnSpc>
                <a:spcPct val="85000"/>
              </a:lnSpc>
              <a:spcBef>
                <a:spcPts val="600"/>
              </a:spcBef>
              <a:spcAft>
                <a:spcPts val="0"/>
              </a:spcAft>
              <a:buClr>
                <a:schemeClr val="dk1"/>
              </a:buClr>
              <a:buSzPts val="2400"/>
              <a:buFont typeface="Calibri"/>
              <a:buAutoNum type="arabicPeriod"/>
            </a:pPr>
            <a:r>
              <a:rPr lang="es-AR" sz="2400">
                <a:solidFill>
                  <a:schemeClr val="dk1"/>
                </a:solidFill>
              </a:rPr>
              <a:t>Construir la red</a:t>
            </a:r>
            <a:endParaRPr>
              <a:solidFill>
                <a:schemeClr val="dk1"/>
              </a:solidFill>
            </a:endParaRPr>
          </a:p>
          <a:p>
            <a:pPr marL="530225" lvl="2" indent="-354013" algn="l" rtl="0">
              <a:lnSpc>
                <a:spcPct val="85000"/>
              </a:lnSpc>
              <a:spcBef>
                <a:spcPts val="600"/>
              </a:spcBef>
              <a:spcAft>
                <a:spcPts val="0"/>
              </a:spcAft>
              <a:buClr>
                <a:schemeClr val="dk1"/>
              </a:buClr>
              <a:buSzPts val="2400"/>
              <a:buFont typeface="Calibri"/>
              <a:buAutoNum type="arabicPeriod"/>
            </a:pPr>
            <a:r>
              <a:rPr lang="es-AR" sz="2400">
                <a:solidFill>
                  <a:schemeClr val="dk1"/>
                </a:solidFill>
              </a:rPr>
              <a:t>Numerar los nodos</a:t>
            </a:r>
            <a:endParaRPr>
              <a:solidFill>
                <a:schemeClr val="dk1"/>
              </a:solidFill>
            </a:endParaRPr>
          </a:p>
          <a:p>
            <a:pPr marL="530225" lvl="2" indent="-354013" algn="l" rtl="0">
              <a:lnSpc>
                <a:spcPct val="85000"/>
              </a:lnSpc>
              <a:spcBef>
                <a:spcPts val="600"/>
              </a:spcBef>
              <a:spcAft>
                <a:spcPts val="0"/>
              </a:spcAft>
              <a:buClr>
                <a:schemeClr val="dk1"/>
              </a:buClr>
              <a:buSzPts val="2400"/>
              <a:buFont typeface="Calibri"/>
              <a:buAutoNum type="arabicPeriod"/>
            </a:pPr>
            <a:r>
              <a:rPr lang="es-AR" sz="2400">
                <a:solidFill>
                  <a:schemeClr val="dk1"/>
                </a:solidFill>
              </a:rPr>
              <a:t>Calcular la fecha temprana y tardía de cada nodo</a:t>
            </a:r>
            <a:endParaRPr>
              <a:solidFill>
                <a:schemeClr val="dk1"/>
              </a:solidFill>
            </a:endParaRPr>
          </a:p>
          <a:p>
            <a:pPr marL="530225" lvl="3" indent="-354013" algn="l" rtl="0">
              <a:lnSpc>
                <a:spcPct val="85000"/>
              </a:lnSpc>
              <a:spcBef>
                <a:spcPts val="600"/>
              </a:spcBef>
              <a:spcAft>
                <a:spcPts val="0"/>
              </a:spcAft>
              <a:buClr>
                <a:schemeClr val="dk1"/>
              </a:buClr>
              <a:buSzPts val="2400"/>
              <a:buNone/>
            </a:pPr>
            <a:r>
              <a:rPr lang="es-AR" sz="2400">
                <a:solidFill>
                  <a:schemeClr val="dk1"/>
                </a:solidFill>
              </a:rPr>
              <a:t>        Tei = Fecha temprana del nodo i</a:t>
            </a:r>
            <a:endParaRPr>
              <a:solidFill>
                <a:schemeClr val="dk1"/>
              </a:solidFill>
            </a:endParaRPr>
          </a:p>
          <a:p>
            <a:pPr marL="530225" lvl="3" indent="-354013" algn="l" rtl="0">
              <a:lnSpc>
                <a:spcPct val="85000"/>
              </a:lnSpc>
              <a:spcBef>
                <a:spcPts val="600"/>
              </a:spcBef>
              <a:spcAft>
                <a:spcPts val="0"/>
              </a:spcAft>
              <a:buClr>
                <a:schemeClr val="dk1"/>
              </a:buClr>
              <a:buSzPts val="2400"/>
              <a:buNone/>
            </a:pPr>
            <a:r>
              <a:rPr lang="es-AR" sz="2400">
                <a:solidFill>
                  <a:schemeClr val="dk1"/>
                </a:solidFill>
              </a:rPr>
              <a:t>        Tai = Fecha tardía del nodo i</a:t>
            </a:r>
            <a:endParaRPr>
              <a:solidFill>
                <a:schemeClr val="dk1"/>
              </a:solidFill>
            </a:endParaRPr>
          </a:p>
          <a:p>
            <a:pPr marL="530225" lvl="2" indent="-354013" algn="l" rtl="0">
              <a:lnSpc>
                <a:spcPct val="85000"/>
              </a:lnSpc>
              <a:spcBef>
                <a:spcPts val="600"/>
              </a:spcBef>
              <a:spcAft>
                <a:spcPts val="0"/>
              </a:spcAft>
              <a:buClr>
                <a:schemeClr val="dk1"/>
              </a:buClr>
              <a:buSzPts val="2400"/>
              <a:buFont typeface="Calibri"/>
              <a:buAutoNum type="arabicPeriod"/>
            </a:pPr>
            <a:r>
              <a:rPr lang="es-AR" sz="2400">
                <a:solidFill>
                  <a:schemeClr val="dk1"/>
                </a:solidFill>
              </a:rPr>
              <a:t>Calcular el camino crítico que une las tareas críticas </a:t>
            </a:r>
            <a:endParaRPr>
              <a:solidFill>
                <a:schemeClr val="dk1"/>
              </a:solidFill>
            </a:endParaRPr>
          </a:p>
          <a:p>
            <a:pPr marL="530225" lvl="3" indent="-354013" algn="l" rtl="0">
              <a:lnSpc>
                <a:spcPct val="85000"/>
              </a:lnSpc>
              <a:spcBef>
                <a:spcPts val="600"/>
              </a:spcBef>
              <a:spcAft>
                <a:spcPts val="0"/>
              </a:spcAft>
              <a:buClr>
                <a:schemeClr val="dk1"/>
              </a:buClr>
              <a:buSzPts val="2400"/>
              <a:buNone/>
            </a:pPr>
            <a:r>
              <a:rPr lang="es-AR" sz="2400">
                <a:solidFill>
                  <a:schemeClr val="dk1"/>
                </a:solidFill>
              </a:rPr>
              <a:t>        ==&gt; Tei = Tai</a:t>
            </a:r>
            <a:endParaRPr sz="3200" i="1">
              <a:solidFill>
                <a:schemeClr val="dk1"/>
              </a:solidFill>
            </a:endParaRPr>
          </a:p>
          <a:p>
            <a:pPr marL="457200" lvl="0" indent="-279400" algn="just" rtl="0">
              <a:lnSpc>
                <a:spcPct val="85000"/>
              </a:lnSpc>
              <a:spcBef>
                <a:spcPts val="0"/>
              </a:spcBef>
              <a:spcAft>
                <a:spcPts val="0"/>
              </a:spcAft>
              <a:buClr>
                <a:srgbClr val="C00000"/>
              </a:buClr>
              <a:buSzPts val="2800"/>
              <a:buFont typeface="Noto Sans Symbols"/>
              <a:buNone/>
            </a:pPr>
            <a:endParaRPr sz="2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97"/>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291" name="Google Shape;291;p97"/>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92" name="Google Shape;292;p97"/>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93" name="Google Shape;293;p97"/>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18</a:t>
            </a:fld>
            <a:endParaRPr/>
          </a:p>
        </p:txBody>
      </p:sp>
      <p:sp>
        <p:nvSpPr>
          <p:cNvPr id="294" name="Google Shape;294;p97"/>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Ejemplo:</a:t>
            </a:r>
            <a:endParaRPr sz="2800" i="1">
              <a:solidFill>
                <a:schemeClr val="dk1"/>
              </a:solidFill>
            </a:endParaRPr>
          </a:p>
          <a:p>
            <a:pPr marL="530225" lvl="2" indent="-354013" algn="l" rtl="0">
              <a:lnSpc>
                <a:spcPct val="85000"/>
              </a:lnSpc>
              <a:spcBef>
                <a:spcPts val="1800"/>
              </a:spcBef>
              <a:spcAft>
                <a:spcPts val="0"/>
              </a:spcAft>
              <a:buClr>
                <a:schemeClr val="dk1"/>
              </a:buClr>
              <a:buSzPts val="2400"/>
              <a:buFont typeface="Calibri"/>
              <a:buAutoNum type="arabicPeriod"/>
            </a:pPr>
            <a:r>
              <a:rPr lang="es-AR" sz="2400">
                <a:solidFill>
                  <a:schemeClr val="dk1"/>
                </a:solidFill>
              </a:rPr>
              <a:t>Establecer lista de tareas</a:t>
            </a:r>
            <a:endParaRPr>
              <a:solidFill>
                <a:schemeClr val="dk1"/>
              </a:solidFill>
            </a:endParaRPr>
          </a:p>
          <a:p>
            <a:pPr marL="530225" lvl="2" indent="-354013" algn="l" rtl="0">
              <a:lnSpc>
                <a:spcPct val="85000"/>
              </a:lnSpc>
              <a:spcBef>
                <a:spcPts val="600"/>
              </a:spcBef>
              <a:spcAft>
                <a:spcPts val="0"/>
              </a:spcAft>
              <a:buClr>
                <a:schemeClr val="dk1"/>
              </a:buClr>
              <a:buSzPts val="2400"/>
              <a:buFont typeface="Calibri"/>
              <a:buAutoNum type="arabicPeriod"/>
            </a:pPr>
            <a:r>
              <a:rPr lang="es-AR" sz="2400">
                <a:solidFill>
                  <a:schemeClr val="dk1"/>
                </a:solidFill>
              </a:rPr>
              <a:t>Fijar dependencia entre tareas y duración</a:t>
            </a:r>
            <a:endParaRPr>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graphicFrame>
        <p:nvGraphicFramePr>
          <p:cNvPr id="295" name="Google Shape;295;p97"/>
          <p:cNvGraphicFramePr/>
          <p:nvPr/>
        </p:nvGraphicFramePr>
        <p:xfrm>
          <a:off x="3875112" y="3104479"/>
          <a:ext cx="4441800" cy="3170000"/>
        </p:xfrm>
        <a:graphic>
          <a:graphicData uri="http://schemas.openxmlformats.org/drawingml/2006/table">
            <a:tbl>
              <a:tblPr>
                <a:noFill/>
                <a:tableStyleId>{4272FAEC-E20E-4765-AF0E-9200B05B628A}</a:tableStyleId>
              </a:tblPr>
              <a:tblGrid>
                <a:gridCol w="1159075">
                  <a:extLst>
                    <a:ext uri="{9D8B030D-6E8A-4147-A177-3AD203B41FA5}">
                      <a16:colId xmlns:a16="http://schemas.microsoft.com/office/drawing/2014/main" val="20000"/>
                    </a:ext>
                  </a:extLst>
                </a:gridCol>
                <a:gridCol w="1924275">
                  <a:extLst>
                    <a:ext uri="{9D8B030D-6E8A-4147-A177-3AD203B41FA5}">
                      <a16:colId xmlns:a16="http://schemas.microsoft.com/office/drawing/2014/main" val="20001"/>
                    </a:ext>
                  </a:extLst>
                </a:gridCol>
                <a:gridCol w="1358450">
                  <a:extLst>
                    <a:ext uri="{9D8B030D-6E8A-4147-A177-3AD203B41FA5}">
                      <a16:colId xmlns:a16="http://schemas.microsoft.com/office/drawing/2014/main" val="20002"/>
                    </a:ext>
                  </a:extLst>
                </a:gridCol>
              </a:tblGrid>
              <a:tr h="395375">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1" u="none" strike="noStrike" cap="none">
                          <a:solidFill>
                            <a:schemeClr val="dk1"/>
                          </a:solidFill>
                        </a:rPr>
                        <a:t>Tarea</a:t>
                      </a:r>
                      <a:endParaRPr sz="2000" b="1" i="0" u="none" strike="noStrike" cap="none">
                        <a:solidFill>
                          <a:schemeClr val="dk1"/>
                        </a:solidFill>
                        <a:latin typeface="Calibri"/>
                        <a:ea typeface="Calibri"/>
                        <a:cs typeface="Calibri"/>
                        <a:sym typeface="Calibri"/>
                      </a:endParaRPr>
                    </a:p>
                  </a:txBody>
                  <a:tcPr marL="68575" marR="68575" marT="45725" marB="45725">
                    <a:solidFill>
                      <a:srgbClr val="D8D8D8"/>
                    </a:solidFill>
                  </a:tcPr>
                </a:tc>
                <a:tc>
                  <a:txBody>
                    <a:bodyPr/>
                    <a:lstStyle/>
                    <a:p>
                      <a:pPr marL="0" marR="0" lvl="0" indent="0" algn="ctr" rtl="0">
                        <a:lnSpc>
                          <a:spcPct val="100000"/>
                        </a:lnSpc>
                        <a:spcBef>
                          <a:spcPts val="0"/>
                        </a:spcBef>
                        <a:spcAft>
                          <a:spcPts val="0"/>
                        </a:spcAft>
                        <a:buClr>
                          <a:schemeClr val="dk2"/>
                        </a:buClr>
                        <a:buSzPts val="1680"/>
                        <a:buFont typeface="Noto Sans Symbols"/>
                        <a:buNone/>
                      </a:pPr>
                      <a:r>
                        <a:rPr lang="es-AR" sz="2000" b="1" u="none" strike="noStrike" cap="none">
                          <a:solidFill>
                            <a:schemeClr val="dk1"/>
                          </a:solidFill>
                        </a:rPr>
                        <a:t>Precedida por</a:t>
                      </a:r>
                      <a:endParaRPr sz="2000" b="1" i="0" u="none" strike="noStrike" cap="none">
                        <a:solidFill>
                          <a:schemeClr val="dk1"/>
                        </a:solidFill>
                        <a:latin typeface="Calibri"/>
                        <a:ea typeface="Calibri"/>
                        <a:cs typeface="Calibri"/>
                        <a:sym typeface="Calibri"/>
                      </a:endParaRPr>
                    </a:p>
                  </a:txBody>
                  <a:tcPr marL="68575" marR="68575" marT="45725" marB="45725">
                    <a:solidFill>
                      <a:srgbClr val="D8D8D8"/>
                    </a:solidFill>
                  </a:tcPr>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1" u="none" strike="noStrike" cap="none">
                          <a:solidFill>
                            <a:schemeClr val="dk1"/>
                          </a:solidFill>
                        </a:rPr>
                        <a:t>Duración</a:t>
                      </a:r>
                      <a:endParaRPr sz="2000" b="1" i="0" u="none" strike="noStrike" cap="none">
                        <a:solidFill>
                          <a:schemeClr val="dk1"/>
                        </a:solidFill>
                        <a:latin typeface="Calibri"/>
                        <a:ea typeface="Calibri"/>
                        <a:cs typeface="Calibri"/>
                        <a:sym typeface="Calibri"/>
                      </a:endParaRPr>
                    </a:p>
                  </a:txBody>
                  <a:tcPr marL="68575" marR="68575" marT="45725" marB="45725">
                    <a:solidFill>
                      <a:srgbClr val="D8D8D8"/>
                    </a:solidFill>
                  </a:tcPr>
                </a:tc>
                <a:extLst>
                  <a:ext uri="{0D108BD9-81ED-4DB2-BD59-A6C34878D82A}">
                    <a16:rowId xmlns:a16="http://schemas.microsoft.com/office/drawing/2014/main" val="10000"/>
                  </a:ext>
                </a:extLst>
              </a:tr>
              <a:tr h="395375">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A</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2</a:t>
                      </a:r>
                      <a:endParaRPr sz="2000" b="0" i="0" u="none" strike="noStrike" cap="none">
                        <a:solidFill>
                          <a:schemeClr val="dk1"/>
                        </a:solidFill>
                        <a:latin typeface="Calibri"/>
                        <a:ea typeface="Calibri"/>
                        <a:cs typeface="Calibri"/>
                        <a:sym typeface="Calibri"/>
                      </a:endParaRPr>
                    </a:p>
                  </a:txBody>
                  <a:tcPr marL="68575" marR="68575" marT="45725" marB="45725"/>
                </a:tc>
                <a:extLst>
                  <a:ext uri="{0D108BD9-81ED-4DB2-BD59-A6C34878D82A}">
                    <a16:rowId xmlns:a16="http://schemas.microsoft.com/office/drawing/2014/main" val="10001"/>
                  </a:ext>
                </a:extLst>
              </a:tr>
              <a:tr h="395375">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B</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5</a:t>
                      </a:r>
                      <a:endParaRPr sz="2000" b="0" i="0" u="none" strike="noStrike" cap="none">
                        <a:solidFill>
                          <a:schemeClr val="dk1"/>
                        </a:solidFill>
                        <a:latin typeface="Calibri"/>
                        <a:ea typeface="Calibri"/>
                        <a:cs typeface="Calibri"/>
                        <a:sym typeface="Calibri"/>
                      </a:endParaRPr>
                    </a:p>
                  </a:txBody>
                  <a:tcPr marL="68575" marR="68575" marT="45725" marB="45725"/>
                </a:tc>
                <a:extLst>
                  <a:ext uri="{0D108BD9-81ED-4DB2-BD59-A6C34878D82A}">
                    <a16:rowId xmlns:a16="http://schemas.microsoft.com/office/drawing/2014/main" val="10002"/>
                  </a:ext>
                </a:extLst>
              </a:tr>
              <a:tr h="395375">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C</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A</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4</a:t>
                      </a:r>
                      <a:endParaRPr sz="2000" b="0" i="0" u="none" strike="noStrike" cap="none">
                        <a:solidFill>
                          <a:schemeClr val="dk1"/>
                        </a:solidFill>
                        <a:latin typeface="Calibri"/>
                        <a:ea typeface="Calibri"/>
                        <a:cs typeface="Calibri"/>
                        <a:sym typeface="Calibri"/>
                      </a:endParaRPr>
                    </a:p>
                  </a:txBody>
                  <a:tcPr marL="68575" marR="68575" marT="45725" marB="45725"/>
                </a:tc>
                <a:extLst>
                  <a:ext uri="{0D108BD9-81ED-4DB2-BD59-A6C34878D82A}">
                    <a16:rowId xmlns:a16="http://schemas.microsoft.com/office/drawing/2014/main" val="10003"/>
                  </a:ext>
                </a:extLst>
              </a:tr>
              <a:tr h="395375">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D</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B</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7</a:t>
                      </a:r>
                      <a:endParaRPr sz="2000" b="0" i="0" u="none" strike="noStrike" cap="none">
                        <a:solidFill>
                          <a:schemeClr val="dk1"/>
                        </a:solidFill>
                        <a:latin typeface="Calibri"/>
                        <a:ea typeface="Calibri"/>
                        <a:cs typeface="Calibri"/>
                        <a:sym typeface="Calibri"/>
                      </a:endParaRPr>
                    </a:p>
                  </a:txBody>
                  <a:tcPr marL="68575" marR="68575" marT="45725" marB="45725"/>
                </a:tc>
                <a:extLst>
                  <a:ext uri="{0D108BD9-81ED-4DB2-BD59-A6C34878D82A}">
                    <a16:rowId xmlns:a16="http://schemas.microsoft.com/office/drawing/2014/main" val="10004"/>
                  </a:ext>
                </a:extLst>
              </a:tr>
              <a:tr h="395375">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E</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B</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4</a:t>
                      </a:r>
                      <a:endParaRPr sz="2000" b="0" i="0" u="none" strike="noStrike" cap="none">
                        <a:solidFill>
                          <a:schemeClr val="dk1"/>
                        </a:solidFill>
                        <a:latin typeface="Calibri"/>
                        <a:ea typeface="Calibri"/>
                        <a:cs typeface="Calibri"/>
                        <a:sym typeface="Calibri"/>
                      </a:endParaRPr>
                    </a:p>
                  </a:txBody>
                  <a:tcPr marL="68575" marR="68575" marT="45725" marB="45725"/>
                </a:tc>
                <a:extLst>
                  <a:ext uri="{0D108BD9-81ED-4DB2-BD59-A6C34878D82A}">
                    <a16:rowId xmlns:a16="http://schemas.microsoft.com/office/drawing/2014/main" val="10005"/>
                  </a:ext>
                </a:extLst>
              </a:tr>
              <a:tr h="395375">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F</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C-D-E</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5</a:t>
                      </a:r>
                      <a:endParaRPr sz="2000" b="0" i="0" u="none" strike="noStrike" cap="none">
                        <a:solidFill>
                          <a:schemeClr val="dk1"/>
                        </a:solidFill>
                        <a:latin typeface="Calibri"/>
                        <a:ea typeface="Calibri"/>
                        <a:cs typeface="Calibri"/>
                        <a:sym typeface="Calibri"/>
                      </a:endParaRPr>
                    </a:p>
                  </a:txBody>
                  <a:tcPr marL="68575" marR="68575" marT="45725" marB="45725"/>
                </a:tc>
                <a:extLst>
                  <a:ext uri="{0D108BD9-81ED-4DB2-BD59-A6C34878D82A}">
                    <a16:rowId xmlns:a16="http://schemas.microsoft.com/office/drawing/2014/main" val="10006"/>
                  </a:ext>
                </a:extLst>
              </a:tr>
              <a:tr h="395375">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G</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E</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4</a:t>
                      </a:r>
                      <a:endParaRPr sz="2000" b="0" i="0" u="none" strike="noStrike" cap="none">
                        <a:solidFill>
                          <a:schemeClr val="dk1"/>
                        </a:solidFill>
                        <a:latin typeface="Calibri"/>
                        <a:ea typeface="Calibri"/>
                        <a:cs typeface="Calibri"/>
                        <a:sym typeface="Calibri"/>
                      </a:endParaRPr>
                    </a:p>
                  </a:txBody>
                  <a:tcPr marL="68575" marR="68575" marT="45725" marB="45725"/>
                </a:tc>
                <a:extLst>
                  <a:ext uri="{0D108BD9-81ED-4DB2-BD59-A6C34878D82A}">
                    <a16:rowId xmlns:a16="http://schemas.microsoft.com/office/drawing/2014/main" val="10007"/>
                  </a:ext>
                </a:extLst>
              </a:tr>
            </a:tbl>
          </a:graphicData>
        </a:graphic>
      </p:graphicFrame>
      <p:sp>
        <p:nvSpPr>
          <p:cNvPr id="296" name="Google Shape;296;p97"/>
          <p:cNvSpPr/>
          <p:nvPr/>
        </p:nvSpPr>
        <p:spPr>
          <a:xfrm>
            <a:off x="5022484" y="3104479"/>
            <a:ext cx="3294403" cy="3170000"/>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98"/>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302" name="Google Shape;302;p98"/>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303" name="Google Shape;303;p98"/>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304" name="Google Shape;304;p9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19</a:t>
            </a:fld>
            <a:endParaRPr/>
          </a:p>
        </p:txBody>
      </p:sp>
      <p:sp>
        <p:nvSpPr>
          <p:cNvPr id="305" name="Google Shape;305;p98"/>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Ejemplo:</a:t>
            </a:r>
            <a:endParaRPr sz="2800" i="1">
              <a:solidFill>
                <a:schemeClr val="dk1"/>
              </a:solidFill>
            </a:endParaRPr>
          </a:p>
          <a:p>
            <a:pPr marL="530225" lvl="2" indent="-355600" algn="l" rtl="0">
              <a:lnSpc>
                <a:spcPct val="85000"/>
              </a:lnSpc>
              <a:spcBef>
                <a:spcPts val="1800"/>
              </a:spcBef>
              <a:spcAft>
                <a:spcPts val="0"/>
              </a:spcAft>
              <a:buClr>
                <a:schemeClr val="dk1"/>
              </a:buClr>
              <a:buSzPts val="2400"/>
              <a:buFont typeface="Calibri"/>
              <a:buAutoNum type="arabicPeriod" startAt="3"/>
            </a:pPr>
            <a:r>
              <a:rPr lang="es-AR" sz="2400">
                <a:solidFill>
                  <a:schemeClr val="dk1"/>
                </a:solidFill>
              </a:rPr>
              <a:t>Construir la red</a:t>
            </a:r>
            <a:endParaRPr/>
          </a:p>
          <a:p>
            <a:pPr marL="530225" lvl="2" indent="-355600" algn="l" rtl="0">
              <a:lnSpc>
                <a:spcPct val="85000"/>
              </a:lnSpc>
              <a:spcBef>
                <a:spcPts val="600"/>
              </a:spcBef>
              <a:spcAft>
                <a:spcPts val="0"/>
              </a:spcAft>
              <a:buClr>
                <a:schemeClr val="dk1"/>
              </a:buClr>
              <a:buSzPts val="2400"/>
              <a:buFont typeface="Calibri"/>
              <a:buAutoNum type="arabicPeriod" startAt="3"/>
            </a:pPr>
            <a:r>
              <a:rPr lang="es-AR" sz="2400">
                <a:solidFill>
                  <a:schemeClr val="dk1"/>
                </a:solidFill>
              </a:rPr>
              <a:t>Numerar los nodos</a:t>
            </a:r>
            <a:endParaRPr>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grpSp>
        <p:nvGrpSpPr>
          <p:cNvPr id="306" name="Google Shape;306;p98"/>
          <p:cNvGrpSpPr/>
          <p:nvPr/>
        </p:nvGrpSpPr>
        <p:grpSpPr>
          <a:xfrm>
            <a:off x="2333625" y="3104479"/>
            <a:ext cx="7498745" cy="3199075"/>
            <a:chOff x="168275" y="1987549"/>
            <a:chExt cx="8452557" cy="3464446"/>
          </a:xfrm>
        </p:grpSpPr>
        <p:sp>
          <p:nvSpPr>
            <p:cNvPr id="307" name="Google Shape;307;p98"/>
            <p:cNvSpPr/>
            <p:nvPr/>
          </p:nvSpPr>
          <p:spPr>
            <a:xfrm>
              <a:off x="168275" y="2368550"/>
              <a:ext cx="685800" cy="533400"/>
            </a:xfrm>
            <a:prstGeom prst="ellipse">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308" name="Google Shape;308;p98"/>
            <p:cNvSpPr/>
            <p:nvPr/>
          </p:nvSpPr>
          <p:spPr>
            <a:xfrm>
              <a:off x="484361" y="2919672"/>
              <a:ext cx="746126" cy="381000"/>
            </a:xfrm>
            <a:prstGeom prst="ellipse">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ini</a:t>
              </a:r>
              <a:endParaRPr sz="1600" b="0" i="0" u="none" strike="noStrike" cap="none">
                <a:solidFill>
                  <a:schemeClr val="dk1"/>
                </a:solidFill>
                <a:latin typeface="Twentieth Century"/>
                <a:ea typeface="Twentieth Century"/>
                <a:cs typeface="Twentieth Century"/>
                <a:sym typeface="Twentieth Century"/>
              </a:endParaRPr>
            </a:p>
          </p:txBody>
        </p:sp>
        <p:sp>
          <p:nvSpPr>
            <p:cNvPr id="309" name="Google Shape;309;p98"/>
            <p:cNvSpPr/>
            <p:nvPr/>
          </p:nvSpPr>
          <p:spPr>
            <a:xfrm>
              <a:off x="2073275" y="37401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310" name="Google Shape;310;p98"/>
            <p:cNvSpPr/>
            <p:nvPr/>
          </p:nvSpPr>
          <p:spPr>
            <a:xfrm>
              <a:off x="473074" y="27495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311" name="Google Shape;311;p98"/>
            <p:cNvSpPr/>
            <p:nvPr/>
          </p:nvSpPr>
          <p:spPr>
            <a:xfrm>
              <a:off x="2149474" y="19875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312" name="Google Shape;312;p98"/>
            <p:cNvSpPr/>
            <p:nvPr/>
          </p:nvSpPr>
          <p:spPr>
            <a:xfrm>
              <a:off x="4130675" y="22161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313" name="Google Shape;313;p98"/>
            <p:cNvSpPr/>
            <p:nvPr/>
          </p:nvSpPr>
          <p:spPr>
            <a:xfrm>
              <a:off x="3978275" y="47307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314" name="Google Shape;314;p98"/>
            <p:cNvSpPr/>
            <p:nvPr/>
          </p:nvSpPr>
          <p:spPr>
            <a:xfrm>
              <a:off x="5959475" y="32067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F</a:t>
              </a:r>
              <a:endParaRPr sz="1600" b="0" i="0" u="none" strike="noStrike" cap="none">
                <a:solidFill>
                  <a:schemeClr val="dk1"/>
                </a:solidFill>
                <a:latin typeface="Twentieth Century"/>
                <a:ea typeface="Twentieth Century"/>
                <a:cs typeface="Twentieth Century"/>
                <a:sym typeface="Twentieth Century"/>
              </a:endParaRPr>
            </a:p>
          </p:txBody>
        </p:sp>
        <p:sp>
          <p:nvSpPr>
            <p:cNvPr id="315" name="Google Shape;315;p98"/>
            <p:cNvSpPr/>
            <p:nvPr/>
          </p:nvSpPr>
          <p:spPr>
            <a:xfrm>
              <a:off x="3978275" y="36639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D</a:t>
              </a:r>
              <a:endParaRPr sz="1600" b="0" i="0" u="none" strike="noStrike" cap="none">
                <a:solidFill>
                  <a:schemeClr val="dk1"/>
                </a:solidFill>
                <a:latin typeface="Twentieth Century"/>
                <a:ea typeface="Twentieth Century"/>
                <a:cs typeface="Twentieth Century"/>
                <a:sym typeface="Twentieth Century"/>
              </a:endParaRPr>
            </a:p>
          </p:txBody>
        </p:sp>
        <p:sp>
          <p:nvSpPr>
            <p:cNvPr id="316" name="Google Shape;316;p98"/>
            <p:cNvSpPr/>
            <p:nvPr/>
          </p:nvSpPr>
          <p:spPr>
            <a:xfrm>
              <a:off x="7026275" y="47307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G</a:t>
              </a:r>
              <a:endParaRPr sz="1600" b="0" i="0" u="none" strike="noStrike" cap="none">
                <a:solidFill>
                  <a:schemeClr val="dk1"/>
                </a:solidFill>
                <a:latin typeface="Twentieth Century"/>
                <a:ea typeface="Twentieth Century"/>
                <a:cs typeface="Twentieth Century"/>
                <a:sym typeface="Twentieth Century"/>
              </a:endParaRPr>
            </a:p>
          </p:txBody>
        </p:sp>
        <p:sp>
          <p:nvSpPr>
            <p:cNvPr id="317" name="Google Shape;317;p98"/>
            <p:cNvSpPr txBox="1"/>
            <p:nvPr/>
          </p:nvSpPr>
          <p:spPr>
            <a:xfrm>
              <a:off x="2454275" y="2063750"/>
              <a:ext cx="208228" cy="3678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18" name="Google Shape;318;p98"/>
            <p:cNvSpPr txBox="1"/>
            <p:nvPr/>
          </p:nvSpPr>
          <p:spPr>
            <a:xfrm>
              <a:off x="2345545" y="2164198"/>
              <a:ext cx="347287"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A</a:t>
              </a:r>
              <a:endParaRPr sz="1600" b="0" i="0" u="none" strike="noStrike" cap="none">
                <a:solidFill>
                  <a:schemeClr val="dk1"/>
                </a:solidFill>
                <a:latin typeface="Twentieth Century"/>
                <a:ea typeface="Twentieth Century"/>
                <a:cs typeface="Twentieth Century"/>
                <a:sym typeface="Twentieth Century"/>
              </a:endParaRPr>
            </a:p>
          </p:txBody>
        </p:sp>
        <p:sp>
          <p:nvSpPr>
            <p:cNvPr id="319" name="Google Shape;319;p98"/>
            <p:cNvSpPr/>
            <p:nvPr/>
          </p:nvSpPr>
          <p:spPr>
            <a:xfrm>
              <a:off x="2284147" y="3913976"/>
              <a:ext cx="32379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B</a:t>
              </a:r>
              <a:endParaRPr sz="1600" b="0" i="0" u="none" strike="noStrike" cap="none">
                <a:solidFill>
                  <a:schemeClr val="dk1"/>
                </a:solidFill>
                <a:latin typeface="Twentieth Century"/>
                <a:ea typeface="Twentieth Century"/>
                <a:cs typeface="Twentieth Century"/>
                <a:sym typeface="Twentieth Century"/>
              </a:endParaRPr>
            </a:p>
          </p:txBody>
        </p:sp>
        <p:sp>
          <p:nvSpPr>
            <p:cNvPr id="320" name="Google Shape;320;p98"/>
            <p:cNvSpPr/>
            <p:nvPr/>
          </p:nvSpPr>
          <p:spPr>
            <a:xfrm>
              <a:off x="4333311" y="2413684"/>
              <a:ext cx="347287"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C</a:t>
              </a:r>
              <a:endParaRPr sz="1600" b="0" i="0" u="none" strike="noStrike" cap="none">
                <a:solidFill>
                  <a:schemeClr val="dk1"/>
                </a:solidFill>
                <a:latin typeface="Twentieth Century"/>
                <a:ea typeface="Twentieth Century"/>
                <a:cs typeface="Twentieth Century"/>
                <a:sym typeface="Twentieth Century"/>
              </a:endParaRPr>
            </a:p>
          </p:txBody>
        </p:sp>
        <p:sp>
          <p:nvSpPr>
            <p:cNvPr id="321" name="Google Shape;321;p98"/>
            <p:cNvSpPr/>
            <p:nvPr/>
          </p:nvSpPr>
          <p:spPr>
            <a:xfrm>
              <a:off x="4178640" y="4911901"/>
              <a:ext cx="309341"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E</a:t>
              </a:r>
              <a:endParaRPr sz="1600" b="0" i="0" u="none" strike="noStrike" cap="none">
                <a:solidFill>
                  <a:schemeClr val="dk1"/>
                </a:solidFill>
                <a:latin typeface="Twentieth Century"/>
                <a:ea typeface="Twentieth Century"/>
                <a:cs typeface="Twentieth Century"/>
                <a:sym typeface="Twentieth Century"/>
              </a:endParaRPr>
            </a:p>
          </p:txBody>
        </p:sp>
        <p:cxnSp>
          <p:nvCxnSpPr>
            <p:cNvPr id="322" name="Google Shape;322;p98"/>
            <p:cNvCxnSpPr/>
            <p:nvPr/>
          </p:nvCxnSpPr>
          <p:spPr>
            <a:xfrm rot="10800000" flipH="1">
              <a:off x="1235075" y="2482562"/>
              <a:ext cx="914398" cy="495588"/>
            </a:xfrm>
            <a:prstGeom prst="straightConnector1">
              <a:avLst/>
            </a:prstGeom>
            <a:noFill/>
            <a:ln w="19050" cap="flat" cmpd="sng">
              <a:solidFill>
                <a:schemeClr val="dk1"/>
              </a:solidFill>
              <a:prstDash val="solid"/>
              <a:round/>
              <a:headEnd type="none" w="sm" len="sm"/>
              <a:tailEnd type="triangle" w="med" len="med"/>
            </a:ln>
          </p:spPr>
        </p:cxnSp>
        <p:cxnSp>
          <p:nvCxnSpPr>
            <p:cNvPr id="323" name="Google Shape;323;p98"/>
            <p:cNvCxnSpPr/>
            <p:nvPr/>
          </p:nvCxnSpPr>
          <p:spPr>
            <a:xfrm rot="10800000" flipH="1">
              <a:off x="2835275" y="4044950"/>
              <a:ext cx="1143000" cy="76200"/>
            </a:xfrm>
            <a:prstGeom prst="straightConnector1">
              <a:avLst/>
            </a:prstGeom>
            <a:noFill/>
            <a:ln w="19050" cap="flat" cmpd="sng">
              <a:solidFill>
                <a:schemeClr val="dk1"/>
              </a:solidFill>
              <a:prstDash val="solid"/>
              <a:round/>
              <a:headEnd type="none" w="sm" len="sm"/>
              <a:tailEnd type="triangle" w="med" len="med"/>
            </a:ln>
          </p:spPr>
        </p:cxnSp>
        <p:cxnSp>
          <p:nvCxnSpPr>
            <p:cNvPr id="324" name="Google Shape;324;p98"/>
            <p:cNvCxnSpPr/>
            <p:nvPr/>
          </p:nvCxnSpPr>
          <p:spPr>
            <a:xfrm>
              <a:off x="1082675" y="3359150"/>
              <a:ext cx="1066800" cy="533400"/>
            </a:xfrm>
            <a:prstGeom prst="straightConnector1">
              <a:avLst/>
            </a:prstGeom>
            <a:noFill/>
            <a:ln w="19050" cap="flat" cmpd="sng">
              <a:solidFill>
                <a:schemeClr val="dk1"/>
              </a:solidFill>
              <a:prstDash val="solid"/>
              <a:round/>
              <a:headEnd type="none" w="sm" len="sm"/>
              <a:tailEnd type="triangle" w="med" len="med"/>
            </a:ln>
          </p:spPr>
        </p:cxnSp>
        <p:cxnSp>
          <p:nvCxnSpPr>
            <p:cNvPr id="325" name="Google Shape;325;p98"/>
            <p:cNvCxnSpPr/>
            <p:nvPr/>
          </p:nvCxnSpPr>
          <p:spPr>
            <a:xfrm>
              <a:off x="2911475" y="2368550"/>
              <a:ext cx="1219200" cy="76200"/>
            </a:xfrm>
            <a:prstGeom prst="straightConnector1">
              <a:avLst/>
            </a:prstGeom>
            <a:noFill/>
            <a:ln w="19050" cap="flat" cmpd="sng">
              <a:solidFill>
                <a:schemeClr val="dk1"/>
              </a:solidFill>
              <a:prstDash val="solid"/>
              <a:round/>
              <a:headEnd type="none" w="sm" len="sm"/>
              <a:tailEnd type="triangle" w="med" len="med"/>
            </a:ln>
          </p:spPr>
        </p:cxnSp>
        <p:cxnSp>
          <p:nvCxnSpPr>
            <p:cNvPr id="326" name="Google Shape;326;p98"/>
            <p:cNvCxnSpPr/>
            <p:nvPr/>
          </p:nvCxnSpPr>
          <p:spPr>
            <a:xfrm>
              <a:off x="2823988" y="4248515"/>
              <a:ext cx="1154287" cy="710835"/>
            </a:xfrm>
            <a:prstGeom prst="straightConnector1">
              <a:avLst/>
            </a:prstGeom>
            <a:noFill/>
            <a:ln w="19050" cap="flat" cmpd="sng">
              <a:solidFill>
                <a:schemeClr val="dk1"/>
              </a:solidFill>
              <a:prstDash val="solid"/>
              <a:round/>
              <a:headEnd type="none" w="sm" len="sm"/>
              <a:tailEnd type="triangle" w="med" len="med"/>
            </a:ln>
          </p:spPr>
        </p:cxnSp>
        <p:cxnSp>
          <p:nvCxnSpPr>
            <p:cNvPr id="327" name="Google Shape;327;p98"/>
            <p:cNvCxnSpPr/>
            <p:nvPr/>
          </p:nvCxnSpPr>
          <p:spPr>
            <a:xfrm rot="10800000" flipH="1">
              <a:off x="4740275" y="3892550"/>
              <a:ext cx="1447800" cy="1219200"/>
            </a:xfrm>
            <a:prstGeom prst="straightConnector1">
              <a:avLst/>
            </a:prstGeom>
            <a:noFill/>
            <a:ln w="19050" cap="flat" cmpd="sng">
              <a:solidFill>
                <a:schemeClr val="dk1"/>
              </a:solidFill>
              <a:prstDash val="solid"/>
              <a:round/>
              <a:headEnd type="none" w="sm" len="sm"/>
              <a:tailEnd type="triangle" w="med" len="med"/>
            </a:ln>
          </p:spPr>
        </p:cxnSp>
        <p:cxnSp>
          <p:nvCxnSpPr>
            <p:cNvPr id="328" name="Google Shape;328;p98"/>
            <p:cNvCxnSpPr/>
            <p:nvPr/>
          </p:nvCxnSpPr>
          <p:spPr>
            <a:xfrm rot="10800000" flipH="1">
              <a:off x="4740275" y="3663950"/>
              <a:ext cx="1219200" cy="304800"/>
            </a:xfrm>
            <a:prstGeom prst="straightConnector1">
              <a:avLst/>
            </a:prstGeom>
            <a:noFill/>
            <a:ln w="19050" cap="flat" cmpd="sng">
              <a:solidFill>
                <a:schemeClr val="dk1"/>
              </a:solidFill>
              <a:prstDash val="solid"/>
              <a:round/>
              <a:headEnd type="none" w="sm" len="sm"/>
              <a:tailEnd type="triangle" w="med" len="med"/>
            </a:ln>
          </p:spPr>
        </p:cxnSp>
        <p:cxnSp>
          <p:nvCxnSpPr>
            <p:cNvPr id="329" name="Google Shape;329;p98"/>
            <p:cNvCxnSpPr/>
            <p:nvPr/>
          </p:nvCxnSpPr>
          <p:spPr>
            <a:xfrm>
              <a:off x="4889853" y="2646991"/>
              <a:ext cx="1069621" cy="712159"/>
            </a:xfrm>
            <a:prstGeom prst="straightConnector1">
              <a:avLst/>
            </a:prstGeom>
            <a:noFill/>
            <a:ln w="19050" cap="flat" cmpd="sng">
              <a:solidFill>
                <a:schemeClr val="dk1"/>
              </a:solidFill>
              <a:prstDash val="solid"/>
              <a:round/>
              <a:headEnd type="none" w="sm" len="sm"/>
              <a:tailEnd type="triangle" w="med" len="med"/>
            </a:ln>
          </p:spPr>
        </p:cxnSp>
        <p:cxnSp>
          <p:nvCxnSpPr>
            <p:cNvPr id="330" name="Google Shape;330;p98"/>
            <p:cNvCxnSpPr/>
            <p:nvPr/>
          </p:nvCxnSpPr>
          <p:spPr>
            <a:xfrm>
              <a:off x="4740274" y="5209575"/>
              <a:ext cx="2286001" cy="0"/>
            </a:xfrm>
            <a:prstGeom prst="straightConnector1">
              <a:avLst/>
            </a:prstGeom>
            <a:noFill/>
            <a:ln w="19050" cap="flat" cmpd="sng">
              <a:solidFill>
                <a:schemeClr val="dk1"/>
              </a:solidFill>
              <a:prstDash val="solid"/>
              <a:round/>
              <a:headEnd type="none" w="sm" len="sm"/>
              <a:tailEnd type="triangle" w="med" len="med"/>
            </a:ln>
          </p:spPr>
        </p:cxnSp>
        <p:cxnSp>
          <p:nvCxnSpPr>
            <p:cNvPr id="331" name="Google Shape;331;p98"/>
            <p:cNvCxnSpPr/>
            <p:nvPr/>
          </p:nvCxnSpPr>
          <p:spPr>
            <a:xfrm>
              <a:off x="6721475" y="3587750"/>
              <a:ext cx="1066800" cy="0"/>
            </a:xfrm>
            <a:prstGeom prst="straightConnector1">
              <a:avLst/>
            </a:prstGeom>
            <a:noFill/>
            <a:ln w="19050" cap="flat" cmpd="sng">
              <a:solidFill>
                <a:schemeClr val="dk1"/>
              </a:solidFill>
              <a:prstDash val="solid"/>
              <a:round/>
              <a:headEnd type="none" w="sm" len="sm"/>
              <a:tailEnd type="triangle" w="med" len="med"/>
            </a:ln>
          </p:spPr>
        </p:cxnSp>
        <p:sp>
          <p:nvSpPr>
            <p:cNvPr id="332" name="Google Shape;332;p98"/>
            <p:cNvSpPr/>
            <p:nvPr/>
          </p:nvSpPr>
          <p:spPr>
            <a:xfrm>
              <a:off x="7870119" y="3227352"/>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fin</a:t>
              </a:r>
              <a:endParaRPr sz="1600" b="0" i="0" u="none" strike="noStrike" cap="none">
                <a:solidFill>
                  <a:schemeClr val="dk1"/>
                </a:solidFill>
                <a:latin typeface="Twentieth Century"/>
                <a:ea typeface="Twentieth Century"/>
                <a:cs typeface="Twentieth Century"/>
                <a:sym typeface="Twentieth Century"/>
              </a:endParaRPr>
            </a:p>
          </p:txBody>
        </p:sp>
        <p:cxnSp>
          <p:nvCxnSpPr>
            <p:cNvPr id="333" name="Google Shape;333;p98"/>
            <p:cNvCxnSpPr>
              <a:endCxn id="332" idx="3"/>
            </p:cNvCxnSpPr>
            <p:nvPr/>
          </p:nvCxnSpPr>
          <p:spPr>
            <a:xfrm rot="10800000" flipH="1">
              <a:off x="7483558" y="3842974"/>
              <a:ext cx="496500" cy="887700"/>
            </a:xfrm>
            <a:prstGeom prst="straightConnector1">
              <a:avLst/>
            </a:prstGeom>
            <a:noFill/>
            <a:ln w="19050" cap="flat" cmpd="sng">
              <a:solidFill>
                <a:schemeClr val="dk1"/>
              </a:solidFill>
              <a:prstDash val="solid"/>
              <a:round/>
              <a:headEnd type="none" w="sm" len="sm"/>
              <a:tailEnd type="triangle" w="med" len="med"/>
            </a:ln>
          </p:spPr>
        </p:cxnSp>
        <p:sp>
          <p:nvSpPr>
            <p:cNvPr id="334" name="Google Shape;334;p98"/>
            <p:cNvSpPr txBox="1"/>
            <p:nvPr/>
          </p:nvSpPr>
          <p:spPr>
            <a:xfrm>
              <a:off x="1483335" y="2457553"/>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0 </a:t>
              </a:r>
              <a:endParaRPr sz="1600" b="0" i="0" u="none" strike="noStrike" cap="none">
                <a:solidFill>
                  <a:schemeClr val="dk1"/>
                </a:solidFill>
                <a:latin typeface="Twentieth Century"/>
                <a:ea typeface="Twentieth Century"/>
                <a:cs typeface="Twentieth Century"/>
                <a:sym typeface="Twentieth Century"/>
              </a:endParaRPr>
            </a:p>
          </p:txBody>
        </p:sp>
        <p:sp>
          <p:nvSpPr>
            <p:cNvPr id="335" name="Google Shape;335;p98"/>
            <p:cNvSpPr txBox="1"/>
            <p:nvPr/>
          </p:nvSpPr>
          <p:spPr>
            <a:xfrm>
              <a:off x="1568631" y="3331206"/>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0 </a:t>
              </a:r>
              <a:endParaRPr sz="1600" b="0" i="0" u="none" strike="noStrike" cap="none">
                <a:solidFill>
                  <a:schemeClr val="dk1"/>
                </a:solidFill>
                <a:latin typeface="Twentieth Century"/>
                <a:ea typeface="Twentieth Century"/>
                <a:cs typeface="Twentieth Century"/>
                <a:sym typeface="Twentieth Century"/>
              </a:endParaRPr>
            </a:p>
          </p:txBody>
        </p:sp>
        <p:sp>
          <p:nvSpPr>
            <p:cNvPr id="336" name="Google Shape;336;p98"/>
            <p:cNvSpPr txBox="1"/>
            <p:nvPr/>
          </p:nvSpPr>
          <p:spPr>
            <a:xfrm>
              <a:off x="3296730" y="2078449"/>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2 </a:t>
              </a:r>
              <a:endParaRPr sz="1600" b="0" i="0" u="none" strike="noStrike" cap="none">
                <a:solidFill>
                  <a:schemeClr val="dk1"/>
                </a:solidFill>
                <a:latin typeface="Twentieth Century"/>
                <a:ea typeface="Twentieth Century"/>
                <a:cs typeface="Twentieth Century"/>
                <a:sym typeface="Twentieth Century"/>
              </a:endParaRPr>
            </a:p>
          </p:txBody>
        </p:sp>
        <p:sp>
          <p:nvSpPr>
            <p:cNvPr id="337" name="Google Shape;337;p98"/>
            <p:cNvSpPr txBox="1"/>
            <p:nvPr/>
          </p:nvSpPr>
          <p:spPr>
            <a:xfrm>
              <a:off x="3225749" y="377002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5 </a:t>
              </a:r>
              <a:endParaRPr sz="1600" b="0" i="0" u="none" strike="noStrike" cap="none">
                <a:solidFill>
                  <a:schemeClr val="dk1"/>
                </a:solidFill>
                <a:latin typeface="Twentieth Century"/>
                <a:ea typeface="Twentieth Century"/>
                <a:cs typeface="Twentieth Century"/>
                <a:sym typeface="Twentieth Century"/>
              </a:endParaRPr>
            </a:p>
          </p:txBody>
        </p:sp>
        <p:sp>
          <p:nvSpPr>
            <p:cNvPr id="338" name="Google Shape;338;p98"/>
            <p:cNvSpPr txBox="1"/>
            <p:nvPr/>
          </p:nvSpPr>
          <p:spPr>
            <a:xfrm>
              <a:off x="5273674" y="26733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339" name="Google Shape;339;p98"/>
            <p:cNvSpPr txBox="1"/>
            <p:nvPr/>
          </p:nvSpPr>
          <p:spPr>
            <a:xfrm>
              <a:off x="5087368" y="3515269"/>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7 </a:t>
              </a:r>
              <a:endParaRPr sz="1600" b="0" i="0" u="none" strike="noStrike" cap="none">
                <a:solidFill>
                  <a:schemeClr val="dk1"/>
                </a:solidFill>
                <a:latin typeface="Twentieth Century"/>
                <a:ea typeface="Twentieth Century"/>
                <a:cs typeface="Twentieth Century"/>
                <a:sym typeface="Twentieth Century"/>
              </a:endParaRPr>
            </a:p>
          </p:txBody>
        </p:sp>
        <p:sp>
          <p:nvSpPr>
            <p:cNvPr id="340" name="Google Shape;340;p98"/>
            <p:cNvSpPr txBox="1"/>
            <p:nvPr/>
          </p:nvSpPr>
          <p:spPr>
            <a:xfrm>
              <a:off x="5121275" y="42735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341" name="Google Shape;341;p98"/>
            <p:cNvSpPr txBox="1"/>
            <p:nvPr/>
          </p:nvSpPr>
          <p:spPr>
            <a:xfrm>
              <a:off x="3271844" y="4310969"/>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5 </a:t>
              </a:r>
              <a:endParaRPr sz="1600" b="0" i="0" u="none" strike="noStrike" cap="none">
                <a:solidFill>
                  <a:schemeClr val="dk1"/>
                </a:solidFill>
                <a:latin typeface="Twentieth Century"/>
                <a:ea typeface="Twentieth Century"/>
                <a:cs typeface="Twentieth Century"/>
                <a:sym typeface="Twentieth Century"/>
              </a:endParaRPr>
            </a:p>
          </p:txBody>
        </p:sp>
        <p:sp>
          <p:nvSpPr>
            <p:cNvPr id="342" name="Google Shape;342;p98"/>
            <p:cNvSpPr txBox="1"/>
            <p:nvPr/>
          </p:nvSpPr>
          <p:spPr>
            <a:xfrm>
              <a:off x="5730875" y="48831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343" name="Google Shape;343;p98"/>
            <p:cNvSpPr txBox="1"/>
            <p:nvPr/>
          </p:nvSpPr>
          <p:spPr>
            <a:xfrm>
              <a:off x="7407275" y="40449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344" name="Google Shape;344;p98"/>
            <p:cNvSpPr txBox="1"/>
            <p:nvPr/>
          </p:nvSpPr>
          <p:spPr>
            <a:xfrm>
              <a:off x="7026275" y="3282950"/>
              <a:ext cx="33644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5</a:t>
              </a:r>
              <a:endParaRPr sz="1600" b="0" i="0" u="none" strike="noStrike" cap="none">
                <a:solidFill>
                  <a:schemeClr val="dk1"/>
                </a:solidFill>
                <a:latin typeface="Twentieth Century"/>
                <a:ea typeface="Twentieth Century"/>
                <a:cs typeface="Twentieth Century"/>
                <a:sym typeface="Twentieth Century"/>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99"/>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350" name="Google Shape;350;p9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351" name="Google Shape;351;p9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352" name="Google Shape;352;p9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20</a:t>
            </a:fld>
            <a:endParaRPr/>
          </a:p>
        </p:txBody>
      </p:sp>
      <p:sp>
        <p:nvSpPr>
          <p:cNvPr id="353" name="Google Shape;353;p99"/>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Ejemplo:</a:t>
            </a:r>
            <a:endParaRPr sz="2800" i="1">
              <a:solidFill>
                <a:schemeClr val="dk1"/>
              </a:solidFill>
            </a:endParaRPr>
          </a:p>
          <a:p>
            <a:pPr marL="633412" lvl="2" indent="-457200" algn="l" rtl="0">
              <a:lnSpc>
                <a:spcPct val="85000"/>
              </a:lnSpc>
              <a:spcBef>
                <a:spcPts val="1800"/>
              </a:spcBef>
              <a:spcAft>
                <a:spcPts val="0"/>
              </a:spcAft>
              <a:buClr>
                <a:schemeClr val="dk1"/>
              </a:buClr>
              <a:buSzPts val="2400"/>
              <a:buFont typeface="Calibri"/>
              <a:buAutoNum type="arabicPeriod" startAt="5"/>
            </a:pPr>
            <a:r>
              <a:rPr lang="es-AR" sz="2400">
                <a:solidFill>
                  <a:schemeClr val="dk1"/>
                </a:solidFill>
              </a:rPr>
              <a:t>Calcular la fecha temprana y tardía de cada nodo</a:t>
            </a:r>
            <a:endParaRPr/>
          </a:p>
          <a:p>
            <a:pPr marL="633412" lvl="2" indent="-304800" algn="l" rtl="0">
              <a:lnSpc>
                <a:spcPct val="85000"/>
              </a:lnSpc>
              <a:spcBef>
                <a:spcPts val="600"/>
              </a:spcBef>
              <a:spcAft>
                <a:spcPts val="0"/>
              </a:spcAft>
              <a:buClr>
                <a:srgbClr val="404040"/>
              </a:buClr>
              <a:buSzPts val="2400"/>
              <a:buFont typeface="Calibri"/>
              <a:buNone/>
            </a:pPr>
            <a:endParaRPr sz="2400">
              <a:solidFill>
                <a:schemeClr val="dk1"/>
              </a:solidFill>
            </a:endParaRPr>
          </a:p>
          <a:p>
            <a:pPr marL="633413" lvl="2" indent="0" algn="l" rtl="0">
              <a:lnSpc>
                <a:spcPct val="85000"/>
              </a:lnSpc>
              <a:spcBef>
                <a:spcPts val="600"/>
              </a:spcBef>
              <a:spcAft>
                <a:spcPts val="0"/>
              </a:spcAft>
              <a:buClr>
                <a:schemeClr val="dk1"/>
              </a:buClr>
              <a:buSzPts val="2400"/>
              <a:buNone/>
            </a:pPr>
            <a:r>
              <a:rPr lang="es-AR" sz="2400" u="sng">
                <a:solidFill>
                  <a:schemeClr val="dk1"/>
                </a:solidFill>
              </a:rPr>
              <a:t>Fechas Tempranas</a:t>
            </a:r>
            <a:r>
              <a:rPr lang="es-AR" sz="2400">
                <a:solidFill>
                  <a:schemeClr val="dk1"/>
                </a:solidFill>
              </a:rPr>
              <a:t>:</a:t>
            </a:r>
            <a:endParaRPr/>
          </a:p>
          <a:p>
            <a:pPr marL="633413" lvl="2" indent="0" algn="l" rtl="0">
              <a:lnSpc>
                <a:spcPct val="85000"/>
              </a:lnSpc>
              <a:spcBef>
                <a:spcPts val="600"/>
              </a:spcBef>
              <a:spcAft>
                <a:spcPts val="0"/>
              </a:spcAft>
              <a:buClr>
                <a:schemeClr val="dk1"/>
              </a:buClr>
              <a:buSzPts val="2400"/>
              <a:buNone/>
            </a:pPr>
            <a:r>
              <a:rPr lang="es-AR" sz="2400">
                <a:solidFill>
                  <a:schemeClr val="dk1"/>
                </a:solidFill>
              </a:rPr>
              <a:t>TeJ = TeI + tlJ</a:t>
            </a:r>
            <a:endParaRPr sz="2400">
              <a:solidFill>
                <a:schemeClr val="dk1"/>
              </a:solidFill>
            </a:endParaRPr>
          </a:p>
          <a:p>
            <a:pPr marL="633413" lvl="2" indent="0" algn="l" rtl="0">
              <a:lnSpc>
                <a:spcPct val="85000"/>
              </a:lnSpc>
              <a:spcBef>
                <a:spcPts val="600"/>
              </a:spcBef>
              <a:spcAft>
                <a:spcPts val="0"/>
              </a:spcAft>
              <a:buClr>
                <a:schemeClr val="dk1"/>
              </a:buClr>
              <a:buSzPts val="2400"/>
              <a:buNone/>
            </a:pPr>
            <a:r>
              <a:rPr lang="es-AR" sz="2400">
                <a:solidFill>
                  <a:schemeClr val="dk1"/>
                </a:solidFill>
              </a:rPr>
              <a:t>Donde:</a:t>
            </a:r>
            <a:endParaRPr/>
          </a:p>
          <a:p>
            <a:pPr marL="900113" lvl="2" indent="0" algn="l" rtl="0">
              <a:lnSpc>
                <a:spcPct val="85000"/>
              </a:lnSpc>
              <a:spcBef>
                <a:spcPts val="600"/>
              </a:spcBef>
              <a:spcAft>
                <a:spcPts val="0"/>
              </a:spcAft>
              <a:buClr>
                <a:schemeClr val="dk1"/>
              </a:buClr>
              <a:buSzPts val="2400"/>
              <a:buNone/>
            </a:pPr>
            <a:r>
              <a:rPr lang="es-AR" sz="2400">
                <a:solidFill>
                  <a:schemeClr val="dk1"/>
                </a:solidFill>
              </a:rPr>
              <a:t>TeJ =  fecha más temprana del nodo destino </a:t>
            </a:r>
            <a:endParaRPr/>
          </a:p>
          <a:p>
            <a:pPr marL="900113" lvl="2" indent="0" algn="l" rtl="0">
              <a:lnSpc>
                <a:spcPct val="85000"/>
              </a:lnSpc>
              <a:spcBef>
                <a:spcPts val="600"/>
              </a:spcBef>
              <a:spcAft>
                <a:spcPts val="0"/>
              </a:spcAft>
              <a:buClr>
                <a:schemeClr val="dk1"/>
              </a:buClr>
              <a:buSzPts val="2400"/>
              <a:buNone/>
            </a:pPr>
            <a:r>
              <a:rPr lang="es-AR" sz="2400">
                <a:solidFill>
                  <a:schemeClr val="dk1"/>
                </a:solidFill>
              </a:rPr>
              <a:t>TeI = fecha más temprana del nodo origen </a:t>
            </a:r>
            <a:endParaRPr/>
          </a:p>
          <a:p>
            <a:pPr marL="900113" lvl="2" indent="0" algn="l" rtl="0">
              <a:lnSpc>
                <a:spcPct val="85000"/>
              </a:lnSpc>
              <a:spcBef>
                <a:spcPts val="600"/>
              </a:spcBef>
              <a:spcAft>
                <a:spcPts val="0"/>
              </a:spcAft>
              <a:buClr>
                <a:schemeClr val="dk1"/>
              </a:buClr>
              <a:buSzPts val="2400"/>
              <a:buNone/>
            </a:pPr>
            <a:r>
              <a:rPr lang="es-AR" sz="2400">
                <a:solidFill>
                  <a:schemeClr val="dk1"/>
                </a:solidFill>
              </a:rPr>
              <a:t>tIJ  = duración de la tarea desde el nodo I hasta el nodo J</a:t>
            </a:r>
            <a:endParaRPr/>
          </a:p>
          <a:p>
            <a:pPr marL="633413" lvl="2" indent="0" algn="l" rtl="0">
              <a:lnSpc>
                <a:spcPct val="85000"/>
              </a:lnSpc>
              <a:spcBef>
                <a:spcPts val="600"/>
              </a:spcBef>
              <a:spcAft>
                <a:spcPts val="0"/>
              </a:spcAft>
              <a:buClr>
                <a:schemeClr val="dk1"/>
              </a:buClr>
              <a:buSzPts val="2400"/>
              <a:buNone/>
            </a:pPr>
            <a:r>
              <a:rPr lang="es-AR" sz="2400">
                <a:solidFill>
                  <a:schemeClr val="dk1"/>
                </a:solidFill>
              </a:rPr>
              <a:t>Si hay más de un camino: Max (TeJ1, TeJ2..)</a:t>
            </a:r>
            <a:endParaRPr/>
          </a:p>
          <a:p>
            <a:pPr marL="176212" lvl="2" indent="0" algn="l" rtl="0">
              <a:lnSpc>
                <a:spcPct val="85000"/>
              </a:lnSpc>
              <a:spcBef>
                <a:spcPts val="6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graphicFrame>
        <p:nvGraphicFramePr>
          <p:cNvPr id="354" name="Google Shape;354;p99"/>
          <p:cNvGraphicFramePr/>
          <p:nvPr/>
        </p:nvGraphicFramePr>
        <p:xfrm>
          <a:off x="7680350" y="2948302"/>
          <a:ext cx="4441800" cy="1981250"/>
        </p:xfrm>
        <a:graphic>
          <a:graphicData uri="http://schemas.openxmlformats.org/drawingml/2006/table">
            <a:tbl>
              <a:tblPr>
                <a:noFill/>
                <a:tableStyleId>{4272FAEC-E20E-4765-AF0E-9200B05B628A}</a:tableStyleId>
              </a:tblPr>
              <a:tblGrid>
                <a:gridCol w="1159075">
                  <a:extLst>
                    <a:ext uri="{9D8B030D-6E8A-4147-A177-3AD203B41FA5}">
                      <a16:colId xmlns:a16="http://schemas.microsoft.com/office/drawing/2014/main" val="20000"/>
                    </a:ext>
                  </a:extLst>
                </a:gridCol>
                <a:gridCol w="1924275">
                  <a:extLst>
                    <a:ext uri="{9D8B030D-6E8A-4147-A177-3AD203B41FA5}">
                      <a16:colId xmlns:a16="http://schemas.microsoft.com/office/drawing/2014/main" val="20001"/>
                    </a:ext>
                  </a:extLst>
                </a:gridCol>
                <a:gridCol w="1358450">
                  <a:extLst>
                    <a:ext uri="{9D8B030D-6E8A-4147-A177-3AD203B41FA5}">
                      <a16:colId xmlns:a16="http://schemas.microsoft.com/office/drawing/2014/main" val="20002"/>
                    </a:ext>
                  </a:extLst>
                </a:gridCol>
              </a:tblGrid>
              <a:tr h="395375">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1" u="none" strike="noStrike" cap="none">
                          <a:solidFill>
                            <a:schemeClr val="dk1"/>
                          </a:solidFill>
                        </a:rPr>
                        <a:t>Tarea</a:t>
                      </a:r>
                      <a:endParaRPr sz="2000" b="1" i="0" u="none" strike="noStrike" cap="none">
                        <a:solidFill>
                          <a:schemeClr val="dk1"/>
                        </a:solidFill>
                        <a:latin typeface="Calibri"/>
                        <a:ea typeface="Calibri"/>
                        <a:cs typeface="Calibri"/>
                        <a:sym typeface="Calibri"/>
                      </a:endParaRPr>
                    </a:p>
                  </a:txBody>
                  <a:tcPr marL="68575" marR="68575" marT="45725" marB="45725">
                    <a:solidFill>
                      <a:srgbClr val="D8D8D8"/>
                    </a:solidFill>
                  </a:tcPr>
                </a:tc>
                <a:tc>
                  <a:txBody>
                    <a:bodyPr/>
                    <a:lstStyle/>
                    <a:p>
                      <a:pPr marL="0" marR="0" lvl="0" indent="0" algn="ctr" rtl="0">
                        <a:lnSpc>
                          <a:spcPct val="100000"/>
                        </a:lnSpc>
                        <a:spcBef>
                          <a:spcPts val="0"/>
                        </a:spcBef>
                        <a:spcAft>
                          <a:spcPts val="0"/>
                        </a:spcAft>
                        <a:buClr>
                          <a:schemeClr val="dk2"/>
                        </a:buClr>
                        <a:buSzPts val="1680"/>
                        <a:buFont typeface="Noto Sans Symbols"/>
                        <a:buNone/>
                      </a:pPr>
                      <a:r>
                        <a:rPr lang="es-AR" sz="2000" b="1" u="none" strike="noStrike" cap="none">
                          <a:solidFill>
                            <a:schemeClr val="dk1"/>
                          </a:solidFill>
                        </a:rPr>
                        <a:t>Precedida por</a:t>
                      </a:r>
                      <a:endParaRPr sz="2000" b="1" i="0" u="none" strike="noStrike" cap="none">
                        <a:solidFill>
                          <a:schemeClr val="dk1"/>
                        </a:solidFill>
                        <a:latin typeface="Calibri"/>
                        <a:ea typeface="Calibri"/>
                        <a:cs typeface="Calibri"/>
                        <a:sym typeface="Calibri"/>
                      </a:endParaRPr>
                    </a:p>
                  </a:txBody>
                  <a:tcPr marL="68575" marR="68575" marT="45725" marB="45725">
                    <a:solidFill>
                      <a:srgbClr val="D8D8D8"/>
                    </a:solidFill>
                  </a:tcPr>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1" u="none" strike="noStrike" cap="none">
                          <a:solidFill>
                            <a:schemeClr val="dk1"/>
                          </a:solidFill>
                        </a:rPr>
                        <a:t>Duración</a:t>
                      </a:r>
                      <a:endParaRPr sz="2000" b="1" i="0" u="none" strike="noStrike" cap="none">
                        <a:solidFill>
                          <a:schemeClr val="dk1"/>
                        </a:solidFill>
                        <a:latin typeface="Calibri"/>
                        <a:ea typeface="Calibri"/>
                        <a:cs typeface="Calibri"/>
                        <a:sym typeface="Calibri"/>
                      </a:endParaRPr>
                    </a:p>
                  </a:txBody>
                  <a:tcPr marL="68575" marR="68575" marT="45725" marB="45725">
                    <a:solidFill>
                      <a:srgbClr val="D8D8D8"/>
                    </a:solidFill>
                  </a:tcPr>
                </a:tc>
                <a:extLst>
                  <a:ext uri="{0D108BD9-81ED-4DB2-BD59-A6C34878D82A}">
                    <a16:rowId xmlns:a16="http://schemas.microsoft.com/office/drawing/2014/main" val="10000"/>
                  </a:ext>
                </a:extLst>
              </a:tr>
              <a:tr h="395375">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A</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2</a:t>
                      </a:r>
                      <a:endParaRPr sz="2000" b="0" i="0" u="none" strike="noStrike" cap="none">
                        <a:solidFill>
                          <a:schemeClr val="dk1"/>
                        </a:solidFill>
                        <a:latin typeface="Calibri"/>
                        <a:ea typeface="Calibri"/>
                        <a:cs typeface="Calibri"/>
                        <a:sym typeface="Calibri"/>
                      </a:endParaRPr>
                    </a:p>
                  </a:txBody>
                  <a:tcPr marL="68575" marR="68575" marT="45725" marB="45725"/>
                </a:tc>
                <a:extLst>
                  <a:ext uri="{0D108BD9-81ED-4DB2-BD59-A6C34878D82A}">
                    <a16:rowId xmlns:a16="http://schemas.microsoft.com/office/drawing/2014/main" val="10001"/>
                  </a:ext>
                </a:extLst>
              </a:tr>
              <a:tr h="395375">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B</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5</a:t>
                      </a:r>
                      <a:endParaRPr sz="2000" b="0" i="0" u="none" strike="noStrike" cap="none">
                        <a:solidFill>
                          <a:schemeClr val="dk1"/>
                        </a:solidFill>
                        <a:latin typeface="Calibri"/>
                        <a:ea typeface="Calibri"/>
                        <a:cs typeface="Calibri"/>
                        <a:sym typeface="Calibri"/>
                      </a:endParaRPr>
                    </a:p>
                  </a:txBody>
                  <a:tcPr marL="68575" marR="68575" marT="45725" marB="45725"/>
                </a:tc>
                <a:extLst>
                  <a:ext uri="{0D108BD9-81ED-4DB2-BD59-A6C34878D82A}">
                    <a16:rowId xmlns:a16="http://schemas.microsoft.com/office/drawing/2014/main" val="10002"/>
                  </a:ext>
                </a:extLst>
              </a:tr>
              <a:tr h="395375">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C</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A</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4</a:t>
                      </a:r>
                      <a:endParaRPr sz="2000" b="0" i="0" u="none" strike="noStrike" cap="none">
                        <a:solidFill>
                          <a:schemeClr val="dk1"/>
                        </a:solidFill>
                        <a:latin typeface="Calibri"/>
                        <a:ea typeface="Calibri"/>
                        <a:cs typeface="Calibri"/>
                        <a:sym typeface="Calibri"/>
                      </a:endParaRPr>
                    </a:p>
                  </a:txBody>
                  <a:tcPr marL="68575" marR="68575" marT="45725" marB="45725"/>
                </a:tc>
                <a:extLst>
                  <a:ext uri="{0D108BD9-81ED-4DB2-BD59-A6C34878D82A}">
                    <a16:rowId xmlns:a16="http://schemas.microsoft.com/office/drawing/2014/main" val="10003"/>
                  </a:ext>
                </a:extLst>
              </a:tr>
              <a:tr h="395375">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D</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B</a:t>
                      </a:r>
                      <a:endParaRPr sz="2000" b="0" i="0" u="none" strike="noStrike" cap="none">
                        <a:solidFill>
                          <a:schemeClr val="dk1"/>
                        </a:solidFill>
                        <a:latin typeface="Calibri"/>
                        <a:ea typeface="Calibri"/>
                        <a:cs typeface="Calibri"/>
                        <a:sym typeface="Calibri"/>
                      </a:endParaRPr>
                    </a:p>
                  </a:txBody>
                  <a:tcPr marL="68575" marR="68575" marT="45725" marB="45725"/>
                </a:tc>
                <a:tc>
                  <a:txBody>
                    <a:bodyPr/>
                    <a:lstStyle/>
                    <a:p>
                      <a:pPr marL="0" marR="0" lvl="0" indent="0" algn="l" rtl="0">
                        <a:lnSpc>
                          <a:spcPct val="100000"/>
                        </a:lnSpc>
                        <a:spcBef>
                          <a:spcPts val="0"/>
                        </a:spcBef>
                        <a:spcAft>
                          <a:spcPts val="0"/>
                        </a:spcAft>
                        <a:buClr>
                          <a:schemeClr val="dk2"/>
                        </a:buClr>
                        <a:buSzPts val="1680"/>
                        <a:buFont typeface="Noto Sans Symbols"/>
                        <a:buNone/>
                      </a:pPr>
                      <a:r>
                        <a:rPr lang="es-AR" sz="2000" b="0" u="none" strike="noStrike" cap="none">
                          <a:solidFill>
                            <a:schemeClr val="dk1"/>
                          </a:solidFill>
                        </a:rPr>
                        <a:t>7</a:t>
                      </a:r>
                      <a:endParaRPr sz="2000" b="0" i="0" u="none" strike="noStrike" cap="none">
                        <a:solidFill>
                          <a:schemeClr val="dk1"/>
                        </a:solidFill>
                        <a:latin typeface="Calibri"/>
                        <a:ea typeface="Calibri"/>
                        <a:cs typeface="Calibri"/>
                        <a:sym typeface="Calibri"/>
                      </a:endParaRPr>
                    </a:p>
                  </a:txBody>
                  <a:tcPr marL="68575" marR="68575" marT="45725" marB="45725"/>
                </a:tc>
                <a:extLst>
                  <a:ext uri="{0D108BD9-81ED-4DB2-BD59-A6C34878D82A}">
                    <a16:rowId xmlns:a16="http://schemas.microsoft.com/office/drawing/2014/main" val="10004"/>
                  </a:ext>
                </a:extLst>
              </a:tr>
            </a:tbl>
          </a:graphicData>
        </a:graphic>
      </p:graphicFrame>
      <p:sp>
        <p:nvSpPr>
          <p:cNvPr id="355" name="Google Shape;355;p99"/>
          <p:cNvSpPr/>
          <p:nvPr/>
        </p:nvSpPr>
        <p:spPr>
          <a:xfrm>
            <a:off x="7630665" y="2874147"/>
            <a:ext cx="4536000" cy="2125143"/>
          </a:xfrm>
          <a:prstGeom prst="rect">
            <a:avLst/>
          </a:prstGeom>
          <a:noFill/>
          <a:ln w="2857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5"/>
                                        </p:tgtEl>
                                        <p:attrNameLst>
                                          <p:attrName>style.visibility</p:attrName>
                                        </p:attrNameLst>
                                      </p:cBhvr>
                                      <p:to>
                                        <p:strVal val="visible"/>
                                      </p:to>
                                    </p:set>
                                    <p:animEffect transition="in" filter="fade">
                                      <p:cBhvr>
                                        <p:cTn id="7" dur="500"/>
                                        <p:tgtEl>
                                          <p:spTgt spid="355"/>
                                        </p:tgtEl>
                                      </p:cBhvr>
                                    </p:animEffect>
                                  </p:childTnLst>
                                </p:cTn>
                              </p:par>
                              <p:par>
                                <p:cTn id="8" presetID="10" presetClass="entr" presetSubtype="0" fill="hold" nodeType="withEffect">
                                  <p:stCondLst>
                                    <p:cond delay="0"/>
                                  </p:stCondLst>
                                  <p:childTnLst>
                                    <p:set>
                                      <p:cBhvr>
                                        <p:cTn id="9" dur="1" fill="hold">
                                          <p:stCondLst>
                                            <p:cond delay="0"/>
                                          </p:stCondLst>
                                        </p:cTn>
                                        <p:tgtEl>
                                          <p:spTgt spid="354"/>
                                        </p:tgtEl>
                                        <p:attrNameLst>
                                          <p:attrName>style.visibility</p:attrName>
                                        </p:attrNameLst>
                                      </p:cBhvr>
                                      <p:to>
                                        <p:strVal val="visible"/>
                                      </p:to>
                                    </p:set>
                                    <p:animEffect transition="in" filter="fade">
                                      <p:cBhvr>
                                        <p:cTn id="10" dur="500"/>
                                        <p:tgtEl>
                                          <p:spTgt spid="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100"/>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361" name="Google Shape;361;p10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362" name="Google Shape;362;p10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363" name="Google Shape;363;p10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21</a:t>
            </a:fld>
            <a:endParaRPr/>
          </a:p>
        </p:txBody>
      </p:sp>
      <p:sp>
        <p:nvSpPr>
          <p:cNvPr id="364" name="Google Shape;364;p100"/>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Ejemplo:</a:t>
            </a:r>
            <a:endParaRPr sz="2800" i="1">
              <a:solidFill>
                <a:schemeClr val="dk1"/>
              </a:solidFill>
            </a:endParaRPr>
          </a:p>
          <a:p>
            <a:pPr marL="633412" lvl="2" indent="-457200" algn="l" rtl="0">
              <a:lnSpc>
                <a:spcPct val="85000"/>
              </a:lnSpc>
              <a:spcBef>
                <a:spcPts val="1800"/>
              </a:spcBef>
              <a:spcAft>
                <a:spcPts val="0"/>
              </a:spcAft>
              <a:buClr>
                <a:schemeClr val="dk1"/>
              </a:buClr>
              <a:buSzPts val="2400"/>
              <a:buFont typeface="Calibri"/>
              <a:buAutoNum type="arabicPeriod" startAt="5"/>
            </a:pPr>
            <a:r>
              <a:rPr lang="es-AR" sz="2400">
                <a:solidFill>
                  <a:schemeClr val="dk1"/>
                </a:solidFill>
              </a:rPr>
              <a:t>Calcular la fecha temprana y tardía de cada nodo</a:t>
            </a:r>
            <a:endParaRPr/>
          </a:p>
          <a:p>
            <a:pPr marL="633412" lvl="2" indent="-304800" algn="l" rtl="0">
              <a:lnSpc>
                <a:spcPct val="85000"/>
              </a:lnSpc>
              <a:spcBef>
                <a:spcPts val="600"/>
              </a:spcBef>
              <a:spcAft>
                <a:spcPts val="0"/>
              </a:spcAft>
              <a:buClr>
                <a:srgbClr val="404040"/>
              </a:buClr>
              <a:buSzPts val="2400"/>
              <a:buFont typeface="Calibri"/>
              <a:buNone/>
            </a:pPr>
            <a:endParaRPr sz="2400">
              <a:solidFill>
                <a:schemeClr val="dk1"/>
              </a:solidFill>
            </a:endParaRPr>
          </a:p>
          <a:p>
            <a:pPr marL="176212" lvl="2" indent="0" algn="l" rtl="0">
              <a:lnSpc>
                <a:spcPct val="85000"/>
              </a:lnSpc>
              <a:spcBef>
                <a:spcPts val="6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grpSp>
        <p:nvGrpSpPr>
          <p:cNvPr id="365" name="Google Shape;365;p100"/>
          <p:cNvGrpSpPr/>
          <p:nvPr/>
        </p:nvGrpSpPr>
        <p:grpSpPr>
          <a:xfrm>
            <a:off x="2333625" y="3104479"/>
            <a:ext cx="7498745" cy="3199075"/>
            <a:chOff x="168275" y="1987549"/>
            <a:chExt cx="8452557" cy="3464446"/>
          </a:xfrm>
        </p:grpSpPr>
        <p:sp>
          <p:nvSpPr>
            <p:cNvPr id="366" name="Google Shape;366;p100"/>
            <p:cNvSpPr/>
            <p:nvPr/>
          </p:nvSpPr>
          <p:spPr>
            <a:xfrm>
              <a:off x="168275" y="2368550"/>
              <a:ext cx="685800" cy="533400"/>
            </a:xfrm>
            <a:prstGeom prst="ellipse">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367" name="Google Shape;367;p100"/>
            <p:cNvSpPr/>
            <p:nvPr/>
          </p:nvSpPr>
          <p:spPr>
            <a:xfrm>
              <a:off x="484361" y="2919672"/>
              <a:ext cx="746126" cy="381000"/>
            </a:xfrm>
            <a:prstGeom prst="ellipse">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ini</a:t>
              </a:r>
              <a:endParaRPr sz="1600" b="0" i="0" u="none" strike="noStrike" cap="none">
                <a:solidFill>
                  <a:schemeClr val="dk1"/>
                </a:solidFill>
                <a:latin typeface="Twentieth Century"/>
                <a:ea typeface="Twentieth Century"/>
                <a:cs typeface="Twentieth Century"/>
                <a:sym typeface="Twentieth Century"/>
              </a:endParaRPr>
            </a:p>
          </p:txBody>
        </p:sp>
        <p:sp>
          <p:nvSpPr>
            <p:cNvPr id="368" name="Google Shape;368;p100"/>
            <p:cNvSpPr/>
            <p:nvPr/>
          </p:nvSpPr>
          <p:spPr>
            <a:xfrm>
              <a:off x="2073275" y="37401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369" name="Google Shape;369;p100"/>
            <p:cNvSpPr/>
            <p:nvPr/>
          </p:nvSpPr>
          <p:spPr>
            <a:xfrm>
              <a:off x="473074" y="27495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370" name="Google Shape;370;p100"/>
            <p:cNvSpPr/>
            <p:nvPr/>
          </p:nvSpPr>
          <p:spPr>
            <a:xfrm>
              <a:off x="2149474" y="19875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371" name="Google Shape;371;p100"/>
            <p:cNvSpPr/>
            <p:nvPr/>
          </p:nvSpPr>
          <p:spPr>
            <a:xfrm>
              <a:off x="4130675" y="22161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372" name="Google Shape;372;p100"/>
            <p:cNvSpPr/>
            <p:nvPr/>
          </p:nvSpPr>
          <p:spPr>
            <a:xfrm>
              <a:off x="3978275" y="47307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373" name="Google Shape;373;p100"/>
            <p:cNvSpPr/>
            <p:nvPr/>
          </p:nvSpPr>
          <p:spPr>
            <a:xfrm>
              <a:off x="5959475" y="32067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F</a:t>
              </a:r>
              <a:endParaRPr sz="1600" b="0" i="0" u="none" strike="noStrike" cap="none">
                <a:solidFill>
                  <a:schemeClr val="dk1"/>
                </a:solidFill>
                <a:latin typeface="Twentieth Century"/>
                <a:ea typeface="Twentieth Century"/>
                <a:cs typeface="Twentieth Century"/>
                <a:sym typeface="Twentieth Century"/>
              </a:endParaRPr>
            </a:p>
          </p:txBody>
        </p:sp>
        <p:sp>
          <p:nvSpPr>
            <p:cNvPr id="374" name="Google Shape;374;p100"/>
            <p:cNvSpPr/>
            <p:nvPr/>
          </p:nvSpPr>
          <p:spPr>
            <a:xfrm>
              <a:off x="3978275" y="36639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D</a:t>
              </a:r>
              <a:endParaRPr sz="1600" b="0" i="0" u="none" strike="noStrike" cap="none">
                <a:solidFill>
                  <a:schemeClr val="dk1"/>
                </a:solidFill>
                <a:latin typeface="Twentieth Century"/>
                <a:ea typeface="Twentieth Century"/>
                <a:cs typeface="Twentieth Century"/>
                <a:sym typeface="Twentieth Century"/>
              </a:endParaRPr>
            </a:p>
          </p:txBody>
        </p:sp>
        <p:sp>
          <p:nvSpPr>
            <p:cNvPr id="375" name="Google Shape;375;p100"/>
            <p:cNvSpPr/>
            <p:nvPr/>
          </p:nvSpPr>
          <p:spPr>
            <a:xfrm>
              <a:off x="7026275" y="47307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G</a:t>
              </a:r>
              <a:endParaRPr sz="1600" b="0" i="0" u="none" strike="noStrike" cap="none">
                <a:solidFill>
                  <a:schemeClr val="dk1"/>
                </a:solidFill>
                <a:latin typeface="Twentieth Century"/>
                <a:ea typeface="Twentieth Century"/>
                <a:cs typeface="Twentieth Century"/>
                <a:sym typeface="Twentieth Century"/>
              </a:endParaRPr>
            </a:p>
          </p:txBody>
        </p:sp>
        <p:sp>
          <p:nvSpPr>
            <p:cNvPr id="376" name="Google Shape;376;p100"/>
            <p:cNvSpPr txBox="1"/>
            <p:nvPr/>
          </p:nvSpPr>
          <p:spPr>
            <a:xfrm>
              <a:off x="2454275" y="2063750"/>
              <a:ext cx="208228" cy="3678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377" name="Google Shape;377;p100"/>
            <p:cNvSpPr txBox="1"/>
            <p:nvPr/>
          </p:nvSpPr>
          <p:spPr>
            <a:xfrm>
              <a:off x="2345545" y="2164198"/>
              <a:ext cx="347287"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A</a:t>
              </a:r>
              <a:endParaRPr sz="1600" b="0" i="0" u="none" strike="noStrike" cap="none">
                <a:solidFill>
                  <a:schemeClr val="dk1"/>
                </a:solidFill>
                <a:latin typeface="Twentieth Century"/>
                <a:ea typeface="Twentieth Century"/>
                <a:cs typeface="Twentieth Century"/>
                <a:sym typeface="Twentieth Century"/>
              </a:endParaRPr>
            </a:p>
          </p:txBody>
        </p:sp>
        <p:sp>
          <p:nvSpPr>
            <p:cNvPr id="378" name="Google Shape;378;p100"/>
            <p:cNvSpPr/>
            <p:nvPr/>
          </p:nvSpPr>
          <p:spPr>
            <a:xfrm>
              <a:off x="2284147" y="3913976"/>
              <a:ext cx="32379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B</a:t>
              </a:r>
              <a:endParaRPr sz="1600" b="0" i="0" u="none" strike="noStrike" cap="none">
                <a:solidFill>
                  <a:schemeClr val="dk1"/>
                </a:solidFill>
                <a:latin typeface="Twentieth Century"/>
                <a:ea typeface="Twentieth Century"/>
                <a:cs typeface="Twentieth Century"/>
                <a:sym typeface="Twentieth Century"/>
              </a:endParaRPr>
            </a:p>
          </p:txBody>
        </p:sp>
        <p:sp>
          <p:nvSpPr>
            <p:cNvPr id="379" name="Google Shape;379;p100"/>
            <p:cNvSpPr/>
            <p:nvPr/>
          </p:nvSpPr>
          <p:spPr>
            <a:xfrm>
              <a:off x="4333311" y="2413684"/>
              <a:ext cx="347287"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C</a:t>
              </a:r>
              <a:endParaRPr sz="1600" b="0" i="0" u="none" strike="noStrike" cap="none">
                <a:solidFill>
                  <a:schemeClr val="dk1"/>
                </a:solidFill>
                <a:latin typeface="Twentieth Century"/>
                <a:ea typeface="Twentieth Century"/>
                <a:cs typeface="Twentieth Century"/>
                <a:sym typeface="Twentieth Century"/>
              </a:endParaRPr>
            </a:p>
          </p:txBody>
        </p:sp>
        <p:sp>
          <p:nvSpPr>
            <p:cNvPr id="380" name="Google Shape;380;p100"/>
            <p:cNvSpPr/>
            <p:nvPr/>
          </p:nvSpPr>
          <p:spPr>
            <a:xfrm>
              <a:off x="4178640" y="4911901"/>
              <a:ext cx="309341"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E</a:t>
              </a:r>
              <a:endParaRPr sz="1600" b="0" i="0" u="none" strike="noStrike" cap="none">
                <a:solidFill>
                  <a:schemeClr val="dk1"/>
                </a:solidFill>
                <a:latin typeface="Twentieth Century"/>
                <a:ea typeface="Twentieth Century"/>
                <a:cs typeface="Twentieth Century"/>
                <a:sym typeface="Twentieth Century"/>
              </a:endParaRPr>
            </a:p>
          </p:txBody>
        </p:sp>
        <p:cxnSp>
          <p:nvCxnSpPr>
            <p:cNvPr id="381" name="Google Shape;381;p100"/>
            <p:cNvCxnSpPr/>
            <p:nvPr/>
          </p:nvCxnSpPr>
          <p:spPr>
            <a:xfrm rot="10800000" flipH="1">
              <a:off x="1235075" y="2482562"/>
              <a:ext cx="914398" cy="495588"/>
            </a:xfrm>
            <a:prstGeom prst="straightConnector1">
              <a:avLst/>
            </a:prstGeom>
            <a:noFill/>
            <a:ln w="19050" cap="flat" cmpd="sng">
              <a:solidFill>
                <a:schemeClr val="dk1"/>
              </a:solidFill>
              <a:prstDash val="solid"/>
              <a:round/>
              <a:headEnd type="none" w="sm" len="sm"/>
              <a:tailEnd type="triangle" w="med" len="med"/>
            </a:ln>
          </p:spPr>
        </p:cxnSp>
        <p:cxnSp>
          <p:nvCxnSpPr>
            <p:cNvPr id="382" name="Google Shape;382;p100"/>
            <p:cNvCxnSpPr/>
            <p:nvPr/>
          </p:nvCxnSpPr>
          <p:spPr>
            <a:xfrm rot="10800000" flipH="1">
              <a:off x="2835275" y="4044950"/>
              <a:ext cx="1143000" cy="76200"/>
            </a:xfrm>
            <a:prstGeom prst="straightConnector1">
              <a:avLst/>
            </a:prstGeom>
            <a:noFill/>
            <a:ln w="19050" cap="flat" cmpd="sng">
              <a:solidFill>
                <a:schemeClr val="dk1"/>
              </a:solidFill>
              <a:prstDash val="solid"/>
              <a:round/>
              <a:headEnd type="none" w="sm" len="sm"/>
              <a:tailEnd type="triangle" w="med" len="med"/>
            </a:ln>
          </p:spPr>
        </p:cxnSp>
        <p:cxnSp>
          <p:nvCxnSpPr>
            <p:cNvPr id="383" name="Google Shape;383;p100"/>
            <p:cNvCxnSpPr>
              <a:stCxn id="369" idx="5"/>
            </p:cNvCxnSpPr>
            <p:nvPr/>
          </p:nvCxnSpPr>
          <p:spPr>
            <a:xfrm>
              <a:off x="1113848" y="3365171"/>
              <a:ext cx="1035600" cy="527400"/>
            </a:xfrm>
            <a:prstGeom prst="straightConnector1">
              <a:avLst/>
            </a:prstGeom>
            <a:noFill/>
            <a:ln w="19050" cap="flat" cmpd="sng">
              <a:solidFill>
                <a:schemeClr val="dk1"/>
              </a:solidFill>
              <a:prstDash val="solid"/>
              <a:round/>
              <a:headEnd type="none" w="sm" len="sm"/>
              <a:tailEnd type="triangle" w="med" len="med"/>
            </a:ln>
          </p:spPr>
        </p:cxnSp>
        <p:cxnSp>
          <p:nvCxnSpPr>
            <p:cNvPr id="384" name="Google Shape;384;p100"/>
            <p:cNvCxnSpPr/>
            <p:nvPr/>
          </p:nvCxnSpPr>
          <p:spPr>
            <a:xfrm>
              <a:off x="2911475" y="2368550"/>
              <a:ext cx="1219200" cy="76200"/>
            </a:xfrm>
            <a:prstGeom prst="straightConnector1">
              <a:avLst/>
            </a:prstGeom>
            <a:noFill/>
            <a:ln w="19050" cap="flat" cmpd="sng">
              <a:solidFill>
                <a:schemeClr val="dk1"/>
              </a:solidFill>
              <a:prstDash val="solid"/>
              <a:round/>
              <a:headEnd type="none" w="sm" len="sm"/>
              <a:tailEnd type="triangle" w="med" len="med"/>
            </a:ln>
          </p:spPr>
        </p:cxnSp>
        <p:cxnSp>
          <p:nvCxnSpPr>
            <p:cNvPr id="385" name="Google Shape;385;p100"/>
            <p:cNvCxnSpPr/>
            <p:nvPr/>
          </p:nvCxnSpPr>
          <p:spPr>
            <a:xfrm>
              <a:off x="2823988" y="4248515"/>
              <a:ext cx="1154287" cy="710835"/>
            </a:xfrm>
            <a:prstGeom prst="straightConnector1">
              <a:avLst/>
            </a:prstGeom>
            <a:noFill/>
            <a:ln w="19050" cap="flat" cmpd="sng">
              <a:solidFill>
                <a:schemeClr val="dk1"/>
              </a:solidFill>
              <a:prstDash val="solid"/>
              <a:round/>
              <a:headEnd type="none" w="sm" len="sm"/>
              <a:tailEnd type="triangle" w="med" len="med"/>
            </a:ln>
          </p:spPr>
        </p:cxnSp>
        <p:cxnSp>
          <p:nvCxnSpPr>
            <p:cNvPr id="386" name="Google Shape;386;p100"/>
            <p:cNvCxnSpPr/>
            <p:nvPr/>
          </p:nvCxnSpPr>
          <p:spPr>
            <a:xfrm rot="10800000" flipH="1">
              <a:off x="4740275" y="3892550"/>
              <a:ext cx="1447800" cy="1219200"/>
            </a:xfrm>
            <a:prstGeom prst="straightConnector1">
              <a:avLst/>
            </a:prstGeom>
            <a:noFill/>
            <a:ln w="19050" cap="flat" cmpd="sng">
              <a:solidFill>
                <a:schemeClr val="dk1"/>
              </a:solidFill>
              <a:prstDash val="solid"/>
              <a:round/>
              <a:headEnd type="none" w="sm" len="sm"/>
              <a:tailEnd type="triangle" w="med" len="med"/>
            </a:ln>
          </p:spPr>
        </p:cxnSp>
        <p:cxnSp>
          <p:nvCxnSpPr>
            <p:cNvPr id="387" name="Google Shape;387;p100"/>
            <p:cNvCxnSpPr/>
            <p:nvPr/>
          </p:nvCxnSpPr>
          <p:spPr>
            <a:xfrm rot="10800000" flipH="1">
              <a:off x="4740275" y="3663950"/>
              <a:ext cx="1219200" cy="304800"/>
            </a:xfrm>
            <a:prstGeom prst="straightConnector1">
              <a:avLst/>
            </a:prstGeom>
            <a:noFill/>
            <a:ln w="19050" cap="flat" cmpd="sng">
              <a:solidFill>
                <a:schemeClr val="dk1"/>
              </a:solidFill>
              <a:prstDash val="solid"/>
              <a:round/>
              <a:headEnd type="none" w="sm" len="sm"/>
              <a:tailEnd type="triangle" w="med" len="med"/>
            </a:ln>
          </p:spPr>
        </p:cxnSp>
        <p:cxnSp>
          <p:nvCxnSpPr>
            <p:cNvPr id="388" name="Google Shape;388;p100"/>
            <p:cNvCxnSpPr/>
            <p:nvPr/>
          </p:nvCxnSpPr>
          <p:spPr>
            <a:xfrm>
              <a:off x="4889853" y="2646991"/>
              <a:ext cx="1069621" cy="712159"/>
            </a:xfrm>
            <a:prstGeom prst="straightConnector1">
              <a:avLst/>
            </a:prstGeom>
            <a:noFill/>
            <a:ln w="19050" cap="flat" cmpd="sng">
              <a:solidFill>
                <a:schemeClr val="dk1"/>
              </a:solidFill>
              <a:prstDash val="solid"/>
              <a:round/>
              <a:headEnd type="none" w="sm" len="sm"/>
              <a:tailEnd type="triangle" w="med" len="med"/>
            </a:ln>
          </p:spPr>
        </p:cxnSp>
        <p:cxnSp>
          <p:nvCxnSpPr>
            <p:cNvPr id="389" name="Google Shape;389;p100"/>
            <p:cNvCxnSpPr/>
            <p:nvPr/>
          </p:nvCxnSpPr>
          <p:spPr>
            <a:xfrm>
              <a:off x="4740274" y="5209575"/>
              <a:ext cx="2286001" cy="0"/>
            </a:xfrm>
            <a:prstGeom prst="straightConnector1">
              <a:avLst/>
            </a:prstGeom>
            <a:noFill/>
            <a:ln w="19050" cap="flat" cmpd="sng">
              <a:solidFill>
                <a:schemeClr val="dk1"/>
              </a:solidFill>
              <a:prstDash val="solid"/>
              <a:round/>
              <a:headEnd type="none" w="sm" len="sm"/>
              <a:tailEnd type="triangle" w="med" len="med"/>
            </a:ln>
          </p:spPr>
        </p:cxnSp>
        <p:cxnSp>
          <p:nvCxnSpPr>
            <p:cNvPr id="390" name="Google Shape;390;p100"/>
            <p:cNvCxnSpPr/>
            <p:nvPr/>
          </p:nvCxnSpPr>
          <p:spPr>
            <a:xfrm>
              <a:off x="6721475" y="3587750"/>
              <a:ext cx="1066800" cy="0"/>
            </a:xfrm>
            <a:prstGeom prst="straightConnector1">
              <a:avLst/>
            </a:prstGeom>
            <a:noFill/>
            <a:ln w="19050" cap="flat" cmpd="sng">
              <a:solidFill>
                <a:schemeClr val="dk1"/>
              </a:solidFill>
              <a:prstDash val="solid"/>
              <a:round/>
              <a:headEnd type="none" w="sm" len="sm"/>
              <a:tailEnd type="triangle" w="med" len="med"/>
            </a:ln>
          </p:spPr>
        </p:cxnSp>
        <p:sp>
          <p:nvSpPr>
            <p:cNvPr id="391" name="Google Shape;391;p100"/>
            <p:cNvSpPr/>
            <p:nvPr/>
          </p:nvSpPr>
          <p:spPr>
            <a:xfrm>
              <a:off x="7870119" y="3227352"/>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fin</a:t>
              </a:r>
              <a:endParaRPr sz="1600" b="0" i="0" u="none" strike="noStrike" cap="none">
                <a:solidFill>
                  <a:schemeClr val="dk1"/>
                </a:solidFill>
                <a:latin typeface="Twentieth Century"/>
                <a:ea typeface="Twentieth Century"/>
                <a:cs typeface="Twentieth Century"/>
                <a:sym typeface="Twentieth Century"/>
              </a:endParaRPr>
            </a:p>
          </p:txBody>
        </p:sp>
        <p:cxnSp>
          <p:nvCxnSpPr>
            <p:cNvPr id="392" name="Google Shape;392;p100"/>
            <p:cNvCxnSpPr>
              <a:endCxn id="391" idx="3"/>
            </p:cNvCxnSpPr>
            <p:nvPr/>
          </p:nvCxnSpPr>
          <p:spPr>
            <a:xfrm rot="10800000" flipH="1">
              <a:off x="7483558" y="3842974"/>
              <a:ext cx="496500" cy="887700"/>
            </a:xfrm>
            <a:prstGeom prst="straightConnector1">
              <a:avLst/>
            </a:prstGeom>
            <a:noFill/>
            <a:ln w="19050" cap="flat" cmpd="sng">
              <a:solidFill>
                <a:schemeClr val="dk1"/>
              </a:solidFill>
              <a:prstDash val="solid"/>
              <a:round/>
              <a:headEnd type="none" w="sm" len="sm"/>
              <a:tailEnd type="triangle" w="med" len="med"/>
            </a:ln>
          </p:spPr>
        </p:cxnSp>
        <p:sp>
          <p:nvSpPr>
            <p:cNvPr id="393" name="Google Shape;393;p100"/>
            <p:cNvSpPr txBox="1"/>
            <p:nvPr/>
          </p:nvSpPr>
          <p:spPr>
            <a:xfrm>
              <a:off x="1483335" y="2457553"/>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0 </a:t>
              </a:r>
              <a:endParaRPr sz="1600" b="0" i="0" u="none" strike="noStrike" cap="none">
                <a:solidFill>
                  <a:schemeClr val="dk1"/>
                </a:solidFill>
                <a:latin typeface="Twentieth Century"/>
                <a:ea typeface="Twentieth Century"/>
                <a:cs typeface="Twentieth Century"/>
                <a:sym typeface="Twentieth Century"/>
              </a:endParaRPr>
            </a:p>
          </p:txBody>
        </p:sp>
        <p:sp>
          <p:nvSpPr>
            <p:cNvPr id="394" name="Google Shape;394;p100"/>
            <p:cNvSpPr txBox="1"/>
            <p:nvPr/>
          </p:nvSpPr>
          <p:spPr>
            <a:xfrm>
              <a:off x="1568631" y="3331206"/>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0 </a:t>
              </a:r>
              <a:endParaRPr sz="1600" b="0" i="0" u="none" strike="noStrike" cap="none">
                <a:solidFill>
                  <a:schemeClr val="dk1"/>
                </a:solidFill>
                <a:latin typeface="Twentieth Century"/>
                <a:ea typeface="Twentieth Century"/>
                <a:cs typeface="Twentieth Century"/>
                <a:sym typeface="Twentieth Century"/>
              </a:endParaRPr>
            </a:p>
          </p:txBody>
        </p:sp>
        <p:sp>
          <p:nvSpPr>
            <p:cNvPr id="395" name="Google Shape;395;p100"/>
            <p:cNvSpPr txBox="1"/>
            <p:nvPr/>
          </p:nvSpPr>
          <p:spPr>
            <a:xfrm>
              <a:off x="3296730" y="2078449"/>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2 </a:t>
              </a:r>
              <a:endParaRPr sz="1600" b="0" i="0" u="none" strike="noStrike" cap="none">
                <a:solidFill>
                  <a:schemeClr val="dk1"/>
                </a:solidFill>
                <a:latin typeface="Twentieth Century"/>
                <a:ea typeface="Twentieth Century"/>
                <a:cs typeface="Twentieth Century"/>
                <a:sym typeface="Twentieth Century"/>
              </a:endParaRPr>
            </a:p>
          </p:txBody>
        </p:sp>
        <p:sp>
          <p:nvSpPr>
            <p:cNvPr id="396" name="Google Shape;396;p100"/>
            <p:cNvSpPr txBox="1"/>
            <p:nvPr/>
          </p:nvSpPr>
          <p:spPr>
            <a:xfrm>
              <a:off x="3225749" y="377002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5 </a:t>
              </a:r>
              <a:endParaRPr sz="1600" b="0" i="0" u="none" strike="noStrike" cap="none">
                <a:solidFill>
                  <a:schemeClr val="dk1"/>
                </a:solidFill>
                <a:latin typeface="Twentieth Century"/>
                <a:ea typeface="Twentieth Century"/>
                <a:cs typeface="Twentieth Century"/>
                <a:sym typeface="Twentieth Century"/>
              </a:endParaRPr>
            </a:p>
          </p:txBody>
        </p:sp>
        <p:sp>
          <p:nvSpPr>
            <p:cNvPr id="397" name="Google Shape;397;p100"/>
            <p:cNvSpPr txBox="1"/>
            <p:nvPr/>
          </p:nvSpPr>
          <p:spPr>
            <a:xfrm>
              <a:off x="5273674" y="26733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398" name="Google Shape;398;p100"/>
            <p:cNvSpPr txBox="1"/>
            <p:nvPr/>
          </p:nvSpPr>
          <p:spPr>
            <a:xfrm>
              <a:off x="5087368" y="3515269"/>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7 </a:t>
              </a:r>
              <a:endParaRPr sz="1600" b="0" i="0" u="none" strike="noStrike" cap="none">
                <a:solidFill>
                  <a:schemeClr val="dk1"/>
                </a:solidFill>
                <a:latin typeface="Twentieth Century"/>
                <a:ea typeface="Twentieth Century"/>
                <a:cs typeface="Twentieth Century"/>
                <a:sym typeface="Twentieth Century"/>
              </a:endParaRPr>
            </a:p>
          </p:txBody>
        </p:sp>
        <p:sp>
          <p:nvSpPr>
            <p:cNvPr id="399" name="Google Shape;399;p100"/>
            <p:cNvSpPr txBox="1"/>
            <p:nvPr/>
          </p:nvSpPr>
          <p:spPr>
            <a:xfrm>
              <a:off x="5121275" y="42735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400" name="Google Shape;400;p100"/>
            <p:cNvSpPr txBox="1"/>
            <p:nvPr/>
          </p:nvSpPr>
          <p:spPr>
            <a:xfrm>
              <a:off x="3271844" y="4310969"/>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5 </a:t>
              </a:r>
              <a:endParaRPr sz="1600" b="0" i="0" u="none" strike="noStrike" cap="none">
                <a:solidFill>
                  <a:schemeClr val="dk1"/>
                </a:solidFill>
                <a:latin typeface="Twentieth Century"/>
                <a:ea typeface="Twentieth Century"/>
                <a:cs typeface="Twentieth Century"/>
                <a:sym typeface="Twentieth Century"/>
              </a:endParaRPr>
            </a:p>
          </p:txBody>
        </p:sp>
        <p:sp>
          <p:nvSpPr>
            <p:cNvPr id="401" name="Google Shape;401;p100"/>
            <p:cNvSpPr txBox="1"/>
            <p:nvPr/>
          </p:nvSpPr>
          <p:spPr>
            <a:xfrm>
              <a:off x="5730875" y="48831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402" name="Google Shape;402;p100"/>
            <p:cNvSpPr txBox="1"/>
            <p:nvPr/>
          </p:nvSpPr>
          <p:spPr>
            <a:xfrm>
              <a:off x="7407275" y="40449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403" name="Google Shape;403;p100"/>
            <p:cNvSpPr txBox="1"/>
            <p:nvPr/>
          </p:nvSpPr>
          <p:spPr>
            <a:xfrm>
              <a:off x="7026275" y="3282950"/>
              <a:ext cx="33644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5</a:t>
              </a:r>
              <a:endParaRPr sz="1600" b="0" i="0" u="none" strike="noStrike" cap="none">
                <a:solidFill>
                  <a:schemeClr val="dk1"/>
                </a:solidFill>
                <a:latin typeface="Twentieth Century"/>
                <a:ea typeface="Twentieth Century"/>
                <a:cs typeface="Twentieth Century"/>
                <a:sym typeface="Twentieth Century"/>
              </a:endParaRPr>
            </a:p>
          </p:txBody>
        </p:sp>
      </p:grpSp>
      <p:sp>
        <p:nvSpPr>
          <p:cNvPr id="404" name="Google Shape;404;p100"/>
          <p:cNvSpPr txBox="1"/>
          <p:nvPr/>
        </p:nvSpPr>
        <p:spPr>
          <a:xfrm>
            <a:off x="3753253" y="2831918"/>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Te=0</a:t>
            </a:r>
            <a:endParaRPr sz="1600" b="0" i="0" u="none" strike="noStrike" cap="none">
              <a:solidFill>
                <a:srgbClr val="00B050"/>
              </a:solidFill>
              <a:latin typeface="Twentieth Century"/>
              <a:ea typeface="Twentieth Century"/>
              <a:cs typeface="Twentieth Century"/>
              <a:sym typeface="Twentieth Century"/>
            </a:endParaRPr>
          </a:p>
        </p:txBody>
      </p:sp>
      <p:sp>
        <p:nvSpPr>
          <p:cNvPr id="405" name="Google Shape;405;p100"/>
          <p:cNvSpPr txBox="1"/>
          <p:nvPr/>
        </p:nvSpPr>
        <p:spPr>
          <a:xfrm>
            <a:off x="3732218" y="5342965"/>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Te=0</a:t>
            </a:r>
            <a:endParaRPr sz="1600" b="0" i="0" u="none" strike="noStrike" cap="none">
              <a:solidFill>
                <a:srgbClr val="00B050"/>
              </a:solidFill>
              <a:latin typeface="Twentieth Century"/>
              <a:ea typeface="Twentieth Century"/>
              <a:cs typeface="Twentieth Century"/>
              <a:sym typeface="Twentieth Century"/>
            </a:endParaRPr>
          </a:p>
        </p:txBody>
      </p:sp>
      <p:sp>
        <p:nvSpPr>
          <p:cNvPr id="406" name="Google Shape;406;p100"/>
          <p:cNvSpPr txBox="1"/>
          <p:nvPr/>
        </p:nvSpPr>
        <p:spPr>
          <a:xfrm>
            <a:off x="5490660" y="2999170"/>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Te=2</a:t>
            </a:r>
            <a:endParaRPr sz="1600" b="0" i="0" u="none" strike="noStrike" cap="none">
              <a:solidFill>
                <a:srgbClr val="00B050"/>
              </a:solidFill>
              <a:latin typeface="Twentieth Century"/>
              <a:ea typeface="Twentieth Century"/>
              <a:cs typeface="Twentieth Century"/>
              <a:sym typeface="Twentieth Century"/>
            </a:endParaRPr>
          </a:p>
        </p:txBody>
      </p:sp>
      <p:sp>
        <p:nvSpPr>
          <p:cNvPr id="407" name="Google Shape;407;p100"/>
          <p:cNvSpPr txBox="1"/>
          <p:nvPr/>
        </p:nvSpPr>
        <p:spPr>
          <a:xfrm>
            <a:off x="5379505" y="4385357"/>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Te=5</a:t>
            </a:r>
            <a:endParaRPr sz="1600" b="0" i="0" u="none" strike="noStrike" cap="none">
              <a:solidFill>
                <a:srgbClr val="00B050"/>
              </a:solidFill>
              <a:latin typeface="Twentieth Century"/>
              <a:ea typeface="Twentieth Century"/>
              <a:cs typeface="Twentieth Century"/>
              <a:sym typeface="Twentieth Century"/>
            </a:endParaRPr>
          </a:p>
        </p:txBody>
      </p:sp>
      <p:sp>
        <p:nvSpPr>
          <p:cNvPr id="408" name="Google Shape;408;p100"/>
          <p:cNvSpPr txBox="1"/>
          <p:nvPr/>
        </p:nvSpPr>
        <p:spPr>
          <a:xfrm>
            <a:off x="5195665" y="5996849"/>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Te=5</a:t>
            </a:r>
            <a:endParaRPr sz="1600" b="0" i="0" u="none" strike="noStrike" cap="none">
              <a:solidFill>
                <a:srgbClr val="00B050"/>
              </a:solidFill>
              <a:latin typeface="Twentieth Century"/>
              <a:ea typeface="Twentieth Century"/>
              <a:cs typeface="Twentieth Century"/>
              <a:sym typeface="Twentieth Century"/>
            </a:endParaRPr>
          </a:p>
        </p:txBody>
      </p:sp>
      <p:sp>
        <p:nvSpPr>
          <p:cNvPr id="409" name="Google Shape;409;p100"/>
          <p:cNvSpPr txBox="1"/>
          <p:nvPr/>
        </p:nvSpPr>
        <p:spPr>
          <a:xfrm>
            <a:off x="7315092" y="3858157"/>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Te=12</a:t>
            </a:r>
            <a:endParaRPr sz="1600" b="0" i="0" u="none" strike="noStrike" cap="none">
              <a:solidFill>
                <a:srgbClr val="00B050"/>
              </a:solidFill>
              <a:latin typeface="Twentieth Century"/>
              <a:ea typeface="Twentieth Century"/>
              <a:cs typeface="Twentieth Century"/>
              <a:sym typeface="Twentieth Century"/>
            </a:endParaRPr>
          </a:p>
        </p:txBody>
      </p:sp>
      <p:sp>
        <p:nvSpPr>
          <p:cNvPr id="410" name="Google Shape;410;p100"/>
          <p:cNvSpPr txBox="1"/>
          <p:nvPr/>
        </p:nvSpPr>
        <p:spPr>
          <a:xfrm>
            <a:off x="7903288" y="6057504"/>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Te=9</a:t>
            </a:r>
            <a:endParaRPr sz="1600" b="0" i="0" u="none" strike="noStrike" cap="none">
              <a:solidFill>
                <a:srgbClr val="00B050"/>
              </a:solidFill>
              <a:latin typeface="Twentieth Century"/>
              <a:ea typeface="Twentieth Century"/>
              <a:cs typeface="Twentieth Century"/>
              <a:sym typeface="Twentieth Century"/>
            </a:endParaRPr>
          </a:p>
        </p:txBody>
      </p:sp>
      <p:sp>
        <p:nvSpPr>
          <p:cNvPr id="411" name="Google Shape;411;p100"/>
          <p:cNvSpPr txBox="1"/>
          <p:nvPr/>
        </p:nvSpPr>
        <p:spPr>
          <a:xfrm>
            <a:off x="8982879" y="3948838"/>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Te=17</a:t>
            </a:r>
            <a:endParaRPr sz="1600" b="0" i="0" u="none" strike="noStrike" cap="none">
              <a:solidFill>
                <a:srgbClr val="00B050"/>
              </a:solidFill>
              <a:latin typeface="Twentieth Century"/>
              <a:ea typeface="Twentieth Century"/>
              <a:cs typeface="Twentieth Century"/>
              <a:sym typeface="Twentieth Centur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4"/>
                                        </p:tgtEl>
                                        <p:attrNameLst>
                                          <p:attrName>style.visibility</p:attrName>
                                        </p:attrNameLst>
                                      </p:cBhvr>
                                      <p:to>
                                        <p:strVal val="visible"/>
                                      </p:to>
                                    </p:set>
                                    <p:animEffect transition="in" filter="fade">
                                      <p:cBhvr>
                                        <p:cTn id="7" dur="500"/>
                                        <p:tgtEl>
                                          <p:spTgt spid="40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05"/>
                                        </p:tgtEl>
                                        <p:attrNameLst>
                                          <p:attrName>style.visibility</p:attrName>
                                        </p:attrNameLst>
                                      </p:cBhvr>
                                      <p:to>
                                        <p:strVal val="visible"/>
                                      </p:to>
                                    </p:set>
                                    <p:animEffect transition="in" filter="fade">
                                      <p:cBhvr>
                                        <p:cTn id="11" dur="500"/>
                                        <p:tgtEl>
                                          <p:spTgt spid="40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06"/>
                                        </p:tgtEl>
                                        <p:attrNameLst>
                                          <p:attrName>style.visibility</p:attrName>
                                        </p:attrNameLst>
                                      </p:cBhvr>
                                      <p:to>
                                        <p:strVal val="visible"/>
                                      </p:to>
                                    </p:set>
                                    <p:animEffect transition="in" filter="fade">
                                      <p:cBhvr>
                                        <p:cTn id="15" dur="500"/>
                                        <p:tgtEl>
                                          <p:spTgt spid="40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07"/>
                                        </p:tgtEl>
                                        <p:attrNameLst>
                                          <p:attrName>style.visibility</p:attrName>
                                        </p:attrNameLst>
                                      </p:cBhvr>
                                      <p:to>
                                        <p:strVal val="visible"/>
                                      </p:to>
                                    </p:set>
                                    <p:animEffect transition="in" filter="fade">
                                      <p:cBhvr>
                                        <p:cTn id="19" dur="500"/>
                                        <p:tgtEl>
                                          <p:spTgt spid="40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08"/>
                                        </p:tgtEl>
                                        <p:attrNameLst>
                                          <p:attrName>style.visibility</p:attrName>
                                        </p:attrNameLst>
                                      </p:cBhvr>
                                      <p:to>
                                        <p:strVal val="visible"/>
                                      </p:to>
                                    </p:set>
                                    <p:animEffect transition="in" filter="fade">
                                      <p:cBhvr>
                                        <p:cTn id="23" dur="500"/>
                                        <p:tgtEl>
                                          <p:spTgt spid="408"/>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409"/>
                                        </p:tgtEl>
                                        <p:attrNameLst>
                                          <p:attrName>style.visibility</p:attrName>
                                        </p:attrNameLst>
                                      </p:cBhvr>
                                      <p:to>
                                        <p:strVal val="visible"/>
                                      </p:to>
                                    </p:set>
                                    <p:animEffect transition="in" filter="fade">
                                      <p:cBhvr>
                                        <p:cTn id="27" dur="500"/>
                                        <p:tgtEl>
                                          <p:spTgt spid="409"/>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410"/>
                                        </p:tgtEl>
                                        <p:attrNameLst>
                                          <p:attrName>style.visibility</p:attrName>
                                        </p:attrNameLst>
                                      </p:cBhvr>
                                      <p:to>
                                        <p:strVal val="visible"/>
                                      </p:to>
                                    </p:set>
                                    <p:animEffect transition="in" filter="fade">
                                      <p:cBhvr>
                                        <p:cTn id="31" dur="500"/>
                                        <p:tgtEl>
                                          <p:spTgt spid="410"/>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411"/>
                                        </p:tgtEl>
                                        <p:attrNameLst>
                                          <p:attrName>style.visibility</p:attrName>
                                        </p:attrNameLst>
                                      </p:cBhvr>
                                      <p:to>
                                        <p:strVal val="visible"/>
                                      </p:to>
                                    </p:set>
                                    <p:animEffect transition="in" filter="fade">
                                      <p:cBhvr>
                                        <p:cTn id="35" dur="500"/>
                                        <p:tgtEl>
                                          <p:spTgt spid="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101"/>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417" name="Google Shape;417;p10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418" name="Google Shape;418;p10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419" name="Google Shape;419;p10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22</a:t>
            </a:fld>
            <a:endParaRPr/>
          </a:p>
        </p:txBody>
      </p:sp>
      <p:sp>
        <p:nvSpPr>
          <p:cNvPr id="420" name="Google Shape;420;p101"/>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Ejemplo:</a:t>
            </a:r>
            <a:endParaRPr sz="2800" i="1">
              <a:solidFill>
                <a:schemeClr val="dk1"/>
              </a:solidFill>
            </a:endParaRPr>
          </a:p>
          <a:p>
            <a:pPr marL="633412" lvl="2" indent="-457200" algn="l" rtl="0">
              <a:lnSpc>
                <a:spcPct val="85000"/>
              </a:lnSpc>
              <a:spcBef>
                <a:spcPts val="1800"/>
              </a:spcBef>
              <a:spcAft>
                <a:spcPts val="0"/>
              </a:spcAft>
              <a:buClr>
                <a:schemeClr val="dk1"/>
              </a:buClr>
              <a:buSzPts val="2400"/>
              <a:buFont typeface="Calibri"/>
              <a:buAutoNum type="arabicPeriod" startAt="5"/>
            </a:pPr>
            <a:r>
              <a:rPr lang="es-AR" sz="2400">
                <a:solidFill>
                  <a:schemeClr val="dk1"/>
                </a:solidFill>
              </a:rPr>
              <a:t>Calcular la fecha temprana y tardía de cada nodo</a:t>
            </a:r>
            <a:endParaRPr/>
          </a:p>
          <a:p>
            <a:pPr marL="633412" lvl="2" indent="-304800" algn="l" rtl="0">
              <a:lnSpc>
                <a:spcPct val="85000"/>
              </a:lnSpc>
              <a:spcBef>
                <a:spcPts val="600"/>
              </a:spcBef>
              <a:spcAft>
                <a:spcPts val="0"/>
              </a:spcAft>
              <a:buClr>
                <a:srgbClr val="404040"/>
              </a:buClr>
              <a:buSzPts val="2400"/>
              <a:buFont typeface="Calibri"/>
              <a:buNone/>
            </a:pPr>
            <a:endParaRPr sz="2400">
              <a:solidFill>
                <a:schemeClr val="dk1"/>
              </a:solidFill>
            </a:endParaRPr>
          </a:p>
          <a:p>
            <a:pPr marL="633413" lvl="2" indent="0" algn="l" rtl="0">
              <a:lnSpc>
                <a:spcPct val="85000"/>
              </a:lnSpc>
              <a:spcBef>
                <a:spcPts val="600"/>
              </a:spcBef>
              <a:spcAft>
                <a:spcPts val="0"/>
              </a:spcAft>
              <a:buClr>
                <a:schemeClr val="dk1"/>
              </a:buClr>
              <a:buSzPts val="2400"/>
              <a:buNone/>
            </a:pPr>
            <a:r>
              <a:rPr lang="es-AR" sz="2400" u="sng">
                <a:solidFill>
                  <a:schemeClr val="dk1"/>
                </a:solidFill>
              </a:rPr>
              <a:t>Fechas Tardías</a:t>
            </a:r>
            <a:r>
              <a:rPr lang="es-AR" sz="2400">
                <a:solidFill>
                  <a:schemeClr val="dk1"/>
                </a:solidFill>
              </a:rPr>
              <a:t>:</a:t>
            </a:r>
            <a:endParaRPr/>
          </a:p>
          <a:p>
            <a:pPr marL="633413" lvl="2" indent="0" algn="l" rtl="0">
              <a:lnSpc>
                <a:spcPct val="85000"/>
              </a:lnSpc>
              <a:spcBef>
                <a:spcPts val="600"/>
              </a:spcBef>
              <a:spcAft>
                <a:spcPts val="0"/>
              </a:spcAft>
              <a:buClr>
                <a:schemeClr val="dk1"/>
              </a:buClr>
              <a:buSzPts val="2400"/>
              <a:buNone/>
            </a:pPr>
            <a:r>
              <a:rPr lang="es-AR" sz="2400">
                <a:solidFill>
                  <a:schemeClr val="dk1"/>
                </a:solidFill>
              </a:rPr>
              <a:t>TaI = TaJ – tIJ</a:t>
            </a:r>
            <a:endParaRPr sz="2400">
              <a:solidFill>
                <a:schemeClr val="dk1"/>
              </a:solidFill>
            </a:endParaRPr>
          </a:p>
          <a:p>
            <a:pPr marL="633413" lvl="2" indent="0" algn="l" rtl="0">
              <a:lnSpc>
                <a:spcPct val="85000"/>
              </a:lnSpc>
              <a:spcBef>
                <a:spcPts val="600"/>
              </a:spcBef>
              <a:spcAft>
                <a:spcPts val="0"/>
              </a:spcAft>
              <a:buClr>
                <a:schemeClr val="dk1"/>
              </a:buClr>
              <a:buSzPts val="2400"/>
              <a:buNone/>
            </a:pPr>
            <a:r>
              <a:rPr lang="es-AR" sz="2400">
                <a:solidFill>
                  <a:schemeClr val="dk1"/>
                </a:solidFill>
              </a:rPr>
              <a:t>Donde:</a:t>
            </a:r>
            <a:endParaRPr/>
          </a:p>
          <a:p>
            <a:pPr marL="900113" lvl="2" indent="0" algn="l" rtl="0">
              <a:lnSpc>
                <a:spcPct val="85000"/>
              </a:lnSpc>
              <a:spcBef>
                <a:spcPts val="600"/>
              </a:spcBef>
              <a:spcAft>
                <a:spcPts val="0"/>
              </a:spcAft>
              <a:buClr>
                <a:schemeClr val="dk1"/>
              </a:buClr>
              <a:buSzPts val="2400"/>
              <a:buNone/>
            </a:pPr>
            <a:r>
              <a:rPr lang="es-AR" sz="2400">
                <a:solidFill>
                  <a:schemeClr val="dk1"/>
                </a:solidFill>
              </a:rPr>
              <a:t>TaI =  fecha más tardía del nodo origen</a:t>
            </a:r>
            <a:endParaRPr/>
          </a:p>
          <a:p>
            <a:pPr marL="900113" lvl="2" indent="0" algn="l" rtl="0">
              <a:lnSpc>
                <a:spcPct val="85000"/>
              </a:lnSpc>
              <a:spcBef>
                <a:spcPts val="600"/>
              </a:spcBef>
              <a:spcAft>
                <a:spcPts val="0"/>
              </a:spcAft>
              <a:buClr>
                <a:schemeClr val="dk1"/>
              </a:buClr>
              <a:buSzPts val="2400"/>
              <a:buNone/>
            </a:pPr>
            <a:r>
              <a:rPr lang="es-AR" sz="2400">
                <a:solidFill>
                  <a:schemeClr val="dk1"/>
                </a:solidFill>
              </a:rPr>
              <a:t>TaJ = fecha más tardía del nodo destino </a:t>
            </a:r>
            <a:endParaRPr/>
          </a:p>
          <a:p>
            <a:pPr marL="900113" lvl="2" indent="0" algn="l" rtl="0">
              <a:lnSpc>
                <a:spcPct val="85000"/>
              </a:lnSpc>
              <a:spcBef>
                <a:spcPts val="600"/>
              </a:spcBef>
              <a:spcAft>
                <a:spcPts val="0"/>
              </a:spcAft>
              <a:buClr>
                <a:schemeClr val="dk1"/>
              </a:buClr>
              <a:buSzPts val="2400"/>
              <a:buNone/>
            </a:pPr>
            <a:r>
              <a:rPr lang="es-AR" sz="2400">
                <a:solidFill>
                  <a:schemeClr val="dk1"/>
                </a:solidFill>
              </a:rPr>
              <a:t>tIJ  = duración de la tarea desde el nodo I hasta el nodo J</a:t>
            </a:r>
            <a:endParaRPr/>
          </a:p>
          <a:p>
            <a:pPr marL="633413" lvl="2" indent="0" algn="l" rtl="0">
              <a:lnSpc>
                <a:spcPct val="85000"/>
              </a:lnSpc>
              <a:spcBef>
                <a:spcPts val="600"/>
              </a:spcBef>
              <a:spcAft>
                <a:spcPts val="0"/>
              </a:spcAft>
              <a:buClr>
                <a:schemeClr val="dk1"/>
              </a:buClr>
              <a:buSzPts val="2400"/>
              <a:buNone/>
            </a:pPr>
            <a:r>
              <a:rPr lang="es-AR" sz="2400">
                <a:solidFill>
                  <a:schemeClr val="dk1"/>
                </a:solidFill>
              </a:rPr>
              <a:t>Si hay más de un camino: Min (TaJ1, TaJ2..)</a:t>
            </a:r>
            <a:endParaRPr/>
          </a:p>
          <a:p>
            <a:pPr marL="176212" lvl="2" indent="0" algn="l" rtl="0">
              <a:lnSpc>
                <a:spcPct val="85000"/>
              </a:lnSpc>
              <a:spcBef>
                <a:spcPts val="6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102"/>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426" name="Google Shape;426;p10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427" name="Google Shape;427;p10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428" name="Google Shape;428;p10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23</a:t>
            </a:fld>
            <a:endParaRPr/>
          </a:p>
        </p:txBody>
      </p:sp>
      <p:sp>
        <p:nvSpPr>
          <p:cNvPr id="429" name="Google Shape;429;p102"/>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Ejemplo:</a:t>
            </a:r>
            <a:endParaRPr sz="2800" i="1">
              <a:solidFill>
                <a:schemeClr val="dk1"/>
              </a:solidFill>
            </a:endParaRPr>
          </a:p>
          <a:p>
            <a:pPr marL="633412" lvl="2" indent="-457200" algn="l" rtl="0">
              <a:lnSpc>
                <a:spcPct val="85000"/>
              </a:lnSpc>
              <a:spcBef>
                <a:spcPts val="1800"/>
              </a:spcBef>
              <a:spcAft>
                <a:spcPts val="0"/>
              </a:spcAft>
              <a:buClr>
                <a:schemeClr val="dk1"/>
              </a:buClr>
              <a:buSzPts val="2400"/>
              <a:buFont typeface="Calibri"/>
              <a:buAutoNum type="arabicPeriod" startAt="5"/>
            </a:pPr>
            <a:r>
              <a:rPr lang="es-AR" sz="2400">
                <a:solidFill>
                  <a:schemeClr val="dk1"/>
                </a:solidFill>
              </a:rPr>
              <a:t>Calcular la fecha temprana y tardía de cada nodo</a:t>
            </a:r>
            <a:endParaRPr/>
          </a:p>
          <a:p>
            <a:pPr marL="633412" lvl="2" indent="-304800" algn="l" rtl="0">
              <a:lnSpc>
                <a:spcPct val="85000"/>
              </a:lnSpc>
              <a:spcBef>
                <a:spcPts val="600"/>
              </a:spcBef>
              <a:spcAft>
                <a:spcPts val="0"/>
              </a:spcAft>
              <a:buClr>
                <a:srgbClr val="404040"/>
              </a:buClr>
              <a:buSzPts val="2400"/>
              <a:buFont typeface="Calibri"/>
              <a:buNone/>
            </a:pPr>
            <a:endParaRPr sz="2400">
              <a:solidFill>
                <a:schemeClr val="dk1"/>
              </a:solidFill>
            </a:endParaRPr>
          </a:p>
          <a:p>
            <a:pPr marL="176212" lvl="2" indent="0" algn="l" rtl="0">
              <a:lnSpc>
                <a:spcPct val="85000"/>
              </a:lnSpc>
              <a:spcBef>
                <a:spcPts val="6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grpSp>
        <p:nvGrpSpPr>
          <p:cNvPr id="430" name="Google Shape;430;p102"/>
          <p:cNvGrpSpPr/>
          <p:nvPr/>
        </p:nvGrpSpPr>
        <p:grpSpPr>
          <a:xfrm>
            <a:off x="2333625" y="3104479"/>
            <a:ext cx="7498745" cy="3199075"/>
            <a:chOff x="168275" y="1987549"/>
            <a:chExt cx="8452557" cy="3464446"/>
          </a:xfrm>
        </p:grpSpPr>
        <p:sp>
          <p:nvSpPr>
            <p:cNvPr id="431" name="Google Shape;431;p102"/>
            <p:cNvSpPr/>
            <p:nvPr/>
          </p:nvSpPr>
          <p:spPr>
            <a:xfrm>
              <a:off x="168275" y="2368550"/>
              <a:ext cx="685800" cy="533400"/>
            </a:xfrm>
            <a:prstGeom prst="ellipse">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432" name="Google Shape;432;p102"/>
            <p:cNvSpPr/>
            <p:nvPr/>
          </p:nvSpPr>
          <p:spPr>
            <a:xfrm>
              <a:off x="484361" y="2919672"/>
              <a:ext cx="746126" cy="381000"/>
            </a:xfrm>
            <a:prstGeom prst="ellipse">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ini</a:t>
              </a:r>
              <a:endParaRPr sz="1600" b="0" i="0" u="none" strike="noStrike" cap="none">
                <a:solidFill>
                  <a:schemeClr val="dk1"/>
                </a:solidFill>
                <a:latin typeface="Twentieth Century"/>
                <a:ea typeface="Twentieth Century"/>
                <a:cs typeface="Twentieth Century"/>
                <a:sym typeface="Twentieth Century"/>
              </a:endParaRPr>
            </a:p>
          </p:txBody>
        </p:sp>
        <p:sp>
          <p:nvSpPr>
            <p:cNvPr id="433" name="Google Shape;433;p102"/>
            <p:cNvSpPr/>
            <p:nvPr/>
          </p:nvSpPr>
          <p:spPr>
            <a:xfrm>
              <a:off x="2073275" y="37401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434" name="Google Shape;434;p102"/>
            <p:cNvSpPr/>
            <p:nvPr/>
          </p:nvSpPr>
          <p:spPr>
            <a:xfrm>
              <a:off x="473074" y="27495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435" name="Google Shape;435;p102"/>
            <p:cNvSpPr/>
            <p:nvPr/>
          </p:nvSpPr>
          <p:spPr>
            <a:xfrm>
              <a:off x="2149474" y="19875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436" name="Google Shape;436;p102"/>
            <p:cNvSpPr/>
            <p:nvPr/>
          </p:nvSpPr>
          <p:spPr>
            <a:xfrm>
              <a:off x="4130675" y="22161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437" name="Google Shape;437;p102"/>
            <p:cNvSpPr/>
            <p:nvPr/>
          </p:nvSpPr>
          <p:spPr>
            <a:xfrm>
              <a:off x="3978275" y="47307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438" name="Google Shape;438;p102"/>
            <p:cNvSpPr/>
            <p:nvPr/>
          </p:nvSpPr>
          <p:spPr>
            <a:xfrm>
              <a:off x="5959475" y="32067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F</a:t>
              </a:r>
              <a:endParaRPr sz="1600" b="0" i="0" u="none" strike="noStrike" cap="none">
                <a:solidFill>
                  <a:schemeClr val="dk1"/>
                </a:solidFill>
                <a:latin typeface="Twentieth Century"/>
                <a:ea typeface="Twentieth Century"/>
                <a:cs typeface="Twentieth Century"/>
                <a:sym typeface="Twentieth Century"/>
              </a:endParaRPr>
            </a:p>
          </p:txBody>
        </p:sp>
        <p:sp>
          <p:nvSpPr>
            <p:cNvPr id="439" name="Google Shape;439;p102"/>
            <p:cNvSpPr/>
            <p:nvPr/>
          </p:nvSpPr>
          <p:spPr>
            <a:xfrm>
              <a:off x="3978275" y="36639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D</a:t>
              </a:r>
              <a:endParaRPr sz="1600" b="0" i="0" u="none" strike="noStrike" cap="none">
                <a:solidFill>
                  <a:schemeClr val="dk1"/>
                </a:solidFill>
                <a:latin typeface="Twentieth Century"/>
                <a:ea typeface="Twentieth Century"/>
                <a:cs typeface="Twentieth Century"/>
                <a:sym typeface="Twentieth Century"/>
              </a:endParaRPr>
            </a:p>
          </p:txBody>
        </p:sp>
        <p:sp>
          <p:nvSpPr>
            <p:cNvPr id="440" name="Google Shape;440;p102"/>
            <p:cNvSpPr/>
            <p:nvPr/>
          </p:nvSpPr>
          <p:spPr>
            <a:xfrm>
              <a:off x="7026275" y="47307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G</a:t>
              </a:r>
              <a:endParaRPr sz="1600" b="0" i="0" u="none" strike="noStrike" cap="none">
                <a:solidFill>
                  <a:schemeClr val="dk1"/>
                </a:solidFill>
                <a:latin typeface="Twentieth Century"/>
                <a:ea typeface="Twentieth Century"/>
                <a:cs typeface="Twentieth Century"/>
                <a:sym typeface="Twentieth Century"/>
              </a:endParaRPr>
            </a:p>
          </p:txBody>
        </p:sp>
        <p:sp>
          <p:nvSpPr>
            <p:cNvPr id="441" name="Google Shape;441;p102"/>
            <p:cNvSpPr txBox="1"/>
            <p:nvPr/>
          </p:nvSpPr>
          <p:spPr>
            <a:xfrm>
              <a:off x="2454275" y="2063750"/>
              <a:ext cx="208228" cy="3678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442" name="Google Shape;442;p102"/>
            <p:cNvSpPr txBox="1"/>
            <p:nvPr/>
          </p:nvSpPr>
          <p:spPr>
            <a:xfrm>
              <a:off x="2345545" y="2164198"/>
              <a:ext cx="347287"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A</a:t>
              </a:r>
              <a:endParaRPr sz="1600" b="0" i="0" u="none" strike="noStrike" cap="none">
                <a:solidFill>
                  <a:schemeClr val="dk1"/>
                </a:solidFill>
                <a:latin typeface="Twentieth Century"/>
                <a:ea typeface="Twentieth Century"/>
                <a:cs typeface="Twentieth Century"/>
                <a:sym typeface="Twentieth Century"/>
              </a:endParaRPr>
            </a:p>
          </p:txBody>
        </p:sp>
        <p:sp>
          <p:nvSpPr>
            <p:cNvPr id="443" name="Google Shape;443;p102"/>
            <p:cNvSpPr/>
            <p:nvPr/>
          </p:nvSpPr>
          <p:spPr>
            <a:xfrm>
              <a:off x="2284147" y="3913976"/>
              <a:ext cx="32379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B</a:t>
              </a:r>
              <a:endParaRPr sz="1600" b="0" i="0" u="none" strike="noStrike" cap="none">
                <a:solidFill>
                  <a:schemeClr val="dk1"/>
                </a:solidFill>
                <a:latin typeface="Twentieth Century"/>
                <a:ea typeface="Twentieth Century"/>
                <a:cs typeface="Twentieth Century"/>
                <a:sym typeface="Twentieth Century"/>
              </a:endParaRPr>
            </a:p>
          </p:txBody>
        </p:sp>
        <p:sp>
          <p:nvSpPr>
            <p:cNvPr id="444" name="Google Shape;444;p102"/>
            <p:cNvSpPr/>
            <p:nvPr/>
          </p:nvSpPr>
          <p:spPr>
            <a:xfrm>
              <a:off x="4333311" y="2413684"/>
              <a:ext cx="347287"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C</a:t>
              </a:r>
              <a:endParaRPr sz="1600" b="0" i="0" u="none" strike="noStrike" cap="none">
                <a:solidFill>
                  <a:schemeClr val="dk1"/>
                </a:solidFill>
                <a:latin typeface="Twentieth Century"/>
                <a:ea typeface="Twentieth Century"/>
                <a:cs typeface="Twentieth Century"/>
                <a:sym typeface="Twentieth Century"/>
              </a:endParaRPr>
            </a:p>
          </p:txBody>
        </p:sp>
        <p:sp>
          <p:nvSpPr>
            <p:cNvPr id="445" name="Google Shape;445;p102"/>
            <p:cNvSpPr/>
            <p:nvPr/>
          </p:nvSpPr>
          <p:spPr>
            <a:xfrm>
              <a:off x="4178640" y="4911901"/>
              <a:ext cx="309341"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E</a:t>
              </a:r>
              <a:endParaRPr sz="1600" b="0" i="0" u="none" strike="noStrike" cap="none">
                <a:solidFill>
                  <a:schemeClr val="dk1"/>
                </a:solidFill>
                <a:latin typeface="Twentieth Century"/>
                <a:ea typeface="Twentieth Century"/>
                <a:cs typeface="Twentieth Century"/>
                <a:sym typeface="Twentieth Century"/>
              </a:endParaRPr>
            </a:p>
          </p:txBody>
        </p:sp>
        <p:cxnSp>
          <p:nvCxnSpPr>
            <p:cNvPr id="446" name="Google Shape;446;p102"/>
            <p:cNvCxnSpPr/>
            <p:nvPr/>
          </p:nvCxnSpPr>
          <p:spPr>
            <a:xfrm rot="10800000" flipH="1">
              <a:off x="1235075" y="2482562"/>
              <a:ext cx="914398" cy="495588"/>
            </a:xfrm>
            <a:prstGeom prst="straightConnector1">
              <a:avLst/>
            </a:prstGeom>
            <a:noFill/>
            <a:ln w="19050" cap="flat" cmpd="sng">
              <a:solidFill>
                <a:schemeClr val="dk1"/>
              </a:solidFill>
              <a:prstDash val="solid"/>
              <a:round/>
              <a:headEnd type="none" w="sm" len="sm"/>
              <a:tailEnd type="triangle" w="med" len="med"/>
            </a:ln>
          </p:spPr>
        </p:cxnSp>
        <p:cxnSp>
          <p:nvCxnSpPr>
            <p:cNvPr id="447" name="Google Shape;447;p102"/>
            <p:cNvCxnSpPr/>
            <p:nvPr/>
          </p:nvCxnSpPr>
          <p:spPr>
            <a:xfrm rot="10800000" flipH="1">
              <a:off x="2835275" y="4044950"/>
              <a:ext cx="1143000" cy="76200"/>
            </a:xfrm>
            <a:prstGeom prst="straightConnector1">
              <a:avLst/>
            </a:prstGeom>
            <a:noFill/>
            <a:ln w="19050" cap="flat" cmpd="sng">
              <a:solidFill>
                <a:schemeClr val="dk1"/>
              </a:solidFill>
              <a:prstDash val="solid"/>
              <a:round/>
              <a:headEnd type="none" w="sm" len="sm"/>
              <a:tailEnd type="triangle" w="med" len="med"/>
            </a:ln>
          </p:spPr>
        </p:cxnSp>
        <p:cxnSp>
          <p:nvCxnSpPr>
            <p:cNvPr id="448" name="Google Shape;448;p102"/>
            <p:cNvCxnSpPr>
              <a:stCxn id="434" idx="5"/>
            </p:cNvCxnSpPr>
            <p:nvPr/>
          </p:nvCxnSpPr>
          <p:spPr>
            <a:xfrm>
              <a:off x="1113848" y="3365171"/>
              <a:ext cx="1035600" cy="527400"/>
            </a:xfrm>
            <a:prstGeom prst="straightConnector1">
              <a:avLst/>
            </a:prstGeom>
            <a:noFill/>
            <a:ln w="19050" cap="flat" cmpd="sng">
              <a:solidFill>
                <a:schemeClr val="dk1"/>
              </a:solidFill>
              <a:prstDash val="solid"/>
              <a:round/>
              <a:headEnd type="none" w="sm" len="sm"/>
              <a:tailEnd type="triangle" w="med" len="med"/>
            </a:ln>
          </p:spPr>
        </p:cxnSp>
        <p:cxnSp>
          <p:nvCxnSpPr>
            <p:cNvPr id="449" name="Google Shape;449;p102"/>
            <p:cNvCxnSpPr/>
            <p:nvPr/>
          </p:nvCxnSpPr>
          <p:spPr>
            <a:xfrm>
              <a:off x="2911475" y="2368550"/>
              <a:ext cx="1219200" cy="76200"/>
            </a:xfrm>
            <a:prstGeom prst="straightConnector1">
              <a:avLst/>
            </a:prstGeom>
            <a:noFill/>
            <a:ln w="19050" cap="flat" cmpd="sng">
              <a:solidFill>
                <a:schemeClr val="dk1"/>
              </a:solidFill>
              <a:prstDash val="solid"/>
              <a:round/>
              <a:headEnd type="none" w="sm" len="sm"/>
              <a:tailEnd type="triangle" w="med" len="med"/>
            </a:ln>
          </p:spPr>
        </p:cxnSp>
        <p:cxnSp>
          <p:nvCxnSpPr>
            <p:cNvPr id="450" name="Google Shape;450;p102"/>
            <p:cNvCxnSpPr/>
            <p:nvPr/>
          </p:nvCxnSpPr>
          <p:spPr>
            <a:xfrm>
              <a:off x="2823988" y="4248515"/>
              <a:ext cx="1154287" cy="710835"/>
            </a:xfrm>
            <a:prstGeom prst="straightConnector1">
              <a:avLst/>
            </a:prstGeom>
            <a:noFill/>
            <a:ln w="19050" cap="flat" cmpd="sng">
              <a:solidFill>
                <a:schemeClr val="dk1"/>
              </a:solidFill>
              <a:prstDash val="solid"/>
              <a:round/>
              <a:headEnd type="none" w="sm" len="sm"/>
              <a:tailEnd type="triangle" w="med" len="med"/>
            </a:ln>
          </p:spPr>
        </p:cxnSp>
        <p:cxnSp>
          <p:nvCxnSpPr>
            <p:cNvPr id="451" name="Google Shape;451;p102"/>
            <p:cNvCxnSpPr/>
            <p:nvPr/>
          </p:nvCxnSpPr>
          <p:spPr>
            <a:xfrm rot="10800000" flipH="1">
              <a:off x="4740275" y="3892550"/>
              <a:ext cx="1447800" cy="1219200"/>
            </a:xfrm>
            <a:prstGeom prst="straightConnector1">
              <a:avLst/>
            </a:prstGeom>
            <a:noFill/>
            <a:ln w="19050" cap="flat" cmpd="sng">
              <a:solidFill>
                <a:schemeClr val="dk1"/>
              </a:solidFill>
              <a:prstDash val="solid"/>
              <a:round/>
              <a:headEnd type="none" w="sm" len="sm"/>
              <a:tailEnd type="triangle" w="med" len="med"/>
            </a:ln>
          </p:spPr>
        </p:cxnSp>
        <p:cxnSp>
          <p:nvCxnSpPr>
            <p:cNvPr id="452" name="Google Shape;452;p102"/>
            <p:cNvCxnSpPr/>
            <p:nvPr/>
          </p:nvCxnSpPr>
          <p:spPr>
            <a:xfrm rot="10800000" flipH="1">
              <a:off x="4740275" y="3663950"/>
              <a:ext cx="1219200" cy="304800"/>
            </a:xfrm>
            <a:prstGeom prst="straightConnector1">
              <a:avLst/>
            </a:prstGeom>
            <a:noFill/>
            <a:ln w="19050" cap="flat" cmpd="sng">
              <a:solidFill>
                <a:schemeClr val="dk1"/>
              </a:solidFill>
              <a:prstDash val="solid"/>
              <a:round/>
              <a:headEnd type="none" w="sm" len="sm"/>
              <a:tailEnd type="triangle" w="med" len="med"/>
            </a:ln>
          </p:spPr>
        </p:cxnSp>
        <p:cxnSp>
          <p:nvCxnSpPr>
            <p:cNvPr id="453" name="Google Shape;453;p102"/>
            <p:cNvCxnSpPr/>
            <p:nvPr/>
          </p:nvCxnSpPr>
          <p:spPr>
            <a:xfrm>
              <a:off x="4889853" y="2646991"/>
              <a:ext cx="1069621" cy="712159"/>
            </a:xfrm>
            <a:prstGeom prst="straightConnector1">
              <a:avLst/>
            </a:prstGeom>
            <a:noFill/>
            <a:ln w="19050" cap="flat" cmpd="sng">
              <a:solidFill>
                <a:schemeClr val="dk1"/>
              </a:solidFill>
              <a:prstDash val="solid"/>
              <a:round/>
              <a:headEnd type="none" w="sm" len="sm"/>
              <a:tailEnd type="triangle" w="med" len="med"/>
            </a:ln>
          </p:spPr>
        </p:cxnSp>
        <p:cxnSp>
          <p:nvCxnSpPr>
            <p:cNvPr id="454" name="Google Shape;454;p102"/>
            <p:cNvCxnSpPr/>
            <p:nvPr/>
          </p:nvCxnSpPr>
          <p:spPr>
            <a:xfrm>
              <a:off x="4740274" y="5209575"/>
              <a:ext cx="2286001" cy="0"/>
            </a:xfrm>
            <a:prstGeom prst="straightConnector1">
              <a:avLst/>
            </a:prstGeom>
            <a:noFill/>
            <a:ln w="19050" cap="flat" cmpd="sng">
              <a:solidFill>
                <a:schemeClr val="dk1"/>
              </a:solidFill>
              <a:prstDash val="solid"/>
              <a:round/>
              <a:headEnd type="none" w="sm" len="sm"/>
              <a:tailEnd type="triangle" w="med" len="med"/>
            </a:ln>
          </p:spPr>
        </p:cxnSp>
        <p:cxnSp>
          <p:nvCxnSpPr>
            <p:cNvPr id="455" name="Google Shape;455;p102"/>
            <p:cNvCxnSpPr/>
            <p:nvPr/>
          </p:nvCxnSpPr>
          <p:spPr>
            <a:xfrm>
              <a:off x="6721475" y="3587750"/>
              <a:ext cx="1066800" cy="0"/>
            </a:xfrm>
            <a:prstGeom prst="straightConnector1">
              <a:avLst/>
            </a:prstGeom>
            <a:noFill/>
            <a:ln w="19050" cap="flat" cmpd="sng">
              <a:solidFill>
                <a:schemeClr val="dk1"/>
              </a:solidFill>
              <a:prstDash val="solid"/>
              <a:round/>
              <a:headEnd type="none" w="sm" len="sm"/>
              <a:tailEnd type="triangle" w="med" len="med"/>
            </a:ln>
          </p:spPr>
        </p:cxnSp>
        <p:sp>
          <p:nvSpPr>
            <p:cNvPr id="456" name="Google Shape;456;p102"/>
            <p:cNvSpPr/>
            <p:nvPr/>
          </p:nvSpPr>
          <p:spPr>
            <a:xfrm>
              <a:off x="7870119" y="3227352"/>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fin</a:t>
              </a:r>
              <a:endParaRPr sz="1600" b="0" i="0" u="none" strike="noStrike" cap="none">
                <a:solidFill>
                  <a:schemeClr val="dk1"/>
                </a:solidFill>
                <a:latin typeface="Twentieth Century"/>
                <a:ea typeface="Twentieth Century"/>
                <a:cs typeface="Twentieth Century"/>
                <a:sym typeface="Twentieth Century"/>
              </a:endParaRPr>
            </a:p>
          </p:txBody>
        </p:sp>
        <p:cxnSp>
          <p:nvCxnSpPr>
            <p:cNvPr id="457" name="Google Shape;457;p102"/>
            <p:cNvCxnSpPr>
              <a:endCxn id="456" idx="3"/>
            </p:cNvCxnSpPr>
            <p:nvPr/>
          </p:nvCxnSpPr>
          <p:spPr>
            <a:xfrm rot="10800000" flipH="1">
              <a:off x="7483558" y="3842974"/>
              <a:ext cx="496500" cy="887700"/>
            </a:xfrm>
            <a:prstGeom prst="straightConnector1">
              <a:avLst/>
            </a:prstGeom>
            <a:noFill/>
            <a:ln w="19050" cap="flat" cmpd="sng">
              <a:solidFill>
                <a:schemeClr val="dk1"/>
              </a:solidFill>
              <a:prstDash val="solid"/>
              <a:round/>
              <a:headEnd type="none" w="sm" len="sm"/>
              <a:tailEnd type="triangle" w="med" len="med"/>
            </a:ln>
          </p:spPr>
        </p:cxnSp>
        <p:sp>
          <p:nvSpPr>
            <p:cNvPr id="458" name="Google Shape;458;p102"/>
            <p:cNvSpPr txBox="1"/>
            <p:nvPr/>
          </p:nvSpPr>
          <p:spPr>
            <a:xfrm>
              <a:off x="1483335" y="2457553"/>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0 </a:t>
              </a:r>
              <a:endParaRPr sz="1600" b="0" i="0" u="none" strike="noStrike" cap="none">
                <a:solidFill>
                  <a:schemeClr val="dk1"/>
                </a:solidFill>
                <a:latin typeface="Twentieth Century"/>
                <a:ea typeface="Twentieth Century"/>
                <a:cs typeface="Twentieth Century"/>
                <a:sym typeface="Twentieth Century"/>
              </a:endParaRPr>
            </a:p>
          </p:txBody>
        </p:sp>
        <p:sp>
          <p:nvSpPr>
            <p:cNvPr id="459" name="Google Shape;459;p102"/>
            <p:cNvSpPr txBox="1"/>
            <p:nvPr/>
          </p:nvSpPr>
          <p:spPr>
            <a:xfrm>
              <a:off x="1568631" y="3331206"/>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0 </a:t>
              </a:r>
              <a:endParaRPr sz="1600" b="0" i="0" u="none" strike="noStrike" cap="none">
                <a:solidFill>
                  <a:schemeClr val="dk1"/>
                </a:solidFill>
                <a:latin typeface="Twentieth Century"/>
                <a:ea typeface="Twentieth Century"/>
                <a:cs typeface="Twentieth Century"/>
                <a:sym typeface="Twentieth Century"/>
              </a:endParaRPr>
            </a:p>
          </p:txBody>
        </p:sp>
        <p:sp>
          <p:nvSpPr>
            <p:cNvPr id="460" name="Google Shape;460;p102"/>
            <p:cNvSpPr txBox="1"/>
            <p:nvPr/>
          </p:nvSpPr>
          <p:spPr>
            <a:xfrm>
              <a:off x="3296730" y="2078449"/>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2 </a:t>
              </a:r>
              <a:endParaRPr sz="1600" b="0" i="0" u="none" strike="noStrike" cap="none">
                <a:solidFill>
                  <a:schemeClr val="dk1"/>
                </a:solidFill>
                <a:latin typeface="Twentieth Century"/>
                <a:ea typeface="Twentieth Century"/>
                <a:cs typeface="Twentieth Century"/>
                <a:sym typeface="Twentieth Century"/>
              </a:endParaRPr>
            </a:p>
          </p:txBody>
        </p:sp>
        <p:sp>
          <p:nvSpPr>
            <p:cNvPr id="461" name="Google Shape;461;p102"/>
            <p:cNvSpPr txBox="1"/>
            <p:nvPr/>
          </p:nvSpPr>
          <p:spPr>
            <a:xfrm>
              <a:off x="3225749" y="377002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5 </a:t>
              </a:r>
              <a:endParaRPr sz="1600" b="0" i="0" u="none" strike="noStrike" cap="none">
                <a:solidFill>
                  <a:schemeClr val="dk1"/>
                </a:solidFill>
                <a:latin typeface="Twentieth Century"/>
                <a:ea typeface="Twentieth Century"/>
                <a:cs typeface="Twentieth Century"/>
                <a:sym typeface="Twentieth Century"/>
              </a:endParaRPr>
            </a:p>
          </p:txBody>
        </p:sp>
        <p:sp>
          <p:nvSpPr>
            <p:cNvPr id="462" name="Google Shape;462;p102"/>
            <p:cNvSpPr txBox="1"/>
            <p:nvPr/>
          </p:nvSpPr>
          <p:spPr>
            <a:xfrm>
              <a:off x="5273674" y="26733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463" name="Google Shape;463;p102"/>
            <p:cNvSpPr txBox="1"/>
            <p:nvPr/>
          </p:nvSpPr>
          <p:spPr>
            <a:xfrm>
              <a:off x="5087368" y="3515269"/>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7 </a:t>
              </a:r>
              <a:endParaRPr sz="1600" b="0" i="0" u="none" strike="noStrike" cap="none">
                <a:solidFill>
                  <a:schemeClr val="dk1"/>
                </a:solidFill>
                <a:latin typeface="Twentieth Century"/>
                <a:ea typeface="Twentieth Century"/>
                <a:cs typeface="Twentieth Century"/>
                <a:sym typeface="Twentieth Century"/>
              </a:endParaRPr>
            </a:p>
          </p:txBody>
        </p:sp>
        <p:sp>
          <p:nvSpPr>
            <p:cNvPr id="464" name="Google Shape;464;p102"/>
            <p:cNvSpPr txBox="1"/>
            <p:nvPr/>
          </p:nvSpPr>
          <p:spPr>
            <a:xfrm>
              <a:off x="5121275" y="42735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465" name="Google Shape;465;p102"/>
            <p:cNvSpPr txBox="1"/>
            <p:nvPr/>
          </p:nvSpPr>
          <p:spPr>
            <a:xfrm>
              <a:off x="3271844" y="4310969"/>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5 </a:t>
              </a:r>
              <a:endParaRPr sz="1600" b="0" i="0" u="none" strike="noStrike" cap="none">
                <a:solidFill>
                  <a:schemeClr val="dk1"/>
                </a:solidFill>
                <a:latin typeface="Twentieth Century"/>
                <a:ea typeface="Twentieth Century"/>
                <a:cs typeface="Twentieth Century"/>
                <a:sym typeface="Twentieth Century"/>
              </a:endParaRPr>
            </a:p>
          </p:txBody>
        </p:sp>
        <p:sp>
          <p:nvSpPr>
            <p:cNvPr id="466" name="Google Shape;466;p102"/>
            <p:cNvSpPr txBox="1"/>
            <p:nvPr/>
          </p:nvSpPr>
          <p:spPr>
            <a:xfrm>
              <a:off x="5730875" y="48831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467" name="Google Shape;467;p102"/>
            <p:cNvSpPr txBox="1"/>
            <p:nvPr/>
          </p:nvSpPr>
          <p:spPr>
            <a:xfrm>
              <a:off x="7407275" y="40449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468" name="Google Shape;468;p102"/>
            <p:cNvSpPr txBox="1"/>
            <p:nvPr/>
          </p:nvSpPr>
          <p:spPr>
            <a:xfrm>
              <a:off x="7026275" y="3282950"/>
              <a:ext cx="33644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5</a:t>
              </a:r>
              <a:endParaRPr sz="1600" b="0" i="0" u="none" strike="noStrike" cap="none">
                <a:solidFill>
                  <a:schemeClr val="dk1"/>
                </a:solidFill>
                <a:latin typeface="Twentieth Century"/>
                <a:ea typeface="Twentieth Century"/>
                <a:cs typeface="Twentieth Century"/>
                <a:sym typeface="Twentieth Century"/>
              </a:endParaRPr>
            </a:p>
          </p:txBody>
        </p:sp>
      </p:grpSp>
      <p:sp>
        <p:nvSpPr>
          <p:cNvPr id="469" name="Google Shape;469;p102"/>
          <p:cNvSpPr txBox="1"/>
          <p:nvPr/>
        </p:nvSpPr>
        <p:spPr>
          <a:xfrm>
            <a:off x="3753253" y="2831918"/>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Te=0</a:t>
            </a:r>
            <a:endParaRPr sz="1600" b="0" i="0" u="none" strike="noStrike" cap="none">
              <a:solidFill>
                <a:srgbClr val="00B050"/>
              </a:solidFill>
              <a:latin typeface="Twentieth Century"/>
              <a:ea typeface="Twentieth Century"/>
              <a:cs typeface="Twentieth Century"/>
              <a:sym typeface="Twentieth Century"/>
            </a:endParaRPr>
          </a:p>
        </p:txBody>
      </p:sp>
      <p:sp>
        <p:nvSpPr>
          <p:cNvPr id="470" name="Google Shape;470;p102"/>
          <p:cNvSpPr txBox="1"/>
          <p:nvPr/>
        </p:nvSpPr>
        <p:spPr>
          <a:xfrm>
            <a:off x="3732218" y="5342965"/>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Te=0</a:t>
            </a:r>
            <a:endParaRPr sz="1600" b="0" i="0" u="none" strike="noStrike" cap="none">
              <a:solidFill>
                <a:srgbClr val="00B050"/>
              </a:solidFill>
              <a:latin typeface="Twentieth Century"/>
              <a:ea typeface="Twentieth Century"/>
              <a:cs typeface="Twentieth Century"/>
              <a:sym typeface="Twentieth Century"/>
            </a:endParaRPr>
          </a:p>
        </p:txBody>
      </p:sp>
      <p:sp>
        <p:nvSpPr>
          <p:cNvPr id="471" name="Google Shape;471;p102"/>
          <p:cNvSpPr txBox="1"/>
          <p:nvPr/>
        </p:nvSpPr>
        <p:spPr>
          <a:xfrm>
            <a:off x="5490660" y="2999170"/>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Te=2</a:t>
            </a:r>
            <a:endParaRPr sz="1600" b="0" i="0" u="none" strike="noStrike" cap="none">
              <a:solidFill>
                <a:srgbClr val="00B050"/>
              </a:solidFill>
              <a:latin typeface="Twentieth Century"/>
              <a:ea typeface="Twentieth Century"/>
              <a:cs typeface="Twentieth Century"/>
              <a:sym typeface="Twentieth Century"/>
            </a:endParaRPr>
          </a:p>
        </p:txBody>
      </p:sp>
      <p:sp>
        <p:nvSpPr>
          <p:cNvPr id="472" name="Google Shape;472;p102"/>
          <p:cNvSpPr txBox="1"/>
          <p:nvPr/>
        </p:nvSpPr>
        <p:spPr>
          <a:xfrm>
            <a:off x="5379505" y="4385357"/>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Te=5</a:t>
            </a:r>
            <a:endParaRPr sz="1600" b="0" i="0" u="none" strike="noStrike" cap="none">
              <a:solidFill>
                <a:srgbClr val="00B050"/>
              </a:solidFill>
              <a:latin typeface="Twentieth Century"/>
              <a:ea typeface="Twentieth Century"/>
              <a:cs typeface="Twentieth Century"/>
              <a:sym typeface="Twentieth Century"/>
            </a:endParaRPr>
          </a:p>
        </p:txBody>
      </p:sp>
      <p:sp>
        <p:nvSpPr>
          <p:cNvPr id="473" name="Google Shape;473;p102"/>
          <p:cNvSpPr txBox="1"/>
          <p:nvPr/>
        </p:nvSpPr>
        <p:spPr>
          <a:xfrm>
            <a:off x="5195665" y="5996849"/>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Te=5</a:t>
            </a:r>
            <a:endParaRPr sz="1600" b="0" i="0" u="none" strike="noStrike" cap="none">
              <a:solidFill>
                <a:srgbClr val="00B050"/>
              </a:solidFill>
              <a:latin typeface="Twentieth Century"/>
              <a:ea typeface="Twentieth Century"/>
              <a:cs typeface="Twentieth Century"/>
              <a:sym typeface="Twentieth Century"/>
            </a:endParaRPr>
          </a:p>
        </p:txBody>
      </p:sp>
      <p:sp>
        <p:nvSpPr>
          <p:cNvPr id="474" name="Google Shape;474;p102"/>
          <p:cNvSpPr txBox="1"/>
          <p:nvPr/>
        </p:nvSpPr>
        <p:spPr>
          <a:xfrm>
            <a:off x="7315092" y="3858157"/>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Te=12</a:t>
            </a:r>
            <a:endParaRPr sz="1600" b="0" i="0" u="none" strike="noStrike" cap="none">
              <a:solidFill>
                <a:srgbClr val="00B050"/>
              </a:solidFill>
              <a:latin typeface="Twentieth Century"/>
              <a:ea typeface="Twentieth Century"/>
              <a:cs typeface="Twentieth Century"/>
              <a:sym typeface="Twentieth Century"/>
            </a:endParaRPr>
          </a:p>
        </p:txBody>
      </p:sp>
      <p:sp>
        <p:nvSpPr>
          <p:cNvPr id="475" name="Google Shape;475;p102"/>
          <p:cNvSpPr txBox="1"/>
          <p:nvPr/>
        </p:nvSpPr>
        <p:spPr>
          <a:xfrm>
            <a:off x="7903288" y="6057504"/>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Te=9</a:t>
            </a:r>
            <a:endParaRPr sz="1600" b="0" i="0" u="none" strike="noStrike" cap="none">
              <a:solidFill>
                <a:srgbClr val="00B050"/>
              </a:solidFill>
              <a:latin typeface="Twentieth Century"/>
              <a:ea typeface="Twentieth Century"/>
              <a:cs typeface="Twentieth Century"/>
              <a:sym typeface="Twentieth Century"/>
            </a:endParaRPr>
          </a:p>
        </p:txBody>
      </p:sp>
      <p:sp>
        <p:nvSpPr>
          <p:cNvPr id="476" name="Google Shape;476;p102"/>
          <p:cNvSpPr txBox="1"/>
          <p:nvPr/>
        </p:nvSpPr>
        <p:spPr>
          <a:xfrm>
            <a:off x="8982879" y="3948838"/>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Te=17</a:t>
            </a:r>
            <a:endParaRPr sz="1600" b="0" i="0" u="none" strike="noStrike" cap="none">
              <a:solidFill>
                <a:srgbClr val="00B050"/>
              </a:solidFill>
              <a:latin typeface="Twentieth Century"/>
              <a:ea typeface="Twentieth Century"/>
              <a:cs typeface="Twentieth Century"/>
              <a:sym typeface="Twentieth Century"/>
            </a:endParaRPr>
          </a:p>
        </p:txBody>
      </p:sp>
      <p:sp>
        <p:nvSpPr>
          <p:cNvPr id="477" name="Google Shape;477;p102"/>
          <p:cNvSpPr txBox="1"/>
          <p:nvPr/>
        </p:nvSpPr>
        <p:spPr>
          <a:xfrm>
            <a:off x="4415992" y="5331606"/>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Ta=0</a:t>
            </a:r>
            <a:endParaRPr sz="1600" b="0" i="0" u="none" strike="noStrike" cap="none">
              <a:solidFill>
                <a:srgbClr val="FF0000"/>
              </a:solidFill>
              <a:latin typeface="Twentieth Century"/>
              <a:ea typeface="Twentieth Century"/>
              <a:cs typeface="Twentieth Century"/>
              <a:sym typeface="Twentieth Century"/>
            </a:endParaRPr>
          </a:p>
        </p:txBody>
      </p:sp>
      <p:sp>
        <p:nvSpPr>
          <p:cNvPr id="478" name="Google Shape;478;p102"/>
          <p:cNvSpPr txBox="1"/>
          <p:nvPr/>
        </p:nvSpPr>
        <p:spPr>
          <a:xfrm>
            <a:off x="4406141" y="2813917"/>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Ta=6</a:t>
            </a:r>
            <a:endParaRPr sz="1600" b="0" i="0" u="none" strike="noStrike" cap="none">
              <a:solidFill>
                <a:srgbClr val="FF0000"/>
              </a:solidFill>
              <a:latin typeface="Twentieth Century"/>
              <a:ea typeface="Twentieth Century"/>
              <a:cs typeface="Twentieth Century"/>
              <a:sym typeface="Twentieth Century"/>
            </a:endParaRPr>
          </a:p>
        </p:txBody>
      </p:sp>
      <p:sp>
        <p:nvSpPr>
          <p:cNvPr id="479" name="Google Shape;479;p102"/>
          <p:cNvSpPr txBox="1"/>
          <p:nvPr/>
        </p:nvSpPr>
        <p:spPr>
          <a:xfrm>
            <a:off x="6193232" y="2977016"/>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Ta=8</a:t>
            </a:r>
            <a:endParaRPr sz="1600" b="0" i="0" u="none" strike="noStrike" cap="none">
              <a:solidFill>
                <a:srgbClr val="FF0000"/>
              </a:solidFill>
              <a:latin typeface="Twentieth Century"/>
              <a:ea typeface="Twentieth Century"/>
              <a:cs typeface="Twentieth Century"/>
              <a:sym typeface="Twentieth Century"/>
            </a:endParaRPr>
          </a:p>
        </p:txBody>
      </p:sp>
      <p:sp>
        <p:nvSpPr>
          <p:cNvPr id="480" name="Google Shape;480;p102"/>
          <p:cNvSpPr txBox="1"/>
          <p:nvPr/>
        </p:nvSpPr>
        <p:spPr>
          <a:xfrm>
            <a:off x="6293212" y="6020880"/>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Ta=8</a:t>
            </a:r>
            <a:endParaRPr sz="1600" b="0" i="0" u="none" strike="noStrike" cap="none">
              <a:solidFill>
                <a:srgbClr val="FF0000"/>
              </a:solidFill>
              <a:latin typeface="Twentieth Century"/>
              <a:ea typeface="Twentieth Century"/>
              <a:cs typeface="Twentieth Century"/>
              <a:sym typeface="Twentieth Century"/>
            </a:endParaRPr>
          </a:p>
        </p:txBody>
      </p:sp>
      <p:sp>
        <p:nvSpPr>
          <p:cNvPr id="481" name="Google Shape;481;p102"/>
          <p:cNvSpPr txBox="1"/>
          <p:nvPr/>
        </p:nvSpPr>
        <p:spPr>
          <a:xfrm>
            <a:off x="6040204" y="4377649"/>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Ta=5</a:t>
            </a:r>
            <a:endParaRPr sz="1600" b="0" i="0" u="none" strike="noStrike" cap="none">
              <a:solidFill>
                <a:srgbClr val="FF0000"/>
              </a:solidFill>
              <a:latin typeface="Twentieth Century"/>
              <a:ea typeface="Twentieth Century"/>
              <a:cs typeface="Twentieth Century"/>
              <a:sym typeface="Twentieth Century"/>
            </a:endParaRPr>
          </a:p>
        </p:txBody>
      </p:sp>
      <p:sp>
        <p:nvSpPr>
          <p:cNvPr id="482" name="Google Shape;482;p102"/>
          <p:cNvSpPr txBox="1"/>
          <p:nvPr/>
        </p:nvSpPr>
        <p:spPr>
          <a:xfrm>
            <a:off x="7913492" y="3861319"/>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Ta=12</a:t>
            </a:r>
            <a:endParaRPr sz="1600" b="0" i="0" u="none" strike="noStrike" cap="none">
              <a:solidFill>
                <a:srgbClr val="FF0000"/>
              </a:solidFill>
              <a:latin typeface="Twentieth Century"/>
              <a:ea typeface="Twentieth Century"/>
              <a:cs typeface="Twentieth Century"/>
              <a:sym typeface="Twentieth Century"/>
            </a:endParaRPr>
          </a:p>
        </p:txBody>
      </p:sp>
      <p:sp>
        <p:nvSpPr>
          <p:cNvPr id="483" name="Google Shape;483;p102"/>
          <p:cNvSpPr txBox="1"/>
          <p:nvPr/>
        </p:nvSpPr>
        <p:spPr>
          <a:xfrm>
            <a:off x="9656820" y="3948838"/>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Ta=17</a:t>
            </a:r>
            <a:endParaRPr sz="1600" b="0" i="0" u="none" strike="noStrike" cap="none">
              <a:solidFill>
                <a:srgbClr val="FF0000"/>
              </a:solidFill>
              <a:latin typeface="Twentieth Century"/>
              <a:ea typeface="Twentieth Century"/>
              <a:cs typeface="Twentieth Century"/>
              <a:sym typeface="Twentieth Century"/>
            </a:endParaRPr>
          </a:p>
        </p:txBody>
      </p:sp>
      <p:sp>
        <p:nvSpPr>
          <p:cNvPr id="484" name="Google Shape;484;p102"/>
          <p:cNvSpPr txBox="1"/>
          <p:nvPr/>
        </p:nvSpPr>
        <p:spPr>
          <a:xfrm>
            <a:off x="9056969" y="6029594"/>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Ta=13</a:t>
            </a:r>
            <a:endParaRPr sz="1600" b="0" i="0" u="none" strike="noStrike" cap="none">
              <a:solidFill>
                <a:srgbClr val="FF0000"/>
              </a:solidFill>
              <a:latin typeface="Twentieth Century"/>
              <a:ea typeface="Twentieth Century"/>
              <a:cs typeface="Twentieth Century"/>
              <a:sym typeface="Twentieth Centur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3"/>
                                        </p:tgtEl>
                                        <p:attrNameLst>
                                          <p:attrName>style.visibility</p:attrName>
                                        </p:attrNameLst>
                                      </p:cBhvr>
                                      <p:to>
                                        <p:strVal val="visible"/>
                                      </p:to>
                                    </p:set>
                                    <p:animEffect transition="in" filter="fade">
                                      <p:cBhvr>
                                        <p:cTn id="7" dur="500"/>
                                        <p:tgtEl>
                                          <p:spTgt spid="48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84"/>
                                        </p:tgtEl>
                                        <p:attrNameLst>
                                          <p:attrName>style.visibility</p:attrName>
                                        </p:attrNameLst>
                                      </p:cBhvr>
                                      <p:to>
                                        <p:strVal val="visible"/>
                                      </p:to>
                                    </p:set>
                                    <p:animEffect transition="in" filter="fade">
                                      <p:cBhvr>
                                        <p:cTn id="11" dur="500"/>
                                        <p:tgtEl>
                                          <p:spTgt spid="48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82"/>
                                        </p:tgtEl>
                                        <p:attrNameLst>
                                          <p:attrName>style.visibility</p:attrName>
                                        </p:attrNameLst>
                                      </p:cBhvr>
                                      <p:to>
                                        <p:strVal val="visible"/>
                                      </p:to>
                                    </p:set>
                                    <p:animEffect transition="in" filter="fade">
                                      <p:cBhvr>
                                        <p:cTn id="15" dur="500"/>
                                        <p:tgtEl>
                                          <p:spTgt spid="48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79"/>
                                        </p:tgtEl>
                                        <p:attrNameLst>
                                          <p:attrName>style.visibility</p:attrName>
                                        </p:attrNameLst>
                                      </p:cBhvr>
                                      <p:to>
                                        <p:strVal val="visible"/>
                                      </p:to>
                                    </p:set>
                                    <p:animEffect transition="in" filter="fade">
                                      <p:cBhvr>
                                        <p:cTn id="19" dur="500"/>
                                        <p:tgtEl>
                                          <p:spTgt spid="479"/>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81"/>
                                        </p:tgtEl>
                                        <p:attrNameLst>
                                          <p:attrName>style.visibility</p:attrName>
                                        </p:attrNameLst>
                                      </p:cBhvr>
                                      <p:to>
                                        <p:strVal val="visible"/>
                                      </p:to>
                                    </p:set>
                                    <p:animEffect transition="in" filter="fade">
                                      <p:cBhvr>
                                        <p:cTn id="23" dur="500"/>
                                        <p:tgtEl>
                                          <p:spTgt spid="481"/>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480"/>
                                        </p:tgtEl>
                                        <p:attrNameLst>
                                          <p:attrName>style.visibility</p:attrName>
                                        </p:attrNameLst>
                                      </p:cBhvr>
                                      <p:to>
                                        <p:strVal val="visible"/>
                                      </p:to>
                                    </p:set>
                                    <p:animEffect transition="in" filter="fade">
                                      <p:cBhvr>
                                        <p:cTn id="27" dur="500"/>
                                        <p:tgtEl>
                                          <p:spTgt spid="480"/>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478"/>
                                        </p:tgtEl>
                                        <p:attrNameLst>
                                          <p:attrName>style.visibility</p:attrName>
                                        </p:attrNameLst>
                                      </p:cBhvr>
                                      <p:to>
                                        <p:strVal val="visible"/>
                                      </p:to>
                                    </p:set>
                                    <p:animEffect transition="in" filter="fade">
                                      <p:cBhvr>
                                        <p:cTn id="31" dur="500"/>
                                        <p:tgtEl>
                                          <p:spTgt spid="478"/>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477"/>
                                        </p:tgtEl>
                                        <p:attrNameLst>
                                          <p:attrName>style.visibility</p:attrName>
                                        </p:attrNameLst>
                                      </p:cBhvr>
                                      <p:to>
                                        <p:strVal val="visible"/>
                                      </p:to>
                                    </p:set>
                                    <p:animEffect transition="in" filter="fade">
                                      <p:cBhvr>
                                        <p:cTn id="35" dur="500"/>
                                        <p:tgtEl>
                                          <p:spTgt spid="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03"/>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490" name="Google Shape;490;p10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491" name="Google Shape;491;p10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492" name="Google Shape;492;p10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24</a:t>
            </a:fld>
            <a:endParaRPr/>
          </a:p>
        </p:txBody>
      </p:sp>
      <p:sp>
        <p:nvSpPr>
          <p:cNvPr id="493" name="Google Shape;493;p103"/>
          <p:cNvSpPr txBox="1">
            <a:spLocks noGrp="1"/>
          </p:cNvSpPr>
          <p:nvPr>
            <p:ph type="body" idx="4294967295"/>
          </p:nvPr>
        </p:nvSpPr>
        <p:spPr>
          <a:xfrm>
            <a:off x="1030288" y="1736725"/>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Ejemplo:</a:t>
            </a:r>
            <a:endParaRPr/>
          </a:p>
          <a:p>
            <a:pPr marL="633413" lvl="0" indent="-457200" algn="just" rtl="0">
              <a:lnSpc>
                <a:spcPct val="85000"/>
              </a:lnSpc>
              <a:spcBef>
                <a:spcPts val="1200"/>
              </a:spcBef>
              <a:spcAft>
                <a:spcPts val="0"/>
              </a:spcAft>
              <a:buClr>
                <a:schemeClr val="dk1"/>
              </a:buClr>
              <a:buSzPts val="2400"/>
              <a:buFont typeface="Calibri"/>
              <a:buAutoNum type="arabicPeriod" startAt="6"/>
            </a:pPr>
            <a:r>
              <a:rPr lang="es-AR" sz="2400">
                <a:solidFill>
                  <a:schemeClr val="dk1"/>
                </a:solidFill>
              </a:rPr>
              <a:t>Calcular el camino crítico que une las tareas críticas </a:t>
            </a:r>
            <a:endParaRPr/>
          </a:p>
          <a:p>
            <a:pPr marL="633413" lvl="2" indent="0" algn="l" rtl="0">
              <a:lnSpc>
                <a:spcPct val="85000"/>
              </a:lnSpc>
              <a:spcBef>
                <a:spcPts val="1800"/>
              </a:spcBef>
              <a:spcAft>
                <a:spcPts val="0"/>
              </a:spcAft>
              <a:buClr>
                <a:schemeClr val="dk1"/>
              </a:buClr>
              <a:buSzPts val="2400"/>
              <a:buNone/>
            </a:pPr>
            <a:r>
              <a:rPr lang="es-AR" sz="2400" u="sng">
                <a:solidFill>
                  <a:schemeClr val="dk1"/>
                </a:solidFill>
              </a:rPr>
              <a:t>Márgen Total</a:t>
            </a:r>
            <a:r>
              <a:rPr lang="es-AR" sz="2400">
                <a:solidFill>
                  <a:schemeClr val="dk1"/>
                </a:solidFill>
              </a:rPr>
              <a:t>:</a:t>
            </a:r>
            <a:endParaRPr/>
          </a:p>
          <a:p>
            <a:pPr marL="633413" lvl="2" indent="0" algn="l" rtl="0">
              <a:lnSpc>
                <a:spcPct val="85000"/>
              </a:lnSpc>
              <a:spcBef>
                <a:spcPts val="600"/>
              </a:spcBef>
              <a:spcAft>
                <a:spcPts val="0"/>
              </a:spcAft>
              <a:buClr>
                <a:schemeClr val="dk1"/>
              </a:buClr>
              <a:buSzPts val="2400"/>
              <a:buNone/>
            </a:pPr>
            <a:r>
              <a:rPr lang="es-AR" sz="2400">
                <a:solidFill>
                  <a:schemeClr val="dk1"/>
                </a:solidFill>
              </a:rPr>
              <a:t>Mt = TaJ – TeI - tIJ </a:t>
            </a:r>
            <a:endParaRPr/>
          </a:p>
          <a:p>
            <a:pPr marL="633413" lvl="2" indent="0" algn="l" rtl="0">
              <a:lnSpc>
                <a:spcPct val="85000"/>
              </a:lnSpc>
              <a:spcBef>
                <a:spcPts val="600"/>
              </a:spcBef>
              <a:spcAft>
                <a:spcPts val="0"/>
              </a:spcAft>
              <a:buClr>
                <a:schemeClr val="dk1"/>
              </a:buClr>
              <a:buSzPts val="2400"/>
              <a:buNone/>
            </a:pPr>
            <a:r>
              <a:rPr lang="es-AR" sz="2400">
                <a:solidFill>
                  <a:schemeClr val="dk1"/>
                </a:solidFill>
              </a:rPr>
              <a:t>Donde:</a:t>
            </a:r>
            <a:endParaRPr/>
          </a:p>
          <a:p>
            <a:pPr marL="900113" lvl="2" indent="0" algn="l" rtl="0">
              <a:lnSpc>
                <a:spcPct val="85000"/>
              </a:lnSpc>
              <a:spcBef>
                <a:spcPts val="600"/>
              </a:spcBef>
              <a:spcAft>
                <a:spcPts val="0"/>
              </a:spcAft>
              <a:buClr>
                <a:schemeClr val="dk1"/>
              </a:buClr>
              <a:buSzPts val="2400"/>
              <a:buNone/>
            </a:pPr>
            <a:r>
              <a:rPr lang="es-AR" sz="2400">
                <a:solidFill>
                  <a:schemeClr val="dk1"/>
                </a:solidFill>
              </a:rPr>
              <a:t>TaJ = fecha tardía del nodo destino</a:t>
            </a:r>
            <a:endParaRPr/>
          </a:p>
          <a:p>
            <a:pPr marL="900113" lvl="2" indent="0" algn="l" rtl="0">
              <a:lnSpc>
                <a:spcPct val="85000"/>
              </a:lnSpc>
              <a:spcBef>
                <a:spcPts val="600"/>
              </a:spcBef>
              <a:spcAft>
                <a:spcPts val="0"/>
              </a:spcAft>
              <a:buClr>
                <a:schemeClr val="dk1"/>
              </a:buClr>
              <a:buSzPts val="2400"/>
              <a:buNone/>
            </a:pPr>
            <a:r>
              <a:rPr lang="es-AR" sz="2400">
                <a:solidFill>
                  <a:schemeClr val="dk1"/>
                </a:solidFill>
              </a:rPr>
              <a:t>TeI = fecha temprana del nodo origen</a:t>
            </a:r>
            <a:endParaRPr/>
          </a:p>
          <a:p>
            <a:pPr marL="900113" lvl="2" indent="0" algn="l" rtl="0">
              <a:lnSpc>
                <a:spcPct val="85000"/>
              </a:lnSpc>
              <a:spcBef>
                <a:spcPts val="600"/>
              </a:spcBef>
              <a:spcAft>
                <a:spcPts val="0"/>
              </a:spcAft>
              <a:buClr>
                <a:schemeClr val="dk1"/>
              </a:buClr>
              <a:buSzPts val="2400"/>
              <a:buNone/>
            </a:pPr>
            <a:r>
              <a:rPr lang="es-AR" sz="2400">
                <a:solidFill>
                  <a:schemeClr val="dk1"/>
                </a:solidFill>
              </a:rPr>
              <a:t>tIJ = duración de la tarea desde el nodo I hasta el nodo J</a:t>
            </a:r>
            <a:endParaRPr/>
          </a:p>
          <a:p>
            <a:pPr marL="900113" lvl="2" indent="0" algn="l" rtl="0">
              <a:lnSpc>
                <a:spcPct val="85000"/>
              </a:lnSpc>
              <a:spcBef>
                <a:spcPts val="600"/>
              </a:spcBef>
              <a:spcAft>
                <a:spcPts val="0"/>
              </a:spcAft>
              <a:buClr>
                <a:srgbClr val="404040"/>
              </a:buClr>
              <a:buSzPts val="2400"/>
              <a:buNone/>
            </a:pPr>
            <a:endParaRPr sz="1600">
              <a:solidFill>
                <a:schemeClr val="dk1"/>
              </a:solidFill>
            </a:endParaRPr>
          </a:p>
          <a:p>
            <a:pPr marL="182562" lvl="3" indent="0" algn="l" rtl="0">
              <a:lnSpc>
                <a:spcPct val="85000"/>
              </a:lnSpc>
              <a:spcBef>
                <a:spcPts val="600"/>
              </a:spcBef>
              <a:spcAft>
                <a:spcPts val="0"/>
              </a:spcAft>
              <a:buClr>
                <a:srgbClr val="FF3F40"/>
              </a:buClr>
              <a:buSzPts val="2400"/>
              <a:buNone/>
            </a:pPr>
            <a:r>
              <a:rPr lang="es-AR" sz="2200" i="1">
                <a:solidFill>
                  <a:schemeClr val="dk1"/>
                </a:solidFill>
              </a:rPr>
              <a:t>Observar que el Margen Total también puede calcularse como </a:t>
            </a:r>
            <a:r>
              <a:rPr lang="es-AR" sz="2200" i="1" u="sng">
                <a:solidFill>
                  <a:schemeClr val="dk1"/>
                </a:solidFill>
              </a:rPr>
              <a:t>MtJ= TaJ-TeJ </a:t>
            </a:r>
            <a:endParaRPr/>
          </a:p>
          <a:p>
            <a:pPr marL="182562" lvl="3" indent="0" algn="l" rtl="0">
              <a:lnSpc>
                <a:spcPct val="85000"/>
              </a:lnSpc>
              <a:spcBef>
                <a:spcPts val="600"/>
              </a:spcBef>
              <a:spcAft>
                <a:spcPts val="0"/>
              </a:spcAft>
              <a:buClr>
                <a:srgbClr val="FF3F40"/>
              </a:buClr>
              <a:buSzPts val="2400"/>
              <a:buNone/>
            </a:pPr>
            <a:r>
              <a:rPr lang="es-AR" sz="2200" i="1">
                <a:solidFill>
                  <a:schemeClr val="dk1"/>
                </a:solidFill>
              </a:rPr>
              <a:t>Es decir, como la diferencia entre la fecha más tardía y más temprana del mismo nodo.</a:t>
            </a:r>
            <a:endParaRPr/>
          </a:p>
          <a:p>
            <a:pPr marL="900113" lvl="2" indent="0" algn="l" rtl="0">
              <a:lnSpc>
                <a:spcPct val="85000"/>
              </a:lnSpc>
              <a:spcBef>
                <a:spcPts val="600"/>
              </a:spcBef>
              <a:spcAft>
                <a:spcPts val="0"/>
              </a:spcAft>
              <a:buClr>
                <a:srgbClr val="404040"/>
              </a:buClr>
              <a:buSzPts val="2400"/>
              <a:buNone/>
            </a:pPr>
            <a:endParaRPr sz="2400">
              <a:solidFill>
                <a:schemeClr val="dk1"/>
              </a:solidFill>
            </a:endParaRPr>
          </a:p>
          <a:p>
            <a:pPr marL="176212" lvl="2" indent="0" algn="l" rtl="0">
              <a:lnSpc>
                <a:spcPct val="85000"/>
              </a:lnSpc>
              <a:spcBef>
                <a:spcPts val="6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104"/>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499" name="Google Shape;499;p10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500" name="Google Shape;500;p10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501" name="Google Shape;501;p10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25</a:t>
            </a:fld>
            <a:endParaRPr/>
          </a:p>
        </p:txBody>
      </p:sp>
      <p:sp>
        <p:nvSpPr>
          <p:cNvPr id="502" name="Google Shape;502;p104"/>
          <p:cNvSpPr txBox="1">
            <a:spLocks noGrp="1"/>
          </p:cNvSpPr>
          <p:nvPr>
            <p:ph type="body" idx="4294967295"/>
          </p:nvPr>
        </p:nvSpPr>
        <p:spPr>
          <a:xfrm>
            <a:off x="1030288" y="1736725"/>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Ejemplo:</a:t>
            </a:r>
            <a:endParaRPr/>
          </a:p>
          <a:p>
            <a:pPr marL="633413" lvl="0" indent="-457200" algn="just" rtl="0">
              <a:lnSpc>
                <a:spcPct val="85000"/>
              </a:lnSpc>
              <a:spcBef>
                <a:spcPts val="1200"/>
              </a:spcBef>
              <a:spcAft>
                <a:spcPts val="0"/>
              </a:spcAft>
              <a:buClr>
                <a:srgbClr val="000000"/>
              </a:buClr>
              <a:buSzPts val="2400"/>
              <a:buFont typeface="Calibri"/>
              <a:buAutoNum type="arabicPeriod" startAt="6"/>
            </a:pPr>
            <a:r>
              <a:rPr lang="es-AR" sz="2400">
                <a:solidFill>
                  <a:srgbClr val="000000"/>
                </a:solidFill>
              </a:rPr>
              <a:t>Calcular el camino crítico que une las tareas críticas </a:t>
            </a:r>
            <a:endParaRPr/>
          </a:p>
          <a:p>
            <a:pPr marL="347472" lvl="1" indent="-139700" algn="just" rtl="0">
              <a:lnSpc>
                <a:spcPct val="85000"/>
              </a:lnSpc>
              <a:spcBef>
                <a:spcPts val="1200"/>
              </a:spcBef>
              <a:spcAft>
                <a:spcPts val="0"/>
              </a:spcAft>
              <a:buClr>
                <a:srgbClr val="FF0000"/>
              </a:buClr>
              <a:buSzPts val="3200"/>
              <a:buNone/>
            </a:pPr>
            <a:endParaRPr sz="2400">
              <a:solidFill>
                <a:srgbClr val="C00000"/>
              </a:solidFill>
            </a:endParaRPr>
          </a:p>
          <a:p>
            <a:pPr marL="347472" lvl="1" indent="-342900" algn="just" rtl="0">
              <a:lnSpc>
                <a:spcPct val="85000"/>
              </a:lnSpc>
              <a:spcBef>
                <a:spcPts val="0"/>
              </a:spcBef>
              <a:spcAft>
                <a:spcPts val="0"/>
              </a:spcAft>
              <a:buClr>
                <a:srgbClr val="FF0000"/>
              </a:buClr>
              <a:buSzPts val="3200"/>
              <a:buChar char=" "/>
            </a:pPr>
            <a:r>
              <a:rPr lang="es-AR" sz="2400">
                <a:solidFill>
                  <a:srgbClr val="C00000"/>
                </a:solidFill>
              </a:rPr>
              <a:t>¿Qué ocurre cuando tengo un margen total de, por ej., 6 días?</a:t>
            </a:r>
            <a:endParaRPr/>
          </a:p>
          <a:p>
            <a:pPr marL="347472" lvl="1" indent="-139700" algn="just" rtl="0">
              <a:lnSpc>
                <a:spcPct val="85000"/>
              </a:lnSpc>
              <a:spcBef>
                <a:spcPts val="0"/>
              </a:spcBef>
              <a:spcAft>
                <a:spcPts val="0"/>
              </a:spcAft>
              <a:buClr>
                <a:srgbClr val="FF0000"/>
              </a:buClr>
              <a:buSzPts val="3200"/>
              <a:buNone/>
            </a:pPr>
            <a:endParaRPr sz="2800">
              <a:solidFill>
                <a:srgbClr val="C00000"/>
              </a:solidFill>
            </a:endParaRPr>
          </a:p>
          <a:p>
            <a:pPr marL="347472" lvl="1" indent="-342900" algn="just" rtl="0">
              <a:lnSpc>
                <a:spcPct val="85000"/>
              </a:lnSpc>
              <a:spcBef>
                <a:spcPts val="0"/>
              </a:spcBef>
              <a:spcAft>
                <a:spcPts val="0"/>
              </a:spcAft>
              <a:buClr>
                <a:srgbClr val="FF0000"/>
              </a:buClr>
              <a:buSzPts val="3200"/>
              <a:buFont typeface="Calibri"/>
              <a:buChar char=" "/>
            </a:pPr>
            <a:r>
              <a:rPr lang="es-AR" sz="2400" i="1">
                <a:solidFill>
                  <a:schemeClr val="dk1"/>
                </a:solidFill>
              </a:rPr>
              <a:t>Significa que la tarea puede iniciarse con 6 días de retraso sin que ello afecte a la duración total del proyecto.</a:t>
            </a:r>
            <a:endParaRPr/>
          </a:p>
          <a:p>
            <a:pPr marL="347472" lvl="1" indent="-139700" algn="just" rtl="0">
              <a:lnSpc>
                <a:spcPct val="85000"/>
              </a:lnSpc>
              <a:spcBef>
                <a:spcPts val="0"/>
              </a:spcBef>
              <a:spcAft>
                <a:spcPts val="0"/>
              </a:spcAft>
              <a:buClr>
                <a:srgbClr val="FF0000"/>
              </a:buClr>
              <a:buSzPts val="3200"/>
              <a:buNone/>
            </a:pPr>
            <a:endParaRPr sz="2800">
              <a:solidFill>
                <a:schemeClr val="dk1"/>
              </a:solidFill>
            </a:endParaRPr>
          </a:p>
          <a:p>
            <a:pPr marL="176212" lvl="2" indent="0" algn="l" rtl="0">
              <a:lnSpc>
                <a:spcPct val="85000"/>
              </a:lnSpc>
              <a:spcBef>
                <a:spcPts val="6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105"/>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508" name="Google Shape;508;p105"/>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509" name="Google Shape;509;p105"/>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510" name="Google Shape;510;p105"/>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26</a:t>
            </a:fld>
            <a:endParaRPr/>
          </a:p>
        </p:txBody>
      </p:sp>
      <p:sp>
        <p:nvSpPr>
          <p:cNvPr id="511" name="Google Shape;511;p105"/>
          <p:cNvSpPr txBox="1">
            <a:spLocks noGrp="1"/>
          </p:cNvSpPr>
          <p:nvPr>
            <p:ph type="body" idx="4294967295"/>
          </p:nvPr>
        </p:nvSpPr>
        <p:spPr>
          <a:xfrm>
            <a:off x="1030288" y="1736725"/>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Ejemplo:</a:t>
            </a:r>
            <a:endParaRPr/>
          </a:p>
          <a:p>
            <a:pPr marL="633413" lvl="0" indent="-457200" algn="just" rtl="0">
              <a:lnSpc>
                <a:spcPct val="85000"/>
              </a:lnSpc>
              <a:spcBef>
                <a:spcPts val="1200"/>
              </a:spcBef>
              <a:spcAft>
                <a:spcPts val="0"/>
              </a:spcAft>
              <a:buClr>
                <a:srgbClr val="000000"/>
              </a:buClr>
              <a:buSzPts val="2400"/>
              <a:buFont typeface="Calibri"/>
              <a:buAutoNum type="arabicPeriod" startAt="6"/>
            </a:pPr>
            <a:r>
              <a:rPr lang="es-AR" sz="2400">
                <a:solidFill>
                  <a:srgbClr val="000000"/>
                </a:solidFill>
              </a:rPr>
              <a:t>Calcular el camino crítico que une las tareas críticas </a:t>
            </a:r>
            <a:endParaRPr sz="2400">
              <a:solidFill>
                <a:schemeClr val="dk1"/>
              </a:solidFill>
            </a:endParaRPr>
          </a:p>
          <a:p>
            <a:pPr marL="347472" lvl="1" indent="-139700" algn="just" rtl="0">
              <a:lnSpc>
                <a:spcPct val="85000"/>
              </a:lnSpc>
              <a:spcBef>
                <a:spcPts val="1200"/>
              </a:spcBef>
              <a:spcAft>
                <a:spcPts val="0"/>
              </a:spcAft>
              <a:buClr>
                <a:srgbClr val="FF0000"/>
              </a:buClr>
              <a:buSzPts val="3200"/>
              <a:buFont typeface="Calibri"/>
              <a:buNone/>
            </a:pPr>
            <a:endParaRPr sz="2400">
              <a:solidFill>
                <a:srgbClr val="C00000"/>
              </a:solidFill>
            </a:endParaRPr>
          </a:p>
          <a:p>
            <a:pPr marL="347472" lvl="1" indent="-342900" algn="just" rtl="0">
              <a:lnSpc>
                <a:spcPct val="85000"/>
              </a:lnSpc>
              <a:spcBef>
                <a:spcPts val="0"/>
              </a:spcBef>
              <a:spcAft>
                <a:spcPts val="0"/>
              </a:spcAft>
              <a:buClr>
                <a:srgbClr val="FF0000"/>
              </a:buClr>
              <a:buSzPts val="3200"/>
              <a:buFont typeface="Calibri"/>
              <a:buChar char=" "/>
            </a:pPr>
            <a:r>
              <a:rPr lang="es-AR" sz="2400">
                <a:solidFill>
                  <a:srgbClr val="C00000"/>
                </a:solidFill>
              </a:rPr>
              <a:t>¿Qué ocurre cuando el margen total es 0?</a:t>
            </a:r>
            <a:endParaRPr/>
          </a:p>
          <a:p>
            <a:pPr marL="347472" lvl="1" indent="-139700" algn="just" rtl="0">
              <a:lnSpc>
                <a:spcPct val="85000"/>
              </a:lnSpc>
              <a:spcBef>
                <a:spcPts val="0"/>
              </a:spcBef>
              <a:spcAft>
                <a:spcPts val="0"/>
              </a:spcAft>
              <a:buClr>
                <a:srgbClr val="FF0000"/>
              </a:buClr>
              <a:buSzPts val="3200"/>
              <a:buFont typeface="Calibri"/>
              <a:buNone/>
            </a:pPr>
            <a:endParaRPr sz="2400">
              <a:solidFill>
                <a:srgbClr val="C00000"/>
              </a:solidFill>
            </a:endParaRPr>
          </a:p>
          <a:p>
            <a:pPr marL="347472" lvl="1" indent="-342900" algn="just" rtl="0">
              <a:lnSpc>
                <a:spcPct val="85000"/>
              </a:lnSpc>
              <a:spcBef>
                <a:spcPts val="0"/>
              </a:spcBef>
              <a:spcAft>
                <a:spcPts val="0"/>
              </a:spcAft>
              <a:buClr>
                <a:srgbClr val="FF0000"/>
              </a:buClr>
              <a:buSzPts val="3200"/>
              <a:buFont typeface="Calibri"/>
              <a:buChar char=" "/>
            </a:pPr>
            <a:r>
              <a:rPr lang="es-AR" sz="2400" i="1">
                <a:solidFill>
                  <a:schemeClr val="dk1"/>
                </a:solidFill>
              </a:rPr>
              <a:t>Significa que no hay margen y que esa tarea hay que iniciarla y finalizarla en las fechas más tempranas. </a:t>
            </a:r>
            <a:endParaRPr/>
          </a:p>
          <a:p>
            <a:pPr marL="347472" lvl="1" indent="-342900" algn="just" rtl="0">
              <a:lnSpc>
                <a:spcPct val="85000"/>
              </a:lnSpc>
              <a:spcBef>
                <a:spcPts val="0"/>
              </a:spcBef>
              <a:spcAft>
                <a:spcPts val="0"/>
              </a:spcAft>
              <a:buClr>
                <a:srgbClr val="FF0000"/>
              </a:buClr>
              <a:buSzPts val="3200"/>
              <a:buFont typeface="Calibri"/>
              <a:buChar char=" "/>
            </a:pPr>
            <a:r>
              <a:rPr lang="es-AR" sz="2400" i="1">
                <a:solidFill>
                  <a:schemeClr val="dk1"/>
                </a:solidFill>
              </a:rPr>
              <a:t>Estas tareas con margen cero serían </a:t>
            </a:r>
            <a:r>
              <a:rPr lang="es-AR" sz="2400" i="1" u="sng">
                <a:solidFill>
                  <a:schemeClr val="dk1"/>
                </a:solidFill>
              </a:rPr>
              <a:t>críticas</a:t>
            </a:r>
            <a:r>
              <a:rPr lang="es-AR" sz="2400" i="1">
                <a:solidFill>
                  <a:schemeClr val="dk1"/>
                </a:solidFill>
              </a:rPr>
              <a:t>.</a:t>
            </a:r>
            <a:endParaRPr/>
          </a:p>
          <a:p>
            <a:pPr marL="347472" lvl="1" indent="-139700" algn="just" rtl="0">
              <a:lnSpc>
                <a:spcPct val="85000"/>
              </a:lnSpc>
              <a:spcBef>
                <a:spcPts val="0"/>
              </a:spcBef>
              <a:spcAft>
                <a:spcPts val="0"/>
              </a:spcAft>
              <a:buClr>
                <a:srgbClr val="FF0000"/>
              </a:buClr>
              <a:buSzPts val="3200"/>
              <a:buNone/>
            </a:pPr>
            <a:endParaRPr sz="2800">
              <a:solidFill>
                <a:schemeClr val="dk1"/>
              </a:solidFill>
            </a:endParaRPr>
          </a:p>
          <a:p>
            <a:pPr marL="176212" lvl="2" indent="0" algn="l" rtl="0">
              <a:lnSpc>
                <a:spcPct val="85000"/>
              </a:lnSpc>
              <a:spcBef>
                <a:spcPts val="6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106"/>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517" name="Google Shape;517;p106"/>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518" name="Google Shape;518;p106"/>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519" name="Google Shape;519;p106"/>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27</a:t>
            </a:fld>
            <a:endParaRPr/>
          </a:p>
        </p:txBody>
      </p:sp>
      <p:sp>
        <p:nvSpPr>
          <p:cNvPr id="520" name="Google Shape;520;p106"/>
          <p:cNvSpPr txBox="1">
            <a:spLocks noGrp="1"/>
          </p:cNvSpPr>
          <p:nvPr>
            <p:ph type="body" idx="4294967295"/>
          </p:nvPr>
        </p:nvSpPr>
        <p:spPr>
          <a:xfrm>
            <a:off x="1030288" y="1736725"/>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Ejemplo:</a:t>
            </a:r>
            <a:endParaRPr/>
          </a:p>
          <a:p>
            <a:pPr marL="633413" lvl="0" indent="-457200" algn="just" rtl="0">
              <a:lnSpc>
                <a:spcPct val="85000"/>
              </a:lnSpc>
              <a:spcBef>
                <a:spcPts val="1200"/>
              </a:spcBef>
              <a:spcAft>
                <a:spcPts val="0"/>
              </a:spcAft>
              <a:buClr>
                <a:srgbClr val="000000"/>
              </a:buClr>
              <a:buSzPts val="2400"/>
              <a:buFont typeface="Calibri"/>
              <a:buAutoNum type="arabicPeriod" startAt="6"/>
            </a:pPr>
            <a:r>
              <a:rPr lang="es-AR" sz="2400">
                <a:solidFill>
                  <a:srgbClr val="000000"/>
                </a:solidFill>
              </a:rPr>
              <a:t>Calcular el camino crítico que une las tareas críticas </a:t>
            </a:r>
            <a:endParaRPr sz="2400">
              <a:solidFill>
                <a:srgbClr val="C00000"/>
              </a:solidFill>
            </a:endParaRPr>
          </a:p>
          <a:p>
            <a:pPr marL="722313" lvl="0" indent="-369888" algn="l" rtl="0">
              <a:lnSpc>
                <a:spcPct val="85000"/>
              </a:lnSpc>
              <a:spcBef>
                <a:spcPts val="2500"/>
              </a:spcBef>
              <a:spcAft>
                <a:spcPts val="0"/>
              </a:spcAft>
              <a:buClr>
                <a:srgbClr val="C00000"/>
              </a:buClr>
              <a:buSzPts val="2400"/>
              <a:buFont typeface="Arial"/>
              <a:buChar char="•"/>
            </a:pPr>
            <a:r>
              <a:rPr lang="es-AR" sz="2400">
                <a:solidFill>
                  <a:schemeClr val="dk1"/>
                </a:solidFill>
              </a:rPr>
              <a:t>El camino formado por una sucesión de tareas críticas recibe el nombre de </a:t>
            </a:r>
            <a:r>
              <a:rPr lang="es-AR" sz="2400" u="sng">
                <a:solidFill>
                  <a:schemeClr val="dk1"/>
                </a:solidFill>
              </a:rPr>
              <a:t>camino crítico</a:t>
            </a:r>
            <a:r>
              <a:rPr lang="es-AR" sz="2400">
                <a:solidFill>
                  <a:schemeClr val="dk1"/>
                </a:solidFill>
              </a:rPr>
              <a:t>.</a:t>
            </a:r>
            <a:endParaRPr/>
          </a:p>
          <a:p>
            <a:pPr marL="722313" lvl="0" indent="-369888" algn="l" rtl="0">
              <a:lnSpc>
                <a:spcPct val="85000"/>
              </a:lnSpc>
              <a:spcBef>
                <a:spcPts val="1300"/>
              </a:spcBef>
              <a:spcAft>
                <a:spcPts val="0"/>
              </a:spcAft>
              <a:buClr>
                <a:srgbClr val="C00000"/>
              </a:buClr>
              <a:buSzPts val="2400"/>
              <a:buFont typeface="Arial"/>
              <a:buChar char="•"/>
            </a:pPr>
            <a:r>
              <a:rPr lang="es-AR" sz="2400">
                <a:solidFill>
                  <a:schemeClr val="dk1"/>
                </a:solidFill>
              </a:rPr>
              <a:t>El camino crítico puede obtenerse utilizando el cálculo del Margen Total.</a:t>
            </a:r>
            <a:endParaRPr/>
          </a:p>
          <a:p>
            <a:pPr marL="347472" lvl="1" indent="-139700" algn="just" rtl="0">
              <a:lnSpc>
                <a:spcPct val="85000"/>
              </a:lnSpc>
              <a:spcBef>
                <a:spcPts val="0"/>
              </a:spcBef>
              <a:spcAft>
                <a:spcPts val="0"/>
              </a:spcAft>
              <a:buClr>
                <a:srgbClr val="FF0000"/>
              </a:buClr>
              <a:buSzPts val="3200"/>
              <a:buNone/>
            </a:pPr>
            <a:endParaRPr sz="2800">
              <a:solidFill>
                <a:schemeClr val="dk1"/>
              </a:solidFill>
            </a:endParaRPr>
          </a:p>
          <a:p>
            <a:pPr marL="176212" lvl="2" indent="0" algn="l" rtl="0">
              <a:lnSpc>
                <a:spcPct val="85000"/>
              </a:lnSpc>
              <a:spcBef>
                <a:spcPts val="6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107"/>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526" name="Google Shape;526;p107"/>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527" name="Google Shape;527;p107"/>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528" name="Google Shape;528;p107"/>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28</a:t>
            </a:fld>
            <a:endParaRPr/>
          </a:p>
        </p:txBody>
      </p:sp>
      <p:sp>
        <p:nvSpPr>
          <p:cNvPr id="529" name="Google Shape;529;p107"/>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Ejemplo:</a:t>
            </a:r>
            <a:endParaRPr sz="2800" i="1">
              <a:solidFill>
                <a:schemeClr val="dk1"/>
              </a:solidFill>
            </a:endParaRPr>
          </a:p>
          <a:p>
            <a:pPr marL="633412" lvl="2" indent="-457200" algn="l" rtl="0">
              <a:lnSpc>
                <a:spcPct val="85000"/>
              </a:lnSpc>
              <a:spcBef>
                <a:spcPts val="1800"/>
              </a:spcBef>
              <a:spcAft>
                <a:spcPts val="0"/>
              </a:spcAft>
              <a:buClr>
                <a:schemeClr val="dk1"/>
              </a:buClr>
              <a:buSzPts val="2400"/>
              <a:buFont typeface="Calibri"/>
              <a:buAutoNum type="arabicPeriod" startAt="6"/>
            </a:pPr>
            <a:r>
              <a:rPr lang="es-AR" sz="2400">
                <a:solidFill>
                  <a:schemeClr val="dk1"/>
                </a:solidFill>
              </a:rPr>
              <a:t>Calcular el camino crítico que une las tareas críticas </a:t>
            </a:r>
            <a:endParaRPr/>
          </a:p>
          <a:p>
            <a:pPr marL="633412" lvl="2" indent="-304800" algn="l" rtl="0">
              <a:lnSpc>
                <a:spcPct val="85000"/>
              </a:lnSpc>
              <a:spcBef>
                <a:spcPts val="600"/>
              </a:spcBef>
              <a:spcAft>
                <a:spcPts val="0"/>
              </a:spcAft>
              <a:buClr>
                <a:srgbClr val="404040"/>
              </a:buClr>
              <a:buSzPts val="2400"/>
              <a:buFont typeface="Calibri"/>
              <a:buNone/>
            </a:pPr>
            <a:endParaRPr sz="2400">
              <a:solidFill>
                <a:schemeClr val="dk1"/>
              </a:solidFill>
            </a:endParaRPr>
          </a:p>
          <a:p>
            <a:pPr marL="176212" lvl="2" indent="0" algn="l" rtl="0">
              <a:lnSpc>
                <a:spcPct val="85000"/>
              </a:lnSpc>
              <a:spcBef>
                <a:spcPts val="6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grpSp>
        <p:nvGrpSpPr>
          <p:cNvPr id="530" name="Google Shape;530;p107"/>
          <p:cNvGrpSpPr/>
          <p:nvPr/>
        </p:nvGrpSpPr>
        <p:grpSpPr>
          <a:xfrm>
            <a:off x="2333625" y="3104479"/>
            <a:ext cx="7498745" cy="3199075"/>
            <a:chOff x="168275" y="1987549"/>
            <a:chExt cx="8452557" cy="3464446"/>
          </a:xfrm>
        </p:grpSpPr>
        <p:sp>
          <p:nvSpPr>
            <p:cNvPr id="531" name="Google Shape;531;p107"/>
            <p:cNvSpPr/>
            <p:nvPr/>
          </p:nvSpPr>
          <p:spPr>
            <a:xfrm>
              <a:off x="168275" y="2368550"/>
              <a:ext cx="685800" cy="533400"/>
            </a:xfrm>
            <a:prstGeom prst="ellipse">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32" name="Google Shape;532;p107"/>
            <p:cNvSpPr/>
            <p:nvPr/>
          </p:nvSpPr>
          <p:spPr>
            <a:xfrm>
              <a:off x="484361" y="2919672"/>
              <a:ext cx="746126" cy="381000"/>
            </a:xfrm>
            <a:prstGeom prst="ellipse">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ini</a:t>
              </a:r>
              <a:endParaRPr sz="1600" b="0" i="0" u="none" strike="noStrike" cap="none">
                <a:solidFill>
                  <a:schemeClr val="dk1"/>
                </a:solidFill>
                <a:latin typeface="Twentieth Century"/>
                <a:ea typeface="Twentieth Century"/>
                <a:cs typeface="Twentieth Century"/>
                <a:sym typeface="Twentieth Century"/>
              </a:endParaRPr>
            </a:p>
          </p:txBody>
        </p:sp>
        <p:sp>
          <p:nvSpPr>
            <p:cNvPr id="533" name="Google Shape;533;p107"/>
            <p:cNvSpPr/>
            <p:nvPr/>
          </p:nvSpPr>
          <p:spPr>
            <a:xfrm>
              <a:off x="2073275" y="37401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34" name="Google Shape;534;p107"/>
            <p:cNvSpPr/>
            <p:nvPr/>
          </p:nvSpPr>
          <p:spPr>
            <a:xfrm>
              <a:off x="473074" y="27495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35" name="Google Shape;535;p107"/>
            <p:cNvSpPr/>
            <p:nvPr/>
          </p:nvSpPr>
          <p:spPr>
            <a:xfrm>
              <a:off x="2149474" y="19875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36" name="Google Shape;536;p107"/>
            <p:cNvSpPr/>
            <p:nvPr/>
          </p:nvSpPr>
          <p:spPr>
            <a:xfrm>
              <a:off x="4130675" y="22161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37" name="Google Shape;537;p107"/>
            <p:cNvSpPr/>
            <p:nvPr/>
          </p:nvSpPr>
          <p:spPr>
            <a:xfrm>
              <a:off x="3978275" y="47307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38" name="Google Shape;538;p107"/>
            <p:cNvSpPr/>
            <p:nvPr/>
          </p:nvSpPr>
          <p:spPr>
            <a:xfrm>
              <a:off x="5959475" y="32067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F</a:t>
              </a:r>
              <a:endParaRPr sz="1600" b="0" i="0" u="none" strike="noStrike" cap="none">
                <a:solidFill>
                  <a:schemeClr val="dk1"/>
                </a:solidFill>
                <a:latin typeface="Twentieth Century"/>
                <a:ea typeface="Twentieth Century"/>
                <a:cs typeface="Twentieth Century"/>
                <a:sym typeface="Twentieth Century"/>
              </a:endParaRPr>
            </a:p>
          </p:txBody>
        </p:sp>
        <p:sp>
          <p:nvSpPr>
            <p:cNvPr id="539" name="Google Shape;539;p107"/>
            <p:cNvSpPr/>
            <p:nvPr/>
          </p:nvSpPr>
          <p:spPr>
            <a:xfrm>
              <a:off x="3978275" y="36639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D</a:t>
              </a:r>
              <a:endParaRPr sz="1600" b="0" i="0" u="none" strike="noStrike" cap="none">
                <a:solidFill>
                  <a:schemeClr val="dk1"/>
                </a:solidFill>
                <a:latin typeface="Twentieth Century"/>
                <a:ea typeface="Twentieth Century"/>
                <a:cs typeface="Twentieth Century"/>
                <a:sym typeface="Twentieth Century"/>
              </a:endParaRPr>
            </a:p>
          </p:txBody>
        </p:sp>
        <p:sp>
          <p:nvSpPr>
            <p:cNvPr id="540" name="Google Shape;540;p107"/>
            <p:cNvSpPr/>
            <p:nvPr/>
          </p:nvSpPr>
          <p:spPr>
            <a:xfrm>
              <a:off x="7026275" y="4730749"/>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G</a:t>
              </a:r>
              <a:endParaRPr sz="1600" b="0" i="0" u="none" strike="noStrike" cap="none">
                <a:solidFill>
                  <a:schemeClr val="dk1"/>
                </a:solidFill>
                <a:latin typeface="Twentieth Century"/>
                <a:ea typeface="Twentieth Century"/>
                <a:cs typeface="Twentieth Century"/>
                <a:sym typeface="Twentieth Century"/>
              </a:endParaRPr>
            </a:p>
          </p:txBody>
        </p:sp>
        <p:sp>
          <p:nvSpPr>
            <p:cNvPr id="541" name="Google Shape;541;p107"/>
            <p:cNvSpPr txBox="1"/>
            <p:nvPr/>
          </p:nvSpPr>
          <p:spPr>
            <a:xfrm>
              <a:off x="2454275" y="2063750"/>
              <a:ext cx="208228" cy="3678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542" name="Google Shape;542;p107"/>
            <p:cNvSpPr txBox="1"/>
            <p:nvPr/>
          </p:nvSpPr>
          <p:spPr>
            <a:xfrm>
              <a:off x="2345545" y="2164198"/>
              <a:ext cx="347287"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A</a:t>
              </a:r>
              <a:endParaRPr sz="1600" b="0" i="0" u="none" strike="noStrike" cap="none">
                <a:solidFill>
                  <a:schemeClr val="dk1"/>
                </a:solidFill>
                <a:latin typeface="Twentieth Century"/>
                <a:ea typeface="Twentieth Century"/>
                <a:cs typeface="Twentieth Century"/>
                <a:sym typeface="Twentieth Century"/>
              </a:endParaRPr>
            </a:p>
          </p:txBody>
        </p:sp>
        <p:sp>
          <p:nvSpPr>
            <p:cNvPr id="543" name="Google Shape;543;p107"/>
            <p:cNvSpPr/>
            <p:nvPr/>
          </p:nvSpPr>
          <p:spPr>
            <a:xfrm>
              <a:off x="2284147" y="3913976"/>
              <a:ext cx="32379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B</a:t>
              </a:r>
              <a:endParaRPr sz="1600" b="0" i="0" u="none" strike="noStrike" cap="none">
                <a:solidFill>
                  <a:schemeClr val="dk1"/>
                </a:solidFill>
                <a:latin typeface="Twentieth Century"/>
                <a:ea typeface="Twentieth Century"/>
                <a:cs typeface="Twentieth Century"/>
                <a:sym typeface="Twentieth Century"/>
              </a:endParaRPr>
            </a:p>
          </p:txBody>
        </p:sp>
        <p:sp>
          <p:nvSpPr>
            <p:cNvPr id="544" name="Google Shape;544;p107"/>
            <p:cNvSpPr/>
            <p:nvPr/>
          </p:nvSpPr>
          <p:spPr>
            <a:xfrm>
              <a:off x="4333311" y="2413684"/>
              <a:ext cx="347287"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C</a:t>
              </a:r>
              <a:endParaRPr sz="1600" b="0" i="0" u="none" strike="noStrike" cap="none">
                <a:solidFill>
                  <a:schemeClr val="dk1"/>
                </a:solidFill>
                <a:latin typeface="Twentieth Century"/>
                <a:ea typeface="Twentieth Century"/>
                <a:cs typeface="Twentieth Century"/>
                <a:sym typeface="Twentieth Century"/>
              </a:endParaRPr>
            </a:p>
          </p:txBody>
        </p:sp>
        <p:sp>
          <p:nvSpPr>
            <p:cNvPr id="545" name="Google Shape;545;p107"/>
            <p:cNvSpPr/>
            <p:nvPr/>
          </p:nvSpPr>
          <p:spPr>
            <a:xfrm>
              <a:off x="4178640" y="4911901"/>
              <a:ext cx="309341"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E</a:t>
              </a:r>
              <a:endParaRPr sz="1600" b="0" i="0" u="none" strike="noStrike" cap="none">
                <a:solidFill>
                  <a:schemeClr val="dk1"/>
                </a:solidFill>
                <a:latin typeface="Twentieth Century"/>
                <a:ea typeface="Twentieth Century"/>
                <a:cs typeface="Twentieth Century"/>
                <a:sym typeface="Twentieth Century"/>
              </a:endParaRPr>
            </a:p>
          </p:txBody>
        </p:sp>
        <p:cxnSp>
          <p:nvCxnSpPr>
            <p:cNvPr id="546" name="Google Shape;546;p107"/>
            <p:cNvCxnSpPr/>
            <p:nvPr/>
          </p:nvCxnSpPr>
          <p:spPr>
            <a:xfrm rot="10800000" flipH="1">
              <a:off x="1235075" y="2482562"/>
              <a:ext cx="914398" cy="495588"/>
            </a:xfrm>
            <a:prstGeom prst="straightConnector1">
              <a:avLst/>
            </a:prstGeom>
            <a:noFill/>
            <a:ln w="19050" cap="flat" cmpd="sng">
              <a:solidFill>
                <a:schemeClr val="dk1"/>
              </a:solidFill>
              <a:prstDash val="solid"/>
              <a:round/>
              <a:headEnd type="none" w="sm" len="sm"/>
              <a:tailEnd type="triangle" w="med" len="med"/>
            </a:ln>
          </p:spPr>
        </p:cxnSp>
        <p:cxnSp>
          <p:nvCxnSpPr>
            <p:cNvPr id="547" name="Google Shape;547;p107"/>
            <p:cNvCxnSpPr/>
            <p:nvPr/>
          </p:nvCxnSpPr>
          <p:spPr>
            <a:xfrm rot="10800000" flipH="1">
              <a:off x="2835275" y="4044950"/>
              <a:ext cx="1143000" cy="76200"/>
            </a:xfrm>
            <a:prstGeom prst="straightConnector1">
              <a:avLst/>
            </a:prstGeom>
            <a:noFill/>
            <a:ln w="19050" cap="flat" cmpd="sng">
              <a:solidFill>
                <a:schemeClr val="dk1"/>
              </a:solidFill>
              <a:prstDash val="solid"/>
              <a:round/>
              <a:headEnd type="none" w="sm" len="sm"/>
              <a:tailEnd type="triangle" w="med" len="med"/>
            </a:ln>
          </p:spPr>
        </p:cxnSp>
        <p:cxnSp>
          <p:nvCxnSpPr>
            <p:cNvPr id="548" name="Google Shape;548;p107"/>
            <p:cNvCxnSpPr>
              <a:stCxn id="534" idx="5"/>
            </p:cNvCxnSpPr>
            <p:nvPr/>
          </p:nvCxnSpPr>
          <p:spPr>
            <a:xfrm>
              <a:off x="1113848" y="3365171"/>
              <a:ext cx="1035600" cy="527400"/>
            </a:xfrm>
            <a:prstGeom prst="straightConnector1">
              <a:avLst/>
            </a:prstGeom>
            <a:noFill/>
            <a:ln w="19050" cap="flat" cmpd="sng">
              <a:solidFill>
                <a:schemeClr val="dk1"/>
              </a:solidFill>
              <a:prstDash val="solid"/>
              <a:round/>
              <a:headEnd type="none" w="sm" len="sm"/>
              <a:tailEnd type="triangle" w="med" len="med"/>
            </a:ln>
          </p:spPr>
        </p:cxnSp>
        <p:cxnSp>
          <p:nvCxnSpPr>
            <p:cNvPr id="549" name="Google Shape;549;p107"/>
            <p:cNvCxnSpPr/>
            <p:nvPr/>
          </p:nvCxnSpPr>
          <p:spPr>
            <a:xfrm>
              <a:off x="2911475" y="2368550"/>
              <a:ext cx="1219200" cy="76200"/>
            </a:xfrm>
            <a:prstGeom prst="straightConnector1">
              <a:avLst/>
            </a:prstGeom>
            <a:noFill/>
            <a:ln w="19050" cap="flat" cmpd="sng">
              <a:solidFill>
                <a:schemeClr val="dk1"/>
              </a:solidFill>
              <a:prstDash val="solid"/>
              <a:round/>
              <a:headEnd type="none" w="sm" len="sm"/>
              <a:tailEnd type="triangle" w="med" len="med"/>
            </a:ln>
          </p:spPr>
        </p:cxnSp>
        <p:cxnSp>
          <p:nvCxnSpPr>
            <p:cNvPr id="550" name="Google Shape;550;p107"/>
            <p:cNvCxnSpPr/>
            <p:nvPr/>
          </p:nvCxnSpPr>
          <p:spPr>
            <a:xfrm>
              <a:off x="2823988" y="4248515"/>
              <a:ext cx="1154287" cy="710835"/>
            </a:xfrm>
            <a:prstGeom prst="straightConnector1">
              <a:avLst/>
            </a:prstGeom>
            <a:noFill/>
            <a:ln w="19050" cap="flat" cmpd="sng">
              <a:solidFill>
                <a:schemeClr val="dk1"/>
              </a:solidFill>
              <a:prstDash val="solid"/>
              <a:round/>
              <a:headEnd type="none" w="sm" len="sm"/>
              <a:tailEnd type="triangle" w="med" len="med"/>
            </a:ln>
          </p:spPr>
        </p:cxnSp>
        <p:cxnSp>
          <p:nvCxnSpPr>
            <p:cNvPr id="551" name="Google Shape;551;p107"/>
            <p:cNvCxnSpPr/>
            <p:nvPr/>
          </p:nvCxnSpPr>
          <p:spPr>
            <a:xfrm rot="10800000" flipH="1">
              <a:off x="4740275" y="3892550"/>
              <a:ext cx="1447800" cy="1219200"/>
            </a:xfrm>
            <a:prstGeom prst="straightConnector1">
              <a:avLst/>
            </a:prstGeom>
            <a:noFill/>
            <a:ln w="19050" cap="flat" cmpd="sng">
              <a:solidFill>
                <a:schemeClr val="dk1"/>
              </a:solidFill>
              <a:prstDash val="solid"/>
              <a:round/>
              <a:headEnd type="none" w="sm" len="sm"/>
              <a:tailEnd type="triangle" w="med" len="med"/>
            </a:ln>
          </p:spPr>
        </p:cxnSp>
        <p:cxnSp>
          <p:nvCxnSpPr>
            <p:cNvPr id="552" name="Google Shape;552;p107"/>
            <p:cNvCxnSpPr/>
            <p:nvPr/>
          </p:nvCxnSpPr>
          <p:spPr>
            <a:xfrm rot="10800000" flipH="1">
              <a:off x="4740275" y="3663950"/>
              <a:ext cx="1219200" cy="304800"/>
            </a:xfrm>
            <a:prstGeom prst="straightConnector1">
              <a:avLst/>
            </a:prstGeom>
            <a:noFill/>
            <a:ln w="19050" cap="flat" cmpd="sng">
              <a:solidFill>
                <a:schemeClr val="dk1"/>
              </a:solidFill>
              <a:prstDash val="solid"/>
              <a:round/>
              <a:headEnd type="none" w="sm" len="sm"/>
              <a:tailEnd type="triangle" w="med" len="med"/>
            </a:ln>
          </p:spPr>
        </p:cxnSp>
        <p:cxnSp>
          <p:nvCxnSpPr>
            <p:cNvPr id="553" name="Google Shape;553;p107"/>
            <p:cNvCxnSpPr/>
            <p:nvPr/>
          </p:nvCxnSpPr>
          <p:spPr>
            <a:xfrm>
              <a:off x="4889853" y="2646991"/>
              <a:ext cx="1069621" cy="712159"/>
            </a:xfrm>
            <a:prstGeom prst="straightConnector1">
              <a:avLst/>
            </a:prstGeom>
            <a:noFill/>
            <a:ln w="19050" cap="flat" cmpd="sng">
              <a:solidFill>
                <a:schemeClr val="dk1"/>
              </a:solidFill>
              <a:prstDash val="solid"/>
              <a:round/>
              <a:headEnd type="none" w="sm" len="sm"/>
              <a:tailEnd type="triangle" w="med" len="med"/>
            </a:ln>
          </p:spPr>
        </p:cxnSp>
        <p:cxnSp>
          <p:nvCxnSpPr>
            <p:cNvPr id="554" name="Google Shape;554;p107"/>
            <p:cNvCxnSpPr/>
            <p:nvPr/>
          </p:nvCxnSpPr>
          <p:spPr>
            <a:xfrm>
              <a:off x="4740274" y="5209575"/>
              <a:ext cx="2286001" cy="0"/>
            </a:xfrm>
            <a:prstGeom prst="straightConnector1">
              <a:avLst/>
            </a:prstGeom>
            <a:noFill/>
            <a:ln w="19050" cap="flat" cmpd="sng">
              <a:solidFill>
                <a:schemeClr val="dk1"/>
              </a:solidFill>
              <a:prstDash val="solid"/>
              <a:round/>
              <a:headEnd type="none" w="sm" len="sm"/>
              <a:tailEnd type="triangle" w="med" len="med"/>
            </a:ln>
          </p:spPr>
        </p:cxnSp>
        <p:cxnSp>
          <p:nvCxnSpPr>
            <p:cNvPr id="555" name="Google Shape;555;p107"/>
            <p:cNvCxnSpPr/>
            <p:nvPr/>
          </p:nvCxnSpPr>
          <p:spPr>
            <a:xfrm>
              <a:off x="6721475" y="3587750"/>
              <a:ext cx="1066800" cy="0"/>
            </a:xfrm>
            <a:prstGeom prst="straightConnector1">
              <a:avLst/>
            </a:prstGeom>
            <a:noFill/>
            <a:ln w="19050" cap="flat" cmpd="sng">
              <a:solidFill>
                <a:schemeClr val="dk1"/>
              </a:solidFill>
              <a:prstDash val="solid"/>
              <a:round/>
              <a:headEnd type="none" w="sm" len="sm"/>
              <a:tailEnd type="triangle" w="med" len="med"/>
            </a:ln>
          </p:spPr>
        </p:cxnSp>
        <p:sp>
          <p:nvSpPr>
            <p:cNvPr id="556" name="Google Shape;556;p107"/>
            <p:cNvSpPr/>
            <p:nvPr/>
          </p:nvSpPr>
          <p:spPr>
            <a:xfrm>
              <a:off x="7870119" y="3227352"/>
              <a:ext cx="750713" cy="721246"/>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fin</a:t>
              </a:r>
              <a:endParaRPr sz="1600" b="0" i="0" u="none" strike="noStrike" cap="none">
                <a:solidFill>
                  <a:schemeClr val="dk1"/>
                </a:solidFill>
                <a:latin typeface="Twentieth Century"/>
                <a:ea typeface="Twentieth Century"/>
                <a:cs typeface="Twentieth Century"/>
                <a:sym typeface="Twentieth Century"/>
              </a:endParaRPr>
            </a:p>
          </p:txBody>
        </p:sp>
        <p:cxnSp>
          <p:nvCxnSpPr>
            <p:cNvPr id="557" name="Google Shape;557;p107"/>
            <p:cNvCxnSpPr>
              <a:endCxn id="556" idx="3"/>
            </p:cNvCxnSpPr>
            <p:nvPr/>
          </p:nvCxnSpPr>
          <p:spPr>
            <a:xfrm rot="10800000" flipH="1">
              <a:off x="7483558" y="3842974"/>
              <a:ext cx="496500" cy="887700"/>
            </a:xfrm>
            <a:prstGeom prst="straightConnector1">
              <a:avLst/>
            </a:prstGeom>
            <a:noFill/>
            <a:ln w="19050" cap="flat" cmpd="sng">
              <a:solidFill>
                <a:schemeClr val="dk1"/>
              </a:solidFill>
              <a:prstDash val="solid"/>
              <a:round/>
              <a:headEnd type="none" w="sm" len="sm"/>
              <a:tailEnd type="triangle" w="med" len="med"/>
            </a:ln>
          </p:spPr>
        </p:cxnSp>
        <p:sp>
          <p:nvSpPr>
            <p:cNvPr id="558" name="Google Shape;558;p107"/>
            <p:cNvSpPr txBox="1"/>
            <p:nvPr/>
          </p:nvSpPr>
          <p:spPr>
            <a:xfrm>
              <a:off x="1483335" y="2457553"/>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0 </a:t>
              </a:r>
              <a:endParaRPr sz="1600" b="0" i="0" u="none" strike="noStrike" cap="none">
                <a:solidFill>
                  <a:schemeClr val="dk1"/>
                </a:solidFill>
                <a:latin typeface="Twentieth Century"/>
                <a:ea typeface="Twentieth Century"/>
                <a:cs typeface="Twentieth Century"/>
                <a:sym typeface="Twentieth Century"/>
              </a:endParaRPr>
            </a:p>
          </p:txBody>
        </p:sp>
        <p:sp>
          <p:nvSpPr>
            <p:cNvPr id="559" name="Google Shape;559;p107"/>
            <p:cNvSpPr txBox="1"/>
            <p:nvPr/>
          </p:nvSpPr>
          <p:spPr>
            <a:xfrm>
              <a:off x="1568631" y="3331206"/>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0 </a:t>
              </a:r>
              <a:endParaRPr sz="1600" b="0" i="0" u="none" strike="noStrike" cap="none">
                <a:solidFill>
                  <a:schemeClr val="dk1"/>
                </a:solidFill>
                <a:latin typeface="Twentieth Century"/>
                <a:ea typeface="Twentieth Century"/>
                <a:cs typeface="Twentieth Century"/>
                <a:sym typeface="Twentieth Century"/>
              </a:endParaRPr>
            </a:p>
          </p:txBody>
        </p:sp>
        <p:sp>
          <p:nvSpPr>
            <p:cNvPr id="560" name="Google Shape;560;p107"/>
            <p:cNvSpPr txBox="1"/>
            <p:nvPr/>
          </p:nvSpPr>
          <p:spPr>
            <a:xfrm>
              <a:off x="3296730" y="2078449"/>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2 </a:t>
              </a:r>
              <a:endParaRPr sz="1600" b="0" i="0" u="none" strike="noStrike" cap="none">
                <a:solidFill>
                  <a:schemeClr val="dk1"/>
                </a:solidFill>
                <a:latin typeface="Twentieth Century"/>
                <a:ea typeface="Twentieth Century"/>
                <a:cs typeface="Twentieth Century"/>
                <a:sym typeface="Twentieth Century"/>
              </a:endParaRPr>
            </a:p>
          </p:txBody>
        </p:sp>
        <p:sp>
          <p:nvSpPr>
            <p:cNvPr id="561" name="Google Shape;561;p107"/>
            <p:cNvSpPr txBox="1"/>
            <p:nvPr/>
          </p:nvSpPr>
          <p:spPr>
            <a:xfrm>
              <a:off x="3225749" y="377002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5 </a:t>
              </a:r>
              <a:endParaRPr sz="1600" b="0" i="0" u="none" strike="noStrike" cap="none">
                <a:solidFill>
                  <a:schemeClr val="dk1"/>
                </a:solidFill>
                <a:latin typeface="Twentieth Century"/>
                <a:ea typeface="Twentieth Century"/>
                <a:cs typeface="Twentieth Century"/>
                <a:sym typeface="Twentieth Century"/>
              </a:endParaRPr>
            </a:p>
          </p:txBody>
        </p:sp>
        <p:sp>
          <p:nvSpPr>
            <p:cNvPr id="562" name="Google Shape;562;p107"/>
            <p:cNvSpPr txBox="1"/>
            <p:nvPr/>
          </p:nvSpPr>
          <p:spPr>
            <a:xfrm>
              <a:off x="5273674" y="26733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563" name="Google Shape;563;p107"/>
            <p:cNvSpPr txBox="1"/>
            <p:nvPr/>
          </p:nvSpPr>
          <p:spPr>
            <a:xfrm>
              <a:off x="5087368" y="3515269"/>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7 </a:t>
              </a:r>
              <a:endParaRPr sz="1600" b="0" i="0" u="none" strike="noStrike" cap="none">
                <a:solidFill>
                  <a:schemeClr val="dk1"/>
                </a:solidFill>
                <a:latin typeface="Twentieth Century"/>
                <a:ea typeface="Twentieth Century"/>
                <a:cs typeface="Twentieth Century"/>
                <a:sym typeface="Twentieth Century"/>
              </a:endParaRPr>
            </a:p>
          </p:txBody>
        </p:sp>
        <p:sp>
          <p:nvSpPr>
            <p:cNvPr id="564" name="Google Shape;564;p107"/>
            <p:cNvSpPr txBox="1"/>
            <p:nvPr/>
          </p:nvSpPr>
          <p:spPr>
            <a:xfrm>
              <a:off x="5121275" y="42735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565" name="Google Shape;565;p107"/>
            <p:cNvSpPr txBox="1"/>
            <p:nvPr/>
          </p:nvSpPr>
          <p:spPr>
            <a:xfrm>
              <a:off x="3271844" y="4310969"/>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5 </a:t>
              </a:r>
              <a:endParaRPr sz="1600" b="0" i="0" u="none" strike="noStrike" cap="none">
                <a:solidFill>
                  <a:schemeClr val="dk1"/>
                </a:solidFill>
                <a:latin typeface="Twentieth Century"/>
                <a:ea typeface="Twentieth Century"/>
                <a:cs typeface="Twentieth Century"/>
                <a:sym typeface="Twentieth Century"/>
              </a:endParaRPr>
            </a:p>
          </p:txBody>
        </p:sp>
        <p:sp>
          <p:nvSpPr>
            <p:cNvPr id="566" name="Google Shape;566;p107"/>
            <p:cNvSpPr txBox="1"/>
            <p:nvPr/>
          </p:nvSpPr>
          <p:spPr>
            <a:xfrm>
              <a:off x="5730875" y="48831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567" name="Google Shape;567;p107"/>
            <p:cNvSpPr txBox="1"/>
            <p:nvPr/>
          </p:nvSpPr>
          <p:spPr>
            <a:xfrm>
              <a:off x="7407275" y="4044950"/>
              <a:ext cx="39968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4 </a:t>
              </a:r>
              <a:endParaRPr sz="1600" b="0" i="0" u="none" strike="noStrike" cap="none">
                <a:solidFill>
                  <a:schemeClr val="dk1"/>
                </a:solidFill>
                <a:latin typeface="Twentieth Century"/>
                <a:ea typeface="Twentieth Century"/>
                <a:cs typeface="Twentieth Century"/>
                <a:sym typeface="Twentieth Century"/>
              </a:endParaRPr>
            </a:p>
          </p:txBody>
        </p:sp>
        <p:sp>
          <p:nvSpPr>
            <p:cNvPr id="568" name="Google Shape;568;p107"/>
            <p:cNvSpPr txBox="1"/>
            <p:nvPr/>
          </p:nvSpPr>
          <p:spPr>
            <a:xfrm>
              <a:off x="7026275" y="3282950"/>
              <a:ext cx="336446" cy="2697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Twentieth Century"/>
                  <a:ea typeface="Twentieth Century"/>
                  <a:cs typeface="Twentieth Century"/>
                  <a:sym typeface="Twentieth Century"/>
                </a:rPr>
                <a:t>5</a:t>
              </a:r>
              <a:endParaRPr sz="1600" b="0" i="0" u="none" strike="noStrike" cap="none">
                <a:solidFill>
                  <a:schemeClr val="dk1"/>
                </a:solidFill>
                <a:latin typeface="Twentieth Century"/>
                <a:ea typeface="Twentieth Century"/>
                <a:cs typeface="Twentieth Century"/>
                <a:sym typeface="Twentieth Century"/>
              </a:endParaRPr>
            </a:p>
          </p:txBody>
        </p:sp>
      </p:grpSp>
      <p:sp>
        <p:nvSpPr>
          <p:cNvPr id="569" name="Google Shape;569;p107"/>
          <p:cNvSpPr txBox="1"/>
          <p:nvPr/>
        </p:nvSpPr>
        <p:spPr>
          <a:xfrm>
            <a:off x="3753253" y="2831918"/>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Te=0</a:t>
            </a:r>
            <a:endParaRPr sz="1600" b="0" i="0" u="none" strike="noStrike" cap="none">
              <a:solidFill>
                <a:srgbClr val="00B050"/>
              </a:solidFill>
              <a:latin typeface="Twentieth Century"/>
              <a:ea typeface="Twentieth Century"/>
              <a:cs typeface="Twentieth Century"/>
              <a:sym typeface="Twentieth Century"/>
            </a:endParaRPr>
          </a:p>
        </p:txBody>
      </p:sp>
      <p:sp>
        <p:nvSpPr>
          <p:cNvPr id="570" name="Google Shape;570;p107"/>
          <p:cNvSpPr txBox="1"/>
          <p:nvPr/>
        </p:nvSpPr>
        <p:spPr>
          <a:xfrm>
            <a:off x="3732218" y="5342965"/>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Te=0</a:t>
            </a:r>
            <a:endParaRPr sz="1600" b="0" i="0" u="none" strike="noStrike" cap="none">
              <a:solidFill>
                <a:srgbClr val="00B050"/>
              </a:solidFill>
              <a:latin typeface="Twentieth Century"/>
              <a:ea typeface="Twentieth Century"/>
              <a:cs typeface="Twentieth Century"/>
              <a:sym typeface="Twentieth Century"/>
            </a:endParaRPr>
          </a:p>
        </p:txBody>
      </p:sp>
      <p:sp>
        <p:nvSpPr>
          <p:cNvPr id="571" name="Google Shape;571;p107"/>
          <p:cNvSpPr txBox="1"/>
          <p:nvPr/>
        </p:nvSpPr>
        <p:spPr>
          <a:xfrm>
            <a:off x="5490660" y="2999170"/>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Te=2</a:t>
            </a:r>
            <a:endParaRPr sz="1600" b="0" i="0" u="none" strike="noStrike" cap="none">
              <a:solidFill>
                <a:srgbClr val="00B050"/>
              </a:solidFill>
              <a:latin typeface="Twentieth Century"/>
              <a:ea typeface="Twentieth Century"/>
              <a:cs typeface="Twentieth Century"/>
              <a:sym typeface="Twentieth Century"/>
            </a:endParaRPr>
          </a:p>
        </p:txBody>
      </p:sp>
      <p:sp>
        <p:nvSpPr>
          <p:cNvPr id="572" name="Google Shape;572;p107"/>
          <p:cNvSpPr txBox="1"/>
          <p:nvPr/>
        </p:nvSpPr>
        <p:spPr>
          <a:xfrm>
            <a:off x="5379505" y="4385357"/>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Te=5</a:t>
            </a:r>
            <a:endParaRPr sz="1600" b="0" i="0" u="none" strike="noStrike" cap="none">
              <a:solidFill>
                <a:srgbClr val="00B050"/>
              </a:solidFill>
              <a:latin typeface="Twentieth Century"/>
              <a:ea typeface="Twentieth Century"/>
              <a:cs typeface="Twentieth Century"/>
              <a:sym typeface="Twentieth Century"/>
            </a:endParaRPr>
          </a:p>
        </p:txBody>
      </p:sp>
      <p:sp>
        <p:nvSpPr>
          <p:cNvPr id="573" name="Google Shape;573;p107"/>
          <p:cNvSpPr txBox="1"/>
          <p:nvPr/>
        </p:nvSpPr>
        <p:spPr>
          <a:xfrm>
            <a:off x="5195665" y="5996849"/>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Te=5</a:t>
            </a:r>
            <a:endParaRPr sz="1600" b="0" i="0" u="none" strike="noStrike" cap="none">
              <a:solidFill>
                <a:srgbClr val="00B050"/>
              </a:solidFill>
              <a:latin typeface="Twentieth Century"/>
              <a:ea typeface="Twentieth Century"/>
              <a:cs typeface="Twentieth Century"/>
              <a:sym typeface="Twentieth Century"/>
            </a:endParaRPr>
          </a:p>
        </p:txBody>
      </p:sp>
      <p:sp>
        <p:nvSpPr>
          <p:cNvPr id="574" name="Google Shape;574;p107"/>
          <p:cNvSpPr txBox="1"/>
          <p:nvPr/>
        </p:nvSpPr>
        <p:spPr>
          <a:xfrm>
            <a:off x="7315092" y="3858157"/>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Te=12</a:t>
            </a:r>
            <a:endParaRPr sz="1600" b="0" i="0" u="none" strike="noStrike" cap="none">
              <a:solidFill>
                <a:srgbClr val="00B050"/>
              </a:solidFill>
              <a:latin typeface="Twentieth Century"/>
              <a:ea typeface="Twentieth Century"/>
              <a:cs typeface="Twentieth Century"/>
              <a:sym typeface="Twentieth Century"/>
            </a:endParaRPr>
          </a:p>
        </p:txBody>
      </p:sp>
      <p:sp>
        <p:nvSpPr>
          <p:cNvPr id="575" name="Google Shape;575;p107"/>
          <p:cNvSpPr txBox="1"/>
          <p:nvPr/>
        </p:nvSpPr>
        <p:spPr>
          <a:xfrm>
            <a:off x="7903288" y="6057504"/>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Te=9</a:t>
            </a:r>
            <a:endParaRPr sz="1600" b="0" i="0" u="none" strike="noStrike" cap="none">
              <a:solidFill>
                <a:srgbClr val="00B050"/>
              </a:solidFill>
              <a:latin typeface="Twentieth Century"/>
              <a:ea typeface="Twentieth Century"/>
              <a:cs typeface="Twentieth Century"/>
              <a:sym typeface="Twentieth Century"/>
            </a:endParaRPr>
          </a:p>
        </p:txBody>
      </p:sp>
      <p:sp>
        <p:nvSpPr>
          <p:cNvPr id="576" name="Google Shape;576;p107"/>
          <p:cNvSpPr txBox="1"/>
          <p:nvPr/>
        </p:nvSpPr>
        <p:spPr>
          <a:xfrm>
            <a:off x="8982879" y="3948838"/>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B050"/>
                </a:solidFill>
                <a:latin typeface="Twentieth Century"/>
                <a:ea typeface="Twentieth Century"/>
                <a:cs typeface="Twentieth Century"/>
                <a:sym typeface="Twentieth Century"/>
              </a:rPr>
              <a:t>Te=17</a:t>
            </a:r>
            <a:endParaRPr sz="1600" b="0" i="0" u="none" strike="noStrike" cap="none">
              <a:solidFill>
                <a:srgbClr val="00B050"/>
              </a:solidFill>
              <a:latin typeface="Twentieth Century"/>
              <a:ea typeface="Twentieth Century"/>
              <a:cs typeface="Twentieth Century"/>
              <a:sym typeface="Twentieth Century"/>
            </a:endParaRPr>
          </a:p>
        </p:txBody>
      </p:sp>
      <p:sp>
        <p:nvSpPr>
          <p:cNvPr id="577" name="Google Shape;577;p107"/>
          <p:cNvSpPr txBox="1"/>
          <p:nvPr/>
        </p:nvSpPr>
        <p:spPr>
          <a:xfrm>
            <a:off x="4415992" y="5331606"/>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Ta=0</a:t>
            </a:r>
            <a:endParaRPr sz="1600" b="0" i="0" u="none" strike="noStrike" cap="none">
              <a:solidFill>
                <a:srgbClr val="FF0000"/>
              </a:solidFill>
              <a:latin typeface="Twentieth Century"/>
              <a:ea typeface="Twentieth Century"/>
              <a:cs typeface="Twentieth Century"/>
              <a:sym typeface="Twentieth Century"/>
            </a:endParaRPr>
          </a:p>
        </p:txBody>
      </p:sp>
      <p:sp>
        <p:nvSpPr>
          <p:cNvPr id="578" name="Google Shape;578;p107"/>
          <p:cNvSpPr txBox="1"/>
          <p:nvPr/>
        </p:nvSpPr>
        <p:spPr>
          <a:xfrm>
            <a:off x="4406141" y="2813917"/>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Ta=6</a:t>
            </a:r>
            <a:endParaRPr sz="1600" b="0" i="0" u="none" strike="noStrike" cap="none">
              <a:solidFill>
                <a:srgbClr val="FF0000"/>
              </a:solidFill>
              <a:latin typeface="Twentieth Century"/>
              <a:ea typeface="Twentieth Century"/>
              <a:cs typeface="Twentieth Century"/>
              <a:sym typeface="Twentieth Century"/>
            </a:endParaRPr>
          </a:p>
        </p:txBody>
      </p:sp>
      <p:sp>
        <p:nvSpPr>
          <p:cNvPr id="579" name="Google Shape;579;p107"/>
          <p:cNvSpPr txBox="1"/>
          <p:nvPr/>
        </p:nvSpPr>
        <p:spPr>
          <a:xfrm>
            <a:off x="6193232" y="2977016"/>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Ta=8</a:t>
            </a:r>
            <a:endParaRPr sz="1600" b="0" i="0" u="none" strike="noStrike" cap="none">
              <a:solidFill>
                <a:srgbClr val="FF0000"/>
              </a:solidFill>
              <a:latin typeface="Twentieth Century"/>
              <a:ea typeface="Twentieth Century"/>
              <a:cs typeface="Twentieth Century"/>
              <a:sym typeface="Twentieth Century"/>
            </a:endParaRPr>
          </a:p>
        </p:txBody>
      </p:sp>
      <p:sp>
        <p:nvSpPr>
          <p:cNvPr id="580" name="Google Shape;580;p107"/>
          <p:cNvSpPr txBox="1"/>
          <p:nvPr/>
        </p:nvSpPr>
        <p:spPr>
          <a:xfrm>
            <a:off x="6293212" y="6020880"/>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Ta=8</a:t>
            </a:r>
            <a:endParaRPr sz="1600" b="0" i="0" u="none" strike="noStrike" cap="none">
              <a:solidFill>
                <a:srgbClr val="FF0000"/>
              </a:solidFill>
              <a:latin typeface="Twentieth Century"/>
              <a:ea typeface="Twentieth Century"/>
              <a:cs typeface="Twentieth Century"/>
              <a:sym typeface="Twentieth Century"/>
            </a:endParaRPr>
          </a:p>
        </p:txBody>
      </p:sp>
      <p:sp>
        <p:nvSpPr>
          <p:cNvPr id="581" name="Google Shape;581;p107"/>
          <p:cNvSpPr txBox="1"/>
          <p:nvPr/>
        </p:nvSpPr>
        <p:spPr>
          <a:xfrm>
            <a:off x="6040204" y="4377649"/>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Ta=5</a:t>
            </a:r>
            <a:endParaRPr sz="1600" b="0" i="0" u="none" strike="noStrike" cap="none">
              <a:solidFill>
                <a:srgbClr val="FF0000"/>
              </a:solidFill>
              <a:latin typeface="Twentieth Century"/>
              <a:ea typeface="Twentieth Century"/>
              <a:cs typeface="Twentieth Century"/>
              <a:sym typeface="Twentieth Century"/>
            </a:endParaRPr>
          </a:p>
        </p:txBody>
      </p:sp>
      <p:sp>
        <p:nvSpPr>
          <p:cNvPr id="582" name="Google Shape;582;p107"/>
          <p:cNvSpPr txBox="1"/>
          <p:nvPr/>
        </p:nvSpPr>
        <p:spPr>
          <a:xfrm>
            <a:off x="7913492" y="3861319"/>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Ta=12</a:t>
            </a:r>
            <a:endParaRPr sz="1600" b="0" i="0" u="none" strike="noStrike" cap="none">
              <a:solidFill>
                <a:srgbClr val="FF0000"/>
              </a:solidFill>
              <a:latin typeface="Twentieth Century"/>
              <a:ea typeface="Twentieth Century"/>
              <a:cs typeface="Twentieth Century"/>
              <a:sym typeface="Twentieth Century"/>
            </a:endParaRPr>
          </a:p>
        </p:txBody>
      </p:sp>
      <p:sp>
        <p:nvSpPr>
          <p:cNvPr id="583" name="Google Shape;583;p107"/>
          <p:cNvSpPr txBox="1"/>
          <p:nvPr/>
        </p:nvSpPr>
        <p:spPr>
          <a:xfrm>
            <a:off x="9656820" y="3948838"/>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Ta=17</a:t>
            </a:r>
            <a:endParaRPr sz="1600" b="0" i="0" u="none" strike="noStrike" cap="none">
              <a:solidFill>
                <a:srgbClr val="FF0000"/>
              </a:solidFill>
              <a:latin typeface="Twentieth Century"/>
              <a:ea typeface="Twentieth Century"/>
              <a:cs typeface="Twentieth Century"/>
              <a:sym typeface="Twentieth Century"/>
            </a:endParaRPr>
          </a:p>
        </p:txBody>
      </p:sp>
      <p:sp>
        <p:nvSpPr>
          <p:cNvPr id="584" name="Google Shape;584;p107"/>
          <p:cNvSpPr txBox="1"/>
          <p:nvPr/>
        </p:nvSpPr>
        <p:spPr>
          <a:xfrm>
            <a:off x="9056969" y="6029594"/>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FF0000"/>
                </a:solidFill>
                <a:latin typeface="Twentieth Century"/>
                <a:ea typeface="Twentieth Century"/>
                <a:cs typeface="Twentieth Century"/>
                <a:sym typeface="Twentieth Century"/>
              </a:rPr>
              <a:t>Ta=13</a:t>
            </a:r>
            <a:endParaRPr sz="1600" b="0" i="0" u="none" strike="noStrike" cap="none">
              <a:solidFill>
                <a:srgbClr val="FF0000"/>
              </a:solidFill>
              <a:latin typeface="Twentieth Century"/>
              <a:ea typeface="Twentieth Century"/>
              <a:cs typeface="Twentieth Century"/>
              <a:sym typeface="Twentieth Century"/>
            </a:endParaRPr>
          </a:p>
        </p:txBody>
      </p:sp>
      <p:cxnSp>
        <p:nvCxnSpPr>
          <p:cNvPr id="585" name="Google Shape;585;p107"/>
          <p:cNvCxnSpPr/>
          <p:nvPr/>
        </p:nvCxnSpPr>
        <p:spPr>
          <a:xfrm>
            <a:off x="3192165" y="4396246"/>
            <a:ext cx="918763" cy="486982"/>
          </a:xfrm>
          <a:prstGeom prst="straightConnector1">
            <a:avLst/>
          </a:prstGeom>
          <a:noFill/>
          <a:ln w="57150" cap="flat" cmpd="sng">
            <a:solidFill>
              <a:srgbClr val="C00000"/>
            </a:solidFill>
            <a:prstDash val="solid"/>
            <a:round/>
            <a:headEnd type="none" w="sm" len="sm"/>
            <a:tailEnd type="triangle" w="med" len="med"/>
          </a:ln>
        </p:spPr>
      </p:cxnSp>
      <p:cxnSp>
        <p:nvCxnSpPr>
          <p:cNvPr id="586" name="Google Shape;586;p107"/>
          <p:cNvCxnSpPr/>
          <p:nvPr/>
        </p:nvCxnSpPr>
        <p:spPr>
          <a:xfrm rot="10800000" flipH="1">
            <a:off x="4719341" y="4994458"/>
            <a:ext cx="1014020" cy="70363"/>
          </a:xfrm>
          <a:prstGeom prst="straightConnector1">
            <a:avLst/>
          </a:prstGeom>
          <a:noFill/>
          <a:ln w="57150" cap="flat" cmpd="sng">
            <a:solidFill>
              <a:srgbClr val="C00000"/>
            </a:solidFill>
            <a:prstDash val="solid"/>
            <a:round/>
            <a:headEnd type="none" w="sm" len="sm"/>
            <a:tailEnd type="triangle" w="med" len="med"/>
          </a:ln>
        </p:spPr>
      </p:cxnSp>
      <p:cxnSp>
        <p:nvCxnSpPr>
          <p:cNvPr id="587" name="Google Shape;587;p107"/>
          <p:cNvCxnSpPr/>
          <p:nvPr/>
        </p:nvCxnSpPr>
        <p:spPr>
          <a:xfrm rot="10800000" flipH="1">
            <a:off x="6424123" y="4657390"/>
            <a:ext cx="1081622" cy="281453"/>
          </a:xfrm>
          <a:prstGeom prst="straightConnector1">
            <a:avLst/>
          </a:prstGeom>
          <a:noFill/>
          <a:ln w="57150" cap="flat" cmpd="sng">
            <a:solidFill>
              <a:srgbClr val="C00000"/>
            </a:solidFill>
            <a:prstDash val="solid"/>
            <a:round/>
            <a:headEnd type="none" w="sm" len="sm"/>
            <a:tailEnd type="triangle" w="med" len="med"/>
          </a:ln>
        </p:spPr>
      </p:cxnSp>
      <p:cxnSp>
        <p:nvCxnSpPr>
          <p:cNvPr id="588" name="Google Shape;588;p107"/>
          <p:cNvCxnSpPr/>
          <p:nvPr/>
        </p:nvCxnSpPr>
        <p:spPr>
          <a:xfrm>
            <a:off x="8163919" y="4582107"/>
            <a:ext cx="946419" cy="0"/>
          </a:xfrm>
          <a:prstGeom prst="straightConnector1">
            <a:avLst/>
          </a:prstGeom>
          <a:noFill/>
          <a:ln w="57150" cap="flat" cmpd="sng">
            <a:solidFill>
              <a:srgbClr val="C00000"/>
            </a:solidFill>
            <a:prstDash val="solid"/>
            <a:round/>
            <a:headEnd type="none" w="sm" len="sm"/>
            <a:tailEnd type="triangle" w="med" len="med"/>
          </a:ln>
        </p:spPr>
      </p:cxnSp>
      <p:sp>
        <p:nvSpPr>
          <p:cNvPr id="589" name="Google Shape;589;p107"/>
          <p:cNvSpPr txBox="1"/>
          <p:nvPr/>
        </p:nvSpPr>
        <p:spPr>
          <a:xfrm>
            <a:off x="4628119" y="3000322"/>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Twentieth Century"/>
                <a:ea typeface="Twentieth Century"/>
                <a:cs typeface="Twentieth Century"/>
                <a:sym typeface="Twentieth Century"/>
              </a:rPr>
              <a:t>Mt=6</a:t>
            </a:r>
            <a:endParaRPr sz="1600" b="0" i="0" u="none" strike="noStrike" cap="none">
              <a:solidFill>
                <a:srgbClr val="002060"/>
              </a:solidFill>
              <a:latin typeface="Twentieth Century"/>
              <a:ea typeface="Twentieth Century"/>
              <a:cs typeface="Twentieth Century"/>
              <a:sym typeface="Twentieth Century"/>
            </a:endParaRPr>
          </a:p>
        </p:txBody>
      </p:sp>
      <p:sp>
        <p:nvSpPr>
          <p:cNvPr id="590" name="Google Shape;590;p107"/>
          <p:cNvSpPr txBox="1"/>
          <p:nvPr/>
        </p:nvSpPr>
        <p:spPr>
          <a:xfrm>
            <a:off x="4060742" y="5607929"/>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Twentieth Century"/>
                <a:ea typeface="Twentieth Century"/>
                <a:cs typeface="Twentieth Century"/>
                <a:sym typeface="Twentieth Century"/>
              </a:rPr>
              <a:t>Mt=0</a:t>
            </a:r>
            <a:endParaRPr sz="1600" b="0" i="0" u="none" strike="noStrike" cap="none">
              <a:solidFill>
                <a:srgbClr val="002060"/>
              </a:solidFill>
              <a:latin typeface="Twentieth Century"/>
              <a:ea typeface="Twentieth Century"/>
              <a:cs typeface="Twentieth Century"/>
              <a:sym typeface="Twentieth Century"/>
            </a:endParaRPr>
          </a:p>
        </p:txBody>
      </p:sp>
      <p:sp>
        <p:nvSpPr>
          <p:cNvPr id="591" name="Google Shape;591;p107"/>
          <p:cNvSpPr txBox="1"/>
          <p:nvPr/>
        </p:nvSpPr>
        <p:spPr>
          <a:xfrm>
            <a:off x="6464158" y="3216966"/>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Twentieth Century"/>
                <a:ea typeface="Twentieth Century"/>
                <a:cs typeface="Twentieth Century"/>
                <a:sym typeface="Twentieth Century"/>
              </a:rPr>
              <a:t>Mt=6</a:t>
            </a:r>
            <a:endParaRPr sz="1600" b="0" i="0" u="none" strike="noStrike" cap="none">
              <a:solidFill>
                <a:srgbClr val="002060"/>
              </a:solidFill>
              <a:latin typeface="Twentieth Century"/>
              <a:ea typeface="Twentieth Century"/>
              <a:cs typeface="Twentieth Century"/>
              <a:sym typeface="Twentieth Century"/>
            </a:endParaRPr>
          </a:p>
        </p:txBody>
      </p:sp>
      <p:sp>
        <p:nvSpPr>
          <p:cNvPr id="592" name="Google Shape;592;p107"/>
          <p:cNvSpPr txBox="1"/>
          <p:nvPr/>
        </p:nvSpPr>
        <p:spPr>
          <a:xfrm>
            <a:off x="6301093" y="4950192"/>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Twentieth Century"/>
                <a:ea typeface="Twentieth Century"/>
                <a:cs typeface="Twentieth Century"/>
                <a:sym typeface="Twentieth Century"/>
              </a:rPr>
              <a:t>Mt=0</a:t>
            </a:r>
            <a:endParaRPr sz="1600" b="0" i="0" u="none" strike="noStrike" cap="none">
              <a:solidFill>
                <a:srgbClr val="002060"/>
              </a:solidFill>
              <a:latin typeface="Twentieth Century"/>
              <a:ea typeface="Twentieth Century"/>
              <a:cs typeface="Twentieth Century"/>
              <a:sym typeface="Twentieth Century"/>
            </a:endParaRPr>
          </a:p>
        </p:txBody>
      </p:sp>
      <p:sp>
        <p:nvSpPr>
          <p:cNvPr id="593" name="Google Shape;593;p107"/>
          <p:cNvSpPr txBox="1"/>
          <p:nvPr/>
        </p:nvSpPr>
        <p:spPr>
          <a:xfrm>
            <a:off x="5069211" y="5739503"/>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Twentieth Century"/>
                <a:ea typeface="Twentieth Century"/>
                <a:cs typeface="Twentieth Century"/>
                <a:sym typeface="Twentieth Century"/>
              </a:rPr>
              <a:t>Mt=3</a:t>
            </a:r>
            <a:endParaRPr sz="1600" b="0" i="0" u="none" strike="noStrike" cap="none">
              <a:solidFill>
                <a:srgbClr val="002060"/>
              </a:solidFill>
              <a:latin typeface="Twentieth Century"/>
              <a:ea typeface="Twentieth Century"/>
              <a:cs typeface="Twentieth Century"/>
              <a:sym typeface="Twentieth Century"/>
            </a:endParaRPr>
          </a:p>
        </p:txBody>
      </p:sp>
      <p:sp>
        <p:nvSpPr>
          <p:cNvPr id="594" name="Google Shape;594;p107"/>
          <p:cNvSpPr txBox="1"/>
          <p:nvPr/>
        </p:nvSpPr>
        <p:spPr>
          <a:xfrm>
            <a:off x="9070359" y="5820095"/>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Twentieth Century"/>
                <a:ea typeface="Twentieth Century"/>
                <a:cs typeface="Twentieth Century"/>
                <a:sym typeface="Twentieth Century"/>
              </a:rPr>
              <a:t>Mt=4</a:t>
            </a:r>
            <a:endParaRPr sz="1600" b="0" i="0" u="none" strike="noStrike" cap="none">
              <a:solidFill>
                <a:srgbClr val="002060"/>
              </a:solidFill>
              <a:latin typeface="Twentieth Century"/>
              <a:ea typeface="Twentieth Century"/>
              <a:cs typeface="Twentieth Century"/>
              <a:sym typeface="Twentieth Century"/>
            </a:endParaRPr>
          </a:p>
        </p:txBody>
      </p:sp>
      <p:sp>
        <p:nvSpPr>
          <p:cNvPr id="595" name="Google Shape;595;p107"/>
          <p:cNvSpPr txBox="1"/>
          <p:nvPr/>
        </p:nvSpPr>
        <p:spPr>
          <a:xfrm>
            <a:off x="7945306" y="4114588"/>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Twentieth Century"/>
                <a:ea typeface="Twentieth Century"/>
                <a:cs typeface="Twentieth Century"/>
                <a:sym typeface="Twentieth Century"/>
              </a:rPr>
              <a:t>Mt=0</a:t>
            </a:r>
            <a:endParaRPr sz="1600" b="0" i="0" u="none" strike="noStrike" cap="none">
              <a:solidFill>
                <a:srgbClr val="002060"/>
              </a:solidFill>
              <a:latin typeface="Twentieth Century"/>
              <a:ea typeface="Twentieth Century"/>
              <a:cs typeface="Twentieth Century"/>
              <a:sym typeface="Twentieth Century"/>
            </a:endParaRPr>
          </a:p>
        </p:txBody>
      </p:sp>
      <p:sp>
        <p:nvSpPr>
          <p:cNvPr id="596" name="Google Shape;596;p107"/>
          <p:cNvSpPr txBox="1"/>
          <p:nvPr/>
        </p:nvSpPr>
        <p:spPr>
          <a:xfrm>
            <a:off x="9788229" y="4228675"/>
            <a:ext cx="718082" cy="3385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rgbClr val="002060"/>
                </a:solidFill>
                <a:latin typeface="Twentieth Century"/>
                <a:ea typeface="Twentieth Century"/>
                <a:cs typeface="Twentieth Century"/>
                <a:sym typeface="Twentieth Century"/>
              </a:rPr>
              <a:t>Mt=0</a:t>
            </a:r>
            <a:endParaRPr sz="1600" b="0" i="0" u="none" strike="noStrike" cap="none">
              <a:solidFill>
                <a:srgbClr val="002060"/>
              </a:solidFill>
              <a:latin typeface="Twentieth Century"/>
              <a:ea typeface="Twentieth Century"/>
              <a:cs typeface="Twentieth Century"/>
              <a:sym typeface="Twentieth Century"/>
            </a:endParaRPr>
          </a:p>
        </p:txBody>
      </p:sp>
      <p:sp>
        <p:nvSpPr>
          <p:cNvPr id="597" name="Google Shape;597;p107"/>
          <p:cNvSpPr txBox="1"/>
          <p:nvPr/>
        </p:nvSpPr>
        <p:spPr>
          <a:xfrm>
            <a:off x="9656820" y="3429000"/>
            <a:ext cx="201369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AR" sz="2400" b="1" i="0" u="sng" strike="noStrike" cap="none">
                <a:solidFill>
                  <a:srgbClr val="C00000"/>
                </a:solidFill>
                <a:latin typeface="Calibri"/>
                <a:ea typeface="Calibri"/>
                <a:cs typeface="Calibri"/>
                <a:sym typeface="Calibri"/>
              </a:rPr>
              <a:t>Camino crítico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9"/>
                                        </p:tgtEl>
                                        <p:attrNameLst>
                                          <p:attrName>style.visibility</p:attrName>
                                        </p:attrNameLst>
                                      </p:cBhvr>
                                      <p:to>
                                        <p:strVal val="visible"/>
                                      </p:to>
                                    </p:set>
                                    <p:animEffect transition="in" filter="fade">
                                      <p:cBhvr>
                                        <p:cTn id="7" dur="500"/>
                                        <p:tgtEl>
                                          <p:spTgt spid="589"/>
                                        </p:tgtEl>
                                      </p:cBhvr>
                                    </p:animEffect>
                                  </p:childTnLst>
                                </p:cTn>
                              </p:par>
                              <p:par>
                                <p:cTn id="8" presetID="10" presetClass="entr" presetSubtype="0" fill="hold" nodeType="withEffect">
                                  <p:stCondLst>
                                    <p:cond delay="0"/>
                                  </p:stCondLst>
                                  <p:childTnLst>
                                    <p:set>
                                      <p:cBhvr>
                                        <p:cTn id="9" dur="1" fill="hold">
                                          <p:stCondLst>
                                            <p:cond delay="0"/>
                                          </p:stCondLst>
                                        </p:cTn>
                                        <p:tgtEl>
                                          <p:spTgt spid="591"/>
                                        </p:tgtEl>
                                        <p:attrNameLst>
                                          <p:attrName>style.visibility</p:attrName>
                                        </p:attrNameLst>
                                      </p:cBhvr>
                                      <p:to>
                                        <p:strVal val="visible"/>
                                      </p:to>
                                    </p:set>
                                    <p:animEffect transition="in" filter="fade">
                                      <p:cBhvr>
                                        <p:cTn id="10" dur="500"/>
                                        <p:tgtEl>
                                          <p:spTgt spid="591"/>
                                        </p:tgtEl>
                                      </p:cBhvr>
                                    </p:animEffect>
                                  </p:childTnLst>
                                </p:cTn>
                              </p:par>
                              <p:par>
                                <p:cTn id="11" presetID="10" presetClass="entr" presetSubtype="0" fill="hold" nodeType="withEffect">
                                  <p:stCondLst>
                                    <p:cond delay="0"/>
                                  </p:stCondLst>
                                  <p:childTnLst>
                                    <p:set>
                                      <p:cBhvr>
                                        <p:cTn id="12" dur="1" fill="hold">
                                          <p:stCondLst>
                                            <p:cond delay="0"/>
                                          </p:stCondLst>
                                        </p:cTn>
                                        <p:tgtEl>
                                          <p:spTgt spid="590"/>
                                        </p:tgtEl>
                                        <p:attrNameLst>
                                          <p:attrName>style.visibility</p:attrName>
                                        </p:attrNameLst>
                                      </p:cBhvr>
                                      <p:to>
                                        <p:strVal val="visible"/>
                                      </p:to>
                                    </p:set>
                                    <p:animEffect transition="in" filter="fade">
                                      <p:cBhvr>
                                        <p:cTn id="13" dur="500"/>
                                        <p:tgtEl>
                                          <p:spTgt spid="590"/>
                                        </p:tgtEl>
                                      </p:cBhvr>
                                    </p:animEffect>
                                  </p:childTnLst>
                                </p:cTn>
                              </p:par>
                              <p:par>
                                <p:cTn id="14" presetID="10" presetClass="entr" presetSubtype="0" fill="hold" nodeType="withEffect">
                                  <p:stCondLst>
                                    <p:cond delay="0"/>
                                  </p:stCondLst>
                                  <p:childTnLst>
                                    <p:set>
                                      <p:cBhvr>
                                        <p:cTn id="15" dur="1" fill="hold">
                                          <p:stCondLst>
                                            <p:cond delay="0"/>
                                          </p:stCondLst>
                                        </p:cTn>
                                        <p:tgtEl>
                                          <p:spTgt spid="593"/>
                                        </p:tgtEl>
                                        <p:attrNameLst>
                                          <p:attrName>style.visibility</p:attrName>
                                        </p:attrNameLst>
                                      </p:cBhvr>
                                      <p:to>
                                        <p:strVal val="visible"/>
                                      </p:to>
                                    </p:set>
                                    <p:animEffect transition="in" filter="fade">
                                      <p:cBhvr>
                                        <p:cTn id="16" dur="500"/>
                                        <p:tgtEl>
                                          <p:spTgt spid="593"/>
                                        </p:tgtEl>
                                      </p:cBhvr>
                                    </p:animEffect>
                                  </p:childTnLst>
                                </p:cTn>
                              </p:par>
                              <p:par>
                                <p:cTn id="17" presetID="10" presetClass="entr" presetSubtype="0" fill="hold" nodeType="withEffect">
                                  <p:stCondLst>
                                    <p:cond delay="0"/>
                                  </p:stCondLst>
                                  <p:childTnLst>
                                    <p:set>
                                      <p:cBhvr>
                                        <p:cTn id="18" dur="1" fill="hold">
                                          <p:stCondLst>
                                            <p:cond delay="0"/>
                                          </p:stCondLst>
                                        </p:cTn>
                                        <p:tgtEl>
                                          <p:spTgt spid="592"/>
                                        </p:tgtEl>
                                        <p:attrNameLst>
                                          <p:attrName>style.visibility</p:attrName>
                                        </p:attrNameLst>
                                      </p:cBhvr>
                                      <p:to>
                                        <p:strVal val="visible"/>
                                      </p:to>
                                    </p:set>
                                    <p:animEffect transition="in" filter="fade">
                                      <p:cBhvr>
                                        <p:cTn id="19" dur="500"/>
                                        <p:tgtEl>
                                          <p:spTgt spid="592"/>
                                        </p:tgtEl>
                                      </p:cBhvr>
                                    </p:animEffect>
                                  </p:childTnLst>
                                </p:cTn>
                              </p:par>
                              <p:par>
                                <p:cTn id="20" presetID="10" presetClass="entr" presetSubtype="0" fill="hold" nodeType="withEffect">
                                  <p:stCondLst>
                                    <p:cond delay="0"/>
                                  </p:stCondLst>
                                  <p:childTnLst>
                                    <p:set>
                                      <p:cBhvr>
                                        <p:cTn id="21" dur="1" fill="hold">
                                          <p:stCondLst>
                                            <p:cond delay="0"/>
                                          </p:stCondLst>
                                        </p:cTn>
                                        <p:tgtEl>
                                          <p:spTgt spid="595"/>
                                        </p:tgtEl>
                                        <p:attrNameLst>
                                          <p:attrName>style.visibility</p:attrName>
                                        </p:attrNameLst>
                                      </p:cBhvr>
                                      <p:to>
                                        <p:strVal val="visible"/>
                                      </p:to>
                                    </p:set>
                                    <p:animEffect transition="in" filter="fade">
                                      <p:cBhvr>
                                        <p:cTn id="22" dur="500"/>
                                        <p:tgtEl>
                                          <p:spTgt spid="595"/>
                                        </p:tgtEl>
                                      </p:cBhvr>
                                    </p:animEffect>
                                  </p:childTnLst>
                                </p:cTn>
                              </p:par>
                              <p:par>
                                <p:cTn id="23" presetID="10" presetClass="entr" presetSubtype="0" fill="hold" nodeType="withEffect">
                                  <p:stCondLst>
                                    <p:cond delay="0"/>
                                  </p:stCondLst>
                                  <p:childTnLst>
                                    <p:set>
                                      <p:cBhvr>
                                        <p:cTn id="24" dur="1" fill="hold">
                                          <p:stCondLst>
                                            <p:cond delay="0"/>
                                          </p:stCondLst>
                                        </p:cTn>
                                        <p:tgtEl>
                                          <p:spTgt spid="596"/>
                                        </p:tgtEl>
                                        <p:attrNameLst>
                                          <p:attrName>style.visibility</p:attrName>
                                        </p:attrNameLst>
                                      </p:cBhvr>
                                      <p:to>
                                        <p:strVal val="visible"/>
                                      </p:to>
                                    </p:set>
                                    <p:animEffect transition="in" filter="fade">
                                      <p:cBhvr>
                                        <p:cTn id="25" dur="500"/>
                                        <p:tgtEl>
                                          <p:spTgt spid="596"/>
                                        </p:tgtEl>
                                      </p:cBhvr>
                                    </p:animEffect>
                                  </p:childTnLst>
                                </p:cTn>
                              </p:par>
                              <p:par>
                                <p:cTn id="26" presetID="10" presetClass="entr" presetSubtype="0" fill="hold" nodeType="withEffect">
                                  <p:stCondLst>
                                    <p:cond delay="0"/>
                                  </p:stCondLst>
                                  <p:childTnLst>
                                    <p:set>
                                      <p:cBhvr>
                                        <p:cTn id="27" dur="1" fill="hold">
                                          <p:stCondLst>
                                            <p:cond delay="0"/>
                                          </p:stCondLst>
                                        </p:cTn>
                                        <p:tgtEl>
                                          <p:spTgt spid="594"/>
                                        </p:tgtEl>
                                        <p:attrNameLst>
                                          <p:attrName>style.visibility</p:attrName>
                                        </p:attrNameLst>
                                      </p:cBhvr>
                                      <p:to>
                                        <p:strVal val="visible"/>
                                      </p:to>
                                    </p:set>
                                    <p:animEffect transition="in" filter="fade">
                                      <p:cBhvr>
                                        <p:cTn id="28" dur="500"/>
                                        <p:tgtEl>
                                          <p:spTgt spid="59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85"/>
                                        </p:tgtEl>
                                        <p:attrNameLst>
                                          <p:attrName>style.visibility</p:attrName>
                                        </p:attrNameLst>
                                      </p:cBhvr>
                                      <p:to>
                                        <p:strVal val="visible"/>
                                      </p:to>
                                    </p:set>
                                    <p:animEffect transition="in" filter="fade">
                                      <p:cBhvr>
                                        <p:cTn id="33" dur="500"/>
                                        <p:tgtEl>
                                          <p:spTgt spid="585"/>
                                        </p:tgtEl>
                                      </p:cBhvr>
                                    </p:animEffect>
                                  </p:childTnLst>
                                </p:cTn>
                              </p:par>
                              <p:par>
                                <p:cTn id="34" presetID="10" presetClass="entr" presetSubtype="0" fill="hold" nodeType="withEffect">
                                  <p:stCondLst>
                                    <p:cond delay="0"/>
                                  </p:stCondLst>
                                  <p:childTnLst>
                                    <p:set>
                                      <p:cBhvr>
                                        <p:cTn id="35" dur="1" fill="hold">
                                          <p:stCondLst>
                                            <p:cond delay="0"/>
                                          </p:stCondLst>
                                        </p:cTn>
                                        <p:tgtEl>
                                          <p:spTgt spid="597"/>
                                        </p:tgtEl>
                                        <p:attrNameLst>
                                          <p:attrName>style.visibility</p:attrName>
                                        </p:attrNameLst>
                                      </p:cBhvr>
                                      <p:to>
                                        <p:strVal val="visible"/>
                                      </p:to>
                                    </p:set>
                                    <p:animEffect transition="in" filter="fade">
                                      <p:cBhvr>
                                        <p:cTn id="36" dur="500"/>
                                        <p:tgtEl>
                                          <p:spTgt spid="597"/>
                                        </p:tgtEl>
                                      </p:cBhvr>
                                    </p:animEffect>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586"/>
                                        </p:tgtEl>
                                        <p:attrNameLst>
                                          <p:attrName>style.visibility</p:attrName>
                                        </p:attrNameLst>
                                      </p:cBhvr>
                                      <p:to>
                                        <p:strVal val="visible"/>
                                      </p:to>
                                    </p:set>
                                    <p:animEffect transition="in" filter="fade">
                                      <p:cBhvr>
                                        <p:cTn id="40" dur="500"/>
                                        <p:tgtEl>
                                          <p:spTgt spid="586"/>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587"/>
                                        </p:tgtEl>
                                        <p:attrNameLst>
                                          <p:attrName>style.visibility</p:attrName>
                                        </p:attrNameLst>
                                      </p:cBhvr>
                                      <p:to>
                                        <p:strVal val="visible"/>
                                      </p:to>
                                    </p:set>
                                    <p:animEffect transition="in" filter="fade">
                                      <p:cBhvr>
                                        <p:cTn id="44" dur="500"/>
                                        <p:tgtEl>
                                          <p:spTgt spid="587"/>
                                        </p:tgtEl>
                                      </p:cBhvr>
                                    </p:animEffect>
                                  </p:childTnLst>
                                </p:cTn>
                              </p:par>
                            </p:childTnLst>
                          </p:cTn>
                        </p:par>
                        <p:par>
                          <p:cTn id="45" fill="hold">
                            <p:stCondLst>
                              <p:cond delay="1500"/>
                            </p:stCondLst>
                            <p:childTnLst>
                              <p:par>
                                <p:cTn id="46" presetID="10" presetClass="entr" presetSubtype="0" fill="hold" nodeType="afterEffect">
                                  <p:stCondLst>
                                    <p:cond delay="0"/>
                                  </p:stCondLst>
                                  <p:childTnLst>
                                    <p:set>
                                      <p:cBhvr>
                                        <p:cTn id="47" dur="1" fill="hold">
                                          <p:stCondLst>
                                            <p:cond delay="0"/>
                                          </p:stCondLst>
                                        </p:cTn>
                                        <p:tgtEl>
                                          <p:spTgt spid="588"/>
                                        </p:tgtEl>
                                        <p:attrNameLst>
                                          <p:attrName>style.visibility</p:attrName>
                                        </p:attrNameLst>
                                      </p:cBhvr>
                                      <p:to>
                                        <p:strVal val="visible"/>
                                      </p:to>
                                    </p:set>
                                    <p:animEffect transition="in" filter="fade">
                                      <p:cBhvr>
                                        <p:cTn id="48" dur="500"/>
                                        <p:tgtEl>
                                          <p:spTgt spid="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108"/>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603" name="Google Shape;603;p108"/>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04" name="Google Shape;604;p108"/>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05" name="Google Shape;605;p10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29</a:t>
            </a:fld>
            <a:endParaRPr/>
          </a:p>
        </p:txBody>
      </p:sp>
      <p:sp>
        <p:nvSpPr>
          <p:cNvPr id="606" name="Google Shape;606;p108"/>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Otro ejemplo:</a:t>
            </a:r>
            <a:endParaRPr sz="2800" i="1">
              <a:solidFill>
                <a:schemeClr val="dk1"/>
              </a:solidFill>
            </a:endParaRPr>
          </a:p>
          <a:p>
            <a:pPr marL="176212" lvl="2" indent="0" algn="l" rtl="0">
              <a:lnSpc>
                <a:spcPct val="85000"/>
              </a:lnSpc>
              <a:spcBef>
                <a:spcPts val="18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graphicFrame>
        <p:nvGraphicFramePr>
          <p:cNvPr id="607" name="Google Shape;607;p108"/>
          <p:cNvGraphicFramePr/>
          <p:nvPr/>
        </p:nvGraphicFramePr>
        <p:xfrm>
          <a:off x="1552575" y="2236270"/>
          <a:ext cx="9086850" cy="4040350"/>
        </p:xfrm>
        <a:graphic>
          <a:graphicData uri="http://schemas.openxmlformats.org/drawingml/2006/table">
            <a:tbl>
              <a:tblPr>
                <a:noFill/>
                <a:tableStyleId>{4272FAEC-E20E-4765-AF0E-9200B05B628A}</a:tableStyleId>
              </a:tblPr>
              <a:tblGrid>
                <a:gridCol w="866775">
                  <a:extLst>
                    <a:ext uri="{9D8B030D-6E8A-4147-A177-3AD203B41FA5}">
                      <a16:colId xmlns:a16="http://schemas.microsoft.com/office/drawing/2014/main" val="20000"/>
                    </a:ext>
                  </a:extLst>
                </a:gridCol>
                <a:gridCol w="1314450">
                  <a:extLst>
                    <a:ext uri="{9D8B030D-6E8A-4147-A177-3AD203B41FA5}">
                      <a16:colId xmlns:a16="http://schemas.microsoft.com/office/drawing/2014/main" val="20001"/>
                    </a:ext>
                  </a:extLst>
                </a:gridCol>
                <a:gridCol w="6905625">
                  <a:extLst>
                    <a:ext uri="{9D8B030D-6E8A-4147-A177-3AD203B41FA5}">
                      <a16:colId xmlns:a16="http://schemas.microsoft.com/office/drawing/2014/main" val="20002"/>
                    </a:ext>
                  </a:extLst>
                </a:gridCol>
              </a:tblGrid>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1" i="0" u="none" strike="noStrike" cap="none">
                          <a:solidFill>
                            <a:schemeClr val="dk1"/>
                          </a:solidFill>
                          <a:latin typeface="Calibri"/>
                          <a:ea typeface="Calibri"/>
                          <a:cs typeface="Calibri"/>
                          <a:sym typeface="Calibri"/>
                        </a:rPr>
                        <a:t>Tarea </a:t>
                      </a:r>
                      <a:endParaRPr sz="2000" b="1"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1" i="0" u="none" strike="noStrike" cap="none">
                          <a:solidFill>
                            <a:schemeClr val="dk1"/>
                          </a:solidFill>
                          <a:latin typeface="Calibri"/>
                          <a:ea typeface="Calibri"/>
                          <a:cs typeface="Calibri"/>
                          <a:sym typeface="Calibri"/>
                        </a:rPr>
                        <a:t>Duración</a:t>
                      </a:r>
                      <a:endParaRPr sz="2000" b="1"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2000" b="1" i="0" u="none" strike="noStrike" cap="none">
                          <a:solidFill>
                            <a:schemeClr val="dk1"/>
                          </a:solidFill>
                          <a:latin typeface="Calibri"/>
                          <a:ea typeface="Calibri"/>
                          <a:cs typeface="Calibri"/>
                          <a:sym typeface="Calibri"/>
                        </a:rPr>
                        <a:t>Restricciones</a:t>
                      </a:r>
                      <a:endParaRPr sz="2000" b="1"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A</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12</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 -</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B </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5</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A terminada </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C </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3</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Empieza 1 semana después de terminada B</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D </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8</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A terminada, C terminada</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E</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9</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C terminada</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F </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6</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Empieza 6 semanas después del comienzo de B</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G </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4</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C terminada. Empieza 2 semanas después del comienzo de E</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H </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9</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Empieza 1 semana antes del fin de F  </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4741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I </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3</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2000" b="0" i="0" u="none" strike="noStrike" cap="none">
                          <a:solidFill>
                            <a:schemeClr val="dk1"/>
                          </a:solidFill>
                          <a:latin typeface="Calibri"/>
                          <a:ea typeface="Calibri"/>
                          <a:cs typeface="Calibri"/>
                          <a:sym typeface="Calibri"/>
                        </a:rPr>
                        <a:t>C terminada. Empieza 3 semanas después del fin de G </a:t>
                      </a:r>
                      <a:endParaRPr sz="20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109"/>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613" name="Google Shape;613;p10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14" name="Google Shape;614;p10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15" name="Google Shape;615;p10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30</a:t>
            </a:fld>
            <a:endParaRPr/>
          </a:p>
        </p:txBody>
      </p:sp>
      <p:sp>
        <p:nvSpPr>
          <p:cNvPr id="616" name="Google Shape;616;p109"/>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Otro ejemplo:</a:t>
            </a:r>
            <a:endParaRPr sz="2800" i="1">
              <a:solidFill>
                <a:schemeClr val="dk1"/>
              </a:solidFill>
            </a:endParaRPr>
          </a:p>
          <a:p>
            <a:pPr marL="176212" lvl="2" indent="0" algn="l" rtl="0">
              <a:lnSpc>
                <a:spcPct val="85000"/>
              </a:lnSpc>
              <a:spcBef>
                <a:spcPts val="18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grpSp>
        <p:nvGrpSpPr>
          <p:cNvPr id="617" name="Google Shape;617;p109"/>
          <p:cNvGrpSpPr/>
          <p:nvPr/>
        </p:nvGrpSpPr>
        <p:grpSpPr>
          <a:xfrm>
            <a:off x="2073434" y="2344959"/>
            <a:ext cx="8045131" cy="3739965"/>
            <a:chOff x="362219" y="3428998"/>
            <a:chExt cx="6888711" cy="2435227"/>
          </a:xfrm>
        </p:grpSpPr>
        <p:sp>
          <p:nvSpPr>
            <p:cNvPr id="618" name="Google Shape;618;p109"/>
            <p:cNvSpPr txBox="1"/>
            <p:nvPr/>
          </p:nvSpPr>
          <p:spPr>
            <a:xfrm>
              <a:off x="6013488" y="4444244"/>
              <a:ext cx="382588"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9</a:t>
              </a:r>
              <a:endParaRPr sz="1600" b="0" i="0" u="none" strike="noStrike" cap="none">
                <a:solidFill>
                  <a:schemeClr val="dk1"/>
                </a:solidFill>
                <a:latin typeface="Calibri"/>
                <a:ea typeface="Calibri"/>
                <a:cs typeface="Calibri"/>
                <a:sym typeface="Calibri"/>
              </a:endParaRPr>
            </a:p>
          </p:txBody>
        </p:sp>
        <p:sp>
          <p:nvSpPr>
            <p:cNvPr id="619" name="Google Shape;619;p109"/>
            <p:cNvSpPr txBox="1"/>
            <p:nvPr/>
          </p:nvSpPr>
          <p:spPr>
            <a:xfrm>
              <a:off x="6184900" y="3914775"/>
              <a:ext cx="382588"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9</a:t>
              </a:r>
              <a:endParaRPr sz="1600" b="0" i="0" u="none" strike="noStrike" cap="none">
                <a:solidFill>
                  <a:schemeClr val="dk1"/>
                </a:solidFill>
                <a:latin typeface="Calibri"/>
                <a:ea typeface="Calibri"/>
                <a:cs typeface="Calibri"/>
                <a:sym typeface="Calibri"/>
              </a:endParaRPr>
            </a:p>
          </p:txBody>
        </p:sp>
        <p:sp>
          <p:nvSpPr>
            <p:cNvPr id="620" name="Google Shape;620;p109"/>
            <p:cNvSpPr txBox="1"/>
            <p:nvPr/>
          </p:nvSpPr>
          <p:spPr>
            <a:xfrm>
              <a:off x="6056313" y="4914900"/>
              <a:ext cx="382587" cy="1539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621" name="Google Shape;621;p109"/>
            <p:cNvSpPr txBox="1"/>
            <p:nvPr/>
          </p:nvSpPr>
          <p:spPr>
            <a:xfrm>
              <a:off x="4357038" y="4829121"/>
              <a:ext cx="382587" cy="230187"/>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622" name="Google Shape;622;p109"/>
            <p:cNvSpPr txBox="1"/>
            <p:nvPr/>
          </p:nvSpPr>
          <p:spPr>
            <a:xfrm>
              <a:off x="4323947" y="3485987"/>
              <a:ext cx="382587"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5</a:t>
              </a:r>
              <a:endParaRPr sz="1600" b="0" i="0" u="none" strike="noStrike" cap="none">
                <a:solidFill>
                  <a:schemeClr val="dk1"/>
                </a:solidFill>
                <a:latin typeface="Calibri"/>
                <a:ea typeface="Calibri"/>
                <a:cs typeface="Calibri"/>
                <a:sym typeface="Calibri"/>
              </a:endParaRPr>
            </a:p>
          </p:txBody>
        </p:sp>
        <p:sp>
          <p:nvSpPr>
            <p:cNvPr id="623" name="Google Shape;623;p109"/>
            <p:cNvSpPr txBox="1"/>
            <p:nvPr/>
          </p:nvSpPr>
          <p:spPr>
            <a:xfrm>
              <a:off x="5297140" y="4410695"/>
              <a:ext cx="509587" cy="195262"/>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2</a:t>
              </a:r>
              <a:endParaRPr sz="1600" b="0" i="0" u="none" strike="noStrike" cap="none">
                <a:solidFill>
                  <a:schemeClr val="dk1"/>
                </a:solidFill>
                <a:latin typeface="Calibri"/>
                <a:ea typeface="Calibri"/>
                <a:cs typeface="Calibri"/>
                <a:sym typeface="Calibri"/>
              </a:endParaRPr>
            </a:p>
          </p:txBody>
        </p:sp>
        <p:sp>
          <p:nvSpPr>
            <p:cNvPr id="624" name="Google Shape;624;p109"/>
            <p:cNvSpPr txBox="1"/>
            <p:nvPr/>
          </p:nvSpPr>
          <p:spPr>
            <a:xfrm>
              <a:off x="4522310" y="4493488"/>
              <a:ext cx="384175"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625" name="Google Shape;625;p109"/>
            <p:cNvSpPr txBox="1"/>
            <p:nvPr/>
          </p:nvSpPr>
          <p:spPr>
            <a:xfrm>
              <a:off x="3074170" y="3782777"/>
              <a:ext cx="384175" cy="230188"/>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6</a:t>
              </a:r>
              <a:endParaRPr sz="1600" b="0" i="0" u="none" strike="noStrike" cap="none">
                <a:solidFill>
                  <a:schemeClr val="dk1"/>
                </a:solidFill>
                <a:latin typeface="Calibri"/>
                <a:ea typeface="Calibri"/>
                <a:cs typeface="Calibri"/>
                <a:sym typeface="Calibri"/>
              </a:endParaRPr>
            </a:p>
          </p:txBody>
        </p:sp>
        <p:sp>
          <p:nvSpPr>
            <p:cNvPr id="626" name="Google Shape;626;p109"/>
            <p:cNvSpPr txBox="1"/>
            <p:nvPr/>
          </p:nvSpPr>
          <p:spPr>
            <a:xfrm>
              <a:off x="4616782" y="4046913"/>
              <a:ext cx="382588"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627" name="Google Shape;627;p109"/>
            <p:cNvSpPr txBox="1"/>
            <p:nvPr/>
          </p:nvSpPr>
          <p:spPr>
            <a:xfrm>
              <a:off x="3711552" y="4551535"/>
              <a:ext cx="384175" cy="230188"/>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628" name="Google Shape;628;p109"/>
            <p:cNvSpPr txBox="1"/>
            <p:nvPr/>
          </p:nvSpPr>
          <p:spPr>
            <a:xfrm>
              <a:off x="2176934" y="4060825"/>
              <a:ext cx="382587"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12</a:t>
              </a:r>
              <a:endParaRPr sz="1600" b="0" i="0" u="none" strike="noStrike" cap="none">
                <a:solidFill>
                  <a:schemeClr val="dk1"/>
                </a:solidFill>
                <a:latin typeface="Calibri"/>
                <a:ea typeface="Calibri"/>
                <a:cs typeface="Calibri"/>
                <a:sym typeface="Calibri"/>
              </a:endParaRPr>
            </a:p>
          </p:txBody>
        </p:sp>
        <p:sp>
          <p:nvSpPr>
            <p:cNvPr id="629" name="Google Shape;629;p109"/>
            <p:cNvSpPr/>
            <p:nvPr/>
          </p:nvSpPr>
          <p:spPr>
            <a:xfrm>
              <a:off x="362219" y="4056167"/>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630" name="Google Shape;630;p109"/>
            <p:cNvSpPr txBox="1"/>
            <p:nvPr/>
          </p:nvSpPr>
          <p:spPr>
            <a:xfrm>
              <a:off x="445737" y="4160774"/>
              <a:ext cx="511175" cy="231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ini</a:t>
              </a:r>
              <a:endParaRPr sz="1600" b="0" i="0" u="none" strike="noStrike" cap="none">
                <a:solidFill>
                  <a:schemeClr val="dk1"/>
                </a:solidFill>
                <a:latin typeface="Calibri"/>
                <a:ea typeface="Calibri"/>
                <a:cs typeface="Calibri"/>
                <a:sym typeface="Calibri"/>
              </a:endParaRPr>
            </a:p>
          </p:txBody>
        </p:sp>
        <p:sp>
          <p:nvSpPr>
            <p:cNvPr id="631" name="Google Shape;631;p109"/>
            <p:cNvSpPr/>
            <p:nvPr/>
          </p:nvSpPr>
          <p:spPr>
            <a:xfrm>
              <a:off x="1455738" y="4068760"/>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632" name="Google Shape;632;p109"/>
            <p:cNvSpPr txBox="1"/>
            <p:nvPr/>
          </p:nvSpPr>
          <p:spPr>
            <a:xfrm>
              <a:off x="1600729" y="4166865"/>
              <a:ext cx="509588" cy="231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A</a:t>
              </a:r>
              <a:endParaRPr sz="1600" b="0" i="0" u="none" strike="noStrike" cap="none">
                <a:solidFill>
                  <a:schemeClr val="dk1"/>
                </a:solidFill>
                <a:latin typeface="Calibri"/>
                <a:ea typeface="Calibri"/>
                <a:cs typeface="Calibri"/>
                <a:sym typeface="Calibri"/>
              </a:endParaRPr>
            </a:p>
          </p:txBody>
        </p:sp>
        <p:cxnSp>
          <p:nvCxnSpPr>
            <p:cNvPr id="633" name="Google Shape;633;p109"/>
            <p:cNvCxnSpPr>
              <a:stCxn id="630" idx="3"/>
              <a:endCxn id="631" idx="2"/>
            </p:cNvCxnSpPr>
            <p:nvPr/>
          </p:nvCxnSpPr>
          <p:spPr>
            <a:xfrm>
              <a:off x="956912" y="4276662"/>
              <a:ext cx="498900" cy="3000"/>
            </a:xfrm>
            <a:prstGeom prst="straightConnector1">
              <a:avLst/>
            </a:prstGeom>
            <a:noFill/>
            <a:ln w="9525" cap="flat" cmpd="sng">
              <a:solidFill>
                <a:schemeClr val="dk1"/>
              </a:solidFill>
              <a:prstDash val="solid"/>
              <a:round/>
              <a:headEnd type="none" w="sm" len="sm"/>
              <a:tailEnd type="stealth" w="med" len="med"/>
            </a:ln>
          </p:spPr>
        </p:cxnSp>
        <p:sp>
          <p:nvSpPr>
            <p:cNvPr id="634" name="Google Shape;634;p109"/>
            <p:cNvSpPr/>
            <p:nvPr/>
          </p:nvSpPr>
          <p:spPr>
            <a:xfrm>
              <a:off x="2724535" y="4054134"/>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635" name="Google Shape;635;p109"/>
            <p:cNvSpPr txBox="1"/>
            <p:nvPr/>
          </p:nvSpPr>
          <p:spPr>
            <a:xfrm>
              <a:off x="2870600" y="4159979"/>
              <a:ext cx="511175" cy="2333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B</a:t>
              </a:r>
              <a:endParaRPr sz="1600" b="0" i="0" u="none" strike="noStrike" cap="none">
                <a:solidFill>
                  <a:schemeClr val="dk1"/>
                </a:solidFill>
                <a:latin typeface="Calibri"/>
                <a:ea typeface="Calibri"/>
                <a:cs typeface="Calibri"/>
                <a:sym typeface="Calibri"/>
              </a:endParaRPr>
            </a:p>
          </p:txBody>
        </p:sp>
        <p:cxnSp>
          <p:nvCxnSpPr>
            <p:cNvPr id="636" name="Google Shape;636;p109"/>
            <p:cNvCxnSpPr>
              <a:endCxn id="634" idx="2"/>
            </p:cNvCxnSpPr>
            <p:nvPr/>
          </p:nvCxnSpPr>
          <p:spPr>
            <a:xfrm>
              <a:off x="2007235" y="4265102"/>
              <a:ext cx="717300" cy="0"/>
            </a:xfrm>
            <a:prstGeom prst="straightConnector1">
              <a:avLst/>
            </a:prstGeom>
            <a:noFill/>
            <a:ln w="9525" cap="flat" cmpd="sng">
              <a:solidFill>
                <a:schemeClr val="dk1"/>
              </a:solidFill>
              <a:prstDash val="solid"/>
              <a:round/>
              <a:headEnd type="none" w="sm" len="sm"/>
              <a:tailEnd type="stealth" w="med" len="med"/>
            </a:ln>
          </p:spPr>
        </p:cxnSp>
        <p:sp>
          <p:nvSpPr>
            <p:cNvPr id="637" name="Google Shape;637;p109"/>
            <p:cNvSpPr txBox="1"/>
            <p:nvPr/>
          </p:nvSpPr>
          <p:spPr>
            <a:xfrm>
              <a:off x="3455987" y="4082281"/>
              <a:ext cx="382588"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6</a:t>
              </a:r>
              <a:endParaRPr sz="1600" b="0" i="0" u="none" strike="noStrike" cap="none">
                <a:solidFill>
                  <a:schemeClr val="dk1"/>
                </a:solidFill>
                <a:latin typeface="Calibri"/>
                <a:ea typeface="Calibri"/>
                <a:cs typeface="Calibri"/>
                <a:sym typeface="Calibri"/>
              </a:endParaRPr>
            </a:p>
          </p:txBody>
        </p:sp>
        <p:sp>
          <p:nvSpPr>
            <p:cNvPr id="638" name="Google Shape;638;p109"/>
            <p:cNvSpPr/>
            <p:nvPr/>
          </p:nvSpPr>
          <p:spPr>
            <a:xfrm>
              <a:off x="3886200" y="4068763"/>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639" name="Google Shape;639;p109"/>
            <p:cNvSpPr txBox="1"/>
            <p:nvPr/>
          </p:nvSpPr>
          <p:spPr>
            <a:xfrm>
              <a:off x="4032226" y="4170637"/>
              <a:ext cx="554855" cy="42193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C</a:t>
              </a:r>
              <a:endParaRPr sz="1600" b="0" i="0" u="none" strike="noStrike" cap="none">
                <a:solidFill>
                  <a:schemeClr val="dk1"/>
                </a:solidFill>
                <a:latin typeface="Calibri"/>
                <a:ea typeface="Calibri"/>
                <a:cs typeface="Calibri"/>
                <a:sym typeface="Calibri"/>
              </a:endParaRPr>
            </a:p>
          </p:txBody>
        </p:sp>
        <p:cxnSp>
          <p:nvCxnSpPr>
            <p:cNvPr id="640" name="Google Shape;640;p109"/>
            <p:cNvCxnSpPr>
              <a:endCxn id="638" idx="2"/>
            </p:cNvCxnSpPr>
            <p:nvPr/>
          </p:nvCxnSpPr>
          <p:spPr>
            <a:xfrm>
              <a:off x="3299400" y="4265031"/>
              <a:ext cx="586800" cy="14700"/>
            </a:xfrm>
            <a:prstGeom prst="straightConnector1">
              <a:avLst/>
            </a:prstGeom>
            <a:noFill/>
            <a:ln w="9525" cap="flat" cmpd="sng">
              <a:solidFill>
                <a:schemeClr val="dk1"/>
              </a:solidFill>
              <a:prstDash val="solid"/>
              <a:round/>
              <a:headEnd type="none" w="sm" len="sm"/>
              <a:tailEnd type="stealth" w="med" len="med"/>
            </a:ln>
          </p:spPr>
        </p:cxnSp>
        <p:sp>
          <p:nvSpPr>
            <p:cNvPr id="641" name="Google Shape;641;p109"/>
            <p:cNvSpPr txBox="1"/>
            <p:nvPr/>
          </p:nvSpPr>
          <p:spPr>
            <a:xfrm>
              <a:off x="2329897" y="4566703"/>
              <a:ext cx="384175" cy="230187"/>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12</a:t>
              </a:r>
              <a:endParaRPr sz="1600" b="0" i="0" u="none" strike="noStrike" cap="none">
                <a:solidFill>
                  <a:schemeClr val="dk1"/>
                </a:solidFill>
                <a:latin typeface="Calibri"/>
                <a:ea typeface="Calibri"/>
                <a:cs typeface="Calibri"/>
                <a:sym typeface="Calibri"/>
              </a:endParaRPr>
            </a:p>
          </p:txBody>
        </p:sp>
        <p:sp>
          <p:nvSpPr>
            <p:cNvPr id="642" name="Google Shape;642;p109"/>
            <p:cNvSpPr/>
            <p:nvPr/>
          </p:nvSpPr>
          <p:spPr>
            <a:xfrm>
              <a:off x="3117850" y="4760910"/>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643" name="Google Shape;643;p109"/>
            <p:cNvSpPr txBox="1"/>
            <p:nvPr/>
          </p:nvSpPr>
          <p:spPr>
            <a:xfrm>
              <a:off x="3252909" y="4860242"/>
              <a:ext cx="512763" cy="2301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D</a:t>
              </a:r>
              <a:endParaRPr sz="1600" b="0" i="0" u="none" strike="noStrike" cap="none">
                <a:solidFill>
                  <a:schemeClr val="dk1"/>
                </a:solidFill>
                <a:latin typeface="Calibri"/>
                <a:ea typeface="Calibri"/>
                <a:cs typeface="Calibri"/>
                <a:sym typeface="Calibri"/>
              </a:endParaRPr>
            </a:p>
          </p:txBody>
        </p:sp>
        <p:cxnSp>
          <p:nvCxnSpPr>
            <p:cNvPr id="644" name="Google Shape;644;p109"/>
            <p:cNvCxnSpPr/>
            <p:nvPr/>
          </p:nvCxnSpPr>
          <p:spPr>
            <a:xfrm>
              <a:off x="1986780" y="4349362"/>
              <a:ext cx="1149350" cy="538162"/>
            </a:xfrm>
            <a:prstGeom prst="straightConnector1">
              <a:avLst/>
            </a:prstGeom>
            <a:noFill/>
            <a:ln w="9525" cap="flat" cmpd="sng">
              <a:solidFill>
                <a:schemeClr val="dk1"/>
              </a:solidFill>
              <a:prstDash val="solid"/>
              <a:round/>
              <a:headEnd type="none" w="sm" len="sm"/>
              <a:tailEnd type="stealth" w="med" len="med"/>
            </a:ln>
          </p:spPr>
        </p:cxnSp>
        <p:cxnSp>
          <p:nvCxnSpPr>
            <p:cNvPr id="645" name="Google Shape;645;p109"/>
            <p:cNvCxnSpPr>
              <a:stCxn id="638" idx="3"/>
            </p:cNvCxnSpPr>
            <p:nvPr/>
          </p:nvCxnSpPr>
          <p:spPr>
            <a:xfrm flipH="1">
              <a:off x="3546557" y="4428908"/>
              <a:ext cx="420900" cy="366300"/>
            </a:xfrm>
            <a:prstGeom prst="straightConnector1">
              <a:avLst/>
            </a:prstGeom>
            <a:noFill/>
            <a:ln w="9525" cap="flat" cmpd="sng">
              <a:solidFill>
                <a:schemeClr val="dk1"/>
              </a:solidFill>
              <a:prstDash val="solid"/>
              <a:round/>
              <a:headEnd type="none" w="sm" len="sm"/>
              <a:tailEnd type="stealth" w="med" len="med"/>
            </a:ln>
          </p:spPr>
        </p:cxnSp>
        <p:sp>
          <p:nvSpPr>
            <p:cNvPr id="646" name="Google Shape;646;p109"/>
            <p:cNvSpPr/>
            <p:nvPr/>
          </p:nvSpPr>
          <p:spPr>
            <a:xfrm>
              <a:off x="5047865" y="3999794"/>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647" name="Google Shape;647;p109"/>
            <p:cNvSpPr txBox="1"/>
            <p:nvPr/>
          </p:nvSpPr>
          <p:spPr>
            <a:xfrm>
              <a:off x="5210089" y="4092772"/>
              <a:ext cx="384175" cy="231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E</a:t>
              </a:r>
              <a:endParaRPr sz="1600" b="0" i="0" u="none" strike="noStrike" cap="none">
                <a:solidFill>
                  <a:schemeClr val="dk1"/>
                </a:solidFill>
                <a:latin typeface="Calibri"/>
                <a:ea typeface="Calibri"/>
                <a:cs typeface="Calibri"/>
                <a:sym typeface="Calibri"/>
              </a:endParaRPr>
            </a:p>
          </p:txBody>
        </p:sp>
        <p:cxnSp>
          <p:nvCxnSpPr>
            <p:cNvPr id="648" name="Google Shape;648;p109"/>
            <p:cNvCxnSpPr>
              <a:endCxn id="646" idx="2"/>
            </p:cNvCxnSpPr>
            <p:nvPr/>
          </p:nvCxnSpPr>
          <p:spPr>
            <a:xfrm rot="10800000" flipH="1">
              <a:off x="4440965" y="4210762"/>
              <a:ext cx="606900" cy="80700"/>
            </a:xfrm>
            <a:prstGeom prst="straightConnector1">
              <a:avLst/>
            </a:prstGeom>
            <a:noFill/>
            <a:ln w="9525" cap="flat" cmpd="sng">
              <a:solidFill>
                <a:schemeClr val="dk1"/>
              </a:solidFill>
              <a:prstDash val="solid"/>
              <a:round/>
              <a:headEnd type="none" w="sm" len="sm"/>
              <a:tailEnd type="stealth" w="med" len="med"/>
            </a:ln>
          </p:spPr>
        </p:cxnSp>
        <p:sp>
          <p:nvSpPr>
            <p:cNvPr id="649" name="Google Shape;649;p109"/>
            <p:cNvSpPr/>
            <p:nvPr/>
          </p:nvSpPr>
          <p:spPr>
            <a:xfrm>
              <a:off x="3502025" y="3530600"/>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650" name="Google Shape;650;p109"/>
            <p:cNvSpPr txBox="1"/>
            <p:nvPr/>
          </p:nvSpPr>
          <p:spPr>
            <a:xfrm>
              <a:off x="3671866" y="3631315"/>
              <a:ext cx="360361" cy="1425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F</a:t>
              </a:r>
              <a:endParaRPr sz="1600" b="0" i="0" u="none" strike="noStrike" cap="none">
                <a:solidFill>
                  <a:schemeClr val="dk1"/>
                </a:solidFill>
                <a:latin typeface="Calibri"/>
                <a:ea typeface="Calibri"/>
                <a:cs typeface="Calibri"/>
                <a:sym typeface="Calibri"/>
              </a:endParaRPr>
            </a:p>
          </p:txBody>
        </p:sp>
        <p:cxnSp>
          <p:nvCxnSpPr>
            <p:cNvPr id="651" name="Google Shape;651;p109"/>
            <p:cNvCxnSpPr/>
            <p:nvPr/>
          </p:nvCxnSpPr>
          <p:spPr>
            <a:xfrm rot="10800000" flipH="1">
              <a:off x="3117850" y="3760788"/>
              <a:ext cx="384175" cy="307975"/>
            </a:xfrm>
            <a:prstGeom prst="straightConnector1">
              <a:avLst/>
            </a:prstGeom>
            <a:noFill/>
            <a:ln w="9525" cap="flat" cmpd="sng">
              <a:solidFill>
                <a:schemeClr val="dk1"/>
              </a:solidFill>
              <a:prstDash val="solid"/>
              <a:round/>
              <a:headEnd type="none" w="sm" len="sm"/>
              <a:tailEnd type="stealth" w="med" len="med"/>
            </a:ln>
          </p:spPr>
        </p:cxnSp>
        <p:sp>
          <p:nvSpPr>
            <p:cNvPr id="652" name="Google Shape;652;p109"/>
            <p:cNvSpPr/>
            <p:nvPr/>
          </p:nvSpPr>
          <p:spPr>
            <a:xfrm>
              <a:off x="5033963" y="4606925"/>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653" name="Google Shape;653;p109"/>
            <p:cNvSpPr txBox="1"/>
            <p:nvPr/>
          </p:nvSpPr>
          <p:spPr>
            <a:xfrm>
              <a:off x="5176067" y="4720494"/>
              <a:ext cx="382587" cy="2301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G</a:t>
              </a:r>
              <a:endParaRPr sz="1600" b="0" i="0" u="none" strike="noStrike" cap="none">
                <a:solidFill>
                  <a:schemeClr val="dk1"/>
                </a:solidFill>
                <a:latin typeface="Calibri"/>
                <a:ea typeface="Calibri"/>
                <a:cs typeface="Calibri"/>
                <a:sym typeface="Calibri"/>
              </a:endParaRPr>
            </a:p>
          </p:txBody>
        </p:sp>
        <p:cxnSp>
          <p:nvCxnSpPr>
            <p:cNvPr id="654" name="Google Shape;654;p109"/>
            <p:cNvCxnSpPr/>
            <p:nvPr/>
          </p:nvCxnSpPr>
          <p:spPr>
            <a:xfrm>
              <a:off x="4415924" y="4371535"/>
              <a:ext cx="656433" cy="370156"/>
            </a:xfrm>
            <a:prstGeom prst="straightConnector1">
              <a:avLst/>
            </a:prstGeom>
            <a:noFill/>
            <a:ln w="9525" cap="flat" cmpd="sng">
              <a:solidFill>
                <a:schemeClr val="dk1"/>
              </a:solidFill>
              <a:prstDash val="solid"/>
              <a:round/>
              <a:headEnd type="none" w="sm" len="sm"/>
              <a:tailEnd type="stealth" w="med" len="med"/>
            </a:ln>
          </p:spPr>
        </p:cxnSp>
        <p:cxnSp>
          <p:nvCxnSpPr>
            <p:cNvPr id="655" name="Google Shape;655;p109"/>
            <p:cNvCxnSpPr>
              <a:stCxn id="646" idx="4"/>
            </p:cNvCxnSpPr>
            <p:nvPr/>
          </p:nvCxnSpPr>
          <p:spPr>
            <a:xfrm flipH="1">
              <a:off x="5320793" y="4421730"/>
              <a:ext cx="4500" cy="190200"/>
            </a:xfrm>
            <a:prstGeom prst="straightConnector1">
              <a:avLst/>
            </a:prstGeom>
            <a:noFill/>
            <a:ln w="9525" cap="flat" cmpd="sng">
              <a:solidFill>
                <a:schemeClr val="dk1"/>
              </a:solidFill>
              <a:prstDash val="solid"/>
              <a:round/>
              <a:headEnd type="none" w="sm" len="sm"/>
              <a:tailEnd type="stealth" w="med" len="med"/>
            </a:ln>
          </p:spPr>
        </p:cxnSp>
        <p:sp>
          <p:nvSpPr>
            <p:cNvPr id="656" name="Google Shape;656;p109"/>
            <p:cNvSpPr/>
            <p:nvPr/>
          </p:nvSpPr>
          <p:spPr>
            <a:xfrm>
              <a:off x="5003800" y="3428998"/>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657" name="Google Shape;657;p109"/>
            <p:cNvSpPr txBox="1"/>
            <p:nvPr/>
          </p:nvSpPr>
          <p:spPr>
            <a:xfrm>
              <a:off x="5128619" y="3532628"/>
              <a:ext cx="384175" cy="231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H</a:t>
              </a:r>
              <a:endParaRPr sz="1600" b="0" i="0" u="none" strike="noStrike" cap="none">
                <a:solidFill>
                  <a:schemeClr val="dk1"/>
                </a:solidFill>
                <a:latin typeface="Calibri"/>
                <a:ea typeface="Calibri"/>
                <a:cs typeface="Calibri"/>
                <a:sym typeface="Calibri"/>
              </a:endParaRPr>
            </a:p>
          </p:txBody>
        </p:sp>
        <p:cxnSp>
          <p:nvCxnSpPr>
            <p:cNvPr id="658" name="Google Shape;658;p109"/>
            <p:cNvCxnSpPr>
              <a:endCxn id="656" idx="2"/>
            </p:cNvCxnSpPr>
            <p:nvPr/>
          </p:nvCxnSpPr>
          <p:spPr>
            <a:xfrm rot="10800000" flipH="1">
              <a:off x="4045900" y="3639966"/>
              <a:ext cx="957900" cy="75000"/>
            </a:xfrm>
            <a:prstGeom prst="straightConnector1">
              <a:avLst/>
            </a:prstGeom>
            <a:noFill/>
            <a:ln w="9525" cap="flat" cmpd="sng">
              <a:solidFill>
                <a:schemeClr val="dk1"/>
              </a:solidFill>
              <a:prstDash val="solid"/>
              <a:round/>
              <a:headEnd type="none" w="sm" len="sm"/>
              <a:tailEnd type="stealth" w="med" len="med"/>
            </a:ln>
          </p:spPr>
        </p:cxnSp>
        <p:sp>
          <p:nvSpPr>
            <p:cNvPr id="659" name="Google Shape;659;p109"/>
            <p:cNvSpPr/>
            <p:nvPr/>
          </p:nvSpPr>
          <p:spPr>
            <a:xfrm>
              <a:off x="4805492" y="5286904"/>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660" name="Google Shape;660;p109"/>
            <p:cNvSpPr txBox="1"/>
            <p:nvPr/>
          </p:nvSpPr>
          <p:spPr>
            <a:xfrm>
              <a:off x="4975406" y="5380677"/>
              <a:ext cx="384175" cy="2301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I</a:t>
              </a:r>
              <a:endParaRPr sz="1600" b="0" i="0" u="none" strike="noStrike" cap="none">
                <a:solidFill>
                  <a:schemeClr val="dk1"/>
                </a:solidFill>
                <a:latin typeface="Calibri"/>
                <a:ea typeface="Calibri"/>
                <a:cs typeface="Calibri"/>
                <a:sym typeface="Calibri"/>
              </a:endParaRPr>
            </a:p>
          </p:txBody>
        </p:sp>
        <p:cxnSp>
          <p:nvCxnSpPr>
            <p:cNvPr id="661" name="Google Shape;661;p109"/>
            <p:cNvCxnSpPr>
              <a:endCxn id="659" idx="1"/>
            </p:cNvCxnSpPr>
            <p:nvPr/>
          </p:nvCxnSpPr>
          <p:spPr>
            <a:xfrm>
              <a:off x="4275349" y="4515595"/>
              <a:ext cx="611400" cy="833100"/>
            </a:xfrm>
            <a:prstGeom prst="straightConnector1">
              <a:avLst/>
            </a:prstGeom>
            <a:noFill/>
            <a:ln w="9525" cap="flat" cmpd="sng">
              <a:solidFill>
                <a:schemeClr val="dk1"/>
              </a:solidFill>
              <a:prstDash val="solid"/>
              <a:round/>
              <a:headEnd type="none" w="sm" len="sm"/>
              <a:tailEnd type="stealth" w="med" len="med"/>
            </a:ln>
          </p:spPr>
        </p:cxnSp>
        <p:cxnSp>
          <p:nvCxnSpPr>
            <p:cNvPr id="662" name="Google Shape;662;p109"/>
            <p:cNvCxnSpPr/>
            <p:nvPr/>
          </p:nvCxnSpPr>
          <p:spPr>
            <a:xfrm flipH="1">
              <a:off x="5157386" y="5039298"/>
              <a:ext cx="128588" cy="231775"/>
            </a:xfrm>
            <a:prstGeom prst="straightConnector1">
              <a:avLst/>
            </a:prstGeom>
            <a:noFill/>
            <a:ln w="9525" cap="flat" cmpd="sng">
              <a:solidFill>
                <a:schemeClr val="dk1"/>
              </a:solidFill>
              <a:prstDash val="solid"/>
              <a:round/>
              <a:headEnd type="none" w="sm" len="sm"/>
              <a:tailEnd type="stealth" w="med" len="med"/>
            </a:ln>
          </p:spPr>
        </p:cxnSp>
        <p:sp>
          <p:nvSpPr>
            <p:cNvPr id="663" name="Google Shape;663;p109"/>
            <p:cNvSpPr txBox="1"/>
            <p:nvPr/>
          </p:nvSpPr>
          <p:spPr>
            <a:xfrm>
              <a:off x="5270922" y="5046483"/>
              <a:ext cx="382587" cy="231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7</a:t>
              </a:r>
              <a:endParaRPr sz="1600" b="0" i="0" u="none" strike="noStrike" cap="none">
                <a:solidFill>
                  <a:schemeClr val="dk1"/>
                </a:solidFill>
                <a:latin typeface="Calibri"/>
                <a:ea typeface="Calibri"/>
                <a:cs typeface="Calibri"/>
                <a:sym typeface="Calibri"/>
              </a:endParaRPr>
            </a:p>
          </p:txBody>
        </p:sp>
        <p:sp>
          <p:nvSpPr>
            <p:cNvPr id="664" name="Google Shape;664;p109"/>
            <p:cNvSpPr/>
            <p:nvPr/>
          </p:nvSpPr>
          <p:spPr>
            <a:xfrm>
              <a:off x="6696075" y="4530725"/>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665" name="Google Shape;665;p109"/>
            <p:cNvSpPr txBox="1"/>
            <p:nvPr/>
          </p:nvSpPr>
          <p:spPr>
            <a:xfrm>
              <a:off x="6785816" y="4638103"/>
              <a:ext cx="382588" cy="2301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Fin</a:t>
              </a:r>
              <a:endParaRPr sz="1600" b="0" i="0" u="none" strike="noStrike" cap="none">
                <a:solidFill>
                  <a:schemeClr val="dk1"/>
                </a:solidFill>
                <a:latin typeface="Calibri"/>
                <a:ea typeface="Calibri"/>
                <a:cs typeface="Calibri"/>
                <a:sym typeface="Calibri"/>
              </a:endParaRPr>
            </a:p>
          </p:txBody>
        </p:sp>
        <p:cxnSp>
          <p:nvCxnSpPr>
            <p:cNvPr id="666" name="Google Shape;666;p109"/>
            <p:cNvCxnSpPr>
              <a:stCxn id="660" idx="3"/>
              <a:endCxn id="664" idx="3"/>
            </p:cNvCxnSpPr>
            <p:nvPr/>
          </p:nvCxnSpPr>
          <p:spPr>
            <a:xfrm rot="10800000" flipH="1">
              <a:off x="5359581" y="4890971"/>
              <a:ext cx="1417800" cy="604800"/>
            </a:xfrm>
            <a:prstGeom prst="straightConnector1">
              <a:avLst/>
            </a:prstGeom>
            <a:noFill/>
            <a:ln w="9525" cap="flat" cmpd="sng">
              <a:solidFill>
                <a:schemeClr val="dk1"/>
              </a:solidFill>
              <a:prstDash val="solid"/>
              <a:round/>
              <a:headEnd type="none" w="sm" len="sm"/>
              <a:tailEnd type="stealth" w="med" len="med"/>
            </a:ln>
          </p:spPr>
        </p:cxnSp>
        <p:cxnSp>
          <p:nvCxnSpPr>
            <p:cNvPr id="667" name="Google Shape;667;p109"/>
            <p:cNvCxnSpPr>
              <a:stCxn id="656" idx="6"/>
            </p:cNvCxnSpPr>
            <p:nvPr/>
          </p:nvCxnSpPr>
          <p:spPr>
            <a:xfrm>
              <a:off x="5558655" y="3639966"/>
              <a:ext cx="1264500" cy="890700"/>
            </a:xfrm>
            <a:prstGeom prst="straightConnector1">
              <a:avLst/>
            </a:prstGeom>
            <a:noFill/>
            <a:ln w="9525" cap="flat" cmpd="sng">
              <a:solidFill>
                <a:schemeClr val="dk1"/>
              </a:solidFill>
              <a:prstDash val="solid"/>
              <a:round/>
              <a:headEnd type="none" w="sm" len="sm"/>
              <a:tailEnd type="stealth" w="med" len="med"/>
            </a:ln>
          </p:spPr>
        </p:cxnSp>
        <p:sp>
          <p:nvSpPr>
            <p:cNvPr id="668" name="Google Shape;668;p109"/>
            <p:cNvSpPr/>
            <p:nvPr/>
          </p:nvSpPr>
          <p:spPr>
            <a:xfrm>
              <a:off x="3373438" y="4979649"/>
              <a:ext cx="3578225" cy="884576"/>
            </a:xfrm>
            <a:custGeom>
              <a:avLst/>
              <a:gdLst/>
              <a:ahLst/>
              <a:cxnLst/>
              <a:rect l="l" t="t" r="r" b="b"/>
              <a:pathLst>
                <a:path w="5040" h="2400" extrusionOk="0">
                  <a:moveTo>
                    <a:pt x="0" y="540"/>
                  </a:moveTo>
                  <a:cubicBezTo>
                    <a:pt x="30" y="1230"/>
                    <a:pt x="60" y="1920"/>
                    <a:pt x="720" y="2160"/>
                  </a:cubicBezTo>
                  <a:cubicBezTo>
                    <a:pt x="1380" y="2400"/>
                    <a:pt x="3240" y="2340"/>
                    <a:pt x="3960" y="1980"/>
                  </a:cubicBezTo>
                  <a:cubicBezTo>
                    <a:pt x="4680" y="1620"/>
                    <a:pt x="4860" y="810"/>
                    <a:pt x="5040"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669" name="Google Shape;669;p109"/>
            <p:cNvSpPr txBox="1"/>
            <p:nvPr/>
          </p:nvSpPr>
          <p:spPr>
            <a:xfrm>
              <a:off x="5746641" y="5582642"/>
              <a:ext cx="382587" cy="1539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8</a:t>
              </a:r>
              <a:endParaRPr sz="1600" b="0" i="0" u="none" strike="noStrike" cap="none">
                <a:solidFill>
                  <a:schemeClr val="dk1"/>
                </a:solidFill>
                <a:latin typeface="Calibri"/>
                <a:ea typeface="Calibri"/>
                <a:cs typeface="Calibri"/>
                <a:sym typeface="Calibri"/>
              </a:endParaRPr>
            </a:p>
          </p:txBody>
        </p:sp>
        <p:cxnSp>
          <p:nvCxnSpPr>
            <p:cNvPr id="670" name="Google Shape;670;p109"/>
            <p:cNvCxnSpPr>
              <a:endCxn id="664" idx="1"/>
            </p:cNvCxnSpPr>
            <p:nvPr/>
          </p:nvCxnSpPr>
          <p:spPr>
            <a:xfrm>
              <a:off x="5625032" y="4336916"/>
              <a:ext cx="1152300" cy="255600"/>
            </a:xfrm>
            <a:prstGeom prst="straightConnector1">
              <a:avLst/>
            </a:prstGeom>
            <a:noFill/>
            <a:ln w="9525" cap="flat" cmpd="sng">
              <a:solidFill>
                <a:schemeClr val="dk1"/>
              </a:solidFill>
              <a:prstDash val="solid"/>
              <a:round/>
              <a:headEnd type="none" w="sm" len="sm"/>
              <a:tailEnd type="stealth" w="med" len="med"/>
            </a:ln>
          </p:spPr>
        </p:cxn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110"/>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676" name="Google Shape;676;p11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77" name="Google Shape;677;p11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78" name="Google Shape;678;p11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31</a:t>
            </a:fld>
            <a:endParaRPr/>
          </a:p>
        </p:txBody>
      </p:sp>
      <p:sp>
        <p:nvSpPr>
          <p:cNvPr id="679" name="Google Shape;679;p110"/>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Otro ejemplo:</a:t>
            </a:r>
            <a:endParaRPr sz="2800" i="1">
              <a:solidFill>
                <a:schemeClr val="dk1"/>
              </a:solidFill>
            </a:endParaRPr>
          </a:p>
          <a:p>
            <a:pPr marL="176212" lvl="2" indent="0" algn="l" rtl="0">
              <a:lnSpc>
                <a:spcPct val="85000"/>
              </a:lnSpc>
              <a:spcBef>
                <a:spcPts val="18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graphicFrame>
        <p:nvGraphicFramePr>
          <p:cNvPr id="680" name="Google Shape;680;p110"/>
          <p:cNvGraphicFramePr/>
          <p:nvPr/>
        </p:nvGraphicFramePr>
        <p:xfrm>
          <a:off x="1279620" y="2219398"/>
          <a:ext cx="9114775" cy="4023470"/>
        </p:xfrm>
        <a:graphic>
          <a:graphicData uri="http://schemas.openxmlformats.org/drawingml/2006/table">
            <a:tbl>
              <a:tblPr>
                <a:noFill/>
                <a:tableStyleId>{4272FAEC-E20E-4765-AF0E-9200B05B628A}</a:tableStyleId>
              </a:tblPr>
              <a:tblGrid>
                <a:gridCol w="870025">
                  <a:extLst>
                    <a:ext uri="{9D8B030D-6E8A-4147-A177-3AD203B41FA5}">
                      <a16:colId xmlns:a16="http://schemas.microsoft.com/office/drawing/2014/main" val="20000"/>
                    </a:ext>
                  </a:extLst>
                </a:gridCol>
                <a:gridCol w="1090875">
                  <a:extLst>
                    <a:ext uri="{9D8B030D-6E8A-4147-A177-3AD203B41FA5}">
                      <a16:colId xmlns:a16="http://schemas.microsoft.com/office/drawing/2014/main" val="20001"/>
                    </a:ext>
                  </a:extLst>
                </a:gridCol>
                <a:gridCol w="5871400">
                  <a:extLst>
                    <a:ext uri="{9D8B030D-6E8A-4147-A177-3AD203B41FA5}">
                      <a16:colId xmlns:a16="http://schemas.microsoft.com/office/drawing/2014/main" val="20002"/>
                    </a:ext>
                  </a:extLst>
                </a:gridCol>
                <a:gridCol w="641675">
                  <a:extLst>
                    <a:ext uri="{9D8B030D-6E8A-4147-A177-3AD203B41FA5}">
                      <a16:colId xmlns:a16="http://schemas.microsoft.com/office/drawing/2014/main" val="20003"/>
                    </a:ext>
                  </a:extLst>
                </a:gridCol>
                <a:gridCol w="640800">
                  <a:extLst>
                    <a:ext uri="{9D8B030D-6E8A-4147-A177-3AD203B41FA5}">
                      <a16:colId xmlns:a16="http://schemas.microsoft.com/office/drawing/2014/main" val="20004"/>
                    </a:ext>
                  </a:extLst>
                </a:gridCol>
              </a:tblGrid>
              <a:tr h="2286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1" i="0" u="none" strike="noStrike" cap="none">
                          <a:solidFill>
                            <a:schemeClr val="dk1"/>
                          </a:solidFill>
                          <a:latin typeface="Calibri"/>
                          <a:ea typeface="Calibri"/>
                          <a:cs typeface="Calibri"/>
                          <a:sym typeface="Calibri"/>
                        </a:rPr>
                        <a:t>Tarea </a:t>
                      </a:r>
                      <a:endParaRPr sz="1800" b="1"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1" i="0" u="none" strike="noStrike" cap="none">
                          <a:solidFill>
                            <a:schemeClr val="dk1"/>
                          </a:solidFill>
                          <a:latin typeface="Calibri"/>
                          <a:ea typeface="Calibri"/>
                          <a:cs typeface="Calibri"/>
                          <a:sym typeface="Calibri"/>
                        </a:rPr>
                        <a:t>Duración</a:t>
                      </a:r>
                      <a:endParaRPr sz="1800" b="1"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1" i="0" u="none" strike="noStrike" cap="none">
                          <a:solidFill>
                            <a:schemeClr val="dk1"/>
                          </a:solidFill>
                          <a:latin typeface="Calibri"/>
                          <a:ea typeface="Calibri"/>
                          <a:cs typeface="Calibri"/>
                          <a:sym typeface="Calibri"/>
                        </a:rPr>
                        <a:t>Restricciones</a:t>
                      </a:r>
                      <a:endParaRPr sz="1800" b="1"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1" i="0" u="none" strike="noStrike" cap="none">
                          <a:solidFill>
                            <a:schemeClr val="dk1"/>
                          </a:solidFill>
                          <a:latin typeface="Calibri"/>
                          <a:ea typeface="Calibri"/>
                          <a:cs typeface="Calibri"/>
                          <a:sym typeface="Calibri"/>
                        </a:rPr>
                        <a:t>Te</a:t>
                      </a:r>
                      <a:endParaRPr sz="1800" b="1"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1" i="0" u="none" strike="noStrike" cap="none">
                          <a:solidFill>
                            <a:schemeClr val="dk1"/>
                          </a:solidFill>
                          <a:latin typeface="Calibri"/>
                          <a:ea typeface="Calibri"/>
                          <a:cs typeface="Calibri"/>
                          <a:sym typeface="Calibri"/>
                        </a:rPr>
                        <a:t>Ta</a:t>
                      </a:r>
                      <a:endParaRPr sz="1800" b="1"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A</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12</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0</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0</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B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5</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A terminada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12</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12</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C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Empieza 1 semana después de terminada B</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18</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18</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D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8</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A terminada, C terminada</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21</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25</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E</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9</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C terminada</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21</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21</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F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6</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Empieza 6 semanas después del comienzo de B</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18</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19</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G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4</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C terminada. Empieza 2 semanas después del comienzo de E</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H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9</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Empieza 1 semana antes del fin de F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24</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13885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I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C terminada. Empieza 3 semanas después del fin de G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30</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30</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186825">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Fin</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0</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33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33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11"/>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686" name="Google Shape;686;p11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87" name="Google Shape;687;p11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88" name="Google Shape;688;p11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32</a:t>
            </a:fld>
            <a:endParaRPr/>
          </a:p>
        </p:txBody>
      </p:sp>
      <p:sp>
        <p:nvSpPr>
          <p:cNvPr id="689" name="Google Shape;689;p111"/>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Otro ejemplo:</a:t>
            </a:r>
            <a:endParaRPr sz="2800" i="1">
              <a:solidFill>
                <a:schemeClr val="dk1"/>
              </a:solidFill>
            </a:endParaRPr>
          </a:p>
          <a:p>
            <a:pPr marL="176212" lvl="2" indent="0" algn="l" rtl="0">
              <a:lnSpc>
                <a:spcPct val="85000"/>
              </a:lnSpc>
              <a:spcBef>
                <a:spcPts val="18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graphicFrame>
        <p:nvGraphicFramePr>
          <p:cNvPr id="690" name="Google Shape;690;p111"/>
          <p:cNvGraphicFramePr/>
          <p:nvPr/>
        </p:nvGraphicFramePr>
        <p:xfrm>
          <a:off x="1279620" y="2219398"/>
          <a:ext cx="9114775" cy="4023470"/>
        </p:xfrm>
        <a:graphic>
          <a:graphicData uri="http://schemas.openxmlformats.org/drawingml/2006/table">
            <a:tbl>
              <a:tblPr>
                <a:noFill/>
                <a:tableStyleId>{4272FAEC-E20E-4765-AF0E-9200B05B628A}</a:tableStyleId>
              </a:tblPr>
              <a:tblGrid>
                <a:gridCol w="870025">
                  <a:extLst>
                    <a:ext uri="{9D8B030D-6E8A-4147-A177-3AD203B41FA5}">
                      <a16:colId xmlns:a16="http://schemas.microsoft.com/office/drawing/2014/main" val="20000"/>
                    </a:ext>
                  </a:extLst>
                </a:gridCol>
                <a:gridCol w="1090875">
                  <a:extLst>
                    <a:ext uri="{9D8B030D-6E8A-4147-A177-3AD203B41FA5}">
                      <a16:colId xmlns:a16="http://schemas.microsoft.com/office/drawing/2014/main" val="20001"/>
                    </a:ext>
                  </a:extLst>
                </a:gridCol>
                <a:gridCol w="5871400">
                  <a:extLst>
                    <a:ext uri="{9D8B030D-6E8A-4147-A177-3AD203B41FA5}">
                      <a16:colId xmlns:a16="http://schemas.microsoft.com/office/drawing/2014/main" val="20002"/>
                    </a:ext>
                  </a:extLst>
                </a:gridCol>
                <a:gridCol w="641675">
                  <a:extLst>
                    <a:ext uri="{9D8B030D-6E8A-4147-A177-3AD203B41FA5}">
                      <a16:colId xmlns:a16="http://schemas.microsoft.com/office/drawing/2014/main" val="20003"/>
                    </a:ext>
                  </a:extLst>
                </a:gridCol>
                <a:gridCol w="640800">
                  <a:extLst>
                    <a:ext uri="{9D8B030D-6E8A-4147-A177-3AD203B41FA5}">
                      <a16:colId xmlns:a16="http://schemas.microsoft.com/office/drawing/2014/main" val="20004"/>
                    </a:ext>
                  </a:extLst>
                </a:gridCol>
              </a:tblGrid>
              <a:tr h="2286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1" i="0" u="none" strike="noStrike" cap="none">
                          <a:solidFill>
                            <a:schemeClr val="dk1"/>
                          </a:solidFill>
                          <a:latin typeface="Calibri"/>
                          <a:ea typeface="Calibri"/>
                          <a:cs typeface="Calibri"/>
                          <a:sym typeface="Calibri"/>
                        </a:rPr>
                        <a:t>Tarea </a:t>
                      </a:r>
                      <a:endParaRPr sz="1800" b="1"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1" i="0" u="none" strike="noStrike" cap="none">
                          <a:solidFill>
                            <a:schemeClr val="dk1"/>
                          </a:solidFill>
                          <a:latin typeface="Calibri"/>
                          <a:ea typeface="Calibri"/>
                          <a:cs typeface="Calibri"/>
                          <a:sym typeface="Calibri"/>
                        </a:rPr>
                        <a:t>Duración</a:t>
                      </a:r>
                      <a:endParaRPr sz="1800" b="1"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1" i="0" u="none" strike="noStrike" cap="none">
                          <a:solidFill>
                            <a:schemeClr val="dk1"/>
                          </a:solidFill>
                          <a:latin typeface="Calibri"/>
                          <a:ea typeface="Calibri"/>
                          <a:cs typeface="Calibri"/>
                          <a:sym typeface="Calibri"/>
                        </a:rPr>
                        <a:t>Restricciones</a:t>
                      </a:r>
                      <a:endParaRPr sz="1800" b="1"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1" i="0" u="none" strike="noStrike" cap="none">
                          <a:solidFill>
                            <a:schemeClr val="dk1"/>
                          </a:solidFill>
                          <a:latin typeface="Calibri"/>
                          <a:ea typeface="Calibri"/>
                          <a:cs typeface="Calibri"/>
                          <a:sym typeface="Calibri"/>
                        </a:rPr>
                        <a:t>Te</a:t>
                      </a:r>
                      <a:endParaRPr sz="1800" b="1"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1" i="0" u="none" strike="noStrike" cap="none">
                          <a:solidFill>
                            <a:schemeClr val="dk1"/>
                          </a:solidFill>
                          <a:latin typeface="Calibri"/>
                          <a:ea typeface="Calibri"/>
                          <a:cs typeface="Calibri"/>
                          <a:sym typeface="Calibri"/>
                        </a:rPr>
                        <a:t>Ta</a:t>
                      </a:r>
                      <a:endParaRPr sz="1800" b="1"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0"/>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A</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12</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0</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0</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extLst>
                  <a:ext uri="{0D108BD9-81ED-4DB2-BD59-A6C34878D82A}">
                    <a16:rowId xmlns:a16="http://schemas.microsoft.com/office/drawing/2014/main" val="10001"/>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B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5</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A terminada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12</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12</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extLst>
                  <a:ext uri="{0D108BD9-81ED-4DB2-BD59-A6C34878D82A}">
                    <a16:rowId xmlns:a16="http://schemas.microsoft.com/office/drawing/2014/main" val="10002"/>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C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Empieza 1 semana después de terminada B</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18</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18</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extLst>
                  <a:ext uri="{0D108BD9-81ED-4DB2-BD59-A6C34878D82A}">
                    <a16:rowId xmlns:a16="http://schemas.microsoft.com/office/drawing/2014/main" val="10003"/>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D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8</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A terminada, C terminada</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21</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25</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E</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9</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C terminada</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21</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21</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extLst>
                  <a:ext uri="{0D108BD9-81ED-4DB2-BD59-A6C34878D82A}">
                    <a16:rowId xmlns:a16="http://schemas.microsoft.com/office/drawing/2014/main" val="10005"/>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F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6</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Empieza 6 semanas después del comienzo de B</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18</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19</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G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4</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C terminada. Empieza 2 semanas después del comienzo de E</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extLst>
                  <a:ext uri="{0D108BD9-81ED-4DB2-BD59-A6C34878D82A}">
                    <a16:rowId xmlns:a16="http://schemas.microsoft.com/office/drawing/2014/main" val="10007"/>
                  </a:ext>
                </a:extLst>
              </a:tr>
              <a:tr h="34020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H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9</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Empieza 1 semana antes del fin de F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24</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138850">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I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C terminada. Empieza 3 semanas después del fin de G </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30</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30</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extLst>
                  <a:ext uri="{0D108BD9-81ED-4DB2-BD59-A6C34878D82A}">
                    <a16:rowId xmlns:a16="http://schemas.microsoft.com/office/drawing/2014/main" val="10009"/>
                  </a:ext>
                </a:extLst>
              </a:tr>
              <a:tr h="186825">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Fin</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0</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28257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3538"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33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tc>
                  <a:txBody>
                    <a:bodyPr/>
                    <a:lstStyle/>
                    <a:p>
                      <a:pPr marL="365125" marR="0" lvl="0" indent="-365125" algn="ctr" rtl="0">
                        <a:lnSpc>
                          <a:spcPct val="100000"/>
                        </a:lnSpc>
                        <a:spcBef>
                          <a:spcPts val="0"/>
                        </a:spcBef>
                        <a:spcAft>
                          <a:spcPts val="0"/>
                        </a:spcAft>
                        <a:buClr>
                          <a:schemeClr val="dk1"/>
                        </a:buClr>
                        <a:buSzPts val="2000"/>
                        <a:buFont typeface="Arial"/>
                        <a:buNone/>
                      </a:pPr>
                      <a:r>
                        <a:rPr lang="es-AR" sz="1800" b="0" i="0" u="none" strike="noStrike" cap="none">
                          <a:solidFill>
                            <a:schemeClr val="dk1"/>
                          </a:solidFill>
                          <a:latin typeface="Calibri"/>
                          <a:ea typeface="Calibri"/>
                          <a:cs typeface="Calibri"/>
                          <a:sym typeface="Calibri"/>
                        </a:rPr>
                        <a:t>33</a:t>
                      </a:r>
                      <a:endParaRPr sz="1800" b="0" i="0" u="none" strike="noStrike" cap="none">
                        <a:solidFill>
                          <a:schemeClr val="dk1"/>
                        </a:solidFill>
                        <a:latin typeface="Calibri"/>
                        <a:ea typeface="Calibri"/>
                        <a:cs typeface="Calibri"/>
                        <a:sym typeface="Calibri"/>
                      </a:endParaRPr>
                    </a:p>
                  </a:txBody>
                  <a:tcPr marL="97400" marR="97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99A92"/>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112"/>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696" name="Google Shape;696;p11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97" name="Google Shape;697;p11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98" name="Google Shape;698;p11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33</a:t>
            </a:fld>
            <a:endParaRPr/>
          </a:p>
        </p:txBody>
      </p:sp>
      <p:sp>
        <p:nvSpPr>
          <p:cNvPr id="699" name="Google Shape;699;p112"/>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Método del Camino Crítico – Otro ejemplo:</a:t>
            </a:r>
            <a:endParaRPr sz="2800" i="1">
              <a:solidFill>
                <a:schemeClr val="dk1"/>
              </a:solidFill>
            </a:endParaRPr>
          </a:p>
          <a:p>
            <a:pPr marL="176212" lvl="2" indent="0" algn="l" rtl="0">
              <a:lnSpc>
                <a:spcPct val="85000"/>
              </a:lnSpc>
              <a:spcBef>
                <a:spcPts val="18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grpSp>
        <p:nvGrpSpPr>
          <p:cNvPr id="700" name="Google Shape;700;p112"/>
          <p:cNvGrpSpPr/>
          <p:nvPr/>
        </p:nvGrpSpPr>
        <p:grpSpPr>
          <a:xfrm>
            <a:off x="2073434" y="2344959"/>
            <a:ext cx="8045131" cy="3739965"/>
            <a:chOff x="362219" y="3428998"/>
            <a:chExt cx="6888711" cy="2435227"/>
          </a:xfrm>
        </p:grpSpPr>
        <p:sp>
          <p:nvSpPr>
            <p:cNvPr id="701" name="Google Shape;701;p112"/>
            <p:cNvSpPr txBox="1"/>
            <p:nvPr/>
          </p:nvSpPr>
          <p:spPr>
            <a:xfrm>
              <a:off x="6013488" y="4444244"/>
              <a:ext cx="382588"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9</a:t>
              </a:r>
              <a:endParaRPr sz="1600" b="0" i="0" u="none" strike="noStrike" cap="none">
                <a:solidFill>
                  <a:schemeClr val="dk1"/>
                </a:solidFill>
                <a:latin typeface="Calibri"/>
                <a:ea typeface="Calibri"/>
                <a:cs typeface="Calibri"/>
                <a:sym typeface="Calibri"/>
              </a:endParaRPr>
            </a:p>
          </p:txBody>
        </p:sp>
        <p:sp>
          <p:nvSpPr>
            <p:cNvPr id="702" name="Google Shape;702;p112"/>
            <p:cNvSpPr txBox="1"/>
            <p:nvPr/>
          </p:nvSpPr>
          <p:spPr>
            <a:xfrm>
              <a:off x="6184900" y="3914775"/>
              <a:ext cx="382588"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9</a:t>
              </a:r>
              <a:endParaRPr sz="1600" b="0" i="0" u="none" strike="noStrike" cap="none">
                <a:solidFill>
                  <a:schemeClr val="dk1"/>
                </a:solidFill>
                <a:latin typeface="Calibri"/>
                <a:ea typeface="Calibri"/>
                <a:cs typeface="Calibri"/>
                <a:sym typeface="Calibri"/>
              </a:endParaRPr>
            </a:p>
          </p:txBody>
        </p:sp>
        <p:sp>
          <p:nvSpPr>
            <p:cNvPr id="703" name="Google Shape;703;p112"/>
            <p:cNvSpPr txBox="1"/>
            <p:nvPr/>
          </p:nvSpPr>
          <p:spPr>
            <a:xfrm>
              <a:off x="6056313" y="4914900"/>
              <a:ext cx="382587" cy="1539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704" name="Google Shape;704;p112"/>
            <p:cNvSpPr txBox="1"/>
            <p:nvPr/>
          </p:nvSpPr>
          <p:spPr>
            <a:xfrm>
              <a:off x="4357038" y="4829121"/>
              <a:ext cx="382587" cy="230187"/>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705" name="Google Shape;705;p112"/>
            <p:cNvSpPr txBox="1"/>
            <p:nvPr/>
          </p:nvSpPr>
          <p:spPr>
            <a:xfrm>
              <a:off x="4323947" y="3485987"/>
              <a:ext cx="382587"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5</a:t>
              </a:r>
              <a:endParaRPr sz="1600" b="0" i="0" u="none" strike="noStrike" cap="none">
                <a:solidFill>
                  <a:schemeClr val="dk1"/>
                </a:solidFill>
                <a:latin typeface="Calibri"/>
                <a:ea typeface="Calibri"/>
                <a:cs typeface="Calibri"/>
                <a:sym typeface="Calibri"/>
              </a:endParaRPr>
            </a:p>
          </p:txBody>
        </p:sp>
        <p:sp>
          <p:nvSpPr>
            <p:cNvPr id="706" name="Google Shape;706;p112"/>
            <p:cNvSpPr txBox="1"/>
            <p:nvPr/>
          </p:nvSpPr>
          <p:spPr>
            <a:xfrm>
              <a:off x="5297140" y="4410695"/>
              <a:ext cx="509587" cy="195262"/>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2</a:t>
              </a:r>
              <a:endParaRPr sz="1600" b="0" i="0" u="none" strike="noStrike" cap="none">
                <a:solidFill>
                  <a:schemeClr val="dk1"/>
                </a:solidFill>
                <a:latin typeface="Calibri"/>
                <a:ea typeface="Calibri"/>
                <a:cs typeface="Calibri"/>
                <a:sym typeface="Calibri"/>
              </a:endParaRPr>
            </a:p>
          </p:txBody>
        </p:sp>
        <p:sp>
          <p:nvSpPr>
            <p:cNvPr id="707" name="Google Shape;707;p112"/>
            <p:cNvSpPr txBox="1"/>
            <p:nvPr/>
          </p:nvSpPr>
          <p:spPr>
            <a:xfrm>
              <a:off x="4522310" y="4493488"/>
              <a:ext cx="384175"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708" name="Google Shape;708;p112"/>
            <p:cNvSpPr txBox="1"/>
            <p:nvPr/>
          </p:nvSpPr>
          <p:spPr>
            <a:xfrm>
              <a:off x="3074170" y="3782777"/>
              <a:ext cx="384175" cy="230188"/>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6</a:t>
              </a:r>
              <a:endParaRPr sz="1600" b="0" i="0" u="none" strike="noStrike" cap="none">
                <a:solidFill>
                  <a:schemeClr val="dk1"/>
                </a:solidFill>
                <a:latin typeface="Calibri"/>
                <a:ea typeface="Calibri"/>
                <a:cs typeface="Calibri"/>
                <a:sym typeface="Calibri"/>
              </a:endParaRPr>
            </a:p>
          </p:txBody>
        </p:sp>
        <p:sp>
          <p:nvSpPr>
            <p:cNvPr id="709" name="Google Shape;709;p112"/>
            <p:cNvSpPr txBox="1"/>
            <p:nvPr/>
          </p:nvSpPr>
          <p:spPr>
            <a:xfrm>
              <a:off x="4616782" y="4046913"/>
              <a:ext cx="382588"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710" name="Google Shape;710;p112"/>
            <p:cNvSpPr txBox="1"/>
            <p:nvPr/>
          </p:nvSpPr>
          <p:spPr>
            <a:xfrm>
              <a:off x="3711552" y="4551535"/>
              <a:ext cx="384175" cy="230188"/>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711" name="Google Shape;711;p112"/>
            <p:cNvSpPr txBox="1"/>
            <p:nvPr/>
          </p:nvSpPr>
          <p:spPr>
            <a:xfrm>
              <a:off x="2176934" y="4060825"/>
              <a:ext cx="382587"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12</a:t>
              </a:r>
              <a:endParaRPr sz="1600" b="0" i="0" u="none" strike="noStrike" cap="none">
                <a:solidFill>
                  <a:schemeClr val="dk1"/>
                </a:solidFill>
                <a:latin typeface="Calibri"/>
                <a:ea typeface="Calibri"/>
                <a:cs typeface="Calibri"/>
                <a:sym typeface="Calibri"/>
              </a:endParaRPr>
            </a:p>
          </p:txBody>
        </p:sp>
        <p:sp>
          <p:nvSpPr>
            <p:cNvPr id="712" name="Google Shape;712;p112"/>
            <p:cNvSpPr/>
            <p:nvPr/>
          </p:nvSpPr>
          <p:spPr>
            <a:xfrm>
              <a:off x="362219" y="4056167"/>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713" name="Google Shape;713;p112"/>
            <p:cNvSpPr txBox="1"/>
            <p:nvPr/>
          </p:nvSpPr>
          <p:spPr>
            <a:xfrm>
              <a:off x="445737" y="4160774"/>
              <a:ext cx="511175" cy="231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ini</a:t>
              </a:r>
              <a:endParaRPr sz="1600" b="0" i="0" u="none" strike="noStrike" cap="none">
                <a:solidFill>
                  <a:schemeClr val="dk1"/>
                </a:solidFill>
                <a:latin typeface="Calibri"/>
                <a:ea typeface="Calibri"/>
                <a:cs typeface="Calibri"/>
                <a:sym typeface="Calibri"/>
              </a:endParaRPr>
            </a:p>
          </p:txBody>
        </p:sp>
        <p:sp>
          <p:nvSpPr>
            <p:cNvPr id="714" name="Google Shape;714;p112"/>
            <p:cNvSpPr/>
            <p:nvPr/>
          </p:nvSpPr>
          <p:spPr>
            <a:xfrm>
              <a:off x="1455738" y="4068760"/>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715" name="Google Shape;715;p112"/>
            <p:cNvSpPr txBox="1"/>
            <p:nvPr/>
          </p:nvSpPr>
          <p:spPr>
            <a:xfrm>
              <a:off x="1600729" y="4166865"/>
              <a:ext cx="509588" cy="231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A</a:t>
              </a:r>
              <a:endParaRPr sz="1600" b="0" i="0" u="none" strike="noStrike" cap="none">
                <a:solidFill>
                  <a:schemeClr val="dk1"/>
                </a:solidFill>
                <a:latin typeface="Calibri"/>
                <a:ea typeface="Calibri"/>
                <a:cs typeface="Calibri"/>
                <a:sym typeface="Calibri"/>
              </a:endParaRPr>
            </a:p>
          </p:txBody>
        </p:sp>
        <p:cxnSp>
          <p:nvCxnSpPr>
            <p:cNvPr id="716" name="Google Shape;716;p112"/>
            <p:cNvCxnSpPr>
              <a:stCxn id="713" idx="3"/>
              <a:endCxn id="714" idx="2"/>
            </p:cNvCxnSpPr>
            <p:nvPr/>
          </p:nvCxnSpPr>
          <p:spPr>
            <a:xfrm>
              <a:off x="956912" y="4276662"/>
              <a:ext cx="498900" cy="3000"/>
            </a:xfrm>
            <a:prstGeom prst="straightConnector1">
              <a:avLst/>
            </a:prstGeom>
            <a:noFill/>
            <a:ln w="9525" cap="flat" cmpd="sng">
              <a:solidFill>
                <a:schemeClr val="dk1"/>
              </a:solidFill>
              <a:prstDash val="solid"/>
              <a:round/>
              <a:headEnd type="none" w="sm" len="sm"/>
              <a:tailEnd type="stealth" w="med" len="med"/>
            </a:ln>
          </p:spPr>
        </p:cxnSp>
        <p:sp>
          <p:nvSpPr>
            <p:cNvPr id="717" name="Google Shape;717;p112"/>
            <p:cNvSpPr/>
            <p:nvPr/>
          </p:nvSpPr>
          <p:spPr>
            <a:xfrm>
              <a:off x="2724535" y="4054134"/>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718" name="Google Shape;718;p112"/>
            <p:cNvSpPr txBox="1"/>
            <p:nvPr/>
          </p:nvSpPr>
          <p:spPr>
            <a:xfrm>
              <a:off x="2870600" y="4159979"/>
              <a:ext cx="511175" cy="2333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B</a:t>
              </a:r>
              <a:endParaRPr sz="1600" b="0" i="0" u="none" strike="noStrike" cap="none">
                <a:solidFill>
                  <a:schemeClr val="dk1"/>
                </a:solidFill>
                <a:latin typeface="Calibri"/>
                <a:ea typeface="Calibri"/>
                <a:cs typeface="Calibri"/>
                <a:sym typeface="Calibri"/>
              </a:endParaRPr>
            </a:p>
          </p:txBody>
        </p:sp>
        <p:cxnSp>
          <p:nvCxnSpPr>
            <p:cNvPr id="719" name="Google Shape;719;p112"/>
            <p:cNvCxnSpPr>
              <a:endCxn id="717" idx="2"/>
            </p:cNvCxnSpPr>
            <p:nvPr/>
          </p:nvCxnSpPr>
          <p:spPr>
            <a:xfrm>
              <a:off x="2007235" y="4265102"/>
              <a:ext cx="717300" cy="0"/>
            </a:xfrm>
            <a:prstGeom prst="straightConnector1">
              <a:avLst/>
            </a:prstGeom>
            <a:noFill/>
            <a:ln w="9525" cap="flat" cmpd="sng">
              <a:solidFill>
                <a:schemeClr val="dk1"/>
              </a:solidFill>
              <a:prstDash val="solid"/>
              <a:round/>
              <a:headEnd type="none" w="sm" len="sm"/>
              <a:tailEnd type="stealth" w="med" len="med"/>
            </a:ln>
          </p:spPr>
        </p:cxnSp>
        <p:sp>
          <p:nvSpPr>
            <p:cNvPr id="720" name="Google Shape;720;p112"/>
            <p:cNvSpPr txBox="1"/>
            <p:nvPr/>
          </p:nvSpPr>
          <p:spPr>
            <a:xfrm>
              <a:off x="3455987" y="4082281"/>
              <a:ext cx="382588" cy="231775"/>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6</a:t>
              </a:r>
              <a:endParaRPr sz="1600" b="0" i="0" u="none" strike="noStrike" cap="none">
                <a:solidFill>
                  <a:schemeClr val="dk1"/>
                </a:solidFill>
                <a:latin typeface="Calibri"/>
                <a:ea typeface="Calibri"/>
                <a:cs typeface="Calibri"/>
                <a:sym typeface="Calibri"/>
              </a:endParaRPr>
            </a:p>
          </p:txBody>
        </p:sp>
        <p:sp>
          <p:nvSpPr>
            <p:cNvPr id="721" name="Google Shape;721;p112"/>
            <p:cNvSpPr/>
            <p:nvPr/>
          </p:nvSpPr>
          <p:spPr>
            <a:xfrm>
              <a:off x="3886200" y="4068763"/>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722" name="Google Shape;722;p112"/>
            <p:cNvSpPr txBox="1"/>
            <p:nvPr/>
          </p:nvSpPr>
          <p:spPr>
            <a:xfrm>
              <a:off x="4032226" y="4170637"/>
              <a:ext cx="554855" cy="42193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C</a:t>
              </a:r>
              <a:endParaRPr sz="1600" b="0" i="0" u="none" strike="noStrike" cap="none">
                <a:solidFill>
                  <a:schemeClr val="dk1"/>
                </a:solidFill>
                <a:latin typeface="Calibri"/>
                <a:ea typeface="Calibri"/>
                <a:cs typeface="Calibri"/>
                <a:sym typeface="Calibri"/>
              </a:endParaRPr>
            </a:p>
          </p:txBody>
        </p:sp>
        <p:cxnSp>
          <p:nvCxnSpPr>
            <p:cNvPr id="723" name="Google Shape;723;p112"/>
            <p:cNvCxnSpPr>
              <a:endCxn id="721" idx="2"/>
            </p:cNvCxnSpPr>
            <p:nvPr/>
          </p:nvCxnSpPr>
          <p:spPr>
            <a:xfrm>
              <a:off x="3299400" y="4265031"/>
              <a:ext cx="586800" cy="14700"/>
            </a:xfrm>
            <a:prstGeom prst="straightConnector1">
              <a:avLst/>
            </a:prstGeom>
            <a:noFill/>
            <a:ln w="9525" cap="flat" cmpd="sng">
              <a:solidFill>
                <a:schemeClr val="dk1"/>
              </a:solidFill>
              <a:prstDash val="solid"/>
              <a:round/>
              <a:headEnd type="none" w="sm" len="sm"/>
              <a:tailEnd type="stealth" w="med" len="med"/>
            </a:ln>
          </p:spPr>
        </p:cxnSp>
        <p:sp>
          <p:nvSpPr>
            <p:cNvPr id="724" name="Google Shape;724;p112"/>
            <p:cNvSpPr txBox="1"/>
            <p:nvPr/>
          </p:nvSpPr>
          <p:spPr>
            <a:xfrm>
              <a:off x="2329897" y="4566703"/>
              <a:ext cx="384175" cy="230187"/>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12</a:t>
              </a:r>
              <a:endParaRPr sz="1600" b="0" i="0" u="none" strike="noStrike" cap="none">
                <a:solidFill>
                  <a:schemeClr val="dk1"/>
                </a:solidFill>
                <a:latin typeface="Calibri"/>
                <a:ea typeface="Calibri"/>
                <a:cs typeface="Calibri"/>
                <a:sym typeface="Calibri"/>
              </a:endParaRPr>
            </a:p>
          </p:txBody>
        </p:sp>
        <p:sp>
          <p:nvSpPr>
            <p:cNvPr id="725" name="Google Shape;725;p112"/>
            <p:cNvSpPr/>
            <p:nvPr/>
          </p:nvSpPr>
          <p:spPr>
            <a:xfrm>
              <a:off x="3117850" y="4760910"/>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726" name="Google Shape;726;p112"/>
            <p:cNvSpPr txBox="1"/>
            <p:nvPr/>
          </p:nvSpPr>
          <p:spPr>
            <a:xfrm>
              <a:off x="3252909" y="4860242"/>
              <a:ext cx="512763" cy="2301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D</a:t>
              </a:r>
              <a:endParaRPr sz="1600" b="0" i="0" u="none" strike="noStrike" cap="none">
                <a:solidFill>
                  <a:schemeClr val="dk1"/>
                </a:solidFill>
                <a:latin typeface="Calibri"/>
                <a:ea typeface="Calibri"/>
                <a:cs typeface="Calibri"/>
                <a:sym typeface="Calibri"/>
              </a:endParaRPr>
            </a:p>
          </p:txBody>
        </p:sp>
        <p:cxnSp>
          <p:nvCxnSpPr>
            <p:cNvPr id="727" name="Google Shape;727;p112"/>
            <p:cNvCxnSpPr/>
            <p:nvPr/>
          </p:nvCxnSpPr>
          <p:spPr>
            <a:xfrm>
              <a:off x="1986780" y="4349362"/>
              <a:ext cx="1149350" cy="538162"/>
            </a:xfrm>
            <a:prstGeom prst="straightConnector1">
              <a:avLst/>
            </a:prstGeom>
            <a:noFill/>
            <a:ln w="9525" cap="flat" cmpd="sng">
              <a:solidFill>
                <a:schemeClr val="dk1"/>
              </a:solidFill>
              <a:prstDash val="solid"/>
              <a:round/>
              <a:headEnd type="none" w="sm" len="sm"/>
              <a:tailEnd type="stealth" w="med" len="med"/>
            </a:ln>
          </p:spPr>
        </p:cxnSp>
        <p:cxnSp>
          <p:nvCxnSpPr>
            <p:cNvPr id="728" name="Google Shape;728;p112"/>
            <p:cNvCxnSpPr>
              <a:stCxn id="721" idx="3"/>
            </p:cNvCxnSpPr>
            <p:nvPr/>
          </p:nvCxnSpPr>
          <p:spPr>
            <a:xfrm flipH="1">
              <a:off x="3546557" y="4428908"/>
              <a:ext cx="420900" cy="366300"/>
            </a:xfrm>
            <a:prstGeom prst="straightConnector1">
              <a:avLst/>
            </a:prstGeom>
            <a:noFill/>
            <a:ln w="9525" cap="flat" cmpd="sng">
              <a:solidFill>
                <a:schemeClr val="dk1"/>
              </a:solidFill>
              <a:prstDash val="solid"/>
              <a:round/>
              <a:headEnd type="none" w="sm" len="sm"/>
              <a:tailEnd type="stealth" w="med" len="med"/>
            </a:ln>
          </p:spPr>
        </p:cxnSp>
        <p:sp>
          <p:nvSpPr>
            <p:cNvPr id="729" name="Google Shape;729;p112"/>
            <p:cNvSpPr/>
            <p:nvPr/>
          </p:nvSpPr>
          <p:spPr>
            <a:xfrm>
              <a:off x="5047865" y="3999794"/>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730" name="Google Shape;730;p112"/>
            <p:cNvSpPr txBox="1"/>
            <p:nvPr/>
          </p:nvSpPr>
          <p:spPr>
            <a:xfrm>
              <a:off x="5210089" y="4092772"/>
              <a:ext cx="384175" cy="231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E</a:t>
              </a:r>
              <a:endParaRPr sz="1600" b="0" i="0" u="none" strike="noStrike" cap="none">
                <a:solidFill>
                  <a:schemeClr val="dk1"/>
                </a:solidFill>
                <a:latin typeface="Calibri"/>
                <a:ea typeface="Calibri"/>
                <a:cs typeface="Calibri"/>
                <a:sym typeface="Calibri"/>
              </a:endParaRPr>
            </a:p>
          </p:txBody>
        </p:sp>
        <p:cxnSp>
          <p:nvCxnSpPr>
            <p:cNvPr id="731" name="Google Shape;731;p112"/>
            <p:cNvCxnSpPr>
              <a:endCxn id="729" idx="2"/>
            </p:cNvCxnSpPr>
            <p:nvPr/>
          </p:nvCxnSpPr>
          <p:spPr>
            <a:xfrm rot="10800000" flipH="1">
              <a:off x="4440965" y="4210762"/>
              <a:ext cx="606900" cy="80700"/>
            </a:xfrm>
            <a:prstGeom prst="straightConnector1">
              <a:avLst/>
            </a:prstGeom>
            <a:noFill/>
            <a:ln w="9525" cap="flat" cmpd="sng">
              <a:solidFill>
                <a:schemeClr val="dk1"/>
              </a:solidFill>
              <a:prstDash val="solid"/>
              <a:round/>
              <a:headEnd type="none" w="sm" len="sm"/>
              <a:tailEnd type="stealth" w="med" len="med"/>
            </a:ln>
          </p:spPr>
        </p:cxnSp>
        <p:sp>
          <p:nvSpPr>
            <p:cNvPr id="732" name="Google Shape;732;p112"/>
            <p:cNvSpPr/>
            <p:nvPr/>
          </p:nvSpPr>
          <p:spPr>
            <a:xfrm>
              <a:off x="3502025" y="3530600"/>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733" name="Google Shape;733;p112"/>
            <p:cNvSpPr txBox="1"/>
            <p:nvPr/>
          </p:nvSpPr>
          <p:spPr>
            <a:xfrm>
              <a:off x="3671866" y="3631315"/>
              <a:ext cx="360361" cy="1425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F</a:t>
              </a:r>
              <a:endParaRPr sz="1600" b="0" i="0" u="none" strike="noStrike" cap="none">
                <a:solidFill>
                  <a:schemeClr val="dk1"/>
                </a:solidFill>
                <a:latin typeface="Calibri"/>
                <a:ea typeface="Calibri"/>
                <a:cs typeface="Calibri"/>
                <a:sym typeface="Calibri"/>
              </a:endParaRPr>
            </a:p>
          </p:txBody>
        </p:sp>
        <p:cxnSp>
          <p:nvCxnSpPr>
            <p:cNvPr id="734" name="Google Shape;734;p112"/>
            <p:cNvCxnSpPr/>
            <p:nvPr/>
          </p:nvCxnSpPr>
          <p:spPr>
            <a:xfrm rot="10800000" flipH="1">
              <a:off x="3117850" y="3760788"/>
              <a:ext cx="384175" cy="307975"/>
            </a:xfrm>
            <a:prstGeom prst="straightConnector1">
              <a:avLst/>
            </a:prstGeom>
            <a:noFill/>
            <a:ln w="9525" cap="flat" cmpd="sng">
              <a:solidFill>
                <a:schemeClr val="dk1"/>
              </a:solidFill>
              <a:prstDash val="solid"/>
              <a:round/>
              <a:headEnd type="none" w="sm" len="sm"/>
              <a:tailEnd type="stealth" w="med" len="med"/>
            </a:ln>
          </p:spPr>
        </p:cxnSp>
        <p:sp>
          <p:nvSpPr>
            <p:cNvPr id="735" name="Google Shape;735;p112"/>
            <p:cNvSpPr/>
            <p:nvPr/>
          </p:nvSpPr>
          <p:spPr>
            <a:xfrm>
              <a:off x="5033963" y="4606925"/>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736" name="Google Shape;736;p112"/>
            <p:cNvSpPr txBox="1"/>
            <p:nvPr/>
          </p:nvSpPr>
          <p:spPr>
            <a:xfrm>
              <a:off x="5176067" y="4720494"/>
              <a:ext cx="382587" cy="2301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G</a:t>
              </a:r>
              <a:endParaRPr sz="1600" b="0" i="0" u="none" strike="noStrike" cap="none">
                <a:solidFill>
                  <a:schemeClr val="dk1"/>
                </a:solidFill>
                <a:latin typeface="Calibri"/>
                <a:ea typeface="Calibri"/>
                <a:cs typeface="Calibri"/>
                <a:sym typeface="Calibri"/>
              </a:endParaRPr>
            </a:p>
          </p:txBody>
        </p:sp>
        <p:cxnSp>
          <p:nvCxnSpPr>
            <p:cNvPr id="737" name="Google Shape;737;p112"/>
            <p:cNvCxnSpPr/>
            <p:nvPr/>
          </p:nvCxnSpPr>
          <p:spPr>
            <a:xfrm>
              <a:off x="4415924" y="4371535"/>
              <a:ext cx="656433" cy="370156"/>
            </a:xfrm>
            <a:prstGeom prst="straightConnector1">
              <a:avLst/>
            </a:prstGeom>
            <a:noFill/>
            <a:ln w="9525" cap="flat" cmpd="sng">
              <a:solidFill>
                <a:schemeClr val="dk1"/>
              </a:solidFill>
              <a:prstDash val="solid"/>
              <a:round/>
              <a:headEnd type="none" w="sm" len="sm"/>
              <a:tailEnd type="stealth" w="med" len="med"/>
            </a:ln>
          </p:spPr>
        </p:cxnSp>
        <p:cxnSp>
          <p:nvCxnSpPr>
            <p:cNvPr id="738" name="Google Shape;738;p112"/>
            <p:cNvCxnSpPr>
              <a:stCxn id="729" idx="4"/>
            </p:cNvCxnSpPr>
            <p:nvPr/>
          </p:nvCxnSpPr>
          <p:spPr>
            <a:xfrm flipH="1">
              <a:off x="5320793" y="4421730"/>
              <a:ext cx="4500" cy="190200"/>
            </a:xfrm>
            <a:prstGeom prst="straightConnector1">
              <a:avLst/>
            </a:prstGeom>
            <a:noFill/>
            <a:ln w="9525" cap="flat" cmpd="sng">
              <a:solidFill>
                <a:schemeClr val="dk1"/>
              </a:solidFill>
              <a:prstDash val="solid"/>
              <a:round/>
              <a:headEnd type="none" w="sm" len="sm"/>
              <a:tailEnd type="stealth" w="med" len="med"/>
            </a:ln>
          </p:spPr>
        </p:cxnSp>
        <p:sp>
          <p:nvSpPr>
            <p:cNvPr id="739" name="Google Shape;739;p112"/>
            <p:cNvSpPr/>
            <p:nvPr/>
          </p:nvSpPr>
          <p:spPr>
            <a:xfrm>
              <a:off x="5003800" y="3428998"/>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740" name="Google Shape;740;p112"/>
            <p:cNvSpPr txBox="1"/>
            <p:nvPr/>
          </p:nvSpPr>
          <p:spPr>
            <a:xfrm>
              <a:off x="5128619" y="3532628"/>
              <a:ext cx="384175" cy="231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H</a:t>
              </a:r>
              <a:endParaRPr sz="1600" b="0" i="0" u="none" strike="noStrike" cap="none">
                <a:solidFill>
                  <a:schemeClr val="dk1"/>
                </a:solidFill>
                <a:latin typeface="Calibri"/>
                <a:ea typeface="Calibri"/>
                <a:cs typeface="Calibri"/>
                <a:sym typeface="Calibri"/>
              </a:endParaRPr>
            </a:p>
          </p:txBody>
        </p:sp>
        <p:cxnSp>
          <p:nvCxnSpPr>
            <p:cNvPr id="741" name="Google Shape;741;p112"/>
            <p:cNvCxnSpPr>
              <a:endCxn id="739" idx="2"/>
            </p:cNvCxnSpPr>
            <p:nvPr/>
          </p:nvCxnSpPr>
          <p:spPr>
            <a:xfrm rot="10800000" flipH="1">
              <a:off x="4045900" y="3639966"/>
              <a:ext cx="957900" cy="75000"/>
            </a:xfrm>
            <a:prstGeom prst="straightConnector1">
              <a:avLst/>
            </a:prstGeom>
            <a:noFill/>
            <a:ln w="9525" cap="flat" cmpd="sng">
              <a:solidFill>
                <a:schemeClr val="dk1"/>
              </a:solidFill>
              <a:prstDash val="solid"/>
              <a:round/>
              <a:headEnd type="none" w="sm" len="sm"/>
              <a:tailEnd type="stealth" w="med" len="med"/>
            </a:ln>
          </p:spPr>
        </p:cxnSp>
        <p:sp>
          <p:nvSpPr>
            <p:cNvPr id="742" name="Google Shape;742;p112"/>
            <p:cNvSpPr/>
            <p:nvPr/>
          </p:nvSpPr>
          <p:spPr>
            <a:xfrm>
              <a:off x="4805492" y="5286904"/>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743" name="Google Shape;743;p112"/>
            <p:cNvSpPr txBox="1"/>
            <p:nvPr/>
          </p:nvSpPr>
          <p:spPr>
            <a:xfrm>
              <a:off x="4975406" y="5380677"/>
              <a:ext cx="384175" cy="2301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I</a:t>
              </a:r>
              <a:endParaRPr sz="1600" b="0" i="0" u="none" strike="noStrike" cap="none">
                <a:solidFill>
                  <a:schemeClr val="dk1"/>
                </a:solidFill>
                <a:latin typeface="Calibri"/>
                <a:ea typeface="Calibri"/>
                <a:cs typeface="Calibri"/>
                <a:sym typeface="Calibri"/>
              </a:endParaRPr>
            </a:p>
          </p:txBody>
        </p:sp>
        <p:cxnSp>
          <p:nvCxnSpPr>
            <p:cNvPr id="744" name="Google Shape;744;p112"/>
            <p:cNvCxnSpPr>
              <a:endCxn id="742" idx="1"/>
            </p:cNvCxnSpPr>
            <p:nvPr/>
          </p:nvCxnSpPr>
          <p:spPr>
            <a:xfrm>
              <a:off x="4275349" y="4515595"/>
              <a:ext cx="611400" cy="833100"/>
            </a:xfrm>
            <a:prstGeom prst="straightConnector1">
              <a:avLst/>
            </a:prstGeom>
            <a:noFill/>
            <a:ln w="9525" cap="flat" cmpd="sng">
              <a:solidFill>
                <a:schemeClr val="dk1"/>
              </a:solidFill>
              <a:prstDash val="solid"/>
              <a:round/>
              <a:headEnd type="none" w="sm" len="sm"/>
              <a:tailEnd type="stealth" w="med" len="med"/>
            </a:ln>
          </p:spPr>
        </p:cxnSp>
        <p:cxnSp>
          <p:nvCxnSpPr>
            <p:cNvPr id="745" name="Google Shape;745;p112"/>
            <p:cNvCxnSpPr/>
            <p:nvPr/>
          </p:nvCxnSpPr>
          <p:spPr>
            <a:xfrm flipH="1">
              <a:off x="5157386" y="5039298"/>
              <a:ext cx="128588" cy="231775"/>
            </a:xfrm>
            <a:prstGeom prst="straightConnector1">
              <a:avLst/>
            </a:prstGeom>
            <a:noFill/>
            <a:ln w="9525" cap="flat" cmpd="sng">
              <a:solidFill>
                <a:schemeClr val="dk1"/>
              </a:solidFill>
              <a:prstDash val="solid"/>
              <a:round/>
              <a:headEnd type="none" w="sm" len="sm"/>
              <a:tailEnd type="stealth" w="med" len="med"/>
            </a:ln>
          </p:spPr>
        </p:cxnSp>
        <p:sp>
          <p:nvSpPr>
            <p:cNvPr id="746" name="Google Shape;746;p112"/>
            <p:cNvSpPr txBox="1"/>
            <p:nvPr/>
          </p:nvSpPr>
          <p:spPr>
            <a:xfrm>
              <a:off x="5270922" y="5046483"/>
              <a:ext cx="382587" cy="231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7</a:t>
              </a:r>
              <a:endParaRPr sz="1600" b="0" i="0" u="none" strike="noStrike" cap="none">
                <a:solidFill>
                  <a:schemeClr val="dk1"/>
                </a:solidFill>
                <a:latin typeface="Calibri"/>
                <a:ea typeface="Calibri"/>
                <a:cs typeface="Calibri"/>
                <a:sym typeface="Calibri"/>
              </a:endParaRPr>
            </a:p>
          </p:txBody>
        </p:sp>
        <p:sp>
          <p:nvSpPr>
            <p:cNvPr id="747" name="Google Shape;747;p112"/>
            <p:cNvSpPr/>
            <p:nvPr/>
          </p:nvSpPr>
          <p:spPr>
            <a:xfrm>
              <a:off x="6696075" y="4530725"/>
              <a:ext cx="554855" cy="421936"/>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748" name="Google Shape;748;p112"/>
            <p:cNvSpPr txBox="1"/>
            <p:nvPr/>
          </p:nvSpPr>
          <p:spPr>
            <a:xfrm>
              <a:off x="6785816" y="4638103"/>
              <a:ext cx="382588" cy="2301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Fin</a:t>
              </a:r>
              <a:endParaRPr sz="1600" b="0" i="0" u="none" strike="noStrike" cap="none">
                <a:solidFill>
                  <a:schemeClr val="dk1"/>
                </a:solidFill>
                <a:latin typeface="Calibri"/>
                <a:ea typeface="Calibri"/>
                <a:cs typeface="Calibri"/>
                <a:sym typeface="Calibri"/>
              </a:endParaRPr>
            </a:p>
          </p:txBody>
        </p:sp>
        <p:cxnSp>
          <p:nvCxnSpPr>
            <p:cNvPr id="749" name="Google Shape;749;p112"/>
            <p:cNvCxnSpPr>
              <a:stCxn id="743" idx="3"/>
              <a:endCxn id="747" idx="3"/>
            </p:cNvCxnSpPr>
            <p:nvPr/>
          </p:nvCxnSpPr>
          <p:spPr>
            <a:xfrm rot="10800000" flipH="1">
              <a:off x="5359581" y="4890971"/>
              <a:ext cx="1417800" cy="604800"/>
            </a:xfrm>
            <a:prstGeom prst="straightConnector1">
              <a:avLst/>
            </a:prstGeom>
            <a:noFill/>
            <a:ln w="9525" cap="flat" cmpd="sng">
              <a:solidFill>
                <a:schemeClr val="dk1"/>
              </a:solidFill>
              <a:prstDash val="solid"/>
              <a:round/>
              <a:headEnd type="none" w="sm" len="sm"/>
              <a:tailEnd type="stealth" w="med" len="med"/>
            </a:ln>
          </p:spPr>
        </p:cxnSp>
        <p:cxnSp>
          <p:nvCxnSpPr>
            <p:cNvPr id="750" name="Google Shape;750;p112"/>
            <p:cNvCxnSpPr>
              <a:stCxn id="739" idx="6"/>
            </p:cNvCxnSpPr>
            <p:nvPr/>
          </p:nvCxnSpPr>
          <p:spPr>
            <a:xfrm>
              <a:off x="5558655" y="3639966"/>
              <a:ext cx="1264500" cy="890700"/>
            </a:xfrm>
            <a:prstGeom prst="straightConnector1">
              <a:avLst/>
            </a:prstGeom>
            <a:noFill/>
            <a:ln w="9525" cap="flat" cmpd="sng">
              <a:solidFill>
                <a:schemeClr val="dk1"/>
              </a:solidFill>
              <a:prstDash val="solid"/>
              <a:round/>
              <a:headEnd type="none" w="sm" len="sm"/>
              <a:tailEnd type="stealth" w="med" len="med"/>
            </a:ln>
          </p:spPr>
        </p:cxnSp>
        <p:sp>
          <p:nvSpPr>
            <p:cNvPr id="751" name="Google Shape;751;p112"/>
            <p:cNvSpPr/>
            <p:nvPr/>
          </p:nvSpPr>
          <p:spPr>
            <a:xfrm>
              <a:off x="3373438" y="4979649"/>
              <a:ext cx="3578225" cy="884576"/>
            </a:xfrm>
            <a:custGeom>
              <a:avLst/>
              <a:gdLst/>
              <a:ahLst/>
              <a:cxnLst/>
              <a:rect l="l" t="t" r="r" b="b"/>
              <a:pathLst>
                <a:path w="5040" h="2400" extrusionOk="0">
                  <a:moveTo>
                    <a:pt x="0" y="540"/>
                  </a:moveTo>
                  <a:cubicBezTo>
                    <a:pt x="30" y="1230"/>
                    <a:pt x="60" y="1920"/>
                    <a:pt x="720" y="2160"/>
                  </a:cubicBezTo>
                  <a:cubicBezTo>
                    <a:pt x="1380" y="2400"/>
                    <a:pt x="3240" y="2340"/>
                    <a:pt x="3960" y="1980"/>
                  </a:cubicBezTo>
                  <a:cubicBezTo>
                    <a:pt x="4680" y="1620"/>
                    <a:pt x="4860" y="810"/>
                    <a:pt x="5040"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752" name="Google Shape;752;p112"/>
            <p:cNvSpPr txBox="1"/>
            <p:nvPr/>
          </p:nvSpPr>
          <p:spPr>
            <a:xfrm>
              <a:off x="5746641" y="5582642"/>
              <a:ext cx="382587" cy="1539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0" i="0" u="none" strike="noStrike" cap="none">
                  <a:solidFill>
                    <a:schemeClr val="dk1"/>
                  </a:solidFill>
                  <a:latin typeface="Calibri"/>
                  <a:ea typeface="Calibri"/>
                  <a:cs typeface="Calibri"/>
                  <a:sym typeface="Calibri"/>
                </a:rPr>
                <a:t>8</a:t>
              </a:r>
              <a:endParaRPr sz="1600" b="0" i="0" u="none" strike="noStrike" cap="none">
                <a:solidFill>
                  <a:schemeClr val="dk1"/>
                </a:solidFill>
                <a:latin typeface="Calibri"/>
                <a:ea typeface="Calibri"/>
                <a:cs typeface="Calibri"/>
                <a:sym typeface="Calibri"/>
              </a:endParaRPr>
            </a:p>
          </p:txBody>
        </p:sp>
        <p:cxnSp>
          <p:nvCxnSpPr>
            <p:cNvPr id="753" name="Google Shape;753;p112"/>
            <p:cNvCxnSpPr>
              <a:endCxn id="747" idx="1"/>
            </p:cNvCxnSpPr>
            <p:nvPr/>
          </p:nvCxnSpPr>
          <p:spPr>
            <a:xfrm>
              <a:off x="5625032" y="4336916"/>
              <a:ext cx="1152300" cy="255600"/>
            </a:xfrm>
            <a:prstGeom prst="straightConnector1">
              <a:avLst/>
            </a:prstGeom>
            <a:noFill/>
            <a:ln w="9525" cap="flat" cmpd="sng">
              <a:solidFill>
                <a:schemeClr val="dk1"/>
              </a:solidFill>
              <a:prstDash val="solid"/>
              <a:round/>
              <a:headEnd type="none" w="sm" len="sm"/>
              <a:tailEnd type="stealth" w="med" len="med"/>
            </a:ln>
          </p:spPr>
        </p:cxnSp>
      </p:grpSp>
      <p:cxnSp>
        <p:nvCxnSpPr>
          <p:cNvPr id="754" name="Google Shape;754;p112"/>
          <p:cNvCxnSpPr/>
          <p:nvPr/>
        </p:nvCxnSpPr>
        <p:spPr>
          <a:xfrm rot="10800000" flipH="1">
            <a:off x="2777465" y="3620175"/>
            <a:ext cx="606122" cy="24221"/>
          </a:xfrm>
          <a:prstGeom prst="straightConnector1">
            <a:avLst/>
          </a:prstGeom>
          <a:noFill/>
          <a:ln w="57150" cap="flat" cmpd="sng">
            <a:solidFill>
              <a:srgbClr val="C00000"/>
            </a:solidFill>
            <a:prstDash val="solid"/>
            <a:round/>
            <a:headEnd type="none" w="sm" len="sm"/>
            <a:tailEnd type="triangle" w="med" len="med"/>
          </a:ln>
        </p:spPr>
      </p:cxnSp>
      <p:sp>
        <p:nvSpPr>
          <p:cNvPr id="755" name="Google Shape;755;p112"/>
          <p:cNvSpPr txBox="1"/>
          <p:nvPr/>
        </p:nvSpPr>
        <p:spPr>
          <a:xfrm>
            <a:off x="9833024" y="2914735"/>
            <a:ext cx="201369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AR" sz="2400" b="1" i="0" u="sng" strike="noStrike" cap="none">
                <a:solidFill>
                  <a:srgbClr val="C00000"/>
                </a:solidFill>
                <a:latin typeface="Calibri"/>
                <a:ea typeface="Calibri"/>
                <a:cs typeface="Calibri"/>
                <a:sym typeface="Calibri"/>
              </a:rPr>
              <a:t>Camino crítico</a:t>
            </a:r>
            <a:endParaRPr/>
          </a:p>
        </p:txBody>
      </p:sp>
      <p:cxnSp>
        <p:nvCxnSpPr>
          <p:cNvPr id="756" name="Google Shape;756;p112"/>
          <p:cNvCxnSpPr>
            <a:endCxn id="717" idx="2"/>
          </p:cNvCxnSpPr>
          <p:nvPr/>
        </p:nvCxnSpPr>
        <p:spPr>
          <a:xfrm rot="10800000" flipH="1">
            <a:off x="4005216" y="3629028"/>
            <a:ext cx="827100" cy="23400"/>
          </a:xfrm>
          <a:prstGeom prst="straightConnector1">
            <a:avLst/>
          </a:prstGeom>
          <a:noFill/>
          <a:ln w="57150" cap="flat" cmpd="sng">
            <a:solidFill>
              <a:srgbClr val="C00000"/>
            </a:solidFill>
            <a:prstDash val="solid"/>
            <a:round/>
            <a:headEnd type="none" w="sm" len="sm"/>
            <a:tailEnd type="triangle" w="med" len="med"/>
          </a:ln>
        </p:spPr>
      </p:cxnSp>
      <p:cxnSp>
        <p:nvCxnSpPr>
          <p:cNvPr id="757" name="Google Shape;757;p112"/>
          <p:cNvCxnSpPr>
            <a:endCxn id="721" idx="2"/>
          </p:cNvCxnSpPr>
          <p:nvPr/>
        </p:nvCxnSpPr>
        <p:spPr>
          <a:xfrm>
            <a:off x="5480392" y="3651495"/>
            <a:ext cx="708600" cy="0"/>
          </a:xfrm>
          <a:prstGeom prst="straightConnector1">
            <a:avLst/>
          </a:prstGeom>
          <a:noFill/>
          <a:ln w="57150" cap="flat" cmpd="sng">
            <a:solidFill>
              <a:srgbClr val="C00000"/>
            </a:solidFill>
            <a:prstDash val="solid"/>
            <a:round/>
            <a:headEnd type="none" w="sm" len="sm"/>
            <a:tailEnd type="triangle" w="med" len="med"/>
          </a:ln>
        </p:spPr>
      </p:cxnSp>
      <p:cxnSp>
        <p:nvCxnSpPr>
          <p:cNvPr id="758" name="Google Shape;758;p112"/>
          <p:cNvCxnSpPr>
            <a:endCxn id="729" idx="2"/>
          </p:cNvCxnSpPr>
          <p:nvPr/>
        </p:nvCxnSpPr>
        <p:spPr>
          <a:xfrm rot="10800000" flipH="1">
            <a:off x="6827468" y="3545574"/>
            <a:ext cx="718200" cy="139200"/>
          </a:xfrm>
          <a:prstGeom prst="straightConnector1">
            <a:avLst/>
          </a:prstGeom>
          <a:noFill/>
          <a:ln w="57150" cap="flat" cmpd="sng">
            <a:solidFill>
              <a:srgbClr val="C00000"/>
            </a:solidFill>
            <a:prstDash val="solid"/>
            <a:round/>
            <a:headEnd type="none" w="sm" len="sm"/>
            <a:tailEnd type="triangle" w="med" len="med"/>
          </a:ln>
        </p:spPr>
      </p:cxnSp>
      <p:cxnSp>
        <p:nvCxnSpPr>
          <p:cNvPr id="759" name="Google Shape;759;p112"/>
          <p:cNvCxnSpPr>
            <a:endCxn id="735" idx="0"/>
          </p:cNvCxnSpPr>
          <p:nvPr/>
        </p:nvCxnSpPr>
        <p:spPr>
          <a:xfrm>
            <a:off x="7853432" y="3892392"/>
            <a:ext cx="0" cy="261600"/>
          </a:xfrm>
          <a:prstGeom prst="straightConnector1">
            <a:avLst/>
          </a:prstGeom>
          <a:noFill/>
          <a:ln w="57150" cap="flat" cmpd="sng">
            <a:solidFill>
              <a:srgbClr val="C00000"/>
            </a:solidFill>
            <a:prstDash val="solid"/>
            <a:round/>
            <a:headEnd type="none" w="sm" len="sm"/>
            <a:tailEnd type="triangle" w="med" len="med"/>
          </a:ln>
        </p:spPr>
      </p:cxnSp>
      <p:cxnSp>
        <p:nvCxnSpPr>
          <p:cNvPr id="760" name="Google Shape;760;p112"/>
          <p:cNvCxnSpPr/>
          <p:nvPr/>
        </p:nvCxnSpPr>
        <p:spPr>
          <a:xfrm flipH="1">
            <a:off x="7695391" y="4809199"/>
            <a:ext cx="122813" cy="424324"/>
          </a:xfrm>
          <a:prstGeom prst="straightConnector1">
            <a:avLst/>
          </a:prstGeom>
          <a:noFill/>
          <a:ln w="57150" cap="flat" cmpd="sng">
            <a:solidFill>
              <a:srgbClr val="C00000"/>
            </a:solidFill>
            <a:prstDash val="solid"/>
            <a:round/>
            <a:headEnd type="none" w="sm" len="sm"/>
            <a:tailEnd type="triangle" w="med" len="med"/>
          </a:ln>
        </p:spPr>
      </p:cxnSp>
      <p:cxnSp>
        <p:nvCxnSpPr>
          <p:cNvPr id="761" name="Google Shape;761;p112"/>
          <p:cNvCxnSpPr>
            <a:endCxn id="747" idx="3"/>
          </p:cNvCxnSpPr>
          <p:nvPr/>
        </p:nvCxnSpPr>
        <p:spPr>
          <a:xfrm rot="10800000" flipH="1">
            <a:off x="7902863" y="4590068"/>
            <a:ext cx="1662600" cy="923100"/>
          </a:xfrm>
          <a:prstGeom prst="straightConnector1">
            <a:avLst/>
          </a:prstGeom>
          <a:noFill/>
          <a:ln w="57150" cap="flat" cmpd="sng">
            <a:solidFill>
              <a:srgbClr val="C00000"/>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4"/>
                                        </p:tgtEl>
                                        <p:attrNameLst>
                                          <p:attrName>style.visibility</p:attrName>
                                        </p:attrNameLst>
                                      </p:cBhvr>
                                      <p:to>
                                        <p:strVal val="visible"/>
                                      </p:to>
                                    </p:set>
                                    <p:animEffect transition="in" filter="fade">
                                      <p:cBhvr>
                                        <p:cTn id="7" dur="500"/>
                                        <p:tgtEl>
                                          <p:spTgt spid="754"/>
                                        </p:tgtEl>
                                      </p:cBhvr>
                                    </p:animEffect>
                                  </p:childTnLst>
                                </p:cTn>
                              </p:par>
                              <p:par>
                                <p:cTn id="8" presetID="10" presetClass="entr" presetSubtype="0" fill="hold" nodeType="withEffect">
                                  <p:stCondLst>
                                    <p:cond delay="0"/>
                                  </p:stCondLst>
                                  <p:childTnLst>
                                    <p:set>
                                      <p:cBhvr>
                                        <p:cTn id="9" dur="1" fill="hold">
                                          <p:stCondLst>
                                            <p:cond delay="0"/>
                                          </p:stCondLst>
                                        </p:cTn>
                                        <p:tgtEl>
                                          <p:spTgt spid="755"/>
                                        </p:tgtEl>
                                        <p:attrNameLst>
                                          <p:attrName>style.visibility</p:attrName>
                                        </p:attrNameLst>
                                      </p:cBhvr>
                                      <p:to>
                                        <p:strVal val="visible"/>
                                      </p:to>
                                    </p:set>
                                    <p:animEffect transition="in" filter="fade">
                                      <p:cBhvr>
                                        <p:cTn id="10" dur="500"/>
                                        <p:tgtEl>
                                          <p:spTgt spid="755"/>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756"/>
                                        </p:tgtEl>
                                        <p:attrNameLst>
                                          <p:attrName>style.visibility</p:attrName>
                                        </p:attrNameLst>
                                      </p:cBhvr>
                                      <p:to>
                                        <p:strVal val="visible"/>
                                      </p:to>
                                    </p:set>
                                    <p:animEffect transition="in" filter="fade">
                                      <p:cBhvr>
                                        <p:cTn id="14" dur="500"/>
                                        <p:tgtEl>
                                          <p:spTgt spid="756"/>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757"/>
                                        </p:tgtEl>
                                        <p:attrNameLst>
                                          <p:attrName>style.visibility</p:attrName>
                                        </p:attrNameLst>
                                      </p:cBhvr>
                                      <p:to>
                                        <p:strVal val="visible"/>
                                      </p:to>
                                    </p:set>
                                    <p:animEffect transition="in" filter="fade">
                                      <p:cBhvr>
                                        <p:cTn id="18" dur="500"/>
                                        <p:tgtEl>
                                          <p:spTgt spid="757"/>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758"/>
                                        </p:tgtEl>
                                        <p:attrNameLst>
                                          <p:attrName>style.visibility</p:attrName>
                                        </p:attrNameLst>
                                      </p:cBhvr>
                                      <p:to>
                                        <p:strVal val="visible"/>
                                      </p:to>
                                    </p:set>
                                    <p:animEffect transition="in" filter="fade">
                                      <p:cBhvr>
                                        <p:cTn id="22" dur="500"/>
                                        <p:tgtEl>
                                          <p:spTgt spid="758"/>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759"/>
                                        </p:tgtEl>
                                        <p:attrNameLst>
                                          <p:attrName>style.visibility</p:attrName>
                                        </p:attrNameLst>
                                      </p:cBhvr>
                                      <p:to>
                                        <p:strVal val="visible"/>
                                      </p:to>
                                    </p:set>
                                    <p:animEffect transition="in" filter="fade">
                                      <p:cBhvr>
                                        <p:cTn id="26" dur="500"/>
                                        <p:tgtEl>
                                          <p:spTgt spid="759"/>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760"/>
                                        </p:tgtEl>
                                        <p:attrNameLst>
                                          <p:attrName>style.visibility</p:attrName>
                                        </p:attrNameLst>
                                      </p:cBhvr>
                                      <p:to>
                                        <p:strVal val="visible"/>
                                      </p:to>
                                    </p:set>
                                    <p:animEffect transition="in" filter="fade">
                                      <p:cBhvr>
                                        <p:cTn id="30" dur="500"/>
                                        <p:tgtEl>
                                          <p:spTgt spid="760"/>
                                        </p:tgtEl>
                                      </p:cBhvr>
                                    </p:animEffect>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761"/>
                                        </p:tgtEl>
                                        <p:attrNameLst>
                                          <p:attrName>style.visibility</p:attrName>
                                        </p:attrNameLst>
                                      </p:cBhvr>
                                      <p:to>
                                        <p:strVal val="visible"/>
                                      </p:to>
                                    </p:set>
                                    <p:animEffect transition="in" filter="fade">
                                      <p:cBhvr>
                                        <p:cTn id="34" dur="500"/>
                                        <p:tgtEl>
                                          <p:spTgt spid="7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113"/>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 – PERT y CPM</a:t>
            </a:r>
            <a:endParaRPr/>
          </a:p>
        </p:txBody>
      </p:sp>
      <p:sp>
        <p:nvSpPr>
          <p:cNvPr id="767" name="Google Shape;767;p11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768" name="Google Shape;768;p11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769" name="Google Shape;769;p11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34</a:t>
            </a:fld>
            <a:endParaRPr/>
          </a:p>
        </p:txBody>
      </p:sp>
      <p:sp>
        <p:nvSpPr>
          <p:cNvPr id="770" name="Google Shape;770;p113"/>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2800"/>
              <a:buFont typeface="Noto Sans Symbols"/>
              <a:buChar char="❖"/>
            </a:pPr>
            <a:r>
              <a:rPr lang="es-AR" sz="2800">
                <a:solidFill>
                  <a:schemeClr val="dk1"/>
                </a:solidFill>
              </a:rPr>
              <a:t>Datos que se obtienen:</a:t>
            </a:r>
            <a:endParaRPr sz="2800" i="1">
              <a:solidFill>
                <a:schemeClr val="dk1"/>
              </a:solidFill>
            </a:endParaRPr>
          </a:p>
          <a:p>
            <a:pPr marL="176212" lvl="2" indent="0" algn="l" rtl="0">
              <a:lnSpc>
                <a:spcPct val="85000"/>
              </a:lnSpc>
              <a:spcBef>
                <a:spcPts val="18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pic>
        <p:nvPicPr>
          <p:cNvPr id="771" name="Google Shape;771;p113" descr="Interfaz de usuario gráfica, Diagrama, Texto, Aplicación&#10;&#10;El contenido generado por IA puede ser incorrecto."/>
          <p:cNvPicPr preferRelativeResize="0"/>
          <p:nvPr/>
        </p:nvPicPr>
        <p:blipFill rotWithShape="1">
          <a:blip r:embed="rId3">
            <a:alphaModFix/>
          </a:blip>
          <a:srcRect l="5623" t="11154" r="10866" b="4591"/>
          <a:stretch/>
        </p:blipFill>
        <p:spPr>
          <a:xfrm>
            <a:off x="5525170" y="1781384"/>
            <a:ext cx="3279618" cy="451617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114"/>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Planificación Temporal</a:t>
            </a:r>
            <a:endParaRPr/>
          </a:p>
        </p:txBody>
      </p:sp>
      <p:sp>
        <p:nvSpPr>
          <p:cNvPr id="777" name="Google Shape;777;p11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778" name="Google Shape;778;p11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779" name="Google Shape;779;p11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35</a:t>
            </a:fld>
            <a:endParaRPr/>
          </a:p>
        </p:txBody>
      </p:sp>
      <p:sp>
        <p:nvSpPr>
          <p:cNvPr id="780" name="Google Shape;780;p114"/>
          <p:cNvSpPr txBox="1">
            <a:spLocks noGrp="1"/>
          </p:cNvSpPr>
          <p:nvPr>
            <p:ph type="body" idx="4294967295"/>
          </p:nvPr>
        </p:nvSpPr>
        <p:spPr>
          <a:xfrm>
            <a:off x="1030288" y="1766636"/>
            <a:ext cx="10182225" cy="3162916"/>
          </a:xfrm>
          <a:prstGeom prst="rect">
            <a:avLst/>
          </a:prstGeom>
          <a:noFill/>
          <a:ln>
            <a:noFill/>
          </a:ln>
        </p:spPr>
        <p:txBody>
          <a:bodyPr spcFirstLastPara="1" wrap="square" lIns="91425" tIns="45700" rIns="91425" bIns="45700" anchor="t" anchorCtr="0">
            <a:noAutofit/>
          </a:bodyPr>
          <a:lstStyle/>
          <a:p>
            <a:pPr marL="633413" lvl="0" indent="-544513" algn="just" rtl="0">
              <a:lnSpc>
                <a:spcPct val="85000"/>
              </a:lnSpc>
              <a:spcBef>
                <a:spcPts val="0"/>
              </a:spcBef>
              <a:spcAft>
                <a:spcPts val="0"/>
              </a:spcAft>
              <a:buClr>
                <a:srgbClr val="C00000"/>
              </a:buClr>
              <a:buSzPts val="3200"/>
              <a:buFont typeface="Noto Sans Symbols"/>
              <a:buChar char="❖"/>
            </a:pPr>
            <a:r>
              <a:rPr lang="es-AR" sz="3200">
                <a:solidFill>
                  <a:schemeClr val="dk1"/>
                </a:solidFill>
              </a:rPr>
              <a:t>¿Qué hacer cuando una tarea se sale de la agenda?</a:t>
            </a:r>
            <a:endParaRPr/>
          </a:p>
          <a:p>
            <a:pPr marL="722313" lvl="1" indent="-369888" algn="l" rtl="0">
              <a:lnSpc>
                <a:spcPct val="85000"/>
              </a:lnSpc>
              <a:spcBef>
                <a:spcPts val="1800"/>
              </a:spcBef>
              <a:spcAft>
                <a:spcPts val="0"/>
              </a:spcAft>
              <a:buClr>
                <a:schemeClr val="dk1"/>
              </a:buClr>
              <a:buSzPts val="3200"/>
              <a:buFont typeface="Arial"/>
              <a:buChar char="•"/>
            </a:pPr>
            <a:r>
              <a:rPr lang="es-AR" sz="2800">
                <a:solidFill>
                  <a:schemeClr val="dk1"/>
                </a:solidFill>
              </a:rPr>
              <a:t>Revisar el impacto sobre la fecha de entrega</a:t>
            </a:r>
            <a:endParaRPr/>
          </a:p>
          <a:p>
            <a:pPr marL="722313" lvl="1" indent="-369888" algn="l" rtl="0">
              <a:lnSpc>
                <a:spcPct val="85000"/>
              </a:lnSpc>
              <a:spcBef>
                <a:spcPts val="600"/>
              </a:spcBef>
              <a:spcAft>
                <a:spcPts val="0"/>
              </a:spcAft>
              <a:buClr>
                <a:schemeClr val="dk1"/>
              </a:buClr>
              <a:buSzPts val="3200"/>
              <a:buFont typeface="Arial"/>
              <a:buChar char="•"/>
            </a:pPr>
            <a:r>
              <a:rPr lang="es-AR" sz="2800">
                <a:solidFill>
                  <a:schemeClr val="dk1"/>
                </a:solidFill>
              </a:rPr>
              <a:t>Reasignar recursos</a:t>
            </a:r>
            <a:endParaRPr/>
          </a:p>
          <a:p>
            <a:pPr marL="352425" lvl="2" indent="0" algn="l" rtl="0">
              <a:lnSpc>
                <a:spcPct val="85000"/>
              </a:lnSpc>
              <a:spcBef>
                <a:spcPts val="600"/>
              </a:spcBef>
              <a:spcAft>
                <a:spcPts val="0"/>
              </a:spcAft>
              <a:buClr>
                <a:schemeClr val="dk1"/>
              </a:buClr>
              <a:buSzPts val="3200"/>
              <a:buNone/>
            </a:pPr>
            <a:r>
              <a:rPr lang="es-AR" sz="2800" i="1">
                <a:solidFill>
                  <a:schemeClr val="dk1"/>
                </a:solidFill>
              </a:rPr>
              <a:t>	</a:t>
            </a:r>
            <a:r>
              <a:rPr lang="es-AR" sz="2400" i="1">
                <a:solidFill>
                  <a:schemeClr val="dk1"/>
                </a:solidFill>
              </a:rPr>
              <a:t>La inclusión de más personas en el desarrollo no siempre genera 	aumento en la productividad</a:t>
            </a:r>
            <a:endParaRPr/>
          </a:p>
          <a:p>
            <a:pPr marL="722313" lvl="1" indent="-369888" algn="l" rtl="0">
              <a:lnSpc>
                <a:spcPct val="85000"/>
              </a:lnSpc>
              <a:spcBef>
                <a:spcPts val="600"/>
              </a:spcBef>
              <a:spcAft>
                <a:spcPts val="0"/>
              </a:spcAft>
              <a:buClr>
                <a:schemeClr val="dk1"/>
              </a:buClr>
              <a:buSzPts val="3200"/>
              <a:buFont typeface="Arial"/>
              <a:buChar char="•"/>
            </a:pPr>
            <a:r>
              <a:rPr lang="es-AR" sz="2800">
                <a:solidFill>
                  <a:schemeClr val="dk1"/>
                </a:solidFill>
              </a:rPr>
              <a:t>Reordenar tareas</a:t>
            </a:r>
            <a:endParaRPr/>
          </a:p>
          <a:p>
            <a:pPr marL="722313" lvl="1" indent="-369888" algn="l" rtl="0">
              <a:lnSpc>
                <a:spcPct val="85000"/>
              </a:lnSpc>
              <a:spcBef>
                <a:spcPts val="600"/>
              </a:spcBef>
              <a:spcAft>
                <a:spcPts val="0"/>
              </a:spcAft>
              <a:buClr>
                <a:schemeClr val="dk1"/>
              </a:buClr>
              <a:buSzPts val="3200"/>
              <a:buFont typeface="Arial"/>
              <a:buChar char="•"/>
            </a:pPr>
            <a:r>
              <a:rPr lang="es-AR" sz="2800">
                <a:solidFill>
                  <a:schemeClr val="dk1"/>
                </a:solidFill>
              </a:rPr>
              <a:t>Modificar entrega</a:t>
            </a:r>
            <a:endParaRPr sz="2800" i="1">
              <a:solidFill>
                <a:schemeClr val="dk1"/>
              </a:solidFill>
            </a:endParaRPr>
          </a:p>
          <a:p>
            <a:pPr marL="176212" lvl="2" indent="0" algn="l" rtl="0">
              <a:lnSpc>
                <a:spcPct val="85000"/>
              </a:lnSpc>
              <a:spcBef>
                <a:spcPts val="6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43"/>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None/>
            </a:pPr>
            <a:r>
              <a:rPr lang="es-AR"/>
              <a:t>Diseño de Software</a:t>
            </a:r>
            <a:endParaRPr/>
          </a:p>
        </p:txBody>
      </p:sp>
      <p:sp>
        <p:nvSpPr>
          <p:cNvPr id="787" name="Google Shape;787;p43"/>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Autofit/>
          </a:bodyPr>
          <a:lstStyle/>
          <a:p>
            <a:pPr marL="90488" lvl="0" indent="0" algn="l" rtl="0">
              <a:lnSpc>
                <a:spcPct val="90000"/>
              </a:lnSpc>
              <a:spcBef>
                <a:spcPts val="0"/>
              </a:spcBef>
              <a:spcAft>
                <a:spcPts val="0"/>
              </a:spcAft>
              <a:buSzPts val="2000"/>
              <a:buNone/>
            </a:pPr>
            <a:endParaRPr/>
          </a:p>
        </p:txBody>
      </p:sp>
      <p:sp>
        <p:nvSpPr>
          <p:cNvPr id="788" name="Google Shape;788;p43"/>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500"/>
              <a:buNone/>
            </a:pPr>
            <a:r>
              <a:rPr lang="es-AR"/>
              <a:t>Conceptos</a:t>
            </a:r>
            <a:endParaRPr/>
          </a:p>
        </p:txBody>
      </p:sp>
      <p:sp>
        <p:nvSpPr>
          <p:cNvPr id="789" name="Google Shape;789;p43"/>
          <p:cNvSpPr txBox="1">
            <a:spLocks noGrp="1"/>
          </p:cNvSpPr>
          <p:nvPr>
            <p:ph type="dt" idx="10"/>
          </p:nvPr>
        </p:nvSpPr>
        <p:spPr>
          <a:xfrm>
            <a:off x="465138" y="6459538"/>
            <a:ext cx="261937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790" name="Google Shape;790;p43"/>
          <p:cNvSpPr txBox="1">
            <a:spLocks noGrp="1"/>
          </p:cNvSpPr>
          <p:nvPr>
            <p:ph type="ftr" idx="11"/>
          </p:nvPr>
        </p:nvSpPr>
        <p:spPr>
          <a:xfrm>
            <a:off x="4800600" y="6459538"/>
            <a:ext cx="4648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INGENIERÍA DE SOFTWARE II</a:t>
            </a:r>
            <a:endParaRPr/>
          </a:p>
        </p:txBody>
      </p:sp>
      <p:sp>
        <p:nvSpPr>
          <p:cNvPr id="791" name="Google Shape;791;p4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36</a:t>
            </a:fld>
            <a:endParaRPr/>
          </a:p>
        </p:txBody>
      </p:sp>
      <p:pic>
        <p:nvPicPr>
          <p:cNvPr id="792" name="Google Shape;792;p43"/>
          <p:cNvPicPr preferRelativeResize="0"/>
          <p:nvPr/>
        </p:nvPicPr>
        <p:blipFill rotWithShape="1">
          <a:blip r:embed="rId3">
            <a:alphaModFix/>
          </a:blip>
          <a:srcRect/>
          <a:stretch/>
        </p:blipFill>
        <p:spPr>
          <a:xfrm>
            <a:off x="4591936" y="594359"/>
            <a:ext cx="4319640" cy="2040480"/>
          </a:xfrm>
          <a:prstGeom prst="rect">
            <a:avLst/>
          </a:prstGeom>
          <a:noFill/>
          <a:ln>
            <a:noFill/>
          </a:ln>
        </p:spPr>
      </p:pic>
      <p:sp>
        <p:nvSpPr>
          <p:cNvPr id="793" name="Google Shape;793;p43"/>
          <p:cNvSpPr/>
          <p:nvPr/>
        </p:nvSpPr>
        <p:spPr>
          <a:xfrm>
            <a:off x="4925273" y="1026695"/>
            <a:ext cx="1395316" cy="587904"/>
          </a:xfrm>
          <a:prstGeom prst="ellipse">
            <a:avLst/>
          </a:prstGeom>
          <a:no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94" name="Google Shape;794;p43"/>
          <p:cNvPicPr preferRelativeResize="0"/>
          <p:nvPr/>
        </p:nvPicPr>
        <p:blipFill rotWithShape="1">
          <a:blip r:embed="rId4">
            <a:alphaModFix/>
          </a:blip>
          <a:srcRect/>
          <a:stretch/>
        </p:blipFill>
        <p:spPr>
          <a:xfrm>
            <a:off x="7564500" y="2926080"/>
            <a:ext cx="4577400" cy="2337840"/>
          </a:xfrm>
          <a:prstGeom prst="rect">
            <a:avLst/>
          </a:prstGeom>
          <a:noFill/>
          <a:ln>
            <a:noFill/>
          </a:ln>
        </p:spPr>
      </p:pic>
      <p:pic>
        <p:nvPicPr>
          <p:cNvPr id="795" name="Google Shape;795;p43"/>
          <p:cNvPicPr preferRelativeResize="0"/>
          <p:nvPr/>
        </p:nvPicPr>
        <p:blipFill rotWithShape="1">
          <a:blip r:embed="rId5">
            <a:alphaModFix/>
          </a:blip>
          <a:srcRect/>
          <a:stretch/>
        </p:blipFill>
        <p:spPr>
          <a:xfrm>
            <a:off x="4601093" y="3344401"/>
            <a:ext cx="3527640" cy="2919240"/>
          </a:xfrm>
          <a:prstGeom prst="rect">
            <a:avLst/>
          </a:prstGeom>
          <a:noFill/>
          <a:ln>
            <a:noFill/>
          </a:ln>
        </p:spPr>
      </p:pic>
      <p:sp>
        <p:nvSpPr>
          <p:cNvPr id="796" name="Google Shape;796;p43"/>
          <p:cNvSpPr/>
          <p:nvPr/>
        </p:nvSpPr>
        <p:spPr>
          <a:xfrm>
            <a:off x="6607080" y="3992041"/>
            <a:ext cx="1439640" cy="804548"/>
          </a:xfrm>
          <a:prstGeom prst="ellipse">
            <a:avLst/>
          </a:prstGeom>
          <a:no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7" name="Google Shape;797;p43"/>
          <p:cNvSpPr/>
          <p:nvPr/>
        </p:nvSpPr>
        <p:spPr>
          <a:xfrm>
            <a:off x="8238041" y="3249900"/>
            <a:ext cx="1439640" cy="647640"/>
          </a:xfrm>
          <a:prstGeom prst="ellipse">
            <a:avLst/>
          </a:prstGeom>
          <a:noFill/>
          <a:ln w="127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grpSp>
        <p:nvGrpSpPr>
          <p:cNvPr id="802" name="Google Shape;802;p45"/>
          <p:cNvGrpSpPr/>
          <p:nvPr/>
        </p:nvGrpSpPr>
        <p:grpSpPr>
          <a:xfrm>
            <a:off x="1863587" y="1824120"/>
            <a:ext cx="8119933" cy="4385520"/>
            <a:chOff x="1863587" y="1824120"/>
            <a:chExt cx="8119933" cy="4385520"/>
          </a:xfrm>
        </p:grpSpPr>
        <p:pic>
          <p:nvPicPr>
            <p:cNvPr id="803" name="Google Shape;803;p45" descr="http://www.ct.gov/opapd/lib/opapd/graphic-patbi/pieces_of_a_puzzle.jpg"/>
            <p:cNvPicPr preferRelativeResize="0"/>
            <p:nvPr/>
          </p:nvPicPr>
          <p:blipFill rotWithShape="1">
            <a:blip r:embed="rId3">
              <a:alphaModFix/>
            </a:blip>
            <a:srcRect/>
            <a:stretch/>
          </p:blipFill>
          <p:spPr>
            <a:xfrm>
              <a:off x="3215520" y="1824120"/>
              <a:ext cx="4926600" cy="4385520"/>
            </a:xfrm>
            <a:prstGeom prst="rect">
              <a:avLst/>
            </a:prstGeom>
            <a:noFill/>
            <a:ln>
              <a:noFill/>
            </a:ln>
          </p:spPr>
        </p:pic>
        <p:sp>
          <p:nvSpPr>
            <p:cNvPr id="804" name="Google Shape;804;p45"/>
            <p:cNvSpPr/>
            <p:nvPr/>
          </p:nvSpPr>
          <p:spPr>
            <a:xfrm>
              <a:off x="7926840" y="2690862"/>
              <a:ext cx="2056680" cy="6120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20000" y="22500"/>
                  </a:lnTo>
                  <a:lnTo>
                    <a:pt x="-56000" y="135000"/>
                  </a:lnTo>
                </a:path>
              </a:pathLst>
            </a:custGeom>
            <a:solidFill>
              <a:srgbClr val="DF695B"/>
            </a:solidFill>
            <a:ln w="25400" cap="flat" cmpd="sng">
              <a:solidFill>
                <a:srgbClr val="8C0000"/>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FFFFFF"/>
                  </a:solidFill>
                  <a:latin typeface="Calibri"/>
                  <a:ea typeface="Calibri"/>
                  <a:cs typeface="Calibri"/>
                  <a:sym typeface="Calibri"/>
                </a:rPr>
                <a:t>Diseño arquitectónico</a:t>
              </a:r>
              <a:endParaRPr sz="1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5" name="Google Shape;805;p45"/>
            <p:cNvSpPr/>
            <p:nvPr/>
          </p:nvSpPr>
          <p:spPr>
            <a:xfrm>
              <a:off x="7926840" y="4869000"/>
              <a:ext cx="1943640" cy="6120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20000" y="22500"/>
                  </a:lnTo>
                  <a:lnTo>
                    <a:pt x="-109259" y="-117259"/>
                  </a:lnTo>
                </a:path>
              </a:pathLst>
            </a:custGeom>
            <a:solidFill>
              <a:srgbClr val="DF695B"/>
            </a:solidFill>
            <a:ln w="25400" cap="flat" cmpd="sng">
              <a:solidFill>
                <a:srgbClr val="8C0000"/>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FFFFFF"/>
                  </a:solidFill>
                  <a:latin typeface="Calibri"/>
                  <a:ea typeface="Calibri"/>
                  <a:cs typeface="Calibri"/>
                  <a:sym typeface="Calibri"/>
                </a:rPr>
                <a:t>Diseño a nivel componentes</a:t>
              </a:r>
              <a:endParaRPr sz="1800" b="0" i="0" u="none" strike="noStrike" cap="none">
                <a:solidFill>
                  <a:schemeClr val="dk1"/>
                </a:solidFill>
                <a:latin typeface="Calibri"/>
                <a:ea typeface="Calibri"/>
                <a:cs typeface="Calibri"/>
                <a:sym typeface="Calibri"/>
              </a:endParaRPr>
            </a:p>
          </p:txBody>
        </p:sp>
        <p:sp>
          <p:nvSpPr>
            <p:cNvPr id="806" name="Google Shape;806;p45"/>
            <p:cNvSpPr/>
            <p:nvPr/>
          </p:nvSpPr>
          <p:spPr>
            <a:xfrm>
              <a:off x="2063520" y="2565000"/>
              <a:ext cx="1943640" cy="6120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25929" y="100700"/>
                  </a:moveTo>
                  <a:lnTo>
                    <a:pt x="150904" y="98178"/>
                  </a:lnTo>
                  <a:lnTo>
                    <a:pt x="221420" y="89594"/>
                  </a:lnTo>
                </a:path>
              </a:pathLst>
            </a:custGeom>
            <a:solidFill>
              <a:srgbClr val="DF695B"/>
            </a:solidFill>
            <a:ln w="25400" cap="flat" cmpd="sng">
              <a:solidFill>
                <a:srgbClr val="8C0000"/>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FFFFFF"/>
                  </a:solidFill>
                  <a:latin typeface="Calibri"/>
                  <a:ea typeface="Calibri"/>
                  <a:cs typeface="Calibri"/>
                  <a:sym typeface="Calibri"/>
                </a:rPr>
                <a:t>Diseño de datos</a:t>
              </a:r>
              <a:endParaRPr sz="1800" b="0" i="0" u="none" strike="noStrike" cap="none">
                <a:solidFill>
                  <a:schemeClr val="dk1"/>
                </a:solidFill>
                <a:latin typeface="Calibri"/>
                <a:ea typeface="Calibri"/>
                <a:cs typeface="Calibri"/>
                <a:sym typeface="Calibri"/>
              </a:endParaRPr>
            </a:p>
          </p:txBody>
        </p:sp>
        <p:sp>
          <p:nvSpPr>
            <p:cNvPr id="807" name="Google Shape;807;p45"/>
            <p:cNvSpPr/>
            <p:nvPr/>
          </p:nvSpPr>
          <p:spPr>
            <a:xfrm>
              <a:off x="1863587" y="5488629"/>
              <a:ext cx="1943640" cy="6120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79030" y="-25429"/>
                  </a:moveTo>
                  <a:lnTo>
                    <a:pt x="103210" y="-118765"/>
                  </a:lnTo>
                  <a:lnTo>
                    <a:pt x="169752" y="-361952"/>
                  </a:lnTo>
                </a:path>
              </a:pathLst>
            </a:custGeom>
            <a:solidFill>
              <a:srgbClr val="DF695B"/>
            </a:solidFill>
            <a:ln w="25400" cap="flat" cmpd="sng">
              <a:solidFill>
                <a:srgbClr val="8C0000"/>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FFFFFF"/>
                  </a:solidFill>
                  <a:latin typeface="Calibri"/>
                  <a:ea typeface="Calibri"/>
                  <a:cs typeface="Calibri"/>
                  <a:sym typeface="Calibri"/>
                </a:rPr>
                <a:t>Diseño de interfaz</a:t>
              </a:r>
              <a:endParaRPr sz="1800" b="0" i="0" u="none" strike="noStrike" cap="none">
                <a:solidFill>
                  <a:schemeClr val="dk1"/>
                </a:solidFill>
                <a:latin typeface="Calibri"/>
                <a:ea typeface="Calibri"/>
                <a:cs typeface="Calibri"/>
                <a:sym typeface="Calibri"/>
              </a:endParaRPr>
            </a:p>
          </p:txBody>
        </p:sp>
      </p:grpSp>
      <p:sp>
        <p:nvSpPr>
          <p:cNvPr id="808" name="Google Shape;808;p45"/>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Diseño de Software - Tipos</a:t>
            </a:r>
            <a:endParaRPr/>
          </a:p>
        </p:txBody>
      </p:sp>
      <p:sp>
        <p:nvSpPr>
          <p:cNvPr id="809" name="Google Shape;809;p45"/>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810" name="Google Shape;810;p45"/>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811" name="Google Shape;811;p45"/>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grpSp>
        <p:nvGrpSpPr>
          <p:cNvPr id="816" name="Google Shape;816;p115"/>
          <p:cNvGrpSpPr/>
          <p:nvPr/>
        </p:nvGrpSpPr>
        <p:grpSpPr>
          <a:xfrm>
            <a:off x="2063520" y="1824120"/>
            <a:ext cx="6078600" cy="4385520"/>
            <a:chOff x="2063520" y="1824120"/>
            <a:chExt cx="6078600" cy="4385520"/>
          </a:xfrm>
        </p:grpSpPr>
        <p:pic>
          <p:nvPicPr>
            <p:cNvPr id="817" name="Google Shape;817;p115" descr="http://www.ct.gov/opapd/lib/opapd/graphic-patbi/pieces_of_a_puzzle.jpg"/>
            <p:cNvPicPr preferRelativeResize="0"/>
            <p:nvPr/>
          </p:nvPicPr>
          <p:blipFill rotWithShape="1">
            <a:blip r:embed="rId3">
              <a:alphaModFix/>
            </a:blip>
            <a:srcRect/>
            <a:stretch/>
          </p:blipFill>
          <p:spPr>
            <a:xfrm>
              <a:off x="3215520" y="1824120"/>
              <a:ext cx="4926600" cy="4385520"/>
            </a:xfrm>
            <a:prstGeom prst="rect">
              <a:avLst/>
            </a:prstGeom>
            <a:noFill/>
            <a:ln>
              <a:noFill/>
            </a:ln>
          </p:spPr>
        </p:pic>
        <p:sp>
          <p:nvSpPr>
            <p:cNvPr id="818" name="Google Shape;818;p115"/>
            <p:cNvSpPr/>
            <p:nvPr/>
          </p:nvSpPr>
          <p:spPr>
            <a:xfrm>
              <a:off x="2063520" y="2565000"/>
              <a:ext cx="1943640" cy="6120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25929" y="100700"/>
                  </a:moveTo>
                  <a:lnTo>
                    <a:pt x="150904" y="98178"/>
                  </a:lnTo>
                  <a:lnTo>
                    <a:pt x="221420" y="89594"/>
                  </a:lnTo>
                </a:path>
              </a:pathLst>
            </a:custGeom>
            <a:solidFill>
              <a:srgbClr val="DF695B"/>
            </a:solidFill>
            <a:ln w="25400" cap="flat" cmpd="sng">
              <a:solidFill>
                <a:srgbClr val="8C0000"/>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FFFFFF"/>
                  </a:solidFill>
                  <a:latin typeface="Calibri"/>
                  <a:ea typeface="Calibri"/>
                  <a:cs typeface="Calibri"/>
                  <a:sym typeface="Calibri"/>
                </a:rPr>
                <a:t>Diseño de datos</a:t>
              </a:r>
              <a:endParaRPr sz="1800" b="0" i="0" u="none" strike="noStrike" cap="none">
                <a:solidFill>
                  <a:schemeClr val="dk1"/>
                </a:solidFill>
                <a:latin typeface="Calibri"/>
                <a:ea typeface="Calibri"/>
                <a:cs typeface="Calibri"/>
                <a:sym typeface="Calibri"/>
              </a:endParaRPr>
            </a:p>
          </p:txBody>
        </p:sp>
      </p:grpSp>
      <p:sp>
        <p:nvSpPr>
          <p:cNvPr id="819" name="Google Shape;819;p115"/>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Diseño de Software - Tipos</a:t>
            </a:r>
            <a:endParaRPr/>
          </a:p>
        </p:txBody>
      </p:sp>
      <p:sp>
        <p:nvSpPr>
          <p:cNvPr id="820" name="Google Shape;820;p115"/>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821" name="Google Shape;821;p115"/>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822" name="Google Shape;822;p115"/>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38</a:t>
            </a:fld>
            <a:endParaRPr/>
          </a:p>
        </p:txBody>
      </p:sp>
      <p:sp>
        <p:nvSpPr>
          <p:cNvPr id="823" name="Google Shape;823;p115"/>
          <p:cNvSpPr txBox="1"/>
          <p:nvPr/>
        </p:nvSpPr>
        <p:spPr>
          <a:xfrm>
            <a:off x="7972925" y="4364756"/>
            <a:ext cx="3976347" cy="1631216"/>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AR" sz="2000" b="0" i="0" u="none" strike="noStrike" cap="none">
                <a:solidFill>
                  <a:schemeClr val="dk1"/>
                </a:solidFill>
                <a:latin typeface="Calibri"/>
                <a:ea typeface="Calibri"/>
                <a:cs typeface="Calibri"/>
                <a:sym typeface="Calibri"/>
              </a:rPr>
              <a:t>Transforma el modelo del dominio, obtenido del análisis, en estructuras de datos, objetos de datos, relaciones , etc.​​</a:t>
            </a:r>
            <a:endParaRPr sz="20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grpSp>
        <p:nvGrpSpPr>
          <p:cNvPr id="828" name="Google Shape;828;p116"/>
          <p:cNvGrpSpPr/>
          <p:nvPr/>
        </p:nvGrpSpPr>
        <p:grpSpPr>
          <a:xfrm>
            <a:off x="3215520" y="1824120"/>
            <a:ext cx="6768000" cy="4385520"/>
            <a:chOff x="3215520" y="1824120"/>
            <a:chExt cx="6768000" cy="4385520"/>
          </a:xfrm>
        </p:grpSpPr>
        <p:pic>
          <p:nvPicPr>
            <p:cNvPr id="829" name="Google Shape;829;p116" descr="http://www.ct.gov/opapd/lib/opapd/graphic-patbi/pieces_of_a_puzzle.jpg"/>
            <p:cNvPicPr preferRelativeResize="0"/>
            <p:nvPr/>
          </p:nvPicPr>
          <p:blipFill rotWithShape="1">
            <a:blip r:embed="rId3">
              <a:alphaModFix/>
            </a:blip>
            <a:srcRect/>
            <a:stretch/>
          </p:blipFill>
          <p:spPr>
            <a:xfrm>
              <a:off x="3215520" y="1824120"/>
              <a:ext cx="4926600" cy="4385520"/>
            </a:xfrm>
            <a:prstGeom prst="rect">
              <a:avLst/>
            </a:prstGeom>
            <a:noFill/>
            <a:ln>
              <a:noFill/>
            </a:ln>
          </p:spPr>
        </p:pic>
        <p:sp>
          <p:nvSpPr>
            <p:cNvPr id="830" name="Google Shape;830;p116"/>
            <p:cNvSpPr/>
            <p:nvPr/>
          </p:nvSpPr>
          <p:spPr>
            <a:xfrm>
              <a:off x="7926840" y="2690862"/>
              <a:ext cx="2056680" cy="6120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20000" y="22500"/>
                  </a:lnTo>
                  <a:lnTo>
                    <a:pt x="-56000" y="135000"/>
                  </a:lnTo>
                </a:path>
              </a:pathLst>
            </a:custGeom>
            <a:solidFill>
              <a:srgbClr val="DF695B"/>
            </a:solidFill>
            <a:ln w="25400" cap="flat" cmpd="sng">
              <a:solidFill>
                <a:srgbClr val="8C0000"/>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FFFFFF"/>
                  </a:solidFill>
                  <a:latin typeface="Calibri"/>
                  <a:ea typeface="Calibri"/>
                  <a:cs typeface="Calibri"/>
                  <a:sym typeface="Calibri"/>
                </a:rPr>
                <a:t>Diseño arquitectónico</a:t>
              </a:r>
              <a:endParaRPr sz="1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831" name="Google Shape;831;p116"/>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Diseño de Software - Tipos</a:t>
            </a:r>
            <a:endParaRPr/>
          </a:p>
        </p:txBody>
      </p:sp>
      <p:sp>
        <p:nvSpPr>
          <p:cNvPr id="832" name="Google Shape;832;p116"/>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833" name="Google Shape;833;p116"/>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834" name="Google Shape;834;p116"/>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39</a:t>
            </a:fld>
            <a:endParaRPr/>
          </a:p>
        </p:txBody>
      </p:sp>
      <p:sp>
        <p:nvSpPr>
          <p:cNvPr id="835" name="Google Shape;835;p116"/>
          <p:cNvSpPr txBox="1"/>
          <p:nvPr/>
        </p:nvSpPr>
        <p:spPr>
          <a:xfrm>
            <a:off x="48042" y="5136099"/>
            <a:ext cx="4491789" cy="132343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AR" sz="2000" b="0" i="0" u="none" strike="noStrike" cap="none">
                <a:solidFill>
                  <a:schemeClr val="dk1"/>
                </a:solidFill>
                <a:latin typeface="Calibri"/>
                <a:ea typeface="Calibri"/>
                <a:cs typeface="Calibri"/>
                <a:sym typeface="Calibri"/>
              </a:rPr>
              <a:t>Define la relación entre los elementos estructurales del software, los estilos arquitectónicos, patrones de diseño, etc.</a:t>
            </a:r>
            <a:endParaRPr sz="20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grpSp>
        <p:nvGrpSpPr>
          <p:cNvPr id="840" name="Google Shape;840;p117"/>
          <p:cNvGrpSpPr/>
          <p:nvPr/>
        </p:nvGrpSpPr>
        <p:grpSpPr>
          <a:xfrm>
            <a:off x="3215520" y="1824120"/>
            <a:ext cx="6654960" cy="4385520"/>
            <a:chOff x="3215520" y="1824120"/>
            <a:chExt cx="6654960" cy="4385520"/>
          </a:xfrm>
        </p:grpSpPr>
        <p:pic>
          <p:nvPicPr>
            <p:cNvPr id="841" name="Google Shape;841;p117" descr="http://www.ct.gov/opapd/lib/opapd/graphic-patbi/pieces_of_a_puzzle.jpg"/>
            <p:cNvPicPr preferRelativeResize="0"/>
            <p:nvPr/>
          </p:nvPicPr>
          <p:blipFill rotWithShape="1">
            <a:blip r:embed="rId3">
              <a:alphaModFix/>
            </a:blip>
            <a:srcRect/>
            <a:stretch/>
          </p:blipFill>
          <p:spPr>
            <a:xfrm>
              <a:off x="3215520" y="1824120"/>
              <a:ext cx="4926600" cy="4385520"/>
            </a:xfrm>
            <a:prstGeom prst="rect">
              <a:avLst/>
            </a:prstGeom>
            <a:noFill/>
            <a:ln>
              <a:noFill/>
            </a:ln>
          </p:spPr>
        </p:pic>
        <p:sp>
          <p:nvSpPr>
            <p:cNvPr id="842" name="Google Shape;842;p117"/>
            <p:cNvSpPr/>
            <p:nvPr/>
          </p:nvSpPr>
          <p:spPr>
            <a:xfrm>
              <a:off x="7926840" y="4869000"/>
              <a:ext cx="1943640" cy="6120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20000" y="22500"/>
                  </a:lnTo>
                  <a:lnTo>
                    <a:pt x="-109259" y="-117259"/>
                  </a:lnTo>
                </a:path>
              </a:pathLst>
            </a:custGeom>
            <a:solidFill>
              <a:srgbClr val="DF695B"/>
            </a:solidFill>
            <a:ln w="25400" cap="flat" cmpd="sng">
              <a:solidFill>
                <a:srgbClr val="8C0000"/>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FFFFFF"/>
                  </a:solidFill>
                  <a:latin typeface="Calibri"/>
                  <a:ea typeface="Calibri"/>
                  <a:cs typeface="Calibri"/>
                  <a:sym typeface="Calibri"/>
                </a:rPr>
                <a:t>Diseño a nivel componentes</a:t>
              </a:r>
              <a:endParaRPr sz="1800" b="0" i="0" u="none" strike="noStrike" cap="none">
                <a:solidFill>
                  <a:schemeClr val="dk1"/>
                </a:solidFill>
                <a:latin typeface="Calibri"/>
                <a:ea typeface="Calibri"/>
                <a:cs typeface="Calibri"/>
                <a:sym typeface="Calibri"/>
              </a:endParaRPr>
            </a:p>
          </p:txBody>
        </p:sp>
      </p:grpSp>
      <p:sp>
        <p:nvSpPr>
          <p:cNvPr id="843" name="Google Shape;843;p117"/>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Diseño de Software - Tipos</a:t>
            </a:r>
            <a:endParaRPr/>
          </a:p>
        </p:txBody>
      </p:sp>
      <p:sp>
        <p:nvSpPr>
          <p:cNvPr id="844" name="Google Shape;844;p117"/>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845" name="Google Shape;845;p117"/>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846" name="Google Shape;846;p117"/>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40</a:t>
            </a:fld>
            <a:endParaRPr/>
          </a:p>
        </p:txBody>
      </p:sp>
      <p:sp>
        <p:nvSpPr>
          <p:cNvPr id="847" name="Google Shape;847;p117"/>
          <p:cNvSpPr/>
          <p:nvPr/>
        </p:nvSpPr>
        <p:spPr>
          <a:xfrm>
            <a:off x="164520" y="2205000"/>
            <a:ext cx="4359354" cy="1321985"/>
          </a:xfrm>
          <a:prstGeom prst="rect">
            <a:avLst/>
          </a:prstGeom>
          <a:noFill/>
          <a:ln>
            <a:noFill/>
          </a:ln>
        </p:spPr>
        <p:txBody>
          <a:bodyPr spcFirstLastPara="1" wrap="square" lIns="90000" tIns="45000" rIns="90000" bIns="45000" anchor="t" anchorCtr="0">
            <a:spAutoFit/>
          </a:bodyPr>
          <a:lstStyle/>
          <a:p>
            <a:pPr marL="0" marR="0" lvl="1" indent="0" algn="just" rtl="0">
              <a:lnSpc>
                <a:spcPct val="100000"/>
              </a:lnSpc>
              <a:spcBef>
                <a:spcPts val="0"/>
              </a:spcBef>
              <a:spcAft>
                <a:spcPts val="0"/>
              </a:spcAft>
              <a:buNone/>
            </a:pPr>
            <a:r>
              <a:rPr lang="es-AR" sz="2000" b="0" i="0" u="none" strike="noStrike" cap="none">
                <a:solidFill>
                  <a:schemeClr val="dk1"/>
                </a:solidFill>
                <a:latin typeface="Calibri"/>
                <a:ea typeface="Calibri"/>
                <a:cs typeface="Calibri"/>
                <a:sym typeface="Calibri"/>
              </a:rPr>
              <a:t>Transforma los elementos estructurales de la arquitectura de software en una descripción procedimental de los componentes del software.​</a:t>
            </a: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grpSp>
        <p:nvGrpSpPr>
          <p:cNvPr id="852" name="Google Shape;852;p118"/>
          <p:cNvGrpSpPr/>
          <p:nvPr/>
        </p:nvGrpSpPr>
        <p:grpSpPr>
          <a:xfrm>
            <a:off x="1863587" y="1824120"/>
            <a:ext cx="6278533" cy="4385520"/>
            <a:chOff x="1863587" y="1824120"/>
            <a:chExt cx="6278533" cy="4385520"/>
          </a:xfrm>
        </p:grpSpPr>
        <p:pic>
          <p:nvPicPr>
            <p:cNvPr id="853" name="Google Shape;853;p118" descr="http://www.ct.gov/opapd/lib/opapd/graphic-patbi/pieces_of_a_puzzle.jpg"/>
            <p:cNvPicPr preferRelativeResize="0"/>
            <p:nvPr/>
          </p:nvPicPr>
          <p:blipFill rotWithShape="1">
            <a:blip r:embed="rId3">
              <a:alphaModFix/>
            </a:blip>
            <a:srcRect/>
            <a:stretch/>
          </p:blipFill>
          <p:spPr>
            <a:xfrm>
              <a:off x="3215520" y="1824120"/>
              <a:ext cx="4926600" cy="4385520"/>
            </a:xfrm>
            <a:prstGeom prst="rect">
              <a:avLst/>
            </a:prstGeom>
            <a:noFill/>
            <a:ln>
              <a:noFill/>
            </a:ln>
          </p:spPr>
        </p:pic>
        <p:sp>
          <p:nvSpPr>
            <p:cNvPr id="854" name="Google Shape;854;p118"/>
            <p:cNvSpPr/>
            <p:nvPr/>
          </p:nvSpPr>
          <p:spPr>
            <a:xfrm>
              <a:off x="1863587" y="5488629"/>
              <a:ext cx="1943640" cy="6120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79030" y="-25429"/>
                  </a:moveTo>
                  <a:lnTo>
                    <a:pt x="103210" y="-118765"/>
                  </a:lnTo>
                  <a:lnTo>
                    <a:pt x="169752" y="-361952"/>
                  </a:lnTo>
                </a:path>
              </a:pathLst>
            </a:custGeom>
            <a:solidFill>
              <a:srgbClr val="DF695B"/>
            </a:solidFill>
            <a:ln w="25400" cap="flat" cmpd="sng">
              <a:solidFill>
                <a:srgbClr val="8C0000"/>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rgbClr val="FFFFFF"/>
                  </a:solidFill>
                  <a:latin typeface="Calibri"/>
                  <a:ea typeface="Calibri"/>
                  <a:cs typeface="Calibri"/>
                  <a:sym typeface="Calibri"/>
                </a:rPr>
                <a:t>Diseño de interfaz</a:t>
              </a:r>
              <a:endParaRPr sz="1800" b="0" i="0" u="none" strike="noStrike" cap="none">
                <a:solidFill>
                  <a:schemeClr val="dk1"/>
                </a:solidFill>
                <a:latin typeface="Calibri"/>
                <a:ea typeface="Calibri"/>
                <a:cs typeface="Calibri"/>
                <a:sym typeface="Calibri"/>
              </a:endParaRPr>
            </a:p>
          </p:txBody>
        </p:sp>
      </p:grpSp>
      <p:sp>
        <p:nvSpPr>
          <p:cNvPr id="855" name="Google Shape;855;p118"/>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Diseño de Software - Tipos</a:t>
            </a:r>
            <a:endParaRPr/>
          </a:p>
        </p:txBody>
      </p:sp>
      <p:sp>
        <p:nvSpPr>
          <p:cNvPr id="856" name="Google Shape;856;p118"/>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857" name="Google Shape;857;p118"/>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858" name="Google Shape;858;p11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41</a:t>
            </a:fld>
            <a:endParaRPr/>
          </a:p>
        </p:txBody>
      </p:sp>
      <p:sp>
        <p:nvSpPr>
          <p:cNvPr id="859" name="Google Shape;859;p118"/>
          <p:cNvSpPr/>
          <p:nvPr/>
        </p:nvSpPr>
        <p:spPr>
          <a:xfrm>
            <a:off x="7933838" y="2265367"/>
            <a:ext cx="3934800" cy="1014209"/>
          </a:xfrm>
          <a:prstGeom prst="rect">
            <a:avLst/>
          </a:prstGeom>
          <a:noFill/>
          <a:ln>
            <a:noFill/>
          </a:ln>
        </p:spPr>
        <p:txBody>
          <a:bodyPr spcFirstLastPara="1" wrap="square" lIns="90000" tIns="45000" rIns="90000" bIns="45000" anchor="t" anchorCtr="0">
            <a:spAutoFit/>
          </a:bodyPr>
          <a:lstStyle/>
          <a:p>
            <a:pPr marL="0" marR="0" lvl="1" indent="0" algn="just" rtl="0">
              <a:lnSpc>
                <a:spcPct val="100000"/>
              </a:lnSpc>
              <a:spcBef>
                <a:spcPts val="0"/>
              </a:spcBef>
              <a:spcAft>
                <a:spcPts val="0"/>
              </a:spcAft>
              <a:buNone/>
            </a:pPr>
            <a:r>
              <a:rPr lang="es-AR" sz="2000" b="0" i="0" u="none" strike="noStrike" cap="none">
                <a:solidFill>
                  <a:schemeClr val="dk1"/>
                </a:solidFill>
                <a:latin typeface="Calibri"/>
                <a:ea typeface="Calibri"/>
                <a:cs typeface="Calibri"/>
                <a:sym typeface="Calibri"/>
              </a:rPr>
              <a:t>Describe la forma de comunicación dentro del mismo sistema, con otros sistemas, y con las personas.​</a:t>
            </a: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p119"/>
          <p:cNvSpPr txBox="1">
            <a:spLocks noGrp="1"/>
          </p:cNvSpPr>
          <p:nvPr>
            <p:ph type="title"/>
          </p:nvPr>
        </p:nvSpPr>
        <p:spPr>
          <a:xfrm>
            <a:off x="1096963" y="786063"/>
            <a:ext cx="10058400" cy="95066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85000"/>
              </a:lnSpc>
              <a:spcBef>
                <a:spcPts val="0"/>
              </a:spcBef>
              <a:spcAft>
                <a:spcPts val="0"/>
              </a:spcAft>
              <a:buNone/>
            </a:pPr>
            <a:r>
              <a:rPr lang="es-AR"/>
              <a:t>Diseño de Software – Características para su evaluación</a:t>
            </a:r>
            <a:endParaRPr/>
          </a:p>
        </p:txBody>
      </p:sp>
      <p:sp>
        <p:nvSpPr>
          <p:cNvPr id="865" name="Google Shape;865;p11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866" name="Google Shape;866;p11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867" name="Google Shape;867;p11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42</a:t>
            </a:fld>
            <a:endParaRPr/>
          </a:p>
        </p:txBody>
      </p:sp>
      <p:sp>
        <p:nvSpPr>
          <p:cNvPr id="868" name="Google Shape;868;p119"/>
          <p:cNvSpPr txBox="1">
            <a:spLocks noGrp="1"/>
          </p:cNvSpPr>
          <p:nvPr>
            <p:ph type="body" idx="4294967295"/>
          </p:nvPr>
        </p:nvSpPr>
        <p:spPr>
          <a:xfrm>
            <a:off x="1035050" y="1958360"/>
            <a:ext cx="10182225" cy="3162916"/>
          </a:xfrm>
          <a:prstGeom prst="rect">
            <a:avLst/>
          </a:prstGeom>
          <a:noFill/>
          <a:ln>
            <a:noFill/>
          </a:ln>
        </p:spPr>
        <p:txBody>
          <a:bodyPr spcFirstLastPara="1" wrap="square" lIns="91425" tIns="45700" rIns="91425" bIns="45700" anchor="t" anchorCtr="0">
            <a:noAutofit/>
          </a:bodyPr>
          <a:lstStyle/>
          <a:p>
            <a:pPr marL="462240" lvl="1" indent="-457200" algn="just" rtl="0">
              <a:lnSpc>
                <a:spcPct val="100000"/>
              </a:lnSpc>
              <a:spcBef>
                <a:spcPts val="0"/>
              </a:spcBef>
              <a:spcAft>
                <a:spcPts val="0"/>
              </a:spcAft>
              <a:buClr>
                <a:srgbClr val="C00000"/>
              </a:buClr>
              <a:buSzPts val="3200"/>
              <a:buFont typeface="Noto Sans Symbols"/>
              <a:buChar char="❖"/>
            </a:pPr>
            <a:r>
              <a:rPr lang="es-AR" sz="3200">
                <a:solidFill>
                  <a:schemeClr val="dk1"/>
                </a:solidFill>
              </a:rPr>
              <a:t>Deberá </a:t>
            </a:r>
            <a:r>
              <a:rPr lang="es-AR" sz="3200" i="1">
                <a:solidFill>
                  <a:schemeClr val="dk1"/>
                </a:solidFill>
              </a:rPr>
              <a:t>implementar</a:t>
            </a:r>
            <a:r>
              <a:rPr lang="es-AR" sz="3200">
                <a:solidFill>
                  <a:schemeClr val="dk1"/>
                </a:solidFill>
              </a:rPr>
              <a:t> todos los requerimientos explícitos del modelo de requerimientos, e</a:t>
            </a:r>
            <a:r>
              <a:rPr lang="es-AR" sz="3200" i="1">
                <a:solidFill>
                  <a:schemeClr val="dk1"/>
                </a:solidFill>
              </a:rPr>
              <a:t> incorporar</a:t>
            </a:r>
            <a:r>
              <a:rPr lang="es-AR" sz="3200">
                <a:solidFill>
                  <a:schemeClr val="dk1"/>
                </a:solidFill>
              </a:rPr>
              <a:t> todos los requerimientos implícitos que desea el cliente.</a:t>
            </a:r>
            <a:endParaRPr sz="3200">
              <a:solidFill>
                <a:schemeClr val="dk1"/>
              </a:solidFill>
            </a:endParaRPr>
          </a:p>
          <a:p>
            <a:pPr marL="462240" lvl="1" indent="-457200" algn="just" rtl="0">
              <a:lnSpc>
                <a:spcPct val="100000"/>
              </a:lnSpc>
              <a:spcBef>
                <a:spcPts val="601"/>
              </a:spcBef>
              <a:spcAft>
                <a:spcPts val="0"/>
              </a:spcAft>
              <a:buClr>
                <a:srgbClr val="C00000"/>
              </a:buClr>
              <a:buSzPts val="3200"/>
              <a:buFont typeface="Noto Sans Symbols"/>
              <a:buChar char="❖"/>
            </a:pPr>
            <a:r>
              <a:rPr lang="es-AR" sz="3200">
                <a:solidFill>
                  <a:schemeClr val="dk1"/>
                </a:solidFill>
              </a:rPr>
              <a:t>Deberá ser una </a:t>
            </a:r>
            <a:r>
              <a:rPr lang="es-AR" sz="3200" i="1">
                <a:solidFill>
                  <a:schemeClr val="dk1"/>
                </a:solidFill>
              </a:rPr>
              <a:t>guía</a:t>
            </a:r>
            <a:r>
              <a:rPr lang="es-AR" sz="3200">
                <a:solidFill>
                  <a:schemeClr val="dk1"/>
                </a:solidFill>
              </a:rPr>
              <a:t> legible y comprensible para aquellos que generan código y para aquellos que dan soporte al software.</a:t>
            </a:r>
            <a:endParaRPr sz="3200">
              <a:solidFill>
                <a:schemeClr val="dk1"/>
              </a:solidFill>
            </a:endParaRPr>
          </a:p>
          <a:p>
            <a:pPr marL="462240" lvl="1" indent="-457200" algn="just" rtl="0">
              <a:lnSpc>
                <a:spcPct val="100000"/>
              </a:lnSpc>
              <a:spcBef>
                <a:spcPts val="601"/>
              </a:spcBef>
              <a:spcAft>
                <a:spcPts val="0"/>
              </a:spcAft>
              <a:buClr>
                <a:srgbClr val="C00000"/>
              </a:buClr>
              <a:buSzPts val="3200"/>
              <a:buFont typeface="Noto Sans Symbols"/>
              <a:buChar char="❖"/>
            </a:pPr>
            <a:r>
              <a:rPr lang="es-AR" sz="3200">
                <a:solidFill>
                  <a:schemeClr val="dk1"/>
                </a:solidFill>
              </a:rPr>
              <a:t>Deberá proporcionar una imagen/visión completa del software (Completitud).</a:t>
            </a:r>
            <a:endParaRPr sz="3200">
              <a:solidFill>
                <a:schemeClr val="dk1"/>
              </a:solidFill>
            </a:endParaRPr>
          </a:p>
          <a:p>
            <a:pPr marL="176212" lvl="2" indent="0" algn="l" rtl="0">
              <a:lnSpc>
                <a:spcPct val="85000"/>
              </a:lnSpc>
              <a:spcBef>
                <a:spcPts val="600"/>
              </a:spcBef>
              <a:spcAft>
                <a:spcPts val="0"/>
              </a:spcAft>
              <a:buClr>
                <a:srgbClr val="404040"/>
              </a:buClr>
              <a:buSzPts val="2400"/>
              <a:buNone/>
            </a:pPr>
            <a:endParaRPr sz="2400">
              <a:solidFill>
                <a:schemeClr val="dk1"/>
              </a:solidFill>
            </a:endParaRPr>
          </a:p>
          <a:p>
            <a:pPr marL="0" lvl="0" indent="0" algn="just" rtl="0">
              <a:lnSpc>
                <a:spcPct val="85000"/>
              </a:lnSpc>
              <a:spcBef>
                <a:spcPts val="0"/>
              </a:spcBef>
              <a:spcAft>
                <a:spcPts val="0"/>
              </a:spcAft>
              <a:buClr>
                <a:srgbClr val="C00000"/>
              </a:buClr>
              <a:buSzPts val="2800"/>
              <a:buNone/>
            </a:pPr>
            <a:endParaRPr sz="28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20"/>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Criterios técnicos para un buen diseño</a:t>
            </a:r>
            <a:endParaRPr/>
          </a:p>
        </p:txBody>
      </p:sp>
      <p:sp>
        <p:nvSpPr>
          <p:cNvPr id="874" name="Google Shape;874;p12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875" name="Google Shape;875;p12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876" name="Google Shape;876;p12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43</a:t>
            </a:fld>
            <a:endParaRPr/>
          </a:p>
        </p:txBody>
      </p:sp>
      <p:sp>
        <p:nvSpPr>
          <p:cNvPr id="877" name="Google Shape;877;p120"/>
          <p:cNvSpPr txBox="1">
            <a:spLocks noGrp="1"/>
          </p:cNvSpPr>
          <p:nvPr>
            <p:ph type="body" idx="4294967295"/>
          </p:nvPr>
        </p:nvSpPr>
        <p:spPr>
          <a:xfrm>
            <a:off x="1035050" y="1958360"/>
            <a:ext cx="10182225" cy="3162916"/>
          </a:xfrm>
          <a:prstGeom prst="rect">
            <a:avLst/>
          </a:prstGeom>
          <a:noFill/>
          <a:ln>
            <a:noFill/>
          </a:ln>
        </p:spPr>
        <p:txBody>
          <a:bodyPr spcFirstLastPara="1" wrap="square" lIns="91425" tIns="45700" rIns="91425" bIns="45700" anchor="t" anchorCtr="0">
            <a:noAutofit/>
          </a:bodyPr>
          <a:lstStyle/>
          <a:p>
            <a:pPr marL="515070" lvl="0" indent="-514350" algn="just" rtl="0">
              <a:lnSpc>
                <a:spcPct val="100000"/>
              </a:lnSpc>
              <a:spcBef>
                <a:spcPts val="0"/>
              </a:spcBef>
              <a:spcAft>
                <a:spcPts val="0"/>
              </a:spcAft>
              <a:buClr>
                <a:srgbClr val="000000"/>
              </a:buClr>
              <a:buSzPts val="3200"/>
              <a:buFont typeface="Calibri"/>
              <a:buAutoNum type="arabicPeriod"/>
            </a:pPr>
            <a:r>
              <a:rPr lang="es-AR" sz="3200">
                <a:solidFill>
                  <a:srgbClr val="000000"/>
                </a:solidFill>
              </a:rPr>
              <a:t>Deberá presentar una estructura arquitectónica que:</a:t>
            </a:r>
            <a:endParaRPr sz="3200">
              <a:solidFill>
                <a:schemeClr val="dk1"/>
              </a:solidFill>
            </a:endParaRPr>
          </a:p>
          <a:p>
            <a:pPr marL="914400" lvl="0" indent="0" algn="just" rtl="0">
              <a:lnSpc>
                <a:spcPct val="100000"/>
              </a:lnSpc>
              <a:spcBef>
                <a:spcPts val="600"/>
              </a:spcBef>
              <a:spcAft>
                <a:spcPts val="0"/>
              </a:spcAft>
              <a:buClr>
                <a:srgbClr val="000000"/>
              </a:buClr>
              <a:buSzPts val="1800"/>
              <a:buNone/>
            </a:pPr>
            <a:r>
              <a:rPr lang="es-AR" sz="2800" i="1">
                <a:solidFill>
                  <a:srgbClr val="000000"/>
                </a:solidFill>
              </a:rPr>
              <a:t>Se haya creado mediante patrones de diseño reconocibles, esté formada por componentes con buen diseño y se implemente en forma evolutiva.</a:t>
            </a:r>
            <a:endParaRPr sz="2800">
              <a:solidFill>
                <a:schemeClr val="dk1"/>
              </a:solidFill>
            </a:endParaRPr>
          </a:p>
          <a:p>
            <a:pPr marL="515070" lvl="0" indent="-514350" algn="just" rtl="0">
              <a:lnSpc>
                <a:spcPct val="100000"/>
              </a:lnSpc>
              <a:spcBef>
                <a:spcPts val="600"/>
              </a:spcBef>
              <a:spcAft>
                <a:spcPts val="0"/>
              </a:spcAft>
              <a:buClr>
                <a:srgbClr val="000000"/>
              </a:buClr>
              <a:buSzPts val="3200"/>
              <a:buFont typeface="Calibri"/>
              <a:buAutoNum type="arabicPeriod" startAt="2"/>
            </a:pPr>
            <a:r>
              <a:rPr lang="es-AR" sz="3200">
                <a:solidFill>
                  <a:srgbClr val="000000"/>
                </a:solidFill>
              </a:rPr>
              <a:t>Deberá ser modular.</a:t>
            </a:r>
            <a:endParaRPr sz="3200">
              <a:solidFill>
                <a:schemeClr val="dk1"/>
              </a:solidFill>
            </a:endParaRPr>
          </a:p>
          <a:p>
            <a:pPr marL="515070" lvl="0" indent="-514350" algn="just" rtl="0">
              <a:lnSpc>
                <a:spcPct val="100000"/>
              </a:lnSpc>
              <a:spcBef>
                <a:spcPts val="600"/>
              </a:spcBef>
              <a:spcAft>
                <a:spcPts val="0"/>
              </a:spcAft>
              <a:buClr>
                <a:srgbClr val="000000"/>
              </a:buClr>
              <a:buSzPts val="3200"/>
              <a:buFont typeface="Calibri"/>
              <a:buAutoNum type="arabicPeriod" startAt="2"/>
            </a:pPr>
            <a:r>
              <a:rPr lang="es-AR" sz="3200">
                <a:solidFill>
                  <a:srgbClr val="000000"/>
                </a:solidFill>
              </a:rPr>
              <a:t>Deberá contener distintas representaciones.</a:t>
            </a:r>
            <a:endParaRPr sz="3200">
              <a:solidFill>
                <a:schemeClr val="dk1"/>
              </a:solidFill>
            </a:endParaRPr>
          </a:p>
          <a:p>
            <a:pPr marL="515070" lvl="0" indent="-514350" algn="just" rtl="0">
              <a:lnSpc>
                <a:spcPct val="100000"/>
              </a:lnSpc>
              <a:spcBef>
                <a:spcPts val="600"/>
              </a:spcBef>
              <a:spcAft>
                <a:spcPts val="0"/>
              </a:spcAft>
              <a:buClr>
                <a:srgbClr val="000000"/>
              </a:buClr>
              <a:buSzPts val="3200"/>
              <a:buFont typeface="Calibri"/>
              <a:buAutoNum type="arabicPeriod" startAt="2"/>
            </a:pPr>
            <a:r>
              <a:rPr lang="es-AR" sz="3200">
                <a:solidFill>
                  <a:srgbClr val="000000"/>
                </a:solidFill>
              </a:rPr>
              <a:t>Deberá conducir a estructuras de datos adecuadas y que procedan de patrones de datos reconocibles.</a:t>
            </a:r>
            <a:endParaRPr sz="3200">
              <a:solidFill>
                <a:schemeClr val="dk1"/>
              </a:solidFill>
            </a:endParaRPr>
          </a:p>
          <a:p>
            <a:pPr marL="690562" lvl="2" indent="-361950" algn="just" rtl="0">
              <a:lnSpc>
                <a:spcPct val="85000"/>
              </a:lnSpc>
              <a:spcBef>
                <a:spcPts val="1200"/>
              </a:spcBef>
              <a:spcAft>
                <a:spcPts val="0"/>
              </a:spcAft>
              <a:buClr>
                <a:srgbClr val="404040"/>
              </a:buClr>
              <a:buSzPts val="2400"/>
              <a:buFont typeface="Calibri"/>
              <a:buNone/>
            </a:pPr>
            <a:endParaRPr sz="3200">
              <a:solidFill>
                <a:schemeClr val="dk1"/>
              </a:solidFill>
            </a:endParaRPr>
          </a:p>
          <a:p>
            <a:pPr marL="514350" lvl="0" indent="-311150" algn="just" rtl="0">
              <a:lnSpc>
                <a:spcPct val="85000"/>
              </a:lnSpc>
              <a:spcBef>
                <a:spcPts val="0"/>
              </a:spcBef>
              <a:spcAft>
                <a:spcPts val="0"/>
              </a:spcAft>
              <a:buClr>
                <a:srgbClr val="C00000"/>
              </a:buClr>
              <a:buSzPts val="3200"/>
              <a:buFont typeface="Calibri"/>
              <a:buNone/>
            </a:pPr>
            <a:endParaRPr sz="32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p121"/>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Criterios técnicos para un buen diseño</a:t>
            </a:r>
            <a:endParaRPr/>
          </a:p>
        </p:txBody>
      </p:sp>
      <p:sp>
        <p:nvSpPr>
          <p:cNvPr id="883" name="Google Shape;883;p12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884" name="Google Shape;884;p12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885" name="Google Shape;885;p12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44</a:t>
            </a:fld>
            <a:endParaRPr/>
          </a:p>
        </p:txBody>
      </p:sp>
      <p:sp>
        <p:nvSpPr>
          <p:cNvPr id="886" name="Google Shape;886;p121"/>
          <p:cNvSpPr txBox="1">
            <a:spLocks noGrp="1"/>
          </p:cNvSpPr>
          <p:nvPr>
            <p:ph type="body" idx="4294967295"/>
          </p:nvPr>
        </p:nvSpPr>
        <p:spPr>
          <a:xfrm>
            <a:off x="1035050" y="1958360"/>
            <a:ext cx="10306718" cy="3162916"/>
          </a:xfrm>
          <a:prstGeom prst="rect">
            <a:avLst/>
          </a:prstGeom>
          <a:noFill/>
          <a:ln>
            <a:noFill/>
          </a:ln>
        </p:spPr>
        <p:txBody>
          <a:bodyPr spcFirstLastPara="1" wrap="square" lIns="91425" tIns="45700" rIns="91425" bIns="45700" anchor="t" anchorCtr="0">
            <a:noAutofit/>
          </a:bodyPr>
          <a:lstStyle/>
          <a:p>
            <a:pPr marL="515070" lvl="0" indent="-514350" algn="just" rtl="0">
              <a:lnSpc>
                <a:spcPct val="100000"/>
              </a:lnSpc>
              <a:spcBef>
                <a:spcPts val="0"/>
              </a:spcBef>
              <a:spcAft>
                <a:spcPts val="0"/>
              </a:spcAft>
              <a:buClr>
                <a:srgbClr val="000000"/>
              </a:buClr>
              <a:buSzPts val="3000"/>
              <a:buFont typeface="Calibri"/>
              <a:buAutoNum type="arabicPeriod" startAt="5"/>
            </a:pPr>
            <a:r>
              <a:rPr lang="es-AR" sz="3000">
                <a:solidFill>
                  <a:srgbClr val="000000"/>
                </a:solidFill>
              </a:rPr>
              <a:t>Deberá conducir a componentes que presenten características funcionales independientes.</a:t>
            </a:r>
            <a:endParaRPr/>
          </a:p>
          <a:p>
            <a:pPr marL="515070" lvl="0" indent="-514350" algn="just" rtl="0">
              <a:lnSpc>
                <a:spcPct val="100000"/>
              </a:lnSpc>
              <a:spcBef>
                <a:spcPts val="600"/>
              </a:spcBef>
              <a:spcAft>
                <a:spcPts val="0"/>
              </a:spcAft>
              <a:buClr>
                <a:srgbClr val="000000"/>
              </a:buClr>
              <a:buSzPts val="3000"/>
              <a:buFont typeface="Calibri"/>
              <a:buAutoNum type="arabicPeriod" startAt="5"/>
            </a:pPr>
            <a:r>
              <a:rPr lang="es-AR" sz="3000">
                <a:solidFill>
                  <a:srgbClr val="000000"/>
                </a:solidFill>
              </a:rPr>
              <a:t>Deberá conducir a interfaces que reduzcan la complejidad de las conexiones entre los módulos y con el entorno externo.</a:t>
            </a:r>
            <a:endParaRPr/>
          </a:p>
          <a:p>
            <a:pPr marL="515070" lvl="0" indent="-514350" algn="just" rtl="0">
              <a:lnSpc>
                <a:spcPct val="100000"/>
              </a:lnSpc>
              <a:spcBef>
                <a:spcPts val="600"/>
              </a:spcBef>
              <a:spcAft>
                <a:spcPts val="0"/>
              </a:spcAft>
              <a:buClr>
                <a:srgbClr val="000000"/>
              </a:buClr>
              <a:buSzPts val="3000"/>
              <a:buFont typeface="Calibri"/>
              <a:buAutoNum type="arabicPeriod" startAt="5"/>
            </a:pPr>
            <a:r>
              <a:rPr lang="es-AR" sz="3000">
                <a:solidFill>
                  <a:srgbClr val="000000"/>
                </a:solidFill>
              </a:rPr>
              <a:t>Deberá derivarse mediante un método repetitivo y controlado por la información obtenida durante el análisis de los requisitos del software.</a:t>
            </a:r>
            <a:endParaRPr/>
          </a:p>
          <a:p>
            <a:pPr marL="515070" lvl="0" indent="-514350" algn="just" rtl="0">
              <a:lnSpc>
                <a:spcPct val="100000"/>
              </a:lnSpc>
              <a:spcBef>
                <a:spcPts val="600"/>
              </a:spcBef>
              <a:spcAft>
                <a:spcPts val="0"/>
              </a:spcAft>
              <a:buClr>
                <a:srgbClr val="000000"/>
              </a:buClr>
              <a:buSzPts val="3000"/>
              <a:buFont typeface="Calibri"/>
              <a:buAutoNum type="arabicPeriod" startAt="5"/>
            </a:pPr>
            <a:r>
              <a:rPr lang="es-AR" sz="3000">
                <a:solidFill>
                  <a:srgbClr val="000000"/>
                </a:solidFill>
              </a:rPr>
              <a:t>Deberá representarse por medio de una notación que comunique de manera eficaz su significado.</a:t>
            </a:r>
            <a:endParaRPr/>
          </a:p>
          <a:p>
            <a:pPr marL="690562" lvl="2" indent="-361950" algn="just" rtl="0">
              <a:lnSpc>
                <a:spcPct val="85000"/>
              </a:lnSpc>
              <a:spcBef>
                <a:spcPts val="600"/>
              </a:spcBef>
              <a:spcAft>
                <a:spcPts val="0"/>
              </a:spcAft>
              <a:buClr>
                <a:srgbClr val="404040"/>
              </a:buClr>
              <a:buSzPts val="2400"/>
              <a:buFont typeface="Calibri"/>
              <a:buNone/>
            </a:pPr>
            <a:endParaRPr sz="3000">
              <a:solidFill>
                <a:schemeClr val="dk1"/>
              </a:solidFill>
            </a:endParaRPr>
          </a:p>
          <a:p>
            <a:pPr marL="514350" lvl="0" indent="-323850" algn="just" rtl="0">
              <a:lnSpc>
                <a:spcPct val="85000"/>
              </a:lnSpc>
              <a:spcBef>
                <a:spcPts val="600"/>
              </a:spcBef>
              <a:spcAft>
                <a:spcPts val="600"/>
              </a:spcAft>
              <a:buClr>
                <a:srgbClr val="C00000"/>
              </a:buClr>
              <a:buSzPts val="3000"/>
              <a:buFont typeface="Calibri"/>
              <a:buNone/>
            </a:pPr>
            <a:endParaRPr sz="30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122"/>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Evolución del diseño de software</a:t>
            </a:r>
            <a:endParaRPr/>
          </a:p>
        </p:txBody>
      </p:sp>
      <p:sp>
        <p:nvSpPr>
          <p:cNvPr id="892" name="Google Shape;892;p12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893" name="Google Shape;893;p12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894" name="Google Shape;894;p12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45</a:t>
            </a:fld>
            <a:endParaRPr/>
          </a:p>
        </p:txBody>
      </p:sp>
      <p:sp>
        <p:nvSpPr>
          <p:cNvPr id="895" name="Google Shape;895;p122"/>
          <p:cNvSpPr txBox="1">
            <a:spLocks noGrp="1"/>
          </p:cNvSpPr>
          <p:nvPr>
            <p:ph type="body" idx="4294967295"/>
          </p:nvPr>
        </p:nvSpPr>
        <p:spPr>
          <a:xfrm>
            <a:off x="1096963" y="1739425"/>
            <a:ext cx="10228763"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0"/>
              </a:spcAft>
              <a:buClr>
                <a:srgbClr val="C00000"/>
              </a:buClr>
              <a:buSzPts val="2800"/>
              <a:buFont typeface="Noto Sans Symbols"/>
              <a:buChar char="❖"/>
            </a:pPr>
            <a:r>
              <a:rPr lang="es-AR" sz="2800">
                <a:solidFill>
                  <a:schemeClr val="dk1"/>
                </a:solidFill>
              </a:rPr>
              <a:t>Es un proceso continuo que abarca mas de seis décadas.</a:t>
            </a:r>
            <a:endParaRPr/>
          </a:p>
          <a:p>
            <a:pPr marL="546100" lvl="0" indent="-546100" algn="just" rtl="0">
              <a:lnSpc>
                <a:spcPct val="100000"/>
              </a:lnSpc>
              <a:spcBef>
                <a:spcPts val="0"/>
              </a:spcBef>
              <a:spcAft>
                <a:spcPts val="0"/>
              </a:spcAft>
              <a:buClr>
                <a:srgbClr val="C00000"/>
              </a:buClr>
              <a:buSzPts val="2800"/>
              <a:buFont typeface="Noto Sans Symbols"/>
              <a:buChar char="❖"/>
            </a:pPr>
            <a:r>
              <a:rPr lang="es-AR" sz="2800">
                <a:solidFill>
                  <a:schemeClr val="dk1"/>
                </a:solidFill>
              </a:rPr>
              <a:t>Desde Programas modulares y refinamiento de estructuras de software, a enfoques orientado a objetos, orientado a modelos o a pruebas.</a:t>
            </a:r>
            <a:endParaRPr/>
          </a:p>
          <a:p>
            <a:pPr marL="546100" lvl="0" indent="-546100" algn="just" rtl="0">
              <a:lnSpc>
                <a:spcPct val="100000"/>
              </a:lnSpc>
              <a:spcBef>
                <a:spcPts val="0"/>
              </a:spcBef>
              <a:spcAft>
                <a:spcPts val="0"/>
              </a:spcAft>
              <a:buClr>
                <a:srgbClr val="C00000"/>
              </a:buClr>
              <a:buSzPts val="2800"/>
              <a:buFont typeface="Noto Sans Symbols"/>
              <a:buChar char="❖"/>
            </a:pPr>
            <a:r>
              <a:rPr lang="es-AR" sz="2800">
                <a:solidFill>
                  <a:schemeClr val="dk1"/>
                </a:solidFill>
              </a:rPr>
              <a:t>Todos tienen características comunes:</a:t>
            </a:r>
            <a:endParaRPr/>
          </a:p>
          <a:p>
            <a:pPr marL="898525" lvl="0" indent="-352425" algn="just" rtl="0">
              <a:lnSpc>
                <a:spcPct val="85000"/>
              </a:lnSpc>
              <a:spcBef>
                <a:spcPts val="0"/>
              </a:spcBef>
              <a:spcAft>
                <a:spcPts val="0"/>
              </a:spcAft>
              <a:buClr>
                <a:srgbClr val="262626"/>
              </a:buClr>
              <a:buSzPts val="2300"/>
              <a:buFont typeface="Calibri"/>
              <a:buAutoNum type="arabicPeriod"/>
            </a:pPr>
            <a:r>
              <a:rPr lang="es-AR" sz="2300">
                <a:solidFill>
                  <a:schemeClr val="dk1"/>
                </a:solidFill>
              </a:rPr>
              <a:t>un mecanismo para traducir el modelo de requerimientos en una representación de diseño</a:t>
            </a:r>
            <a:endParaRPr/>
          </a:p>
          <a:p>
            <a:pPr marL="898525" lvl="0" indent="-352425" algn="just" rtl="0">
              <a:lnSpc>
                <a:spcPct val="85000"/>
              </a:lnSpc>
              <a:spcBef>
                <a:spcPts val="0"/>
              </a:spcBef>
              <a:spcAft>
                <a:spcPts val="0"/>
              </a:spcAft>
              <a:buClr>
                <a:srgbClr val="262626"/>
              </a:buClr>
              <a:buSzPts val="2300"/>
              <a:buFont typeface="Calibri"/>
              <a:buAutoNum type="arabicPeriod"/>
            </a:pPr>
            <a:r>
              <a:rPr lang="es-AR" sz="2300">
                <a:solidFill>
                  <a:schemeClr val="dk1"/>
                </a:solidFill>
              </a:rPr>
              <a:t>una notación para representar los componentes funcionales y sus interfaces</a:t>
            </a:r>
            <a:endParaRPr/>
          </a:p>
          <a:p>
            <a:pPr marL="898525" lvl="0" indent="-352425" algn="just" rtl="0">
              <a:lnSpc>
                <a:spcPct val="85000"/>
              </a:lnSpc>
              <a:spcBef>
                <a:spcPts val="0"/>
              </a:spcBef>
              <a:spcAft>
                <a:spcPts val="0"/>
              </a:spcAft>
              <a:buClr>
                <a:srgbClr val="262626"/>
              </a:buClr>
              <a:buSzPts val="2300"/>
              <a:buFont typeface="Calibri"/>
              <a:buAutoNum type="arabicPeriod"/>
            </a:pPr>
            <a:r>
              <a:rPr lang="es-AR" sz="2300">
                <a:solidFill>
                  <a:schemeClr val="dk1"/>
                </a:solidFill>
              </a:rPr>
              <a:t>heurísticas para refinamiento</a:t>
            </a:r>
            <a:endParaRPr/>
          </a:p>
          <a:p>
            <a:pPr marL="898525" lvl="0" indent="-352425" algn="just" rtl="0">
              <a:lnSpc>
                <a:spcPct val="85000"/>
              </a:lnSpc>
              <a:spcBef>
                <a:spcPts val="0"/>
              </a:spcBef>
              <a:spcAft>
                <a:spcPts val="0"/>
              </a:spcAft>
              <a:buClr>
                <a:srgbClr val="262626"/>
              </a:buClr>
              <a:buSzPts val="2300"/>
              <a:buFont typeface="Calibri"/>
              <a:buAutoNum type="arabicPeriod"/>
            </a:pPr>
            <a:r>
              <a:rPr lang="es-AR" sz="2300">
                <a:solidFill>
                  <a:schemeClr val="dk1"/>
                </a:solidFill>
              </a:rPr>
              <a:t>lineamientos para evaluación de calidad</a:t>
            </a:r>
            <a:endParaRPr/>
          </a:p>
          <a:p>
            <a:pPr marL="546100" lvl="0" indent="-546100" algn="just" rtl="0">
              <a:lnSpc>
                <a:spcPct val="100000"/>
              </a:lnSpc>
              <a:spcBef>
                <a:spcPts val="0"/>
              </a:spcBef>
              <a:spcAft>
                <a:spcPts val="0"/>
              </a:spcAft>
              <a:buClr>
                <a:srgbClr val="C00000"/>
              </a:buClr>
              <a:buSzPts val="2800"/>
              <a:buFont typeface="Noto Sans Symbols"/>
              <a:buChar char="❖"/>
            </a:pPr>
            <a:r>
              <a:rPr lang="es-AR" sz="2800">
                <a:solidFill>
                  <a:schemeClr val="dk1"/>
                </a:solidFill>
              </a:rPr>
              <a:t>Sin importar el tipo de diseño, es necesario aplicar un conjunto de conceptos básicos.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123"/>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 Importancia</a:t>
            </a:r>
            <a:endParaRPr/>
          </a:p>
        </p:txBody>
      </p:sp>
      <p:sp>
        <p:nvSpPr>
          <p:cNvPr id="901" name="Google Shape;901;p12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902" name="Google Shape;902;p12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903" name="Google Shape;903;p12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46</a:t>
            </a:fld>
            <a:endParaRPr/>
          </a:p>
        </p:txBody>
      </p:sp>
      <p:sp>
        <p:nvSpPr>
          <p:cNvPr id="904" name="Google Shape;904;p123"/>
          <p:cNvSpPr txBox="1">
            <a:spLocks noGrp="1"/>
          </p:cNvSpPr>
          <p:nvPr>
            <p:ph type="body" idx="4294967295"/>
          </p:nvPr>
        </p:nvSpPr>
        <p:spPr>
          <a:xfrm>
            <a:off x="1096963" y="1739425"/>
            <a:ext cx="10228763"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0"/>
              </a:spcAft>
              <a:buClr>
                <a:srgbClr val="C00000"/>
              </a:buClr>
              <a:buSzPts val="3200"/>
              <a:buFont typeface="Noto Sans Symbols"/>
              <a:buChar char="❖"/>
            </a:pPr>
            <a:r>
              <a:rPr lang="es-AR" sz="3200">
                <a:solidFill>
                  <a:schemeClr val="dk1"/>
                </a:solidFill>
              </a:rPr>
              <a:t>¿Qué criterios se usan para dividir el software en sus componentes individuales?</a:t>
            </a:r>
            <a:endParaRPr/>
          </a:p>
          <a:p>
            <a:pPr marL="546100" lvl="0" indent="-546100" algn="just" rtl="0">
              <a:lnSpc>
                <a:spcPct val="100000"/>
              </a:lnSpc>
              <a:spcBef>
                <a:spcPts val="1200"/>
              </a:spcBef>
              <a:spcAft>
                <a:spcPts val="0"/>
              </a:spcAft>
              <a:buClr>
                <a:srgbClr val="C00000"/>
              </a:buClr>
              <a:buSzPts val="3200"/>
              <a:buFont typeface="Noto Sans Symbols"/>
              <a:buChar char="❖"/>
            </a:pPr>
            <a:r>
              <a:rPr lang="es-AR" sz="3200">
                <a:solidFill>
                  <a:schemeClr val="dk1"/>
                </a:solidFill>
              </a:rPr>
              <a:t>¿Cómo se extraen los detalles de la función o la estructura de datos de la representación conceptual del software?</a:t>
            </a:r>
            <a:endParaRPr/>
          </a:p>
          <a:p>
            <a:pPr marL="546100" lvl="0" indent="-546100" algn="just" rtl="0">
              <a:lnSpc>
                <a:spcPct val="100000"/>
              </a:lnSpc>
              <a:spcBef>
                <a:spcPts val="1200"/>
              </a:spcBef>
              <a:spcAft>
                <a:spcPts val="1200"/>
              </a:spcAft>
              <a:buClr>
                <a:srgbClr val="C00000"/>
              </a:buClr>
              <a:buSzPts val="3200"/>
              <a:buFont typeface="Noto Sans Symbols"/>
              <a:buChar char="❖"/>
            </a:pPr>
            <a:r>
              <a:rPr lang="es-AR" sz="3200">
                <a:solidFill>
                  <a:schemeClr val="dk1"/>
                </a:solidFill>
              </a:rPr>
              <a:t>¿Cuáles son los criterios uniformes que definen la calidad técnica de un diseño de software?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124"/>
          <p:cNvSpPr/>
          <p:nvPr/>
        </p:nvSpPr>
        <p:spPr>
          <a:xfrm>
            <a:off x="6386052" y="398462"/>
            <a:ext cx="4233822" cy="1133766"/>
          </a:xfrm>
          <a:prstGeom prst="roundRect">
            <a:avLst>
              <a:gd name="adj" fmla="val 8594"/>
            </a:avLst>
          </a:prstGeom>
          <a:blipFill rotWithShape="1">
            <a:blip r:embed="rId3">
              <a:alphaModFix/>
            </a:blip>
            <a:stretch>
              <a:fillRect/>
            </a:stretch>
          </a:blipFill>
          <a:ln>
            <a:noFill/>
          </a:ln>
          <a:effectLst>
            <a:reflection stA="38000" endPos="28000" dist="5000" dir="5400000"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0" name="Google Shape;910;p124"/>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911" name="Google Shape;911;p12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912" name="Google Shape;912;p12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913" name="Google Shape;913;p12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47</a:t>
            </a:fld>
            <a:endParaRPr/>
          </a:p>
        </p:txBody>
      </p:sp>
      <p:pic>
        <p:nvPicPr>
          <p:cNvPr id="914" name="Google Shape;914;p124"/>
          <p:cNvPicPr preferRelativeResize="0"/>
          <p:nvPr/>
        </p:nvPicPr>
        <p:blipFill rotWithShape="1">
          <a:blip r:embed="rId4">
            <a:alphaModFix/>
          </a:blip>
          <a:srcRect t="24126" b="7999"/>
          <a:stretch/>
        </p:blipFill>
        <p:spPr>
          <a:xfrm>
            <a:off x="1814554" y="2141829"/>
            <a:ext cx="8353572" cy="380177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p125"/>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920" name="Google Shape;920;p125"/>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921" name="Google Shape;921;p125"/>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922" name="Google Shape;922;p125"/>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48</a:t>
            </a:fld>
            <a:endParaRPr/>
          </a:p>
        </p:txBody>
      </p:sp>
      <p:sp>
        <p:nvSpPr>
          <p:cNvPr id="923" name="Google Shape;923;p125"/>
          <p:cNvSpPr txBox="1">
            <a:spLocks noGrp="1"/>
          </p:cNvSpPr>
          <p:nvPr>
            <p:ph type="body" idx="4294967295"/>
          </p:nvPr>
        </p:nvSpPr>
        <p:spPr>
          <a:xfrm>
            <a:off x="1096963" y="2516673"/>
            <a:ext cx="10228763"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0"/>
              </a:spcAft>
              <a:buClr>
                <a:srgbClr val="C00000"/>
              </a:buClr>
              <a:buSzPts val="2800"/>
              <a:buFont typeface="Noto Sans Symbols"/>
              <a:buChar char="❖"/>
            </a:pPr>
            <a:r>
              <a:rPr lang="es-AR" sz="2800">
                <a:solidFill>
                  <a:schemeClr val="dk1"/>
                </a:solidFill>
              </a:rPr>
              <a:t>Permite concentrarse en un problema a un nivel de generalización sin tener en cuenta los detalles de bajo nivel.</a:t>
            </a:r>
            <a:endParaRPr/>
          </a:p>
          <a:p>
            <a:pPr marL="546100" lvl="0" indent="-546100" algn="just" rtl="0">
              <a:lnSpc>
                <a:spcPct val="100000"/>
              </a:lnSpc>
              <a:spcBef>
                <a:spcPts val="1200"/>
              </a:spcBef>
              <a:spcAft>
                <a:spcPts val="0"/>
              </a:spcAft>
              <a:buClr>
                <a:srgbClr val="C00000"/>
              </a:buClr>
              <a:buSzPts val="2800"/>
              <a:buFont typeface="Noto Sans Symbols"/>
              <a:buChar char="❖"/>
            </a:pPr>
            <a:r>
              <a:rPr lang="es-AR" sz="2800">
                <a:solidFill>
                  <a:schemeClr val="dk1"/>
                </a:solidFill>
              </a:rPr>
              <a:t>Tipos:</a:t>
            </a:r>
            <a:endParaRPr/>
          </a:p>
          <a:p>
            <a:pPr marL="801688" lvl="1" indent="-255588" algn="just" rtl="0">
              <a:lnSpc>
                <a:spcPct val="100000"/>
              </a:lnSpc>
              <a:spcBef>
                <a:spcPts val="1200"/>
              </a:spcBef>
              <a:spcAft>
                <a:spcPts val="0"/>
              </a:spcAft>
              <a:buClr>
                <a:schemeClr val="dk1"/>
              </a:buClr>
              <a:buSzPts val="2600"/>
              <a:buFont typeface="Arial"/>
              <a:buChar char="•"/>
            </a:pPr>
            <a:r>
              <a:rPr lang="es-AR" sz="2600" u="sng">
                <a:solidFill>
                  <a:schemeClr val="dk1"/>
                </a:solidFill>
              </a:rPr>
              <a:t>Procedimental</a:t>
            </a:r>
            <a:r>
              <a:rPr lang="es-AR" sz="2600">
                <a:solidFill>
                  <a:schemeClr val="dk1"/>
                </a:solidFill>
              </a:rPr>
              <a:t>: Secuencia “nombrada” de instrucciones que tienen una funcionalidad específica.</a:t>
            </a:r>
            <a:endParaRPr/>
          </a:p>
          <a:p>
            <a:pPr marL="801688" lvl="1" indent="-255588" algn="just" rtl="0">
              <a:lnSpc>
                <a:spcPct val="100000"/>
              </a:lnSpc>
              <a:spcBef>
                <a:spcPts val="1200"/>
              </a:spcBef>
              <a:spcAft>
                <a:spcPts val="0"/>
              </a:spcAft>
              <a:buClr>
                <a:schemeClr val="dk1"/>
              </a:buClr>
              <a:buSzPts val="2600"/>
              <a:buFont typeface="Arial"/>
              <a:buChar char="•"/>
            </a:pPr>
            <a:r>
              <a:rPr lang="es-AR" sz="2600" u="sng">
                <a:solidFill>
                  <a:schemeClr val="dk1"/>
                </a:solidFill>
              </a:rPr>
              <a:t>De datos</a:t>
            </a:r>
            <a:r>
              <a:rPr lang="es-AR" sz="2600">
                <a:solidFill>
                  <a:schemeClr val="dk1"/>
                </a:solidFill>
              </a:rPr>
              <a:t>: Colección “nombrada” de datos que definen un objeto real.</a:t>
            </a:r>
            <a:endParaRPr/>
          </a:p>
          <a:p>
            <a:pPr marL="546100" lvl="0" indent="-368300" algn="just" rtl="0">
              <a:lnSpc>
                <a:spcPct val="100000"/>
              </a:lnSpc>
              <a:spcBef>
                <a:spcPts val="1200"/>
              </a:spcBef>
              <a:spcAft>
                <a:spcPts val="1200"/>
              </a:spcAft>
              <a:buClr>
                <a:srgbClr val="C00000"/>
              </a:buClr>
              <a:buSzPts val="2800"/>
              <a:buFont typeface="Noto Sans Symbols"/>
              <a:buNone/>
            </a:pPr>
            <a:endParaRPr sz="2800">
              <a:solidFill>
                <a:schemeClr val="dk1"/>
              </a:solidFill>
            </a:endParaRPr>
          </a:p>
        </p:txBody>
      </p:sp>
      <p:pic>
        <p:nvPicPr>
          <p:cNvPr id="924" name="Google Shape;924;p125"/>
          <p:cNvPicPr preferRelativeResize="0"/>
          <p:nvPr/>
        </p:nvPicPr>
        <p:blipFill rotWithShape="1">
          <a:blip r:embed="rId3">
            <a:alphaModFix/>
          </a:blip>
          <a:srcRect l="10924" t="40017" r="64375" b="47022"/>
          <a:stretch/>
        </p:blipFill>
        <p:spPr>
          <a:xfrm>
            <a:off x="1096963" y="1790768"/>
            <a:ext cx="2063332" cy="72590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p126"/>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930" name="Google Shape;930;p126"/>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931" name="Google Shape;931;p126"/>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932" name="Google Shape;932;p126"/>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49</a:t>
            </a:fld>
            <a:endParaRPr/>
          </a:p>
        </p:txBody>
      </p:sp>
      <p:sp>
        <p:nvSpPr>
          <p:cNvPr id="933" name="Google Shape;933;p126"/>
          <p:cNvSpPr txBox="1">
            <a:spLocks noGrp="1"/>
          </p:cNvSpPr>
          <p:nvPr>
            <p:ph type="body" idx="4294967295"/>
          </p:nvPr>
        </p:nvSpPr>
        <p:spPr>
          <a:xfrm>
            <a:off x="1096963" y="2516673"/>
            <a:ext cx="10228763"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0"/>
              </a:spcAft>
              <a:buClr>
                <a:srgbClr val="C00000"/>
              </a:buClr>
              <a:buSzPts val="2800"/>
              <a:buFont typeface="Noto Sans Symbols"/>
              <a:buChar char="❖"/>
            </a:pPr>
            <a:r>
              <a:rPr lang="es-AR" sz="2800">
                <a:solidFill>
                  <a:schemeClr val="dk1"/>
                </a:solidFill>
              </a:rPr>
              <a:t>Es la estructura general del software y las formas en que la estructura proporciona una integridad conceptual para un sistema.</a:t>
            </a:r>
            <a:endParaRPr/>
          </a:p>
          <a:p>
            <a:pPr marL="0" lvl="0" indent="0" algn="just" rtl="0">
              <a:lnSpc>
                <a:spcPct val="100000"/>
              </a:lnSpc>
              <a:spcBef>
                <a:spcPts val="1200"/>
              </a:spcBef>
              <a:spcAft>
                <a:spcPts val="0"/>
              </a:spcAft>
              <a:buClr>
                <a:srgbClr val="C00000"/>
              </a:buClr>
              <a:buSzPts val="1800"/>
              <a:buNone/>
            </a:pPr>
            <a:r>
              <a:rPr lang="es-AR" sz="1800" i="1">
                <a:solidFill>
                  <a:srgbClr val="262626"/>
                </a:solidFill>
              </a:rPr>
              <a:t>Más adelante se estudiarán las arquitecturas con más detalle</a:t>
            </a:r>
            <a:endParaRPr sz="1800">
              <a:solidFill>
                <a:schemeClr val="dk1"/>
              </a:solidFill>
              <a:latin typeface="Arial"/>
              <a:ea typeface="Arial"/>
              <a:cs typeface="Arial"/>
              <a:sym typeface="Arial"/>
            </a:endParaRPr>
          </a:p>
          <a:p>
            <a:pPr marL="546100" lvl="0" indent="-368300" algn="just" rtl="0">
              <a:lnSpc>
                <a:spcPct val="100000"/>
              </a:lnSpc>
              <a:spcBef>
                <a:spcPts val="1200"/>
              </a:spcBef>
              <a:spcAft>
                <a:spcPts val="0"/>
              </a:spcAft>
              <a:buClr>
                <a:srgbClr val="C00000"/>
              </a:buClr>
              <a:buSzPts val="2800"/>
              <a:buFont typeface="Noto Sans Symbols"/>
              <a:buNone/>
            </a:pPr>
            <a:endParaRPr sz="2800">
              <a:solidFill>
                <a:schemeClr val="dk1"/>
              </a:solidFill>
            </a:endParaRPr>
          </a:p>
          <a:p>
            <a:pPr marL="546100" lvl="0" indent="-381000" algn="just" rtl="0">
              <a:lnSpc>
                <a:spcPct val="100000"/>
              </a:lnSpc>
              <a:spcBef>
                <a:spcPts val="1200"/>
              </a:spcBef>
              <a:spcAft>
                <a:spcPts val="0"/>
              </a:spcAft>
              <a:buClr>
                <a:srgbClr val="C00000"/>
              </a:buClr>
              <a:buSzPts val="2600"/>
              <a:buFont typeface="Noto Sans Symbols"/>
              <a:buNone/>
            </a:pPr>
            <a:endParaRPr sz="2600">
              <a:solidFill>
                <a:schemeClr val="dk1"/>
              </a:solidFill>
            </a:endParaRPr>
          </a:p>
          <a:p>
            <a:pPr marL="546100" lvl="0" indent="-368300" algn="just" rtl="0">
              <a:lnSpc>
                <a:spcPct val="100000"/>
              </a:lnSpc>
              <a:spcBef>
                <a:spcPts val="1200"/>
              </a:spcBef>
              <a:spcAft>
                <a:spcPts val="1200"/>
              </a:spcAft>
              <a:buClr>
                <a:srgbClr val="C00000"/>
              </a:buClr>
              <a:buSzPts val="2800"/>
              <a:buFont typeface="Noto Sans Symbols"/>
              <a:buNone/>
            </a:pPr>
            <a:endParaRPr sz="2800">
              <a:solidFill>
                <a:schemeClr val="dk1"/>
              </a:solidFill>
            </a:endParaRPr>
          </a:p>
        </p:txBody>
      </p:sp>
      <p:pic>
        <p:nvPicPr>
          <p:cNvPr id="934" name="Google Shape;934;p126"/>
          <p:cNvPicPr preferRelativeResize="0"/>
          <p:nvPr/>
        </p:nvPicPr>
        <p:blipFill rotWithShape="1">
          <a:blip r:embed="rId3">
            <a:alphaModFix/>
          </a:blip>
          <a:srcRect l="67467" t="40317" r="6103" b="47973"/>
          <a:stretch/>
        </p:blipFill>
        <p:spPr>
          <a:xfrm>
            <a:off x="1096962" y="1860884"/>
            <a:ext cx="2207712" cy="655789"/>
          </a:xfrm>
          <a:prstGeom prst="rect">
            <a:avLst/>
          </a:prstGeom>
          <a:noFill/>
          <a:ln>
            <a:noFill/>
          </a:ln>
        </p:spPr>
      </p:pic>
      <p:pic>
        <p:nvPicPr>
          <p:cNvPr id="935" name="Google Shape;935;p126"/>
          <p:cNvPicPr preferRelativeResize="0"/>
          <p:nvPr/>
        </p:nvPicPr>
        <p:blipFill rotWithShape="1">
          <a:blip r:embed="rId4">
            <a:alphaModFix/>
          </a:blip>
          <a:srcRect/>
          <a:stretch/>
        </p:blipFill>
        <p:spPr>
          <a:xfrm>
            <a:off x="7343078" y="3698823"/>
            <a:ext cx="2558160" cy="253368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127"/>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941" name="Google Shape;941;p127"/>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942" name="Google Shape;942;p127"/>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943" name="Google Shape;943;p127"/>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50</a:t>
            </a:fld>
            <a:endParaRPr/>
          </a:p>
        </p:txBody>
      </p:sp>
      <p:sp>
        <p:nvSpPr>
          <p:cNvPr id="944" name="Google Shape;944;p127"/>
          <p:cNvSpPr txBox="1">
            <a:spLocks noGrp="1"/>
          </p:cNvSpPr>
          <p:nvPr>
            <p:ph type="body" idx="4294967295"/>
          </p:nvPr>
        </p:nvSpPr>
        <p:spPr>
          <a:xfrm>
            <a:off x="1096963" y="2516673"/>
            <a:ext cx="10228763"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0"/>
              </a:spcAft>
              <a:buClr>
                <a:srgbClr val="C00000"/>
              </a:buClr>
              <a:buSzPts val="2800"/>
              <a:buFont typeface="Noto Sans Symbols"/>
              <a:buChar char="❖"/>
            </a:pPr>
            <a:r>
              <a:rPr lang="es-AR" sz="2800">
                <a:solidFill>
                  <a:schemeClr val="dk1"/>
                </a:solidFill>
              </a:rPr>
              <a:t>Describen una estructura de diseño que resuelve un problema particular dentro de un contexto específico.</a:t>
            </a:r>
            <a:endParaRPr/>
          </a:p>
          <a:p>
            <a:pPr marL="546100" lvl="0" indent="-546100" algn="just" rtl="0">
              <a:lnSpc>
                <a:spcPct val="100000"/>
              </a:lnSpc>
              <a:spcBef>
                <a:spcPts val="1200"/>
              </a:spcBef>
              <a:spcAft>
                <a:spcPts val="0"/>
              </a:spcAft>
              <a:buClr>
                <a:srgbClr val="C00000"/>
              </a:buClr>
              <a:buSzPts val="2800"/>
              <a:buFont typeface="Noto Sans Symbols"/>
              <a:buChar char="❖"/>
            </a:pPr>
            <a:r>
              <a:rPr lang="es-AR" sz="2800">
                <a:solidFill>
                  <a:schemeClr val="dk1"/>
                </a:solidFill>
              </a:rPr>
              <a:t>Deben proporcionar una descripción que permita determinar si:</a:t>
            </a:r>
            <a:endParaRPr/>
          </a:p>
          <a:p>
            <a:pPr marL="801688" lvl="1" indent="-255588" algn="just" rtl="0">
              <a:lnSpc>
                <a:spcPct val="100000"/>
              </a:lnSpc>
              <a:spcBef>
                <a:spcPts val="1200"/>
              </a:spcBef>
              <a:spcAft>
                <a:spcPts val="0"/>
              </a:spcAft>
              <a:buClr>
                <a:schemeClr val="dk1"/>
              </a:buClr>
              <a:buSzPts val="2600"/>
              <a:buFont typeface="Arial"/>
              <a:buChar char="•"/>
            </a:pPr>
            <a:r>
              <a:rPr lang="es-AR" sz="2600">
                <a:solidFill>
                  <a:schemeClr val="dk1"/>
                </a:solidFill>
              </a:rPr>
              <a:t>Es aplicable al trabajo</a:t>
            </a:r>
            <a:endParaRPr/>
          </a:p>
          <a:p>
            <a:pPr marL="801688" lvl="1" indent="-255588" algn="just" rtl="0">
              <a:lnSpc>
                <a:spcPct val="100000"/>
              </a:lnSpc>
              <a:spcBef>
                <a:spcPts val="1200"/>
              </a:spcBef>
              <a:spcAft>
                <a:spcPts val="0"/>
              </a:spcAft>
              <a:buClr>
                <a:schemeClr val="dk1"/>
              </a:buClr>
              <a:buSzPts val="2600"/>
              <a:buFont typeface="Arial"/>
              <a:buChar char="•"/>
            </a:pPr>
            <a:r>
              <a:rPr lang="es-AR" sz="2600">
                <a:solidFill>
                  <a:schemeClr val="dk1"/>
                </a:solidFill>
              </a:rPr>
              <a:t>Se puede reutilizar</a:t>
            </a:r>
            <a:endParaRPr/>
          </a:p>
          <a:p>
            <a:pPr marL="801688" lvl="1" indent="-255588" algn="just" rtl="0">
              <a:lnSpc>
                <a:spcPct val="100000"/>
              </a:lnSpc>
              <a:spcBef>
                <a:spcPts val="1200"/>
              </a:spcBef>
              <a:spcAft>
                <a:spcPts val="0"/>
              </a:spcAft>
              <a:buClr>
                <a:schemeClr val="dk1"/>
              </a:buClr>
              <a:buSzPts val="2600"/>
              <a:buFont typeface="Arial"/>
              <a:buChar char="•"/>
            </a:pPr>
            <a:r>
              <a:rPr lang="es-AR" sz="2600">
                <a:solidFill>
                  <a:schemeClr val="dk1"/>
                </a:solidFill>
              </a:rPr>
              <a:t>Puede servir como guía para desarrollar un patrón similar pero diferente en cuanto a la funcionalidad o estructura.</a:t>
            </a:r>
            <a:endParaRPr/>
          </a:p>
          <a:p>
            <a:pPr marL="546100" lvl="0" indent="-368300" algn="just" rtl="0">
              <a:lnSpc>
                <a:spcPct val="100000"/>
              </a:lnSpc>
              <a:spcBef>
                <a:spcPts val="1200"/>
              </a:spcBef>
              <a:spcAft>
                <a:spcPts val="1200"/>
              </a:spcAft>
              <a:buClr>
                <a:srgbClr val="C00000"/>
              </a:buClr>
              <a:buSzPts val="2800"/>
              <a:buFont typeface="Noto Sans Symbols"/>
              <a:buNone/>
            </a:pPr>
            <a:endParaRPr sz="2800">
              <a:solidFill>
                <a:schemeClr val="dk1"/>
              </a:solidFill>
            </a:endParaRPr>
          </a:p>
        </p:txBody>
      </p:sp>
      <p:pic>
        <p:nvPicPr>
          <p:cNvPr id="945" name="Google Shape;945;p127"/>
          <p:cNvPicPr preferRelativeResize="0"/>
          <p:nvPr/>
        </p:nvPicPr>
        <p:blipFill rotWithShape="1">
          <a:blip r:embed="rId3">
            <a:alphaModFix/>
          </a:blip>
          <a:srcRect l="67578" t="63070" r="7721" b="23969"/>
          <a:stretch/>
        </p:blipFill>
        <p:spPr>
          <a:xfrm>
            <a:off x="1096963" y="1790768"/>
            <a:ext cx="2063332" cy="725905"/>
          </a:xfrm>
          <a:prstGeom prst="rect">
            <a:avLst/>
          </a:prstGeom>
          <a:noFill/>
          <a:ln>
            <a:noFill/>
          </a:ln>
        </p:spPr>
      </p:pic>
      <p:pic>
        <p:nvPicPr>
          <p:cNvPr id="946" name="Google Shape;946;p127"/>
          <p:cNvPicPr preferRelativeResize="0"/>
          <p:nvPr/>
        </p:nvPicPr>
        <p:blipFill rotWithShape="1">
          <a:blip r:embed="rId4">
            <a:alphaModFix/>
          </a:blip>
          <a:srcRect/>
          <a:stretch/>
        </p:blipFill>
        <p:spPr>
          <a:xfrm>
            <a:off x="8791073" y="3994483"/>
            <a:ext cx="2995413" cy="123393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128"/>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952" name="Google Shape;952;p128"/>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953" name="Google Shape;953;p128"/>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954" name="Google Shape;954;p12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51</a:t>
            </a:fld>
            <a:endParaRPr/>
          </a:p>
        </p:txBody>
      </p:sp>
      <p:sp>
        <p:nvSpPr>
          <p:cNvPr id="955" name="Google Shape;955;p128"/>
          <p:cNvSpPr txBox="1">
            <a:spLocks noGrp="1"/>
          </p:cNvSpPr>
          <p:nvPr>
            <p:ph type="body" idx="4294967295"/>
          </p:nvPr>
        </p:nvSpPr>
        <p:spPr>
          <a:xfrm>
            <a:off x="1096963" y="2516673"/>
            <a:ext cx="10228763"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1200"/>
              </a:spcAft>
              <a:buClr>
                <a:srgbClr val="C00000"/>
              </a:buClr>
              <a:buSzPts val="2800"/>
              <a:buFont typeface="Noto Sans Symbols"/>
              <a:buChar char="❖"/>
            </a:pPr>
            <a:r>
              <a:rPr lang="es-AR" sz="2800">
                <a:solidFill>
                  <a:schemeClr val="dk1"/>
                </a:solidFill>
              </a:rPr>
              <a:t>El software se divide en componentes nombrados y abordados por separado, llamados frecuentemente módulos, que se integran para satisfacer los requisitos del problema.</a:t>
            </a:r>
            <a:endParaRPr/>
          </a:p>
        </p:txBody>
      </p:sp>
      <p:pic>
        <p:nvPicPr>
          <p:cNvPr id="956" name="Google Shape;956;p128"/>
          <p:cNvPicPr preferRelativeResize="0"/>
          <p:nvPr/>
        </p:nvPicPr>
        <p:blipFill rotWithShape="1">
          <a:blip r:embed="rId3">
            <a:alphaModFix/>
          </a:blip>
          <a:srcRect l="11267" t="63356" r="63264" b="23683"/>
          <a:stretch/>
        </p:blipFill>
        <p:spPr>
          <a:xfrm>
            <a:off x="1096963" y="1790768"/>
            <a:ext cx="2127500" cy="725905"/>
          </a:xfrm>
          <a:prstGeom prst="rect">
            <a:avLst/>
          </a:prstGeom>
          <a:noFill/>
          <a:ln>
            <a:noFill/>
          </a:ln>
        </p:spPr>
      </p:pic>
      <p:pic>
        <p:nvPicPr>
          <p:cNvPr id="957" name="Google Shape;957;p128"/>
          <p:cNvPicPr preferRelativeResize="0"/>
          <p:nvPr/>
        </p:nvPicPr>
        <p:blipFill rotWithShape="1">
          <a:blip r:embed="rId4">
            <a:alphaModFix/>
          </a:blip>
          <a:srcRect/>
          <a:stretch/>
        </p:blipFill>
        <p:spPr>
          <a:xfrm>
            <a:off x="8724904" y="3788128"/>
            <a:ext cx="2437560" cy="243756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129"/>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963" name="Google Shape;963;p12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964" name="Google Shape;964;p12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965" name="Google Shape;965;p12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52</a:t>
            </a:fld>
            <a:endParaRPr/>
          </a:p>
        </p:txBody>
      </p:sp>
      <p:sp>
        <p:nvSpPr>
          <p:cNvPr id="966" name="Google Shape;966;p129"/>
          <p:cNvSpPr txBox="1">
            <a:spLocks noGrp="1"/>
          </p:cNvSpPr>
          <p:nvPr>
            <p:ph type="body" idx="4294967295"/>
          </p:nvPr>
        </p:nvSpPr>
        <p:spPr>
          <a:xfrm>
            <a:off x="1096963" y="2516673"/>
            <a:ext cx="10228763"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1200"/>
              </a:spcAft>
              <a:buClr>
                <a:srgbClr val="C00000"/>
              </a:buClr>
              <a:buSzPts val="2800"/>
              <a:buFont typeface="Noto Sans Symbols"/>
              <a:buChar char="❖"/>
            </a:pPr>
            <a:r>
              <a:rPr lang="es-AR" sz="2800">
                <a:solidFill>
                  <a:schemeClr val="dk1"/>
                </a:solidFill>
              </a:rPr>
              <a:t>¿Cuántos módulos tiene que tener un programa?</a:t>
            </a:r>
            <a:endParaRPr/>
          </a:p>
        </p:txBody>
      </p:sp>
      <p:pic>
        <p:nvPicPr>
          <p:cNvPr id="967" name="Google Shape;967;p129"/>
          <p:cNvPicPr preferRelativeResize="0"/>
          <p:nvPr/>
        </p:nvPicPr>
        <p:blipFill rotWithShape="1">
          <a:blip r:embed="rId3">
            <a:alphaModFix/>
          </a:blip>
          <a:srcRect l="11267" t="63356" r="63264" b="23683"/>
          <a:stretch/>
        </p:blipFill>
        <p:spPr>
          <a:xfrm>
            <a:off x="1096963" y="1790768"/>
            <a:ext cx="2127500" cy="725905"/>
          </a:xfrm>
          <a:prstGeom prst="rect">
            <a:avLst/>
          </a:prstGeom>
          <a:noFill/>
          <a:ln>
            <a:noFill/>
          </a:ln>
        </p:spPr>
      </p:pic>
      <p:pic>
        <p:nvPicPr>
          <p:cNvPr id="968" name="Google Shape;968;p129"/>
          <p:cNvPicPr preferRelativeResize="0"/>
          <p:nvPr/>
        </p:nvPicPr>
        <p:blipFill rotWithShape="1">
          <a:blip r:embed="rId4">
            <a:alphaModFix/>
          </a:blip>
          <a:srcRect t="4281" r="2969" b="10162"/>
          <a:stretch/>
        </p:blipFill>
        <p:spPr>
          <a:xfrm>
            <a:off x="3241344" y="3077590"/>
            <a:ext cx="5940000" cy="312588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8"/>
                                        </p:tgtEl>
                                        <p:attrNameLst>
                                          <p:attrName>style.visibility</p:attrName>
                                        </p:attrNameLst>
                                      </p:cBhvr>
                                      <p:to>
                                        <p:strVal val="visible"/>
                                      </p:to>
                                    </p:set>
                                    <p:animEffect transition="in" filter="fade">
                                      <p:cBhvr>
                                        <p:cTn id="7" dur="500"/>
                                        <p:tgtEl>
                                          <p:spTgt spid="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p130"/>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974" name="Google Shape;974;p13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975" name="Google Shape;975;p13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976" name="Google Shape;976;p13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53</a:t>
            </a:fld>
            <a:endParaRPr/>
          </a:p>
        </p:txBody>
      </p:sp>
      <p:sp>
        <p:nvSpPr>
          <p:cNvPr id="977" name="Google Shape;977;p130"/>
          <p:cNvSpPr txBox="1">
            <a:spLocks noGrp="1"/>
          </p:cNvSpPr>
          <p:nvPr>
            <p:ph type="body" idx="4294967295"/>
          </p:nvPr>
        </p:nvSpPr>
        <p:spPr>
          <a:xfrm>
            <a:off x="1096963" y="2516673"/>
            <a:ext cx="10228763"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1200"/>
              </a:spcAft>
              <a:buClr>
                <a:srgbClr val="C00000"/>
              </a:buClr>
              <a:buSzPts val="2800"/>
              <a:buFont typeface="Noto Sans Symbols"/>
              <a:buChar char="❖"/>
            </a:pPr>
            <a:r>
              <a:rPr lang="es-AR" sz="2800">
                <a:solidFill>
                  <a:schemeClr val="dk1"/>
                </a:solidFill>
              </a:rPr>
              <a:t>La información que está dentro un módulo es inaccesible a otros que no la necesiten. </a:t>
            </a:r>
            <a:endParaRPr/>
          </a:p>
        </p:txBody>
      </p:sp>
      <p:pic>
        <p:nvPicPr>
          <p:cNvPr id="978" name="Google Shape;978;p130"/>
          <p:cNvPicPr preferRelativeResize="0"/>
          <p:nvPr/>
        </p:nvPicPr>
        <p:blipFill rotWithShape="1">
          <a:blip r:embed="rId3">
            <a:alphaModFix/>
          </a:blip>
          <a:srcRect l="722" t="78263" r="52684" b="8776"/>
          <a:stretch/>
        </p:blipFill>
        <p:spPr>
          <a:xfrm>
            <a:off x="1096963" y="1790768"/>
            <a:ext cx="3892132" cy="725905"/>
          </a:xfrm>
          <a:prstGeom prst="rect">
            <a:avLst/>
          </a:prstGeom>
          <a:noFill/>
          <a:ln>
            <a:noFill/>
          </a:ln>
        </p:spPr>
      </p:pic>
      <p:pic>
        <p:nvPicPr>
          <p:cNvPr id="979" name="Google Shape;979;p130"/>
          <p:cNvPicPr preferRelativeResize="0"/>
          <p:nvPr/>
        </p:nvPicPr>
        <p:blipFill rotWithShape="1">
          <a:blip r:embed="rId4">
            <a:alphaModFix/>
          </a:blip>
          <a:srcRect l="5831" t="6414" r="4484" b="13810"/>
          <a:stretch/>
        </p:blipFill>
        <p:spPr>
          <a:xfrm>
            <a:off x="8411526" y="3429000"/>
            <a:ext cx="2914200" cy="276948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pic>
        <p:nvPicPr>
          <p:cNvPr id="984" name="Google Shape;984;p131"/>
          <p:cNvPicPr preferRelativeResize="0"/>
          <p:nvPr/>
        </p:nvPicPr>
        <p:blipFill rotWithShape="1">
          <a:blip r:embed="rId3">
            <a:alphaModFix/>
          </a:blip>
          <a:srcRect/>
          <a:stretch/>
        </p:blipFill>
        <p:spPr>
          <a:xfrm>
            <a:off x="9974293" y="3927195"/>
            <a:ext cx="1562760" cy="1632240"/>
          </a:xfrm>
          <a:prstGeom prst="rect">
            <a:avLst/>
          </a:prstGeom>
          <a:noFill/>
          <a:ln>
            <a:noFill/>
          </a:ln>
        </p:spPr>
      </p:pic>
      <p:sp>
        <p:nvSpPr>
          <p:cNvPr id="985" name="Google Shape;985;p131"/>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986" name="Google Shape;986;p13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987" name="Google Shape;987;p13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988" name="Google Shape;988;p13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54</a:t>
            </a:fld>
            <a:endParaRPr/>
          </a:p>
        </p:txBody>
      </p:sp>
      <p:sp>
        <p:nvSpPr>
          <p:cNvPr id="989" name="Google Shape;989;p131"/>
          <p:cNvSpPr txBox="1">
            <a:spLocks noGrp="1"/>
          </p:cNvSpPr>
          <p:nvPr>
            <p:ph type="body" idx="4294967295"/>
          </p:nvPr>
        </p:nvSpPr>
        <p:spPr>
          <a:xfrm>
            <a:off x="1096963" y="2516673"/>
            <a:ext cx="10228763"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0"/>
              </a:spcAft>
              <a:buClr>
                <a:srgbClr val="C00000"/>
              </a:buClr>
              <a:buSzPts val="2800"/>
              <a:buFont typeface="Noto Sans Symbols"/>
              <a:buChar char="❖"/>
            </a:pPr>
            <a:r>
              <a:rPr lang="es-AR" sz="2800">
                <a:solidFill>
                  <a:schemeClr val="dk1"/>
                </a:solidFill>
              </a:rPr>
              <a:t>Modularidad + Abstracción + Ocultamiento de información</a:t>
            </a:r>
            <a:endParaRPr/>
          </a:p>
          <a:p>
            <a:pPr marL="546100" lvl="0" indent="-368300" algn="just" rtl="0">
              <a:lnSpc>
                <a:spcPct val="100000"/>
              </a:lnSpc>
              <a:spcBef>
                <a:spcPts val="1200"/>
              </a:spcBef>
              <a:spcAft>
                <a:spcPts val="0"/>
              </a:spcAft>
              <a:buClr>
                <a:srgbClr val="C00000"/>
              </a:buClr>
              <a:buSzPts val="2800"/>
              <a:buFont typeface="Noto Sans Symbols"/>
              <a:buNone/>
            </a:pPr>
            <a:endParaRPr sz="2800">
              <a:solidFill>
                <a:schemeClr val="dk1"/>
              </a:solidFill>
            </a:endParaRPr>
          </a:p>
          <a:p>
            <a:pPr marL="546100" lvl="0" indent="-546100" algn="just" rtl="0">
              <a:lnSpc>
                <a:spcPct val="100000"/>
              </a:lnSpc>
              <a:spcBef>
                <a:spcPts val="1200"/>
              </a:spcBef>
              <a:spcAft>
                <a:spcPts val="1200"/>
              </a:spcAft>
              <a:buClr>
                <a:srgbClr val="C00000"/>
              </a:buClr>
              <a:buSzPts val="2800"/>
              <a:buFont typeface="Noto Sans Symbols"/>
              <a:buChar char="❖"/>
            </a:pPr>
            <a:r>
              <a:rPr lang="es-AR" sz="2800">
                <a:solidFill>
                  <a:schemeClr val="dk1"/>
                </a:solidFill>
              </a:rPr>
              <a:t>Se busca la cohesión y el acoplamiento entre los módulos</a:t>
            </a:r>
            <a:endParaRPr/>
          </a:p>
        </p:txBody>
      </p:sp>
      <p:pic>
        <p:nvPicPr>
          <p:cNvPr id="990" name="Google Shape;990;p131"/>
          <p:cNvPicPr preferRelativeResize="0"/>
          <p:nvPr/>
        </p:nvPicPr>
        <p:blipFill rotWithShape="1">
          <a:blip r:embed="rId4">
            <a:alphaModFix/>
          </a:blip>
          <a:srcRect l="57568" t="77898" r="-4162" b="9141"/>
          <a:stretch/>
        </p:blipFill>
        <p:spPr>
          <a:xfrm>
            <a:off x="1096963" y="1790768"/>
            <a:ext cx="3892132" cy="725905"/>
          </a:xfrm>
          <a:prstGeom prst="rect">
            <a:avLst/>
          </a:prstGeom>
          <a:noFill/>
          <a:ln>
            <a:noFill/>
          </a:ln>
        </p:spPr>
      </p:pic>
      <p:pic>
        <p:nvPicPr>
          <p:cNvPr id="991" name="Google Shape;991;p131" descr="Marca de verificación"/>
          <p:cNvPicPr preferRelativeResize="0"/>
          <p:nvPr/>
        </p:nvPicPr>
        <p:blipFill rotWithShape="1">
          <a:blip r:embed="rId5">
            <a:alphaModFix/>
          </a:blip>
          <a:srcRect/>
          <a:stretch/>
        </p:blipFill>
        <p:spPr>
          <a:xfrm>
            <a:off x="10298833" y="2287610"/>
            <a:ext cx="913680" cy="913680"/>
          </a:xfrm>
          <a:prstGeom prst="rect">
            <a:avLst/>
          </a:prstGeom>
          <a:noFill/>
          <a:ln>
            <a:noFill/>
          </a:ln>
        </p:spPr>
      </p:pic>
      <p:grpSp>
        <p:nvGrpSpPr>
          <p:cNvPr id="992" name="Google Shape;992;p131"/>
          <p:cNvGrpSpPr/>
          <p:nvPr/>
        </p:nvGrpSpPr>
        <p:grpSpPr>
          <a:xfrm>
            <a:off x="2810520" y="4666320"/>
            <a:ext cx="6323400" cy="1363680"/>
            <a:chOff x="2810520" y="4666320"/>
            <a:chExt cx="6323400" cy="1363680"/>
          </a:xfrm>
        </p:grpSpPr>
        <p:sp>
          <p:nvSpPr>
            <p:cNvPr id="993" name="Google Shape;993;p131"/>
            <p:cNvSpPr/>
            <p:nvPr/>
          </p:nvSpPr>
          <p:spPr>
            <a:xfrm>
              <a:off x="2810520" y="4666320"/>
              <a:ext cx="5242617" cy="1363680"/>
            </a:xfrm>
            <a:prstGeom prst="rect">
              <a:avLst/>
            </a:prstGeom>
            <a:noFill/>
            <a:ln w="25400" cap="flat" cmpd="sng">
              <a:solidFill>
                <a:srgbClr val="8C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4" name="Google Shape;994;p131"/>
            <p:cNvSpPr/>
            <p:nvPr/>
          </p:nvSpPr>
          <p:spPr>
            <a:xfrm>
              <a:off x="3198960" y="4893840"/>
              <a:ext cx="478440" cy="982440"/>
            </a:xfrm>
            <a:prstGeom prst="upArrow">
              <a:avLst>
                <a:gd name="adj1" fmla="val 50000"/>
                <a:gd name="adj2" fmla="val 50000"/>
              </a:avLst>
            </a:prstGeom>
            <a:solidFill>
              <a:schemeClr val="accent1"/>
            </a:solidFill>
            <a:ln w="25400" cap="flat" cmpd="sng">
              <a:solidFill>
                <a:srgbClr val="8C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5" name="Google Shape;995;p131"/>
            <p:cNvSpPr/>
            <p:nvPr/>
          </p:nvSpPr>
          <p:spPr>
            <a:xfrm>
              <a:off x="3617855" y="5196690"/>
              <a:ext cx="2742480" cy="398655"/>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AR" sz="2000" b="0" i="0" u="none" strike="noStrike" cap="none">
                  <a:solidFill>
                    <a:srgbClr val="000000"/>
                  </a:solidFill>
                  <a:latin typeface="Calibri"/>
                  <a:ea typeface="Calibri"/>
                  <a:cs typeface="Calibri"/>
                  <a:sym typeface="Calibri"/>
                </a:rPr>
                <a:t>cohesión</a:t>
              </a:r>
              <a:endParaRPr sz="2000" b="0" i="0" u="none" strike="noStrike" cap="none">
                <a:solidFill>
                  <a:schemeClr val="dk1"/>
                </a:solidFill>
                <a:latin typeface="Arial"/>
                <a:ea typeface="Arial"/>
                <a:cs typeface="Arial"/>
                <a:sym typeface="Arial"/>
              </a:endParaRPr>
            </a:p>
          </p:txBody>
        </p:sp>
        <p:sp>
          <p:nvSpPr>
            <p:cNvPr id="996" name="Google Shape;996;p131"/>
            <p:cNvSpPr/>
            <p:nvPr/>
          </p:nvSpPr>
          <p:spPr>
            <a:xfrm>
              <a:off x="5961126" y="4893840"/>
              <a:ext cx="478440" cy="982440"/>
            </a:xfrm>
            <a:prstGeom prst="downArrow">
              <a:avLst>
                <a:gd name="adj1" fmla="val 50000"/>
                <a:gd name="adj2" fmla="val 50000"/>
              </a:avLst>
            </a:prstGeom>
            <a:solidFill>
              <a:schemeClr val="accent1"/>
            </a:solidFill>
            <a:ln w="25400" cap="flat" cmpd="sng">
              <a:solidFill>
                <a:srgbClr val="8C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7" name="Google Shape;997;p131"/>
            <p:cNvSpPr/>
            <p:nvPr/>
          </p:nvSpPr>
          <p:spPr>
            <a:xfrm>
              <a:off x="6391440" y="5199120"/>
              <a:ext cx="2742480" cy="398655"/>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AR" sz="2000" b="0" i="0" u="none" strike="noStrike" cap="none">
                  <a:solidFill>
                    <a:srgbClr val="000000"/>
                  </a:solidFill>
                  <a:latin typeface="Calibri"/>
                  <a:ea typeface="Calibri"/>
                  <a:cs typeface="Calibri"/>
                  <a:sym typeface="Calibri"/>
                </a:rPr>
                <a:t>acoplamiento</a:t>
              </a:r>
              <a:endParaRPr sz="2000" b="0" i="0" u="none" strike="noStrike" cap="none">
                <a:solidFill>
                  <a:schemeClr val="dk1"/>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4"/>
                                        </p:tgtEl>
                                        <p:attrNameLst>
                                          <p:attrName>style.visibility</p:attrName>
                                        </p:attrNameLst>
                                      </p:cBhvr>
                                      <p:to>
                                        <p:strVal val="visible"/>
                                      </p:to>
                                    </p:set>
                                    <p:animEffect transition="in" filter="fade">
                                      <p:cBhvr>
                                        <p:cTn id="7" dur="500"/>
                                        <p:tgtEl>
                                          <p:spTgt spid="984"/>
                                        </p:tgtEl>
                                      </p:cBhvr>
                                    </p:animEffect>
                                  </p:childTnLst>
                                </p:cTn>
                              </p:par>
                              <p:par>
                                <p:cTn id="8" presetID="10" presetClass="entr" presetSubtype="0" fill="hold" nodeType="withEffect">
                                  <p:stCondLst>
                                    <p:cond delay="0"/>
                                  </p:stCondLst>
                                  <p:childTnLst>
                                    <p:set>
                                      <p:cBhvr>
                                        <p:cTn id="9" dur="1" fill="hold">
                                          <p:stCondLst>
                                            <p:cond delay="0"/>
                                          </p:stCondLst>
                                        </p:cTn>
                                        <p:tgtEl>
                                          <p:spTgt spid="992"/>
                                        </p:tgtEl>
                                        <p:attrNameLst>
                                          <p:attrName>style.visibility</p:attrName>
                                        </p:attrNameLst>
                                      </p:cBhvr>
                                      <p:to>
                                        <p:strVal val="visible"/>
                                      </p:to>
                                    </p:set>
                                    <p:animEffect transition="in" filter="fade">
                                      <p:cBhvr>
                                        <p:cTn id="10" dur="500"/>
                                        <p:tgtEl>
                                          <p:spTgt spid="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132"/>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1003" name="Google Shape;1003;p13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004" name="Google Shape;1004;p13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005" name="Google Shape;1005;p13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55</a:t>
            </a:fld>
            <a:endParaRPr/>
          </a:p>
        </p:txBody>
      </p:sp>
      <p:sp>
        <p:nvSpPr>
          <p:cNvPr id="1006" name="Google Shape;1006;p132"/>
          <p:cNvSpPr txBox="1">
            <a:spLocks noGrp="1"/>
          </p:cNvSpPr>
          <p:nvPr>
            <p:ph type="body" idx="4294967295"/>
          </p:nvPr>
        </p:nvSpPr>
        <p:spPr>
          <a:xfrm>
            <a:off x="1096963" y="2516673"/>
            <a:ext cx="10228763"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0"/>
              </a:spcAft>
              <a:buClr>
                <a:srgbClr val="C00000"/>
              </a:buClr>
              <a:buSzPts val="2800"/>
              <a:buFont typeface="Noto Sans Symbols"/>
              <a:buChar char="❖"/>
            </a:pPr>
            <a:r>
              <a:rPr lang="es-AR" sz="2800">
                <a:solidFill>
                  <a:schemeClr val="dk1"/>
                </a:solidFill>
              </a:rPr>
              <a:t>Cohesión (Coherente)</a:t>
            </a:r>
            <a:endParaRPr/>
          </a:p>
          <a:p>
            <a:pPr marL="546100" lvl="1" indent="0" algn="just" rtl="0">
              <a:lnSpc>
                <a:spcPct val="100000"/>
              </a:lnSpc>
              <a:spcBef>
                <a:spcPts val="1200"/>
              </a:spcBef>
              <a:spcAft>
                <a:spcPts val="0"/>
              </a:spcAft>
              <a:buClr>
                <a:srgbClr val="C00000"/>
              </a:buClr>
              <a:buSzPts val="2400"/>
              <a:buNone/>
            </a:pPr>
            <a:r>
              <a:rPr lang="es-AR" sz="2400" i="1">
                <a:solidFill>
                  <a:schemeClr val="dk1"/>
                </a:solidFill>
              </a:rPr>
              <a:t>Medida de fuerza o relación funcional existente entre las sentencias o grupos de sentencias de un mismo módulo. </a:t>
            </a:r>
            <a:endParaRPr sz="2400">
              <a:solidFill>
                <a:schemeClr val="dk1"/>
              </a:solidFill>
            </a:endParaRPr>
          </a:p>
          <a:p>
            <a:pPr marL="838200" lvl="1" indent="-381000" algn="just" rtl="0">
              <a:lnSpc>
                <a:spcPct val="100000"/>
              </a:lnSpc>
              <a:spcBef>
                <a:spcPts val="1200"/>
              </a:spcBef>
              <a:spcAft>
                <a:spcPts val="0"/>
              </a:spcAft>
              <a:buClr>
                <a:srgbClr val="C00000"/>
              </a:buClr>
              <a:buSzPts val="2600"/>
              <a:buFont typeface="Noto Sans Symbols"/>
              <a:buNone/>
            </a:pPr>
            <a:endParaRPr sz="2600">
              <a:solidFill>
                <a:schemeClr val="dk1"/>
              </a:solidFill>
            </a:endParaRPr>
          </a:p>
          <a:p>
            <a:pPr marL="546100" lvl="0" indent="-368300" algn="just" rtl="0">
              <a:lnSpc>
                <a:spcPct val="100000"/>
              </a:lnSpc>
              <a:spcBef>
                <a:spcPts val="1200"/>
              </a:spcBef>
              <a:spcAft>
                <a:spcPts val="1200"/>
              </a:spcAft>
              <a:buClr>
                <a:srgbClr val="C00000"/>
              </a:buClr>
              <a:buSzPts val="2800"/>
              <a:buFont typeface="Noto Sans Symbols"/>
              <a:buNone/>
            </a:pPr>
            <a:endParaRPr sz="2800">
              <a:solidFill>
                <a:schemeClr val="dk1"/>
              </a:solidFill>
            </a:endParaRPr>
          </a:p>
        </p:txBody>
      </p:sp>
      <p:pic>
        <p:nvPicPr>
          <p:cNvPr id="1007" name="Google Shape;1007;p132"/>
          <p:cNvPicPr preferRelativeResize="0"/>
          <p:nvPr/>
        </p:nvPicPr>
        <p:blipFill rotWithShape="1">
          <a:blip r:embed="rId3">
            <a:alphaModFix/>
          </a:blip>
          <a:srcRect l="57568" t="77898" r="-4162" b="9141"/>
          <a:stretch/>
        </p:blipFill>
        <p:spPr>
          <a:xfrm>
            <a:off x="1096963" y="1790768"/>
            <a:ext cx="3892132" cy="725905"/>
          </a:xfrm>
          <a:prstGeom prst="rect">
            <a:avLst/>
          </a:prstGeom>
          <a:noFill/>
          <a:ln>
            <a:noFill/>
          </a:ln>
        </p:spPr>
      </p:pic>
      <p:pic>
        <p:nvPicPr>
          <p:cNvPr id="1008" name="Google Shape;1008;p132" descr="Marca de verificación"/>
          <p:cNvPicPr preferRelativeResize="0"/>
          <p:nvPr/>
        </p:nvPicPr>
        <p:blipFill rotWithShape="1">
          <a:blip r:embed="rId4">
            <a:alphaModFix/>
          </a:blip>
          <a:srcRect/>
          <a:stretch/>
        </p:blipFill>
        <p:spPr>
          <a:xfrm>
            <a:off x="2411760" y="4346008"/>
            <a:ext cx="720000" cy="720000"/>
          </a:xfrm>
          <a:prstGeom prst="rect">
            <a:avLst/>
          </a:prstGeom>
          <a:noFill/>
          <a:ln>
            <a:noFill/>
          </a:ln>
        </p:spPr>
      </p:pic>
      <p:sp>
        <p:nvSpPr>
          <p:cNvPr id="1009" name="Google Shape;1009;p132"/>
          <p:cNvSpPr/>
          <p:nvPr/>
        </p:nvSpPr>
        <p:spPr>
          <a:xfrm>
            <a:off x="3131760" y="4508368"/>
            <a:ext cx="2742480" cy="3952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AR" sz="2000" b="0" i="0" u="none" strike="noStrike" cap="none">
                <a:solidFill>
                  <a:srgbClr val="000000"/>
                </a:solidFill>
                <a:latin typeface="Calibri"/>
                <a:ea typeface="Calibri"/>
                <a:cs typeface="Calibri"/>
                <a:sym typeface="Calibri"/>
              </a:rPr>
              <a:t>Alta cohesión </a:t>
            </a:r>
            <a:endParaRPr sz="2000" b="0" i="0" u="none" strike="noStrike" cap="none">
              <a:solidFill>
                <a:schemeClr val="dk1"/>
              </a:solidFill>
              <a:latin typeface="Arial"/>
              <a:ea typeface="Arial"/>
              <a:cs typeface="Arial"/>
              <a:sym typeface="Arial"/>
            </a:endParaRPr>
          </a:p>
        </p:txBody>
      </p:sp>
      <p:sp>
        <p:nvSpPr>
          <p:cNvPr id="1010" name="Google Shape;1010;p132"/>
          <p:cNvSpPr/>
          <p:nvPr/>
        </p:nvSpPr>
        <p:spPr>
          <a:xfrm>
            <a:off x="6785223" y="4346008"/>
            <a:ext cx="720000" cy="720000"/>
          </a:xfrm>
          <a:prstGeom prst="mathMultiply">
            <a:avLst>
              <a:gd name="adj1" fmla="val 23520"/>
            </a:avLst>
          </a:prstGeom>
          <a:solidFill>
            <a:schemeClr val="accent1"/>
          </a:solidFill>
          <a:ln w="25400" cap="flat" cmpd="sng">
            <a:solidFill>
              <a:srgbClr val="8C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1" name="Google Shape;1011;p132"/>
          <p:cNvSpPr/>
          <p:nvPr/>
        </p:nvSpPr>
        <p:spPr>
          <a:xfrm>
            <a:off x="7505223" y="4508368"/>
            <a:ext cx="2742480" cy="3952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AR" sz="2000" b="0" i="0" u="none" strike="noStrike" cap="none">
                <a:solidFill>
                  <a:srgbClr val="000000"/>
                </a:solidFill>
                <a:latin typeface="Calibri"/>
                <a:ea typeface="Calibri"/>
                <a:cs typeface="Calibri"/>
                <a:sym typeface="Calibri"/>
              </a:rPr>
              <a:t>Baja cohesión </a:t>
            </a: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p133"/>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1017" name="Google Shape;1017;p13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018" name="Google Shape;1018;p13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019" name="Google Shape;1019;p13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56</a:t>
            </a:fld>
            <a:endParaRPr/>
          </a:p>
        </p:txBody>
      </p:sp>
      <p:sp>
        <p:nvSpPr>
          <p:cNvPr id="1020" name="Google Shape;1020;p133"/>
          <p:cNvSpPr txBox="1">
            <a:spLocks noGrp="1"/>
          </p:cNvSpPr>
          <p:nvPr>
            <p:ph type="body" idx="4294967295"/>
          </p:nvPr>
        </p:nvSpPr>
        <p:spPr>
          <a:xfrm>
            <a:off x="1096963" y="2516673"/>
            <a:ext cx="10228763"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1200"/>
              </a:spcAft>
              <a:buClr>
                <a:srgbClr val="C00000"/>
              </a:buClr>
              <a:buSzPts val="2800"/>
              <a:buFont typeface="Noto Sans Symbols"/>
              <a:buChar char="❖"/>
            </a:pPr>
            <a:r>
              <a:rPr lang="es-AR" sz="2800">
                <a:solidFill>
                  <a:schemeClr val="dk1"/>
                </a:solidFill>
              </a:rPr>
              <a:t>Tipos de cohesión </a:t>
            </a:r>
            <a:endParaRPr/>
          </a:p>
        </p:txBody>
      </p:sp>
      <p:pic>
        <p:nvPicPr>
          <p:cNvPr id="1021" name="Google Shape;1021;p133"/>
          <p:cNvPicPr preferRelativeResize="0"/>
          <p:nvPr/>
        </p:nvPicPr>
        <p:blipFill rotWithShape="1">
          <a:blip r:embed="rId3">
            <a:alphaModFix/>
          </a:blip>
          <a:srcRect l="57568" t="77898" r="-4162" b="9141"/>
          <a:stretch/>
        </p:blipFill>
        <p:spPr>
          <a:xfrm>
            <a:off x="1096963" y="1790768"/>
            <a:ext cx="3892132" cy="725905"/>
          </a:xfrm>
          <a:prstGeom prst="rect">
            <a:avLst/>
          </a:prstGeom>
          <a:noFill/>
          <a:ln>
            <a:noFill/>
          </a:ln>
        </p:spPr>
      </p:pic>
      <p:sp>
        <p:nvSpPr>
          <p:cNvPr id="1022" name="Google Shape;1022;p133"/>
          <p:cNvSpPr/>
          <p:nvPr/>
        </p:nvSpPr>
        <p:spPr>
          <a:xfrm flipH="1">
            <a:off x="4508616" y="3031574"/>
            <a:ext cx="288000" cy="3182040"/>
          </a:xfrm>
          <a:custGeom>
            <a:avLst/>
            <a:gdLst/>
            <a:ahLst/>
            <a:cxnLst/>
            <a:rect l="l" t="t" r="r" b="b"/>
            <a:pathLst>
              <a:path w="802" h="8841" extrusionOk="0">
                <a:moveTo>
                  <a:pt x="200" y="8840"/>
                </a:moveTo>
                <a:lnTo>
                  <a:pt x="200" y="2210"/>
                </a:lnTo>
                <a:lnTo>
                  <a:pt x="0" y="2210"/>
                </a:lnTo>
                <a:lnTo>
                  <a:pt x="400" y="0"/>
                </a:lnTo>
                <a:lnTo>
                  <a:pt x="801" y="2210"/>
                </a:lnTo>
                <a:lnTo>
                  <a:pt x="600" y="2210"/>
                </a:lnTo>
                <a:lnTo>
                  <a:pt x="600" y="8840"/>
                </a:lnTo>
                <a:lnTo>
                  <a:pt x="200" y="8840"/>
                </a:lnTo>
              </a:path>
            </a:pathLst>
          </a:custGeom>
          <a:solidFill>
            <a:srgbClr val="DF695B"/>
          </a:solidFill>
          <a:ln w="9525"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E99A92"/>
              </a:solidFill>
              <a:latin typeface="Arial"/>
              <a:ea typeface="Arial"/>
              <a:cs typeface="Arial"/>
              <a:sym typeface="Arial"/>
            </a:endParaRPr>
          </a:p>
        </p:txBody>
      </p:sp>
      <p:sp>
        <p:nvSpPr>
          <p:cNvPr id="1023" name="Google Shape;1023;p133"/>
          <p:cNvSpPr/>
          <p:nvPr/>
        </p:nvSpPr>
        <p:spPr>
          <a:xfrm>
            <a:off x="3043029" y="5648189"/>
            <a:ext cx="2742480" cy="460211"/>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AR" sz="2400" b="0" i="0" u="none" strike="noStrike" cap="none">
                <a:solidFill>
                  <a:srgbClr val="269426"/>
                </a:solidFill>
                <a:latin typeface="Calibri"/>
                <a:ea typeface="Calibri"/>
                <a:cs typeface="Calibri"/>
                <a:sym typeface="Calibri"/>
              </a:rPr>
              <a:t>Más bajo</a:t>
            </a:r>
            <a:endParaRPr sz="2400" b="0" i="0" u="none" strike="noStrike" cap="none">
              <a:solidFill>
                <a:schemeClr val="dk1"/>
              </a:solidFill>
              <a:latin typeface="Arial"/>
              <a:ea typeface="Arial"/>
              <a:cs typeface="Arial"/>
              <a:sym typeface="Arial"/>
            </a:endParaRPr>
          </a:p>
        </p:txBody>
      </p:sp>
      <p:sp>
        <p:nvSpPr>
          <p:cNvPr id="1024" name="Google Shape;1024;p133"/>
          <p:cNvSpPr/>
          <p:nvPr/>
        </p:nvSpPr>
        <p:spPr>
          <a:xfrm>
            <a:off x="3043029" y="3242578"/>
            <a:ext cx="2742480" cy="460211"/>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AR" sz="2400" b="0" i="0" u="none" strike="noStrike" cap="none">
                <a:solidFill>
                  <a:srgbClr val="FF0000"/>
                </a:solidFill>
                <a:latin typeface="Calibri"/>
                <a:ea typeface="Calibri"/>
                <a:cs typeface="Calibri"/>
                <a:sym typeface="Calibri"/>
              </a:rPr>
              <a:t>Más alto</a:t>
            </a:r>
            <a:endParaRPr sz="2400" b="0" i="0" u="none" strike="noStrike" cap="none">
              <a:solidFill>
                <a:schemeClr val="dk1"/>
              </a:solidFill>
              <a:latin typeface="Arial"/>
              <a:ea typeface="Arial"/>
              <a:cs typeface="Arial"/>
              <a:sym typeface="Arial"/>
            </a:endParaRPr>
          </a:p>
        </p:txBody>
      </p:sp>
      <p:sp>
        <p:nvSpPr>
          <p:cNvPr id="1025" name="Google Shape;1025;p133"/>
          <p:cNvSpPr txBox="1"/>
          <p:nvPr/>
        </p:nvSpPr>
        <p:spPr>
          <a:xfrm>
            <a:off x="5005138" y="2865774"/>
            <a:ext cx="2379177" cy="334784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AR" sz="2400" b="0" i="0" u="none" strike="noStrike" cap="none">
                <a:solidFill>
                  <a:srgbClr val="000000"/>
                </a:solidFill>
                <a:latin typeface="Arial"/>
                <a:ea typeface="Arial"/>
                <a:cs typeface="Arial"/>
                <a:sym typeface="Arial"/>
              </a:rPr>
              <a:t>Funcional</a:t>
            </a:r>
            <a:endParaRPr/>
          </a:p>
          <a:p>
            <a:pPr marL="0" marR="0" lvl="0" indent="0" algn="l" rtl="0">
              <a:lnSpc>
                <a:spcPct val="150000"/>
              </a:lnSpc>
              <a:spcBef>
                <a:spcPts val="0"/>
              </a:spcBef>
              <a:spcAft>
                <a:spcPts val="0"/>
              </a:spcAft>
              <a:buNone/>
            </a:pPr>
            <a:r>
              <a:rPr lang="es-AR" sz="2400" b="0" i="0" u="none" strike="noStrike" cap="none">
                <a:solidFill>
                  <a:srgbClr val="000000"/>
                </a:solidFill>
                <a:latin typeface="Arial"/>
                <a:ea typeface="Arial"/>
                <a:cs typeface="Arial"/>
                <a:sym typeface="Arial"/>
              </a:rPr>
              <a:t>Comunicacional</a:t>
            </a:r>
            <a:endParaRPr/>
          </a:p>
          <a:p>
            <a:pPr marL="0" marR="0" lvl="0" indent="0" algn="l" rtl="0">
              <a:lnSpc>
                <a:spcPct val="150000"/>
              </a:lnSpc>
              <a:spcBef>
                <a:spcPts val="0"/>
              </a:spcBef>
              <a:spcAft>
                <a:spcPts val="0"/>
              </a:spcAft>
              <a:buNone/>
            </a:pPr>
            <a:r>
              <a:rPr lang="es-AR" sz="2400" b="0" i="0" u="none" strike="noStrike" cap="none">
                <a:solidFill>
                  <a:srgbClr val="000000"/>
                </a:solidFill>
                <a:latin typeface="Arial"/>
                <a:ea typeface="Arial"/>
                <a:cs typeface="Arial"/>
                <a:sym typeface="Arial"/>
              </a:rPr>
              <a:t>Procedimental</a:t>
            </a:r>
            <a:endParaRPr/>
          </a:p>
          <a:p>
            <a:pPr marL="0" marR="0" lvl="0" indent="0" algn="l" rtl="0">
              <a:lnSpc>
                <a:spcPct val="150000"/>
              </a:lnSpc>
              <a:spcBef>
                <a:spcPts val="0"/>
              </a:spcBef>
              <a:spcAft>
                <a:spcPts val="0"/>
              </a:spcAft>
              <a:buNone/>
            </a:pPr>
            <a:r>
              <a:rPr lang="es-AR" sz="2400" b="0" i="0" u="none" strike="noStrike" cap="none">
                <a:solidFill>
                  <a:srgbClr val="000000"/>
                </a:solidFill>
                <a:latin typeface="Arial"/>
                <a:ea typeface="Arial"/>
                <a:cs typeface="Arial"/>
                <a:sym typeface="Arial"/>
              </a:rPr>
              <a:t>Temporal</a:t>
            </a:r>
            <a:endParaRPr/>
          </a:p>
          <a:p>
            <a:pPr marL="0" marR="0" lvl="0" indent="0" algn="l" rtl="0">
              <a:lnSpc>
                <a:spcPct val="150000"/>
              </a:lnSpc>
              <a:spcBef>
                <a:spcPts val="0"/>
              </a:spcBef>
              <a:spcAft>
                <a:spcPts val="0"/>
              </a:spcAft>
              <a:buNone/>
            </a:pPr>
            <a:r>
              <a:rPr lang="es-AR" sz="2400" b="0" i="0" u="none" strike="noStrike" cap="none">
                <a:solidFill>
                  <a:srgbClr val="000000"/>
                </a:solidFill>
                <a:latin typeface="Arial"/>
                <a:ea typeface="Arial"/>
                <a:cs typeface="Arial"/>
                <a:sym typeface="Arial"/>
              </a:rPr>
              <a:t>Lógica</a:t>
            </a:r>
            <a:endParaRPr/>
          </a:p>
          <a:p>
            <a:pPr marL="0" marR="0" lvl="0" indent="0" algn="l" rtl="0">
              <a:lnSpc>
                <a:spcPct val="150000"/>
              </a:lnSpc>
              <a:spcBef>
                <a:spcPts val="0"/>
              </a:spcBef>
              <a:spcAft>
                <a:spcPts val="0"/>
              </a:spcAft>
              <a:buNone/>
            </a:pPr>
            <a:r>
              <a:rPr lang="es-AR" sz="2400" b="0" i="0" u="none" strike="noStrike" cap="none">
                <a:solidFill>
                  <a:srgbClr val="000000"/>
                </a:solidFill>
                <a:latin typeface="Arial"/>
                <a:ea typeface="Arial"/>
                <a:cs typeface="Arial"/>
                <a:sym typeface="Arial"/>
              </a:rPr>
              <a:t>Coincidental</a:t>
            </a:r>
            <a:endParaRPr sz="2400" b="0" i="0" u="none" strike="noStrike" cap="none">
              <a:solidFill>
                <a:srgbClr val="000000"/>
              </a:solidFill>
              <a:latin typeface="Arial"/>
              <a:ea typeface="Arial"/>
              <a:cs typeface="Arial"/>
              <a:sym typeface="Arial"/>
            </a:endParaRPr>
          </a:p>
        </p:txBody>
      </p:sp>
      <p:sp>
        <p:nvSpPr>
          <p:cNvPr id="1026" name="Google Shape;1026;p133"/>
          <p:cNvSpPr/>
          <p:nvPr/>
        </p:nvSpPr>
        <p:spPr>
          <a:xfrm>
            <a:off x="7983780" y="4416334"/>
            <a:ext cx="2571925" cy="1461960"/>
          </a:xfrm>
          <a:prstGeom prst="rect">
            <a:avLst/>
          </a:prstGeom>
          <a:gradFill>
            <a:gsLst>
              <a:gs pos="0">
                <a:srgbClr val="F3CCB9"/>
              </a:gs>
              <a:gs pos="100000">
                <a:srgbClr val="EFB89D"/>
              </a:gs>
            </a:gsLst>
            <a:lin ang="2700000" scaled="0"/>
          </a:gradFill>
          <a:ln w="9525" cap="flat" cmpd="sng">
            <a:solidFill>
              <a:srgbClr val="C00000"/>
            </a:solidFill>
            <a:prstDash val="solid"/>
            <a:round/>
            <a:headEnd type="none" w="sm" len="sm"/>
            <a:tailEnd type="none" w="sm" len="sm"/>
          </a:ln>
          <a:effectLst>
            <a:outerShdw blurRad="40000" dist="20160" dir="5400000" rotWithShape="0">
              <a:srgbClr val="000000">
                <a:alpha val="36470"/>
              </a:srgbClr>
            </a:outerShdw>
          </a:effectLst>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s-AR" sz="1800" b="0" i="1" u="none" strike="noStrike" cap="none">
                <a:solidFill>
                  <a:srgbClr val="262626"/>
                </a:solidFill>
                <a:latin typeface="Calibri"/>
                <a:ea typeface="Calibri"/>
                <a:cs typeface="Calibri"/>
                <a:sym typeface="Calibri"/>
              </a:rPr>
              <a:t>Cuando las sentencias llevan a cabo un conjunto de tareas que no están relacionadas o tienen poca relación.</a:t>
            </a:r>
            <a:endParaRPr sz="1800" b="0" i="0" u="none" strike="noStrike" cap="none">
              <a:solidFill>
                <a:schemeClr val="dk1"/>
              </a:solidFill>
              <a:latin typeface="Arial"/>
              <a:ea typeface="Arial"/>
              <a:cs typeface="Arial"/>
              <a:sym typeface="Arial"/>
            </a:endParaRPr>
          </a:p>
        </p:txBody>
      </p:sp>
      <p:cxnSp>
        <p:nvCxnSpPr>
          <p:cNvPr id="1027" name="Google Shape;1027;p133"/>
          <p:cNvCxnSpPr>
            <a:endCxn id="1026" idx="1"/>
          </p:cNvCxnSpPr>
          <p:nvPr/>
        </p:nvCxnSpPr>
        <p:spPr>
          <a:xfrm rot="10800000" flipH="1">
            <a:off x="6882180" y="5147314"/>
            <a:ext cx="1101600" cy="731100"/>
          </a:xfrm>
          <a:prstGeom prst="straightConnector1">
            <a:avLst/>
          </a:prstGeom>
          <a:noFill/>
          <a:ln w="12700" cap="flat" cmpd="sng">
            <a:solidFill>
              <a:srgbClr val="C00000"/>
            </a:solidFill>
            <a:prstDash val="solid"/>
            <a:round/>
            <a:headEnd type="none" w="sm" len="sm"/>
            <a:tailEnd type="triangle" w="med" len="med"/>
          </a:ln>
        </p:spPr>
      </p:cxnSp>
      <p:sp>
        <p:nvSpPr>
          <p:cNvPr id="1028" name="Google Shape;1028;p133"/>
          <p:cNvSpPr/>
          <p:nvPr/>
        </p:nvSpPr>
        <p:spPr>
          <a:xfrm>
            <a:off x="7886080" y="4392522"/>
            <a:ext cx="2571925" cy="644877"/>
          </a:xfrm>
          <a:prstGeom prst="rect">
            <a:avLst/>
          </a:prstGeom>
          <a:gradFill>
            <a:gsLst>
              <a:gs pos="0">
                <a:srgbClr val="F3CCB9"/>
              </a:gs>
              <a:gs pos="100000">
                <a:srgbClr val="EFB89D"/>
              </a:gs>
            </a:gsLst>
            <a:lin ang="2700000" scaled="0"/>
          </a:gradFill>
          <a:ln w="9525" cap="flat" cmpd="sng">
            <a:solidFill>
              <a:srgbClr val="C00000"/>
            </a:solidFill>
            <a:prstDash val="solid"/>
            <a:round/>
            <a:headEnd type="none" w="sm" len="sm"/>
            <a:tailEnd type="none" w="sm" len="sm"/>
          </a:ln>
          <a:effectLst>
            <a:outerShdw blurRad="40000" dist="20160" dir="5400000" rotWithShape="0">
              <a:srgbClr val="000000">
                <a:alpha val="36470"/>
              </a:srgbClr>
            </a:outerShdw>
          </a:effectLst>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None/>
            </a:pPr>
            <a:r>
              <a:rPr lang="es-AR" sz="1800" b="0" i="1" u="none" strike="noStrike" cap="none">
                <a:solidFill>
                  <a:srgbClr val="262626"/>
                </a:solidFill>
                <a:latin typeface="Calibri"/>
                <a:ea typeface="Calibri"/>
                <a:cs typeface="Calibri"/>
                <a:sym typeface="Calibri"/>
              </a:rPr>
              <a:t>Cuando las sentencias se relacionan lógicamente.</a:t>
            </a:r>
            <a:endParaRPr/>
          </a:p>
        </p:txBody>
      </p:sp>
      <p:cxnSp>
        <p:nvCxnSpPr>
          <p:cNvPr id="1029" name="Google Shape;1029;p133"/>
          <p:cNvCxnSpPr>
            <a:endCxn id="1028" idx="1"/>
          </p:cNvCxnSpPr>
          <p:nvPr/>
        </p:nvCxnSpPr>
        <p:spPr>
          <a:xfrm rot="10800000" flipH="1">
            <a:off x="5993980" y="4714961"/>
            <a:ext cx="1892100" cy="671400"/>
          </a:xfrm>
          <a:prstGeom prst="straightConnector1">
            <a:avLst/>
          </a:prstGeom>
          <a:noFill/>
          <a:ln w="12700" cap="flat" cmpd="sng">
            <a:solidFill>
              <a:srgbClr val="C00000"/>
            </a:solidFill>
            <a:prstDash val="solid"/>
            <a:round/>
            <a:headEnd type="none" w="sm" len="sm"/>
            <a:tailEnd type="triangle" w="med" len="med"/>
          </a:ln>
        </p:spPr>
      </p:cxnSp>
      <p:sp>
        <p:nvSpPr>
          <p:cNvPr id="1030" name="Google Shape;1030;p133"/>
          <p:cNvSpPr/>
          <p:nvPr/>
        </p:nvSpPr>
        <p:spPr>
          <a:xfrm>
            <a:off x="7986862" y="4079079"/>
            <a:ext cx="2777213" cy="921876"/>
          </a:xfrm>
          <a:prstGeom prst="rect">
            <a:avLst/>
          </a:prstGeom>
          <a:gradFill>
            <a:gsLst>
              <a:gs pos="0">
                <a:srgbClr val="F3CCB9"/>
              </a:gs>
              <a:gs pos="100000">
                <a:srgbClr val="EFB89D"/>
              </a:gs>
            </a:gsLst>
            <a:lin ang="2700000" scaled="0"/>
          </a:gradFill>
          <a:ln w="9525" cap="flat" cmpd="sng">
            <a:solidFill>
              <a:srgbClr val="C00000"/>
            </a:solidFill>
            <a:prstDash val="solid"/>
            <a:round/>
            <a:headEnd type="none" w="sm" len="sm"/>
            <a:tailEnd type="none" w="sm" len="sm"/>
          </a:ln>
          <a:effectLst>
            <a:outerShdw blurRad="40000" dist="20160" dir="5400000" rotWithShape="0">
              <a:srgbClr val="000000">
                <a:alpha val="36470"/>
              </a:srgbClr>
            </a:outerShdw>
          </a:effectLst>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None/>
            </a:pPr>
            <a:r>
              <a:rPr lang="es-AR" sz="1800" b="0" i="1" u="none" strike="noStrike" cap="none">
                <a:solidFill>
                  <a:srgbClr val="262626"/>
                </a:solidFill>
                <a:latin typeface="Calibri"/>
                <a:ea typeface="Calibri"/>
                <a:cs typeface="Calibri"/>
                <a:sym typeface="Calibri"/>
              </a:rPr>
              <a:t>Cuando las sentencias se deben ejecutar en el mismo intervalo de tiempo.</a:t>
            </a:r>
            <a:endParaRPr/>
          </a:p>
        </p:txBody>
      </p:sp>
      <p:cxnSp>
        <p:nvCxnSpPr>
          <p:cNvPr id="1031" name="Google Shape;1031;p133"/>
          <p:cNvCxnSpPr>
            <a:endCxn id="1030" idx="1"/>
          </p:cNvCxnSpPr>
          <p:nvPr/>
        </p:nvCxnSpPr>
        <p:spPr>
          <a:xfrm rot="10800000" flipH="1">
            <a:off x="6468862" y="4540017"/>
            <a:ext cx="1518000" cy="306600"/>
          </a:xfrm>
          <a:prstGeom prst="straightConnector1">
            <a:avLst/>
          </a:prstGeom>
          <a:noFill/>
          <a:ln w="12700" cap="flat" cmpd="sng">
            <a:solidFill>
              <a:srgbClr val="C00000"/>
            </a:solidFill>
            <a:prstDash val="solid"/>
            <a:round/>
            <a:headEnd type="none" w="sm" len="sm"/>
            <a:tailEnd type="triangle" w="med" len="med"/>
          </a:ln>
        </p:spPr>
      </p:cxnSp>
      <p:sp>
        <p:nvSpPr>
          <p:cNvPr id="1032" name="Google Shape;1032;p133"/>
          <p:cNvSpPr/>
          <p:nvPr/>
        </p:nvSpPr>
        <p:spPr>
          <a:xfrm>
            <a:off x="8061641" y="3732879"/>
            <a:ext cx="2777213" cy="921876"/>
          </a:xfrm>
          <a:prstGeom prst="rect">
            <a:avLst/>
          </a:prstGeom>
          <a:gradFill>
            <a:gsLst>
              <a:gs pos="0">
                <a:srgbClr val="F3CCB9"/>
              </a:gs>
              <a:gs pos="100000">
                <a:srgbClr val="EFB89D"/>
              </a:gs>
            </a:gsLst>
            <a:lin ang="2700000" scaled="0"/>
          </a:gradFill>
          <a:ln w="9525" cap="flat" cmpd="sng">
            <a:solidFill>
              <a:srgbClr val="C00000"/>
            </a:solidFill>
            <a:prstDash val="solid"/>
            <a:round/>
            <a:headEnd type="none" w="sm" len="sm"/>
            <a:tailEnd type="none" w="sm" len="sm"/>
          </a:ln>
          <a:effectLst>
            <a:outerShdw blurRad="40000" dist="20160" dir="5400000" rotWithShape="0">
              <a:srgbClr val="000000">
                <a:alpha val="36470"/>
              </a:srgbClr>
            </a:outerShdw>
          </a:effectLst>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None/>
            </a:pPr>
            <a:r>
              <a:rPr lang="es-AR" sz="1800" b="0" i="1" u="none" strike="noStrike" cap="none">
                <a:solidFill>
                  <a:srgbClr val="262626"/>
                </a:solidFill>
                <a:latin typeface="Calibri"/>
                <a:ea typeface="Calibri"/>
                <a:cs typeface="Calibri"/>
                <a:sym typeface="Calibri"/>
              </a:rPr>
              <a:t>Cuando las sentencias tienen que ejecutarse en un orden especifico.</a:t>
            </a:r>
            <a:endParaRPr/>
          </a:p>
        </p:txBody>
      </p:sp>
      <p:cxnSp>
        <p:nvCxnSpPr>
          <p:cNvPr id="1033" name="Google Shape;1033;p133"/>
          <p:cNvCxnSpPr>
            <a:endCxn id="1032" idx="1"/>
          </p:cNvCxnSpPr>
          <p:nvPr/>
        </p:nvCxnSpPr>
        <p:spPr>
          <a:xfrm rot="10800000" flipH="1">
            <a:off x="7088141" y="4193817"/>
            <a:ext cx="973500" cy="92400"/>
          </a:xfrm>
          <a:prstGeom prst="straightConnector1">
            <a:avLst/>
          </a:prstGeom>
          <a:noFill/>
          <a:ln w="12700" cap="flat" cmpd="sng">
            <a:solidFill>
              <a:srgbClr val="C00000"/>
            </a:solidFill>
            <a:prstDash val="solid"/>
            <a:round/>
            <a:headEnd type="none" w="sm" len="sm"/>
            <a:tailEnd type="triangle" w="med" len="med"/>
          </a:ln>
        </p:spPr>
      </p:cxnSp>
      <p:sp>
        <p:nvSpPr>
          <p:cNvPr id="1034" name="Google Shape;1034;p133"/>
          <p:cNvSpPr/>
          <p:nvPr/>
        </p:nvSpPr>
        <p:spPr>
          <a:xfrm>
            <a:off x="8378150" y="3337634"/>
            <a:ext cx="2777213" cy="1198875"/>
          </a:xfrm>
          <a:prstGeom prst="rect">
            <a:avLst/>
          </a:prstGeom>
          <a:gradFill>
            <a:gsLst>
              <a:gs pos="0">
                <a:srgbClr val="F3CCB9"/>
              </a:gs>
              <a:gs pos="100000">
                <a:srgbClr val="EFB89D"/>
              </a:gs>
            </a:gsLst>
            <a:lin ang="2700000" scaled="0"/>
          </a:gradFill>
          <a:ln w="9525" cap="flat" cmpd="sng">
            <a:solidFill>
              <a:srgbClr val="C00000"/>
            </a:solidFill>
            <a:prstDash val="solid"/>
            <a:round/>
            <a:headEnd type="none" w="sm" len="sm"/>
            <a:tailEnd type="none" w="sm" len="sm"/>
          </a:ln>
          <a:effectLst>
            <a:outerShdw blurRad="40000" dist="20160" dir="5400000" rotWithShape="0">
              <a:srgbClr val="000000">
                <a:alpha val="36470"/>
              </a:srgbClr>
            </a:outerShdw>
          </a:effectLst>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None/>
            </a:pPr>
            <a:r>
              <a:rPr lang="es-AR" sz="1800" b="0" i="1" u="none" strike="noStrike" cap="none">
                <a:solidFill>
                  <a:srgbClr val="262626"/>
                </a:solidFill>
                <a:latin typeface="Calibri"/>
                <a:ea typeface="Calibri"/>
                <a:cs typeface="Calibri"/>
                <a:sym typeface="Calibri"/>
              </a:rPr>
              <a:t>Cuando los elementos de procesamiento se centran en los datos  de entrada y salida.</a:t>
            </a:r>
            <a:endParaRPr/>
          </a:p>
        </p:txBody>
      </p:sp>
      <p:cxnSp>
        <p:nvCxnSpPr>
          <p:cNvPr id="1035" name="Google Shape;1035;p133"/>
          <p:cNvCxnSpPr>
            <a:endCxn id="1034" idx="1"/>
          </p:cNvCxnSpPr>
          <p:nvPr/>
        </p:nvCxnSpPr>
        <p:spPr>
          <a:xfrm>
            <a:off x="7324550" y="3732771"/>
            <a:ext cx="1053600" cy="204300"/>
          </a:xfrm>
          <a:prstGeom prst="straightConnector1">
            <a:avLst/>
          </a:prstGeom>
          <a:noFill/>
          <a:ln w="12700" cap="flat" cmpd="sng">
            <a:solidFill>
              <a:srgbClr val="C00000"/>
            </a:solidFill>
            <a:prstDash val="solid"/>
            <a:round/>
            <a:headEnd type="none" w="sm" len="sm"/>
            <a:tailEnd type="triangle" w="med" len="med"/>
          </a:ln>
        </p:spPr>
      </p:cxnSp>
      <p:sp>
        <p:nvSpPr>
          <p:cNvPr id="1036" name="Google Shape;1036;p133"/>
          <p:cNvSpPr/>
          <p:nvPr/>
        </p:nvSpPr>
        <p:spPr>
          <a:xfrm>
            <a:off x="7812464" y="2751831"/>
            <a:ext cx="2971804" cy="1198875"/>
          </a:xfrm>
          <a:prstGeom prst="rect">
            <a:avLst/>
          </a:prstGeom>
          <a:gradFill>
            <a:gsLst>
              <a:gs pos="0">
                <a:srgbClr val="F3CCB9"/>
              </a:gs>
              <a:gs pos="100000">
                <a:srgbClr val="EFB89D"/>
              </a:gs>
            </a:gsLst>
            <a:lin ang="2700000" scaled="0"/>
          </a:gradFill>
          <a:ln w="9525" cap="flat" cmpd="sng">
            <a:solidFill>
              <a:srgbClr val="C00000"/>
            </a:solidFill>
            <a:prstDash val="solid"/>
            <a:round/>
            <a:headEnd type="none" w="sm" len="sm"/>
            <a:tailEnd type="none" w="sm" len="sm"/>
          </a:ln>
          <a:effectLst>
            <a:outerShdw blurRad="40000" dist="20160" dir="5400000" rotWithShape="0">
              <a:srgbClr val="000000">
                <a:alpha val="36470"/>
              </a:srgbClr>
            </a:outerShdw>
          </a:effectLst>
        </p:spPr>
        <p:txBody>
          <a:bodyPr spcFirstLastPara="1" wrap="square" lIns="90000" tIns="45000" rIns="90000" bIns="45000" anchor="t" anchorCtr="0">
            <a:spAutoFit/>
          </a:bodyPr>
          <a:lstStyle/>
          <a:p>
            <a:pPr marL="0" marR="0" lvl="0" indent="0" algn="just" rtl="0">
              <a:lnSpc>
                <a:spcPct val="100000"/>
              </a:lnSpc>
              <a:spcBef>
                <a:spcPts val="0"/>
              </a:spcBef>
              <a:spcAft>
                <a:spcPts val="0"/>
              </a:spcAft>
              <a:buNone/>
            </a:pPr>
            <a:r>
              <a:rPr lang="es-AR" sz="1800" b="0" i="1" u="none" strike="noStrike" cap="none">
                <a:solidFill>
                  <a:srgbClr val="262626"/>
                </a:solidFill>
                <a:latin typeface="Calibri"/>
                <a:ea typeface="Calibri"/>
                <a:cs typeface="Calibri"/>
                <a:sym typeface="Calibri"/>
              </a:rPr>
              <a:t>Cuando las sentencias de un módulo están relacionadas en el desarrollo de una única función.</a:t>
            </a:r>
            <a:endParaRPr/>
          </a:p>
        </p:txBody>
      </p:sp>
      <p:cxnSp>
        <p:nvCxnSpPr>
          <p:cNvPr id="1037" name="Google Shape;1037;p133"/>
          <p:cNvCxnSpPr>
            <a:endCxn id="1036" idx="1"/>
          </p:cNvCxnSpPr>
          <p:nvPr/>
        </p:nvCxnSpPr>
        <p:spPr>
          <a:xfrm>
            <a:off x="6469064" y="3198869"/>
            <a:ext cx="1343400" cy="152400"/>
          </a:xfrm>
          <a:prstGeom prst="straightConnector1">
            <a:avLst/>
          </a:prstGeom>
          <a:noFill/>
          <a:ln w="12700" cap="flat" cmpd="sng">
            <a:solidFill>
              <a:srgbClr val="C00000"/>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par>
                                <p:cTn id="8" presetID="10" presetClass="entr" presetSubtype="0" fill="hold" nodeType="withEffect">
                                  <p:stCondLst>
                                    <p:cond delay="0"/>
                                  </p:stCondLst>
                                  <p:childTnLst>
                                    <p:set>
                                      <p:cBhvr>
                                        <p:cTn id="9" dur="1" fill="hold">
                                          <p:stCondLst>
                                            <p:cond delay="0"/>
                                          </p:stCondLst>
                                        </p:cTn>
                                        <p:tgtEl>
                                          <p:spTgt spid="1026">
                                            <p:txEl>
                                              <p:pRg st="0" end="0"/>
                                            </p:txEl>
                                          </p:spTgt>
                                        </p:tgtEl>
                                        <p:attrNameLst>
                                          <p:attrName>style.visibility</p:attrName>
                                        </p:attrNameLst>
                                      </p:cBhvr>
                                      <p:to>
                                        <p:strVal val="visible"/>
                                      </p:to>
                                    </p:set>
                                    <p:animEffect transition="in" filter="fade">
                                      <p:cBhvr>
                                        <p:cTn id="10" dur="500"/>
                                        <p:tgtEl>
                                          <p:spTgt spid="1026">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27"/>
                                        </p:tgtEl>
                                        <p:attrNameLst>
                                          <p:attrName>style.visibility</p:attrName>
                                        </p:attrNameLst>
                                      </p:cBhvr>
                                      <p:to>
                                        <p:strVal val="visible"/>
                                      </p:to>
                                    </p:set>
                                    <p:animEffect transition="in" filter="fade">
                                      <p:cBhvr>
                                        <p:cTn id="13" dur="500"/>
                                        <p:tgtEl>
                                          <p:spTgt spid="102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1026">
                                            <p:txEl>
                                              <p:pRg st="0" end="0"/>
                                            </p:txEl>
                                          </p:spTgt>
                                        </p:tgtEl>
                                      </p:cBhvr>
                                    </p:animEffect>
                                    <p:set>
                                      <p:cBhvr>
                                        <p:cTn id="18" dur="1" fill="hold">
                                          <p:stCondLst>
                                            <p:cond delay="500"/>
                                          </p:stCondLst>
                                        </p:cTn>
                                        <p:tgtEl>
                                          <p:spTgt spid="1026">
                                            <p:txEl>
                                              <p:pRg st="0" end="0"/>
                                            </p:txEl>
                                          </p:spTgt>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20" dur="500"/>
                                        <p:tgtEl>
                                          <p:spTgt spid="1026"/>
                                        </p:tgtEl>
                                      </p:cBhvr>
                                    </p:animEffect>
                                    <p:set>
                                      <p:cBhvr>
                                        <p:cTn id="21" dur="1" fill="hold">
                                          <p:stCondLst>
                                            <p:cond delay="500"/>
                                          </p:stCondLst>
                                        </p:cTn>
                                        <p:tgtEl>
                                          <p:spTgt spid="1026"/>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1027"/>
                                        </p:tgtEl>
                                      </p:cBhvr>
                                    </p:animEffect>
                                    <p:set>
                                      <p:cBhvr>
                                        <p:cTn id="24" dur="1" fill="hold">
                                          <p:stCondLst>
                                            <p:cond delay="500"/>
                                          </p:stCondLst>
                                        </p:cTn>
                                        <p:tgtEl>
                                          <p:spTgt spid="1027"/>
                                        </p:tgtEl>
                                        <p:attrNameLst>
                                          <p:attrName>style.visibility</p:attrName>
                                        </p:attrNameLst>
                                      </p:cBhvr>
                                      <p:to>
                                        <p:strVal val="hidden"/>
                                      </p:to>
                                    </p:set>
                                  </p:childTnLst>
                                </p:cTn>
                              </p:par>
                              <p:par>
                                <p:cTn id="25" presetID="10" presetClass="entr" presetSubtype="0" fill="hold" nodeType="withEffect">
                                  <p:stCondLst>
                                    <p:cond delay="0"/>
                                  </p:stCondLst>
                                  <p:childTnLst>
                                    <p:set>
                                      <p:cBhvr>
                                        <p:cTn id="26" dur="1" fill="hold">
                                          <p:stCondLst>
                                            <p:cond delay="0"/>
                                          </p:stCondLst>
                                        </p:cTn>
                                        <p:tgtEl>
                                          <p:spTgt spid="1028"/>
                                        </p:tgtEl>
                                        <p:attrNameLst>
                                          <p:attrName>style.visibility</p:attrName>
                                        </p:attrNameLst>
                                      </p:cBhvr>
                                      <p:to>
                                        <p:strVal val="visible"/>
                                      </p:to>
                                    </p:set>
                                    <p:animEffect transition="in" filter="fade">
                                      <p:cBhvr>
                                        <p:cTn id="27" dur="500"/>
                                        <p:tgtEl>
                                          <p:spTgt spid="1028"/>
                                        </p:tgtEl>
                                      </p:cBhvr>
                                    </p:animEffect>
                                  </p:childTnLst>
                                </p:cTn>
                              </p:par>
                              <p:par>
                                <p:cTn id="28" presetID="10" presetClass="entr" presetSubtype="0" fill="hold" nodeType="withEffect">
                                  <p:stCondLst>
                                    <p:cond delay="0"/>
                                  </p:stCondLst>
                                  <p:childTnLst>
                                    <p:set>
                                      <p:cBhvr>
                                        <p:cTn id="29" dur="1" fill="hold">
                                          <p:stCondLst>
                                            <p:cond delay="0"/>
                                          </p:stCondLst>
                                        </p:cTn>
                                        <p:tgtEl>
                                          <p:spTgt spid="1028">
                                            <p:txEl>
                                              <p:pRg st="0" end="0"/>
                                            </p:txEl>
                                          </p:spTgt>
                                        </p:tgtEl>
                                        <p:attrNameLst>
                                          <p:attrName>style.visibility</p:attrName>
                                        </p:attrNameLst>
                                      </p:cBhvr>
                                      <p:to>
                                        <p:strVal val="visible"/>
                                      </p:to>
                                    </p:set>
                                    <p:animEffect transition="in" filter="fade">
                                      <p:cBhvr>
                                        <p:cTn id="30" dur="500"/>
                                        <p:tgtEl>
                                          <p:spTgt spid="1028">
                                            <p:txEl>
                                              <p:pRg st="0" end="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029"/>
                                        </p:tgtEl>
                                        <p:attrNameLst>
                                          <p:attrName>style.visibility</p:attrName>
                                        </p:attrNameLst>
                                      </p:cBhvr>
                                      <p:to>
                                        <p:strVal val="visible"/>
                                      </p:to>
                                    </p:set>
                                    <p:animEffect transition="in" filter="fade">
                                      <p:cBhvr>
                                        <p:cTn id="33" dur="500"/>
                                        <p:tgtEl>
                                          <p:spTgt spid="10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nodeType="clickEffect">
                                  <p:stCondLst>
                                    <p:cond delay="0"/>
                                  </p:stCondLst>
                                  <p:childTnLst>
                                    <p:animEffect transition="out" filter="fade">
                                      <p:cBhvr>
                                        <p:cTn id="37" dur="500"/>
                                        <p:tgtEl>
                                          <p:spTgt spid="1028">
                                            <p:txEl>
                                              <p:pRg st="0" end="0"/>
                                            </p:txEl>
                                          </p:spTgt>
                                        </p:tgtEl>
                                      </p:cBhvr>
                                    </p:animEffect>
                                    <p:set>
                                      <p:cBhvr>
                                        <p:cTn id="38" dur="1" fill="hold">
                                          <p:stCondLst>
                                            <p:cond delay="500"/>
                                          </p:stCondLst>
                                        </p:cTn>
                                        <p:tgtEl>
                                          <p:spTgt spid="1028">
                                            <p:txEl>
                                              <p:pRg st="0" end="0"/>
                                            </p:txEl>
                                          </p:spTgt>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500"/>
                                        <p:tgtEl>
                                          <p:spTgt spid="1028"/>
                                        </p:tgtEl>
                                      </p:cBhvr>
                                    </p:animEffect>
                                    <p:set>
                                      <p:cBhvr>
                                        <p:cTn id="41" dur="1" fill="hold">
                                          <p:stCondLst>
                                            <p:cond delay="500"/>
                                          </p:stCondLst>
                                        </p:cTn>
                                        <p:tgtEl>
                                          <p:spTgt spid="1028"/>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500"/>
                                        <p:tgtEl>
                                          <p:spTgt spid="1029"/>
                                        </p:tgtEl>
                                      </p:cBhvr>
                                    </p:animEffect>
                                    <p:set>
                                      <p:cBhvr>
                                        <p:cTn id="44" dur="1" fill="hold">
                                          <p:stCondLst>
                                            <p:cond delay="500"/>
                                          </p:stCondLst>
                                        </p:cTn>
                                        <p:tgtEl>
                                          <p:spTgt spid="1029"/>
                                        </p:tgtEl>
                                        <p:attrNameLst>
                                          <p:attrName>style.visibility</p:attrName>
                                        </p:attrNameLst>
                                      </p:cBhvr>
                                      <p:to>
                                        <p:strVal val="hidden"/>
                                      </p:to>
                                    </p:set>
                                  </p:childTnLst>
                                </p:cTn>
                              </p:par>
                              <p:par>
                                <p:cTn id="45" presetID="10" presetClass="entr" presetSubtype="0" fill="hold" nodeType="withEffect">
                                  <p:stCondLst>
                                    <p:cond delay="0"/>
                                  </p:stCondLst>
                                  <p:childTnLst>
                                    <p:set>
                                      <p:cBhvr>
                                        <p:cTn id="46" dur="1" fill="hold">
                                          <p:stCondLst>
                                            <p:cond delay="0"/>
                                          </p:stCondLst>
                                        </p:cTn>
                                        <p:tgtEl>
                                          <p:spTgt spid="1030"/>
                                        </p:tgtEl>
                                        <p:attrNameLst>
                                          <p:attrName>style.visibility</p:attrName>
                                        </p:attrNameLst>
                                      </p:cBhvr>
                                      <p:to>
                                        <p:strVal val="visible"/>
                                      </p:to>
                                    </p:set>
                                    <p:animEffect transition="in" filter="fade">
                                      <p:cBhvr>
                                        <p:cTn id="47" dur="500"/>
                                        <p:tgtEl>
                                          <p:spTgt spid="1030"/>
                                        </p:tgtEl>
                                      </p:cBhvr>
                                    </p:animEffect>
                                  </p:childTnLst>
                                </p:cTn>
                              </p:par>
                              <p:par>
                                <p:cTn id="48" presetID="10" presetClass="entr" presetSubtype="0" fill="hold" nodeType="withEffect">
                                  <p:stCondLst>
                                    <p:cond delay="0"/>
                                  </p:stCondLst>
                                  <p:childTnLst>
                                    <p:set>
                                      <p:cBhvr>
                                        <p:cTn id="49" dur="1" fill="hold">
                                          <p:stCondLst>
                                            <p:cond delay="0"/>
                                          </p:stCondLst>
                                        </p:cTn>
                                        <p:tgtEl>
                                          <p:spTgt spid="1030">
                                            <p:txEl>
                                              <p:pRg st="0" end="0"/>
                                            </p:txEl>
                                          </p:spTgt>
                                        </p:tgtEl>
                                        <p:attrNameLst>
                                          <p:attrName>style.visibility</p:attrName>
                                        </p:attrNameLst>
                                      </p:cBhvr>
                                      <p:to>
                                        <p:strVal val="visible"/>
                                      </p:to>
                                    </p:set>
                                    <p:animEffect transition="in" filter="fade">
                                      <p:cBhvr>
                                        <p:cTn id="50" dur="500"/>
                                        <p:tgtEl>
                                          <p:spTgt spid="1030">
                                            <p:txEl>
                                              <p:pRg st="0" end="0"/>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1031"/>
                                        </p:tgtEl>
                                        <p:attrNameLst>
                                          <p:attrName>style.visibility</p:attrName>
                                        </p:attrNameLst>
                                      </p:cBhvr>
                                      <p:to>
                                        <p:strVal val="visible"/>
                                      </p:to>
                                    </p:set>
                                    <p:animEffect transition="in" filter="fade">
                                      <p:cBhvr>
                                        <p:cTn id="53" dur="500"/>
                                        <p:tgtEl>
                                          <p:spTgt spid="103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nodeType="clickEffect">
                                  <p:stCondLst>
                                    <p:cond delay="0"/>
                                  </p:stCondLst>
                                  <p:childTnLst>
                                    <p:animEffect transition="out" filter="fade">
                                      <p:cBhvr>
                                        <p:cTn id="57" dur="500"/>
                                        <p:tgtEl>
                                          <p:spTgt spid="1030">
                                            <p:txEl>
                                              <p:pRg st="0" end="0"/>
                                            </p:txEl>
                                          </p:spTgt>
                                        </p:tgtEl>
                                      </p:cBhvr>
                                    </p:animEffect>
                                    <p:set>
                                      <p:cBhvr>
                                        <p:cTn id="58" dur="1" fill="hold">
                                          <p:stCondLst>
                                            <p:cond delay="500"/>
                                          </p:stCondLst>
                                        </p:cTn>
                                        <p:tgtEl>
                                          <p:spTgt spid="1030">
                                            <p:txEl>
                                              <p:pRg st="0" end="0"/>
                                            </p:txEl>
                                          </p:spTgt>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500"/>
                                        <p:tgtEl>
                                          <p:spTgt spid="1030"/>
                                        </p:tgtEl>
                                      </p:cBhvr>
                                    </p:animEffect>
                                    <p:set>
                                      <p:cBhvr>
                                        <p:cTn id="61" dur="1" fill="hold">
                                          <p:stCondLst>
                                            <p:cond delay="500"/>
                                          </p:stCondLst>
                                        </p:cTn>
                                        <p:tgtEl>
                                          <p:spTgt spid="1030"/>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1031"/>
                                        </p:tgtEl>
                                      </p:cBhvr>
                                    </p:animEffect>
                                    <p:set>
                                      <p:cBhvr>
                                        <p:cTn id="64" dur="1" fill="hold">
                                          <p:stCondLst>
                                            <p:cond delay="500"/>
                                          </p:stCondLst>
                                        </p:cTn>
                                        <p:tgtEl>
                                          <p:spTgt spid="1031"/>
                                        </p:tgtEl>
                                        <p:attrNameLst>
                                          <p:attrName>style.visibility</p:attrName>
                                        </p:attrNameLst>
                                      </p:cBhvr>
                                      <p:to>
                                        <p:strVal val="hidden"/>
                                      </p:to>
                                    </p:set>
                                  </p:childTnLst>
                                </p:cTn>
                              </p:par>
                              <p:par>
                                <p:cTn id="65" presetID="10" presetClass="entr" presetSubtype="0" fill="hold" nodeType="withEffect">
                                  <p:stCondLst>
                                    <p:cond delay="0"/>
                                  </p:stCondLst>
                                  <p:childTnLst>
                                    <p:set>
                                      <p:cBhvr>
                                        <p:cTn id="66" dur="1" fill="hold">
                                          <p:stCondLst>
                                            <p:cond delay="0"/>
                                          </p:stCondLst>
                                        </p:cTn>
                                        <p:tgtEl>
                                          <p:spTgt spid="1032"/>
                                        </p:tgtEl>
                                        <p:attrNameLst>
                                          <p:attrName>style.visibility</p:attrName>
                                        </p:attrNameLst>
                                      </p:cBhvr>
                                      <p:to>
                                        <p:strVal val="visible"/>
                                      </p:to>
                                    </p:set>
                                    <p:animEffect transition="in" filter="fade">
                                      <p:cBhvr>
                                        <p:cTn id="67" dur="500"/>
                                        <p:tgtEl>
                                          <p:spTgt spid="1032"/>
                                        </p:tgtEl>
                                      </p:cBhvr>
                                    </p:animEffect>
                                  </p:childTnLst>
                                </p:cTn>
                              </p:par>
                              <p:par>
                                <p:cTn id="68" presetID="10" presetClass="entr" presetSubtype="0" fill="hold" nodeType="withEffect">
                                  <p:stCondLst>
                                    <p:cond delay="0"/>
                                  </p:stCondLst>
                                  <p:childTnLst>
                                    <p:set>
                                      <p:cBhvr>
                                        <p:cTn id="69" dur="1" fill="hold">
                                          <p:stCondLst>
                                            <p:cond delay="0"/>
                                          </p:stCondLst>
                                        </p:cTn>
                                        <p:tgtEl>
                                          <p:spTgt spid="1032">
                                            <p:txEl>
                                              <p:pRg st="0" end="0"/>
                                            </p:txEl>
                                          </p:spTgt>
                                        </p:tgtEl>
                                        <p:attrNameLst>
                                          <p:attrName>style.visibility</p:attrName>
                                        </p:attrNameLst>
                                      </p:cBhvr>
                                      <p:to>
                                        <p:strVal val="visible"/>
                                      </p:to>
                                    </p:set>
                                    <p:animEffect transition="in" filter="fade">
                                      <p:cBhvr>
                                        <p:cTn id="70" dur="500"/>
                                        <p:tgtEl>
                                          <p:spTgt spid="1032">
                                            <p:txEl>
                                              <p:pRg st="0" end="0"/>
                                            </p:txEl>
                                          </p:spTgt>
                                        </p:tgtEl>
                                      </p:cBhvr>
                                    </p:animEffect>
                                  </p:childTnLst>
                                </p:cTn>
                              </p:par>
                              <p:par>
                                <p:cTn id="71" presetID="10" presetClass="entr" presetSubtype="0" fill="hold" nodeType="withEffect">
                                  <p:stCondLst>
                                    <p:cond delay="0"/>
                                  </p:stCondLst>
                                  <p:childTnLst>
                                    <p:set>
                                      <p:cBhvr>
                                        <p:cTn id="72" dur="1" fill="hold">
                                          <p:stCondLst>
                                            <p:cond delay="0"/>
                                          </p:stCondLst>
                                        </p:cTn>
                                        <p:tgtEl>
                                          <p:spTgt spid="1033"/>
                                        </p:tgtEl>
                                        <p:attrNameLst>
                                          <p:attrName>style.visibility</p:attrName>
                                        </p:attrNameLst>
                                      </p:cBhvr>
                                      <p:to>
                                        <p:strVal val="visible"/>
                                      </p:to>
                                    </p:set>
                                    <p:animEffect transition="in" filter="fade">
                                      <p:cBhvr>
                                        <p:cTn id="73" dur="500"/>
                                        <p:tgtEl>
                                          <p:spTgt spid="1033"/>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xit" presetSubtype="0" fill="hold" nodeType="clickEffect">
                                  <p:stCondLst>
                                    <p:cond delay="0"/>
                                  </p:stCondLst>
                                  <p:childTnLst>
                                    <p:animEffect transition="out" filter="fade">
                                      <p:cBhvr>
                                        <p:cTn id="77" dur="500"/>
                                        <p:tgtEl>
                                          <p:spTgt spid="1032">
                                            <p:txEl>
                                              <p:pRg st="0" end="0"/>
                                            </p:txEl>
                                          </p:spTgt>
                                        </p:tgtEl>
                                      </p:cBhvr>
                                    </p:animEffect>
                                    <p:set>
                                      <p:cBhvr>
                                        <p:cTn id="78" dur="1" fill="hold">
                                          <p:stCondLst>
                                            <p:cond delay="500"/>
                                          </p:stCondLst>
                                        </p:cTn>
                                        <p:tgtEl>
                                          <p:spTgt spid="1032">
                                            <p:txEl>
                                              <p:pRg st="0" end="0"/>
                                            </p:txEl>
                                          </p:spTgt>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500"/>
                                        <p:tgtEl>
                                          <p:spTgt spid="1032"/>
                                        </p:tgtEl>
                                      </p:cBhvr>
                                    </p:animEffect>
                                    <p:set>
                                      <p:cBhvr>
                                        <p:cTn id="81" dur="1" fill="hold">
                                          <p:stCondLst>
                                            <p:cond delay="500"/>
                                          </p:stCondLst>
                                        </p:cTn>
                                        <p:tgtEl>
                                          <p:spTgt spid="1032"/>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500"/>
                                        <p:tgtEl>
                                          <p:spTgt spid="1033"/>
                                        </p:tgtEl>
                                      </p:cBhvr>
                                    </p:animEffect>
                                    <p:set>
                                      <p:cBhvr>
                                        <p:cTn id="84" dur="1" fill="hold">
                                          <p:stCondLst>
                                            <p:cond delay="500"/>
                                          </p:stCondLst>
                                        </p:cTn>
                                        <p:tgtEl>
                                          <p:spTgt spid="1033"/>
                                        </p:tgtEl>
                                        <p:attrNameLst>
                                          <p:attrName>style.visibility</p:attrName>
                                        </p:attrNameLst>
                                      </p:cBhvr>
                                      <p:to>
                                        <p:strVal val="hidden"/>
                                      </p:to>
                                    </p:set>
                                  </p:childTnLst>
                                </p:cTn>
                              </p:par>
                              <p:par>
                                <p:cTn id="85" presetID="10" presetClass="entr" presetSubtype="0" fill="hold" nodeType="withEffect">
                                  <p:stCondLst>
                                    <p:cond delay="0"/>
                                  </p:stCondLst>
                                  <p:childTnLst>
                                    <p:set>
                                      <p:cBhvr>
                                        <p:cTn id="86" dur="1" fill="hold">
                                          <p:stCondLst>
                                            <p:cond delay="0"/>
                                          </p:stCondLst>
                                        </p:cTn>
                                        <p:tgtEl>
                                          <p:spTgt spid="1034"/>
                                        </p:tgtEl>
                                        <p:attrNameLst>
                                          <p:attrName>style.visibility</p:attrName>
                                        </p:attrNameLst>
                                      </p:cBhvr>
                                      <p:to>
                                        <p:strVal val="visible"/>
                                      </p:to>
                                    </p:set>
                                    <p:animEffect transition="in" filter="fade">
                                      <p:cBhvr>
                                        <p:cTn id="87" dur="500"/>
                                        <p:tgtEl>
                                          <p:spTgt spid="1034"/>
                                        </p:tgtEl>
                                      </p:cBhvr>
                                    </p:animEffect>
                                  </p:childTnLst>
                                </p:cTn>
                              </p:par>
                              <p:par>
                                <p:cTn id="88" presetID="10" presetClass="entr" presetSubtype="0" fill="hold" nodeType="withEffect">
                                  <p:stCondLst>
                                    <p:cond delay="0"/>
                                  </p:stCondLst>
                                  <p:childTnLst>
                                    <p:set>
                                      <p:cBhvr>
                                        <p:cTn id="89" dur="1" fill="hold">
                                          <p:stCondLst>
                                            <p:cond delay="0"/>
                                          </p:stCondLst>
                                        </p:cTn>
                                        <p:tgtEl>
                                          <p:spTgt spid="1034">
                                            <p:txEl>
                                              <p:pRg st="0" end="0"/>
                                            </p:txEl>
                                          </p:spTgt>
                                        </p:tgtEl>
                                        <p:attrNameLst>
                                          <p:attrName>style.visibility</p:attrName>
                                        </p:attrNameLst>
                                      </p:cBhvr>
                                      <p:to>
                                        <p:strVal val="visible"/>
                                      </p:to>
                                    </p:set>
                                    <p:animEffect transition="in" filter="fade">
                                      <p:cBhvr>
                                        <p:cTn id="90" dur="500"/>
                                        <p:tgtEl>
                                          <p:spTgt spid="1034">
                                            <p:txEl>
                                              <p:pRg st="0" end="0"/>
                                            </p:txEl>
                                          </p:spTgt>
                                        </p:tgtEl>
                                      </p:cBhvr>
                                    </p:animEffect>
                                  </p:childTnLst>
                                </p:cTn>
                              </p:par>
                              <p:par>
                                <p:cTn id="91" presetID="10" presetClass="entr" presetSubtype="0" fill="hold" nodeType="withEffect">
                                  <p:stCondLst>
                                    <p:cond delay="0"/>
                                  </p:stCondLst>
                                  <p:childTnLst>
                                    <p:set>
                                      <p:cBhvr>
                                        <p:cTn id="92" dur="1" fill="hold">
                                          <p:stCondLst>
                                            <p:cond delay="0"/>
                                          </p:stCondLst>
                                        </p:cTn>
                                        <p:tgtEl>
                                          <p:spTgt spid="1035"/>
                                        </p:tgtEl>
                                        <p:attrNameLst>
                                          <p:attrName>style.visibility</p:attrName>
                                        </p:attrNameLst>
                                      </p:cBhvr>
                                      <p:to>
                                        <p:strVal val="visible"/>
                                      </p:to>
                                    </p:set>
                                    <p:animEffect transition="in" filter="fade">
                                      <p:cBhvr>
                                        <p:cTn id="93" dur="500"/>
                                        <p:tgtEl>
                                          <p:spTgt spid="1035"/>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xit" presetSubtype="0" fill="hold" nodeType="clickEffect">
                                  <p:stCondLst>
                                    <p:cond delay="0"/>
                                  </p:stCondLst>
                                  <p:childTnLst>
                                    <p:animEffect transition="out" filter="fade">
                                      <p:cBhvr>
                                        <p:cTn id="97" dur="500"/>
                                        <p:tgtEl>
                                          <p:spTgt spid="1034">
                                            <p:txEl>
                                              <p:pRg st="0" end="0"/>
                                            </p:txEl>
                                          </p:spTgt>
                                        </p:tgtEl>
                                      </p:cBhvr>
                                    </p:animEffect>
                                    <p:set>
                                      <p:cBhvr>
                                        <p:cTn id="98" dur="1" fill="hold">
                                          <p:stCondLst>
                                            <p:cond delay="500"/>
                                          </p:stCondLst>
                                        </p:cTn>
                                        <p:tgtEl>
                                          <p:spTgt spid="1034">
                                            <p:txEl>
                                              <p:pRg st="0" end="0"/>
                                            </p:txEl>
                                          </p:spTgt>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500"/>
                                        <p:tgtEl>
                                          <p:spTgt spid="1034"/>
                                        </p:tgtEl>
                                      </p:cBhvr>
                                    </p:animEffect>
                                    <p:set>
                                      <p:cBhvr>
                                        <p:cTn id="101" dur="1" fill="hold">
                                          <p:stCondLst>
                                            <p:cond delay="500"/>
                                          </p:stCondLst>
                                        </p:cTn>
                                        <p:tgtEl>
                                          <p:spTgt spid="1034"/>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500"/>
                                        <p:tgtEl>
                                          <p:spTgt spid="1035"/>
                                        </p:tgtEl>
                                      </p:cBhvr>
                                    </p:animEffect>
                                    <p:set>
                                      <p:cBhvr>
                                        <p:cTn id="104" dur="1" fill="hold">
                                          <p:stCondLst>
                                            <p:cond delay="500"/>
                                          </p:stCondLst>
                                        </p:cTn>
                                        <p:tgtEl>
                                          <p:spTgt spid="1035"/>
                                        </p:tgtEl>
                                        <p:attrNameLst>
                                          <p:attrName>style.visibility</p:attrName>
                                        </p:attrNameLst>
                                      </p:cBhvr>
                                      <p:to>
                                        <p:strVal val="hidden"/>
                                      </p:to>
                                    </p:set>
                                  </p:childTnLst>
                                </p:cTn>
                              </p:par>
                              <p:par>
                                <p:cTn id="105" presetID="10" presetClass="entr" presetSubtype="0" fill="hold" nodeType="withEffect">
                                  <p:stCondLst>
                                    <p:cond delay="0"/>
                                  </p:stCondLst>
                                  <p:childTnLst>
                                    <p:set>
                                      <p:cBhvr>
                                        <p:cTn id="106" dur="1" fill="hold">
                                          <p:stCondLst>
                                            <p:cond delay="0"/>
                                          </p:stCondLst>
                                        </p:cTn>
                                        <p:tgtEl>
                                          <p:spTgt spid="1036"/>
                                        </p:tgtEl>
                                        <p:attrNameLst>
                                          <p:attrName>style.visibility</p:attrName>
                                        </p:attrNameLst>
                                      </p:cBhvr>
                                      <p:to>
                                        <p:strVal val="visible"/>
                                      </p:to>
                                    </p:set>
                                    <p:animEffect transition="in" filter="fade">
                                      <p:cBhvr>
                                        <p:cTn id="107" dur="500"/>
                                        <p:tgtEl>
                                          <p:spTgt spid="1036"/>
                                        </p:tgtEl>
                                      </p:cBhvr>
                                    </p:animEffect>
                                  </p:childTnLst>
                                </p:cTn>
                              </p:par>
                              <p:par>
                                <p:cTn id="108" presetID="10" presetClass="entr" presetSubtype="0" fill="hold" nodeType="withEffect">
                                  <p:stCondLst>
                                    <p:cond delay="0"/>
                                  </p:stCondLst>
                                  <p:childTnLst>
                                    <p:set>
                                      <p:cBhvr>
                                        <p:cTn id="109" dur="1" fill="hold">
                                          <p:stCondLst>
                                            <p:cond delay="0"/>
                                          </p:stCondLst>
                                        </p:cTn>
                                        <p:tgtEl>
                                          <p:spTgt spid="1036">
                                            <p:txEl>
                                              <p:pRg st="0" end="0"/>
                                            </p:txEl>
                                          </p:spTgt>
                                        </p:tgtEl>
                                        <p:attrNameLst>
                                          <p:attrName>style.visibility</p:attrName>
                                        </p:attrNameLst>
                                      </p:cBhvr>
                                      <p:to>
                                        <p:strVal val="visible"/>
                                      </p:to>
                                    </p:set>
                                    <p:animEffect transition="in" filter="fade">
                                      <p:cBhvr>
                                        <p:cTn id="110" dur="500"/>
                                        <p:tgtEl>
                                          <p:spTgt spid="1036">
                                            <p:txEl>
                                              <p:pRg st="0" end="0"/>
                                            </p:txEl>
                                          </p:spTgt>
                                        </p:tgtEl>
                                      </p:cBhvr>
                                    </p:animEffect>
                                  </p:childTnLst>
                                </p:cTn>
                              </p:par>
                              <p:par>
                                <p:cTn id="111" presetID="10" presetClass="entr" presetSubtype="0" fill="hold" nodeType="withEffect">
                                  <p:stCondLst>
                                    <p:cond delay="0"/>
                                  </p:stCondLst>
                                  <p:childTnLst>
                                    <p:set>
                                      <p:cBhvr>
                                        <p:cTn id="112" dur="1" fill="hold">
                                          <p:stCondLst>
                                            <p:cond delay="0"/>
                                          </p:stCondLst>
                                        </p:cTn>
                                        <p:tgtEl>
                                          <p:spTgt spid="1037"/>
                                        </p:tgtEl>
                                        <p:attrNameLst>
                                          <p:attrName>style.visibility</p:attrName>
                                        </p:attrNameLst>
                                      </p:cBhvr>
                                      <p:to>
                                        <p:strVal val="visible"/>
                                      </p:to>
                                    </p:set>
                                    <p:animEffect transition="in" filter="fade">
                                      <p:cBhvr>
                                        <p:cTn id="113" dur="500"/>
                                        <p:tgtEl>
                                          <p:spTgt spid="1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p134"/>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1043" name="Google Shape;1043;p13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044" name="Google Shape;1044;p13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045" name="Google Shape;1045;p13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57</a:t>
            </a:fld>
            <a:endParaRPr/>
          </a:p>
        </p:txBody>
      </p:sp>
      <p:sp>
        <p:nvSpPr>
          <p:cNvPr id="1046" name="Google Shape;1046;p134"/>
          <p:cNvSpPr txBox="1">
            <a:spLocks noGrp="1"/>
          </p:cNvSpPr>
          <p:nvPr>
            <p:ph type="body" idx="4294967295"/>
          </p:nvPr>
        </p:nvSpPr>
        <p:spPr>
          <a:xfrm>
            <a:off x="1096963" y="2516673"/>
            <a:ext cx="10228763"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0"/>
              </a:spcAft>
              <a:buClr>
                <a:srgbClr val="C00000"/>
              </a:buClr>
              <a:buSzPts val="2800"/>
              <a:buFont typeface="Noto Sans Symbols"/>
              <a:buChar char="❖"/>
            </a:pPr>
            <a:r>
              <a:rPr lang="es-AR" sz="2800">
                <a:solidFill>
                  <a:schemeClr val="dk1"/>
                </a:solidFill>
              </a:rPr>
              <a:t>Acoplamiento</a:t>
            </a:r>
            <a:endParaRPr/>
          </a:p>
          <a:p>
            <a:pPr marL="546100" lvl="1" indent="0" algn="just" rtl="0">
              <a:lnSpc>
                <a:spcPct val="100000"/>
              </a:lnSpc>
              <a:spcBef>
                <a:spcPts val="1200"/>
              </a:spcBef>
              <a:spcAft>
                <a:spcPts val="0"/>
              </a:spcAft>
              <a:buClr>
                <a:srgbClr val="C00000"/>
              </a:buClr>
              <a:buSzPts val="2400"/>
              <a:buNone/>
            </a:pPr>
            <a:r>
              <a:rPr lang="es-AR" sz="2400" i="1">
                <a:solidFill>
                  <a:schemeClr val="dk1"/>
                </a:solidFill>
              </a:rPr>
              <a:t>Medida de interconexión entre los módulos. </a:t>
            </a:r>
            <a:endParaRPr/>
          </a:p>
          <a:p>
            <a:pPr marL="546100" lvl="1" indent="0" algn="just" rtl="0">
              <a:lnSpc>
                <a:spcPct val="100000"/>
              </a:lnSpc>
              <a:spcBef>
                <a:spcPts val="600"/>
              </a:spcBef>
              <a:spcAft>
                <a:spcPts val="0"/>
              </a:spcAft>
              <a:buClr>
                <a:srgbClr val="C00000"/>
              </a:buClr>
              <a:buSzPts val="2400"/>
              <a:buNone/>
            </a:pPr>
            <a:r>
              <a:rPr lang="es-AR" sz="2400" i="1">
                <a:solidFill>
                  <a:schemeClr val="dk1"/>
                </a:solidFill>
              </a:rPr>
              <a:t>Punto donde se realiza la entrada o referencia y los datos que pasan a través de la interfaz. </a:t>
            </a:r>
            <a:endParaRPr/>
          </a:p>
          <a:p>
            <a:pPr marL="292100" lvl="1" indent="0" algn="just" rtl="0">
              <a:lnSpc>
                <a:spcPct val="100000"/>
              </a:lnSpc>
              <a:spcBef>
                <a:spcPts val="600"/>
              </a:spcBef>
              <a:spcAft>
                <a:spcPts val="0"/>
              </a:spcAft>
              <a:buClr>
                <a:srgbClr val="C00000"/>
              </a:buClr>
              <a:buSzPts val="2600"/>
              <a:buNone/>
            </a:pPr>
            <a:endParaRPr sz="2600">
              <a:solidFill>
                <a:schemeClr val="dk1"/>
              </a:solidFill>
            </a:endParaRPr>
          </a:p>
          <a:p>
            <a:pPr marL="546100" lvl="0" indent="-368300" algn="just" rtl="0">
              <a:lnSpc>
                <a:spcPct val="100000"/>
              </a:lnSpc>
              <a:spcBef>
                <a:spcPts val="1200"/>
              </a:spcBef>
              <a:spcAft>
                <a:spcPts val="1200"/>
              </a:spcAft>
              <a:buClr>
                <a:srgbClr val="C00000"/>
              </a:buClr>
              <a:buSzPts val="2800"/>
              <a:buFont typeface="Noto Sans Symbols"/>
              <a:buNone/>
            </a:pPr>
            <a:endParaRPr sz="2800">
              <a:solidFill>
                <a:schemeClr val="dk1"/>
              </a:solidFill>
            </a:endParaRPr>
          </a:p>
        </p:txBody>
      </p:sp>
      <p:pic>
        <p:nvPicPr>
          <p:cNvPr id="1047" name="Google Shape;1047;p134"/>
          <p:cNvPicPr preferRelativeResize="0"/>
          <p:nvPr/>
        </p:nvPicPr>
        <p:blipFill rotWithShape="1">
          <a:blip r:embed="rId3">
            <a:alphaModFix/>
          </a:blip>
          <a:srcRect l="57568" t="77898" r="-4162" b="9141"/>
          <a:stretch/>
        </p:blipFill>
        <p:spPr>
          <a:xfrm>
            <a:off x="1096963" y="1790768"/>
            <a:ext cx="3892132" cy="725905"/>
          </a:xfrm>
          <a:prstGeom prst="rect">
            <a:avLst/>
          </a:prstGeom>
          <a:noFill/>
          <a:ln>
            <a:noFill/>
          </a:ln>
        </p:spPr>
      </p:pic>
      <p:pic>
        <p:nvPicPr>
          <p:cNvPr id="1048" name="Google Shape;1048;p134" descr="Marca de verificación"/>
          <p:cNvPicPr preferRelativeResize="0"/>
          <p:nvPr/>
        </p:nvPicPr>
        <p:blipFill rotWithShape="1">
          <a:blip r:embed="rId4">
            <a:alphaModFix/>
          </a:blip>
          <a:srcRect/>
          <a:stretch/>
        </p:blipFill>
        <p:spPr>
          <a:xfrm>
            <a:off x="2411760" y="4586638"/>
            <a:ext cx="720000" cy="720000"/>
          </a:xfrm>
          <a:prstGeom prst="rect">
            <a:avLst/>
          </a:prstGeom>
          <a:noFill/>
          <a:ln>
            <a:noFill/>
          </a:ln>
        </p:spPr>
      </p:pic>
      <p:sp>
        <p:nvSpPr>
          <p:cNvPr id="1049" name="Google Shape;1049;p134"/>
          <p:cNvSpPr/>
          <p:nvPr/>
        </p:nvSpPr>
        <p:spPr>
          <a:xfrm>
            <a:off x="3131760" y="4748998"/>
            <a:ext cx="2742480" cy="3952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AR" sz="2000" b="0" i="0" u="none" strike="noStrike" cap="none">
                <a:solidFill>
                  <a:srgbClr val="000000"/>
                </a:solidFill>
                <a:latin typeface="Calibri"/>
                <a:ea typeface="Calibri"/>
                <a:cs typeface="Calibri"/>
                <a:sym typeface="Calibri"/>
              </a:rPr>
              <a:t>Bajo acoplamiento</a:t>
            </a:r>
            <a:endParaRPr sz="2000" b="0" i="0" u="none" strike="noStrike" cap="none">
              <a:solidFill>
                <a:schemeClr val="dk1"/>
              </a:solidFill>
              <a:latin typeface="Arial"/>
              <a:ea typeface="Arial"/>
              <a:cs typeface="Arial"/>
              <a:sym typeface="Arial"/>
            </a:endParaRPr>
          </a:p>
        </p:txBody>
      </p:sp>
      <p:sp>
        <p:nvSpPr>
          <p:cNvPr id="1050" name="Google Shape;1050;p134"/>
          <p:cNvSpPr/>
          <p:nvPr/>
        </p:nvSpPr>
        <p:spPr>
          <a:xfrm>
            <a:off x="6785223" y="4586638"/>
            <a:ext cx="720000" cy="720000"/>
          </a:xfrm>
          <a:prstGeom prst="mathMultiply">
            <a:avLst>
              <a:gd name="adj1" fmla="val 23520"/>
            </a:avLst>
          </a:prstGeom>
          <a:solidFill>
            <a:schemeClr val="accent1"/>
          </a:solidFill>
          <a:ln w="25400" cap="flat" cmpd="sng">
            <a:solidFill>
              <a:srgbClr val="8C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1" name="Google Shape;1051;p134"/>
          <p:cNvSpPr/>
          <p:nvPr/>
        </p:nvSpPr>
        <p:spPr>
          <a:xfrm>
            <a:off x="7505223" y="4748998"/>
            <a:ext cx="2742480" cy="3952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AR" sz="2000" b="0" i="0" u="none" strike="noStrike" cap="none">
                <a:solidFill>
                  <a:srgbClr val="000000"/>
                </a:solidFill>
                <a:latin typeface="Calibri"/>
                <a:ea typeface="Calibri"/>
                <a:cs typeface="Calibri"/>
                <a:sym typeface="Calibri"/>
              </a:rPr>
              <a:t>Alto acoplamiento</a:t>
            </a: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135"/>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1057" name="Google Shape;1057;p135"/>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058" name="Google Shape;1058;p135"/>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059" name="Google Shape;1059;p135"/>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58</a:t>
            </a:fld>
            <a:endParaRPr/>
          </a:p>
        </p:txBody>
      </p:sp>
      <p:sp>
        <p:nvSpPr>
          <p:cNvPr id="1060" name="Google Shape;1060;p135"/>
          <p:cNvSpPr txBox="1">
            <a:spLocks noGrp="1"/>
          </p:cNvSpPr>
          <p:nvPr>
            <p:ph type="body" idx="4294967295"/>
          </p:nvPr>
        </p:nvSpPr>
        <p:spPr>
          <a:xfrm>
            <a:off x="1096963" y="2516673"/>
            <a:ext cx="10228763"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0"/>
              </a:spcAft>
              <a:buClr>
                <a:srgbClr val="C00000"/>
              </a:buClr>
              <a:buSzPts val="2800"/>
              <a:buFont typeface="Noto Sans Symbols"/>
              <a:buChar char="❖"/>
            </a:pPr>
            <a:r>
              <a:rPr lang="es-AR" sz="2800">
                <a:solidFill>
                  <a:schemeClr val="dk1"/>
                </a:solidFill>
              </a:rPr>
              <a:t>Niveles de acoplamiento</a:t>
            </a:r>
            <a:endParaRPr/>
          </a:p>
          <a:p>
            <a:pPr marL="292100" lvl="1" indent="0" algn="just" rtl="0">
              <a:lnSpc>
                <a:spcPct val="100000"/>
              </a:lnSpc>
              <a:spcBef>
                <a:spcPts val="1200"/>
              </a:spcBef>
              <a:spcAft>
                <a:spcPts val="0"/>
              </a:spcAft>
              <a:buClr>
                <a:srgbClr val="C00000"/>
              </a:buClr>
              <a:buSzPts val="2600"/>
              <a:buNone/>
            </a:pPr>
            <a:endParaRPr sz="2600">
              <a:solidFill>
                <a:schemeClr val="dk1"/>
              </a:solidFill>
            </a:endParaRPr>
          </a:p>
          <a:p>
            <a:pPr marL="546100" lvl="0" indent="-368300" algn="just" rtl="0">
              <a:lnSpc>
                <a:spcPct val="100000"/>
              </a:lnSpc>
              <a:spcBef>
                <a:spcPts val="1200"/>
              </a:spcBef>
              <a:spcAft>
                <a:spcPts val="1200"/>
              </a:spcAft>
              <a:buClr>
                <a:srgbClr val="C00000"/>
              </a:buClr>
              <a:buSzPts val="2800"/>
              <a:buFont typeface="Noto Sans Symbols"/>
              <a:buNone/>
            </a:pPr>
            <a:endParaRPr sz="2800">
              <a:solidFill>
                <a:schemeClr val="dk1"/>
              </a:solidFill>
            </a:endParaRPr>
          </a:p>
        </p:txBody>
      </p:sp>
      <p:pic>
        <p:nvPicPr>
          <p:cNvPr id="1061" name="Google Shape;1061;p135"/>
          <p:cNvPicPr preferRelativeResize="0"/>
          <p:nvPr/>
        </p:nvPicPr>
        <p:blipFill rotWithShape="1">
          <a:blip r:embed="rId3">
            <a:alphaModFix/>
          </a:blip>
          <a:srcRect l="57568" t="77898" r="-4162" b="9141"/>
          <a:stretch/>
        </p:blipFill>
        <p:spPr>
          <a:xfrm>
            <a:off x="1096963" y="1790768"/>
            <a:ext cx="3892132" cy="725905"/>
          </a:xfrm>
          <a:prstGeom prst="rect">
            <a:avLst/>
          </a:prstGeom>
          <a:noFill/>
          <a:ln>
            <a:noFill/>
          </a:ln>
        </p:spPr>
      </p:pic>
      <p:grpSp>
        <p:nvGrpSpPr>
          <p:cNvPr id="1062" name="Google Shape;1062;p135"/>
          <p:cNvGrpSpPr/>
          <p:nvPr/>
        </p:nvGrpSpPr>
        <p:grpSpPr>
          <a:xfrm>
            <a:off x="3043029" y="2983694"/>
            <a:ext cx="5306514" cy="3421800"/>
            <a:chOff x="2559340" y="2917588"/>
            <a:chExt cx="5306514" cy="3421800"/>
          </a:xfrm>
        </p:grpSpPr>
        <p:sp>
          <p:nvSpPr>
            <p:cNvPr id="1063" name="Google Shape;1063;p135"/>
            <p:cNvSpPr/>
            <p:nvPr/>
          </p:nvSpPr>
          <p:spPr>
            <a:xfrm>
              <a:off x="3735385" y="2917588"/>
              <a:ext cx="4130469" cy="3421800"/>
            </a:xfrm>
            <a:prstGeom prst="rect">
              <a:avLst/>
            </a:prstGeom>
            <a:noFill/>
            <a:ln>
              <a:noFill/>
            </a:ln>
          </p:spPr>
          <p:txBody>
            <a:bodyPr spcFirstLastPara="1" wrap="square" lIns="90000" tIns="45000" rIns="90000" bIns="45000" anchor="t" anchorCtr="0">
              <a:noAutofit/>
            </a:bodyPr>
            <a:lstStyle/>
            <a:p>
              <a:pPr marL="801688" marR="0" lvl="2" indent="-127000" algn="l" rtl="0">
                <a:lnSpc>
                  <a:spcPct val="85000"/>
                </a:lnSpc>
                <a:spcBef>
                  <a:spcPts val="601"/>
                </a:spcBef>
                <a:spcAft>
                  <a:spcPts val="0"/>
                </a:spcAft>
                <a:buClr>
                  <a:srgbClr val="262626"/>
                </a:buClr>
                <a:buSzPts val="2000"/>
                <a:buFont typeface="Arial"/>
                <a:buChar char=" "/>
              </a:pPr>
              <a:r>
                <a:rPr lang="es-AR" sz="2000" b="0" i="0" u="none" strike="noStrike" cap="none">
                  <a:solidFill>
                    <a:srgbClr val="262626"/>
                  </a:solidFill>
                  <a:latin typeface="Calibri"/>
                  <a:ea typeface="Calibri"/>
                  <a:cs typeface="Calibri"/>
                  <a:sym typeface="Calibri"/>
                </a:rPr>
                <a:t>Acoplamiento común</a:t>
              </a:r>
              <a:endParaRPr sz="2000" b="0" i="0" u="none" strike="noStrike" cap="none">
                <a:solidFill>
                  <a:schemeClr val="dk1"/>
                </a:solidFill>
                <a:latin typeface="Calibri"/>
                <a:ea typeface="Calibri"/>
                <a:cs typeface="Calibri"/>
                <a:sym typeface="Calibri"/>
              </a:endParaRPr>
            </a:p>
            <a:p>
              <a:pPr marL="801688" marR="0" lvl="3" indent="-127000" algn="l" rtl="0">
                <a:lnSpc>
                  <a:spcPct val="85000"/>
                </a:lnSpc>
                <a:spcBef>
                  <a:spcPts val="601"/>
                </a:spcBef>
                <a:spcAft>
                  <a:spcPts val="0"/>
                </a:spcAft>
                <a:buClr>
                  <a:srgbClr val="262626"/>
                </a:buClr>
                <a:buSzPts val="2000"/>
                <a:buFont typeface="Arial"/>
                <a:buChar char=" "/>
              </a:pPr>
              <a:r>
                <a:rPr lang="es-AR" sz="2000" b="0" i="0" u="none" strike="noStrike" cap="none">
                  <a:solidFill>
                    <a:srgbClr val="262626"/>
                  </a:solidFill>
                  <a:latin typeface="Calibri"/>
                  <a:ea typeface="Calibri"/>
                  <a:cs typeface="Calibri"/>
                  <a:sym typeface="Calibri"/>
                </a:rPr>
                <a:t>Acoplamiento externo</a:t>
              </a:r>
              <a:endParaRPr sz="2000" b="0" i="0" u="none" strike="noStrike" cap="none">
                <a:solidFill>
                  <a:schemeClr val="dk1"/>
                </a:solidFill>
                <a:latin typeface="Calibri"/>
                <a:ea typeface="Calibri"/>
                <a:cs typeface="Calibri"/>
                <a:sym typeface="Calibri"/>
              </a:endParaRPr>
            </a:p>
            <a:p>
              <a:pPr marL="801688" marR="0" lvl="3" indent="-127000" algn="l" rtl="0">
                <a:lnSpc>
                  <a:spcPct val="85000"/>
                </a:lnSpc>
                <a:spcBef>
                  <a:spcPts val="601"/>
                </a:spcBef>
                <a:spcAft>
                  <a:spcPts val="0"/>
                </a:spcAft>
                <a:buClr>
                  <a:srgbClr val="262626"/>
                </a:buClr>
                <a:buSzPts val="2000"/>
                <a:buFont typeface="Arial"/>
                <a:buChar char=" "/>
              </a:pPr>
              <a:r>
                <a:rPr lang="es-AR" sz="2000" b="0" i="0" u="none" strike="noStrike" cap="none">
                  <a:solidFill>
                    <a:srgbClr val="262626"/>
                  </a:solidFill>
                  <a:latin typeface="Calibri"/>
                  <a:ea typeface="Calibri"/>
                  <a:cs typeface="Calibri"/>
                  <a:sym typeface="Calibri"/>
                </a:rPr>
                <a:t>Acoplamiento de contenido</a:t>
              </a:r>
              <a:endParaRPr sz="2000" b="0" i="0" u="none" strike="noStrike" cap="none">
                <a:solidFill>
                  <a:schemeClr val="dk1"/>
                </a:solidFill>
                <a:latin typeface="Calibri"/>
                <a:ea typeface="Calibri"/>
                <a:cs typeface="Calibri"/>
                <a:sym typeface="Calibri"/>
              </a:endParaRPr>
            </a:p>
            <a:p>
              <a:pPr marL="801688" marR="0" lvl="3" indent="0" algn="l" rtl="0">
                <a:lnSpc>
                  <a:spcPct val="85000"/>
                </a:lnSpc>
                <a:spcBef>
                  <a:spcPts val="0"/>
                </a:spcBef>
                <a:spcAft>
                  <a:spcPts val="0"/>
                </a:spcAft>
                <a:buClr>
                  <a:srgbClr val="262626"/>
                </a:buClr>
                <a:buSzPts val="2400"/>
                <a:buFont typeface="Arial"/>
                <a:buNone/>
              </a:pPr>
              <a:endParaRPr sz="2000" b="0" i="0" u="none" strike="noStrike" cap="none">
                <a:solidFill>
                  <a:schemeClr val="dk1"/>
                </a:solidFill>
                <a:latin typeface="Calibri"/>
                <a:ea typeface="Calibri"/>
                <a:cs typeface="Calibri"/>
                <a:sym typeface="Calibri"/>
              </a:endParaRPr>
            </a:p>
            <a:p>
              <a:pPr marL="801688" marR="0" lvl="0" indent="0" algn="l" rtl="0">
                <a:lnSpc>
                  <a:spcPct val="100000"/>
                </a:lnSpc>
                <a:spcBef>
                  <a:spcPts val="0"/>
                </a:spcBef>
                <a:spcAft>
                  <a:spcPts val="0"/>
                </a:spcAft>
                <a:buClr>
                  <a:srgbClr val="000000"/>
                </a:buClr>
                <a:buSzPts val="2000"/>
                <a:buFont typeface="Arial"/>
                <a:buNone/>
              </a:pPr>
              <a:endParaRPr sz="1400" b="0" i="0" u="none" strike="noStrike" cap="none">
                <a:solidFill>
                  <a:schemeClr val="dk1"/>
                </a:solidFill>
                <a:latin typeface="Calibri"/>
                <a:ea typeface="Calibri"/>
                <a:cs typeface="Calibri"/>
                <a:sym typeface="Calibri"/>
              </a:endParaRPr>
            </a:p>
            <a:p>
              <a:pPr marL="801688" marR="0" lvl="3" indent="-127000" algn="l" rtl="0">
                <a:lnSpc>
                  <a:spcPct val="85000"/>
                </a:lnSpc>
                <a:spcBef>
                  <a:spcPts val="601"/>
                </a:spcBef>
                <a:spcAft>
                  <a:spcPts val="0"/>
                </a:spcAft>
                <a:buClr>
                  <a:srgbClr val="262626"/>
                </a:buClr>
                <a:buSzPts val="2000"/>
                <a:buFont typeface="Arial"/>
                <a:buChar char=" "/>
              </a:pPr>
              <a:r>
                <a:rPr lang="es-AR" sz="2000" b="0" i="0" u="none" strike="noStrike" cap="none">
                  <a:solidFill>
                    <a:srgbClr val="262626"/>
                  </a:solidFill>
                  <a:latin typeface="Calibri"/>
                  <a:ea typeface="Calibri"/>
                  <a:cs typeface="Calibri"/>
                  <a:sym typeface="Calibri"/>
                </a:rPr>
                <a:t>Acoplamiento de control</a:t>
              </a:r>
              <a:endParaRPr sz="2000" b="0" i="0" u="none" strike="noStrike" cap="none">
                <a:solidFill>
                  <a:schemeClr val="dk1"/>
                </a:solidFill>
                <a:latin typeface="Calibri"/>
                <a:ea typeface="Calibri"/>
                <a:cs typeface="Calibri"/>
                <a:sym typeface="Calibri"/>
              </a:endParaRPr>
            </a:p>
            <a:p>
              <a:pPr marL="801688"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a:p>
              <a:pPr marL="801688" marR="0" lvl="3" indent="0" algn="l" rtl="0">
                <a:lnSpc>
                  <a:spcPct val="85000"/>
                </a:lnSpc>
                <a:spcBef>
                  <a:spcPts val="0"/>
                </a:spcBef>
                <a:spcAft>
                  <a:spcPts val="0"/>
                </a:spcAft>
                <a:buClr>
                  <a:srgbClr val="262626"/>
                </a:buClr>
                <a:buSzPts val="2400"/>
                <a:buFont typeface="Arial"/>
                <a:buNone/>
              </a:pPr>
              <a:endParaRPr sz="2000" b="0" i="0" u="none" strike="noStrike" cap="none">
                <a:solidFill>
                  <a:srgbClr val="262626"/>
                </a:solidFill>
                <a:latin typeface="Calibri"/>
                <a:ea typeface="Calibri"/>
                <a:cs typeface="Calibri"/>
                <a:sym typeface="Calibri"/>
              </a:endParaRPr>
            </a:p>
            <a:p>
              <a:pPr marL="801688" marR="0" lvl="3" indent="-152400" algn="l" rtl="0">
                <a:lnSpc>
                  <a:spcPct val="85000"/>
                </a:lnSpc>
                <a:spcBef>
                  <a:spcPts val="0"/>
                </a:spcBef>
                <a:spcAft>
                  <a:spcPts val="0"/>
                </a:spcAft>
                <a:buClr>
                  <a:srgbClr val="262626"/>
                </a:buClr>
                <a:buSzPts val="2400"/>
                <a:buFont typeface="Arial"/>
                <a:buChar char=" "/>
              </a:pPr>
              <a:r>
                <a:rPr lang="es-AR" sz="2000" b="0" i="0" u="none" strike="noStrike" cap="none">
                  <a:solidFill>
                    <a:srgbClr val="262626"/>
                  </a:solidFill>
                  <a:latin typeface="Calibri"/>
                  <a:ea typeface="Calibri"/>
                  <a:cs typeface="Calibri"/>
                  <a:sym typeface="Calibri"/>
                </a:rPr>
                <a:t>Acoplamiento de datos </a:t>
              </a:r>
              <a:endParaRPr sz="2000" b="0" i="0" u="none" strike="noStrike" cap="none">
                <a:solidFill>
                  <a:schemeClr val="dk1"/>
                </a:solidFill>
                <a:latin typeface="Calibri"/>
                <a:ea typeface="Calibri"/>
                <a:cs typeface="Calibri"/>
                <a:sym typeface="Calibri"/>
              </a:endParaRPr>
            </a:p>
            <a:p>
              <a:pPr marL="801688" marR="0" lvl="3" indent="-127000" algn="l" rtl="0">
                <a:lnSpc>
                  <a:spcPct val="85000"/>
                </a:lnSpc>
                <a:spcBef>
                  <a:spcPts val="601"/>
                </a:spcBef>
                <a:spcAft>
                  <a:spcPts val="0"/>
                </a:spcAft>
                <a:buClr>
                  <a:srgbClr val="262626"/>
                </a:buClr>
                <a:buSzPts val="2000"/>
                <a:buFont typeface="Arial"/>
                <a:buChar char=" "/>
              </a:pPr>
              <a:r>
                <a:rPr lang="es-AR" sz="2000" b="0" i="0" u="none" strike="noStrike" cap="none">
                  <a:solidFill>
                    <a:srgbClr val="262626"/>
                  </a:solidFill>
                  <a:latin typeface="Calibri"/>
                  <a:ea typeface="Calibri"/>
                  <a:cs typeface="Calibri"/>
                  <a:sym typeface="Calibri"/>
                </a:rPr>
                <a:t>Acoplamiento de marca</a:t>
              </a:r>
              <a:endParaRPr sz="2000" b="0" i="0" u="none" strike="noStrike" cap="none">
                <a:solidFill>
                  <a:schemeClr val="dk1"/>
                </a:solidFill>
                <a:latin typeface="Calibri"/>
                <a:ea typeface="Calibri"/>
                <a:cs typeface="Calibri"/>
                <a:sym typeface="Calibri"/>
              </a:endParaRPr>
            </a:p>
          </p:txBody>
        </p:sp>
        <p:sp>
          <p:nvSpPr>
            <p:cNvPr id="1064" name="Google Shape;1064;p135"/>
            <p:cNvSpPr/>
            <p:nvPr/>
          </p:nvSpPr>
          <p:spPr>
            <a:xfrm>
              <a:off x="3058139" y="5385423"/>
              <a:ext cx="274248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AR" sz="2400" b="0" i="1" u="none" strike="noStrike" cap="none">
                  <a:solidFill>
                    <a:srgbClr val="269426"/>
                  </a:solidFill>
                  <a:latin typeface="Calibri"/>
                  <a:ea typeface="Calibri"/>
                  <a:cs typeface="Calibri"/>
                  <a:sym typeface="Calibri"/>
                </a:rPr>
                <a:t>Bajo</a:t>
              </a:r>
              <a:endParaRPr sz="2400" b="0" i="0" u="none" strike="noStrike" cap="none">
                <a:solidFill>
                  <a:schemeClr val="dk1"/>
                </a:solidFill>
                <a:latin typeface="Arial"/>
                <a:ea typeface="Arial"/>
                <a:cs typeface="Arial"/>
                <a:sym typeface="Arial"/>
              </a:endParaRPr>
            </a:p>
          </p:txBody>
        </p:sp>
        <p:sp>
          <p:nvSpPr>
            <p:cNvPr id="1065" name="Google Shape;1065;p135"/>
            <p:cNvSpPr/>
            <p:nvPr/>
          </p:nvSpPr>
          <p:spPr>
            <a:xfrm>
              <a:off x="3134166" y="3230515"/>
              <a:ext cx="2742480" cy="82188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AR" sz="2400" b="0" i="1" u="none" strike="noStrike" cap="none">
                  <a:solidFill>
                    <a:srgbClr val="C00000"/>
                  </a:solidFill>
                  <a:latin typeface="Calibri"/>
                  <a:ea typeface="Calibri"/>
                  <a:cs typeface="Calibri"/>
                  <a:sym typeface="Calibri"/>
                </a:rPr>
                <a:t>Alto</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066" name="Google Shape;1066;p135"/>
            <p:cNvSpPr/>
            <p:nvPr/>
          </p:nvSpPr>
          <p:spPr>
            <a:xfrm>
              <a:off x="2559340" y="4404858"/>
              <a:ext cx="2742480" cy="45612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AR" sz="2400" b="0" i="1" u="none" strike="noStrike" cap="none">
                  <a:solidFill>
                    <a:srgbClr val="FFC000"/>
                  </a:solidFill>
                  <a:latin typeface="Calibri"/>
                  <a:ea typeface="Calibri"/>
                  <a:cs typeface="Calibri"/>
                  <a:sym typeface="Calibri"/>
                </a:rPr>
                <a:t>Moderado</a:t>
              </a:r>
              <a:endParaRPr sz="2400" b="0" i="0" u="none" strike="noStrike" cap="none">
                <a:solidFill>
                  <a:schemeClr val="dk1"/>
                </a:solidFill>
                <a:latin typeface="Arial"/>
                <a:ea typeface="Arial"/>
                <a:cs typeface="Arial"/>
                <a:sym typeface="Arial"/>
              </a:endParaRPr>
            </a:p>
          </p:txBody>
        </p:sp>
        <p:sp>
          <p:nvSpPr>
            <p:cNvPr id="1067" name="Google Shape;1067;p135"/>
            <p:cNvSpPr/>
            <p:nvPr/>
          </p:nvSpPr>
          <p:spPr>
            <a:xfrm rot="10800000">
              <a:off x="4217431" y="2965468"/>
              <a:ext cx="288000" cy="3182040"/>
            </a:xfrm>
            <a:custGeom>
              <a:avLst/>
              <a:gdLst/>
              <a:ahLst/>
              <a:cxnLst/>
              <a:rect l="l" t="t" r="r" b="b"/>
              <a:pathLst>
                <a:path w="802" h="8841" extrusionOk="0">
                  <a:moveTo>
                    <a:pt x="200" y="8840"/>
                  </a:moveTo>
                  <a:lnTo>
                    <a:pt x="200" y="2210"/>
                  </a:lnTo>
                  <a:lnTo>
                    <a:pt x="0" y="2210"/>
                  </a:lnTo>
                  <a:lnTo>
                    <a:pt x="400" y="0"/>
                  </a:lnTo>
                  <a:lnTo>
                    <a:pt x="801" y="2210"/>
                  </a:lnTo>
                  <a:lnTo>
                    <a:pt x="600" y="2210"/>
                  </a:lnTo>
                  <a:lnTo>
                    <a:pt x="600" y="8840"/>
                  </a:lnTo>
                  <a:lnTo>
                    <a:pt x="200" y="8840"/>
                  </a:lnTo>
                </a:path>
              </a:pathLst>
            </a:custGeom>
            <a:solidFill>
              <a:srgbClr val="DF695B"/>
            </a:solidFill>
            <a:ln w="9525"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E99A92"/>
                </a:solidFill>
                <a:latin typeface="Arial"/>
                <a:ea typeface="Arial"/>
                <a:cs typeface="Arial"/>
                <a:sym typeface="Arial"/>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p136"/>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1073" name="Google Shape;1073;p136"/>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074" name="Google Shape;1074;p136"/>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075" name="Google Shape;1075;p136"/>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59</a:t>
            </a:fld>
            <a:endParaRPr/>
          </a:p>
        </p:txBody>
      </p:sp>
      <p:pic>
        <p:nvPicPr>
          <p:cNvPr id="1076" name="Google Shape;1076;p136"/>
          <p:cNvPicPr preferRelativeResize="0"/>
          <p:nvPr/>
        </p:nvPicPr>
        <p:blipFill rotWithShape="1">
          <a:blip r:embed="rId3">
            <a:alphaModFix/>
          </a:blip>
          <a:srcRect l="57568" t="77898" r="-4162" b="9141"/>
          <a:stretch/>
        </p:blipFill>
        <p:spPr>
          <a:xfrm>
            <a:off x="1096963" y="1790768"/>
            <a:ext cx="3892132" cy="725905"/>
          </a:xfrm>
          <a:prstGeom prst="rect">
            <a:avLst/>
          </a:prstGeom>
          <a:noFill/>
          <a:ln>
            <a:noFill/>
          </a:ln>
        </p:spPr>
      </p:pic>
      <p:pic>
        <p:nvPicPr>
          <p:cNvPr id="1077" name="Google Shape;1077;p136" descr="Resultado de imagen para cohesion y acoplamiento ejemplos"/>
          <p:cNvPicPr preferRelativeResize="0"/>
          <p:nvPr/>
        </p:nvPicPr>
        <p:blipFill rotWithShape="1">
          <a:blip r:embed="rId4">
            <a:alphaModFix/>
          </a:blip>
          <a:srcRect/>
          <a:stretch/>
        </p:blipFill>
        <p:spPr>
          <a:xfrm>
            <a:off x="3708751" y="2516673"/>
            <a:ext cx="4774497" cy="3733831"/>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4" name="Marcador de fecha 3">
            <a:extLst>
              <a:ext uri="{FF2B5EF4-FFF2-40B4-BE49-F238E27FC236}">
                <a16:creationId xmlns:a16="http://schemas.microsoft.com/office/drawing/2014/main" id="{F1130920-9273-9B55-BD57-7FFAFBFCF505}"/>
              </a:ext>
            </a:extLst>
          </p:cNvPr>
          <p:cNvSpPr>
            <a:spLocks noGrp="1"/>
          </p:cNvSpPr>
          <p:nvPr>
            <p:ph type="dt" idx="10"/>
          </p:nvPr>
        </p:nvSpPr>
        <p:spPr/>
        <p:txBody>
          <a:bodyPr/>
          <a:lstStyle/>
          <a:p>
            <a:r>
              <a:rPr lang="es-ES"/>
              <a:t>2026</a:t>
            </a:r>
          </a:p>
        </p:txBody>
      </p:sp>
      <p:sp>
        <p:nvSpPr>
          <p:cNvPr id="5" name="Marcador de pie de página 4">
            <a:extLst>
              <a:ext uri="{FF2B5EF4-FFF2-40B4-BE49-F238E27FC236}">
                <a16:creationId xmlns:a16="http://schemas.microsoft.com/office/drawing/2014/main" id="{BA64B54F-98B6-C4B2-04E8-217785198DBB}"/>
              </a:ext>
            </a:extLst>
          </p:cNvPr>
          <p:cNvSpPr>
            <a:spLocks noGrp="1"/>
          </p:cNvSpPr>
          <p:nvPr>
            <p:ph type="ftr" idx="11"/>
          </p:nvPr>
        </p:nvSpPr>
        <p:spPr/>
        <p:txBody>
          <a:bodyPr/>
          <a:lstStyle/>
          <a:p>
            <a:r>
              <a:rPr lang="es-ES"/>
              <a:t>INGENIERÍA DE SOFTWARE II</a:t>
            </a:r>
          </a:p>
        </p:txBody>
      </p:sp>
      <p:sp>
        <p:nvSpPr>
          <p:cNvPr id="1084" name="Google Shape;1084;g3d60e2a03bb_0_0"/>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s-AR"/>
              <a:t>60</a:t>
            </a:fld>
            <a:endParaRPr/>
          </a:p>
        </p:txBody>
      </p:sp>
      <p:pic>
        <p:nvPicPr>
          <p:cNvPr id="1085" name="Google Shape;1085;g3d60e2a03bb_0_0" title="resumenisoft2.jpg"/>
          <p:cNvPicPr preferRelativeResize="0"/>
          <p:nvPr/>
        </p:nvPicPr>
        <p:blipFill>
          <a:blip r:embed="rId3">
            <a:alphaModFix/>
          </a:blip>
          <a:stretch>
            <a:fillRect/>
          </a:stretch>
        </p:blipFill>
        <p:spPr>
          <a:xfrm>
            <a:off x="250724" y="0"/>
            <a:ext cx="11753094" cy="6327058"/>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89"/>
        <p:cNvGrpSpPr/>
        <p:nvPr/>
      </p:nvGrpSpPr>
      <p:grpSpPr>
        <a:xfrm>
          <a:off x="0" y="0"/>
          <a:ext cx="0" cy="0"/>
          <a:chOff x="0" y="0"/>
          <a:chExt cx="0" cy="0"/>
        </a:xfrm>
      </p:grpSpPr>
      <p:sp>
        <p:nvSpPr>
          <p:cNvPr id="1090" name="Google Shape;1090;p137"/>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1091" name="Google Shape;1091;p137"/>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092" name="Google Shape;1092;p137"/>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093" name="Google Shape;1093;p137"/>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61</a:t>
            </a:fld>
            <a:endParaRPr/>
          </a:p>
        </p:txBody>
      </p:sp>
      <p:sp>
        <p:nvSpPr>
          <p:cNvPr id="1094" name="Google Shape;1094;p137"/>
          <p:cNvSpPr txBox="1">
            <a:spLocks noGrp="1"/>
          </p:cNvSpPr>
          <p:nvPr>
            <p:ph type="body" idx="4294967295"/>
          </p:nvPr>
        </p:nvSpPr>
        <p:spPr>
          <a:xfrm>
            <a:off x="1096964" y="2516673"/>
            <a:ext cx="7886618"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0"/>
              </a:spcAft>
              <a:buClr>
                <a:srgbClr val="C00000"/>
              </a:buClr>
              <a:buSzPts val="2800"/>
              <a:buFont typeface="Noto Sans Symbols"/>
              <a:buChar char="❖"/>
            </a:pPr>
            <a:r>
              <a:rPr lang="es-AR" sz="2800">
                <a:solidFill>
                  <a:schemeClr val="dk1"/>
                </a:solidFill>
              </a:rPr>
              <a:t>Se refina de manera sucesiva.</a:t>
            </a:r>
            <a:endParaRPr/>
          </a:p>
          <a:p>
            <a:pPr marL="546100" lvl="0" indent="-546100" algn="just" rtl="0">
              <a:lnSpc>
                <a:spcPct val="100000"/>
              </a:lnSpc>
              <a:spcBef>
                <a:spcPts val="600"/>
              </a:spcBef>
              <a:spcAft>
                <a:spcPts val="0"/>
              </a:spcAft>
              <a:buClr>
                <a:srgbClr val="C00000"/>
              </a:buClr>
              <a:buSzPts val="2800"/>
              <a:buFont typeface="Noto Sans Symbols"/>
              <a:buChar char="❖"/>
            </a:pPr>
            <a:r>
              <a:rPr lang="es-AR" sz="2800">
                <a:solidFill>
                  <a:schemeClr val="dk1"/>
                </a:solidFill>
              </a:rPr>
              <a:t>La abstracción y el refinamiento son conceptos  complementarios. </a:t>
            </a:r>
            <a:endParaRPr/>
          </a:p>
          <a:p>
            <a:pPr marL="722313" lvl="0" indent="-273050" algn="just" rtl="0">
              <a:lnSpc>
                <a:spcPct val="100000"/>
              </a:lnSpc>
              <a:spcBef>
                <a:spcPts val="600"/>
              </a:spcBef>
              <a:spcAft>
                <a:spcPts val="0"/>
              </a:spcAft>
              <a:buClr>
                <a:schemeClr val="dk1"/>
              </a:buClr>
              <a:buSzPts val="2400"/>
              <a:buFont typeface="Arial"/>
              <a:buChar char="•"/>
            </a:pPr>
            <a:r>
              <a:rPr lang="es-AR" sz="2400">
                <a:solidFill>
                  <a:schemeClr val="dk1"/>
                </a:solidFill>
              </a:rPr>
              <a:t>La abstracción permite especificar procedimientos y datos sin considerar detalles de grado menor. </a:t>
            </a:r>
            <a:endParaRPr/>
          </a:p>
          <a:p>
            <a:pPr marL="722313" lvl="0" indent="-273050" algn="just" rtl="0">
              <a:lnSpc>
                <a:spcPct val="100000"/>
              </a:lnSpc>
              <a:spcBef>
                <a:spcPts val="600"/>
              </a:spcBef>
              <a:spcAft>
                <a:spcPts val="0"/>
              </a:spcAft>
              <a:buClr>
                <a:schemeClr val="dk1"/>
              </a:buClr>
              <a:buSzPts val="2400"/>
              <a:buFont typeface="Arial"/>
              <a:buChar char="•"/>
            </a:pPr>
            <a:r>
              <a:rPr lang="es-AR" sz="2400">
                <a:solidFill>
                  <a:schemeClr val="dk1"/>
                </a:solidFill>
              </a:rPr>
              <a:t>El refinamiento ayuda a revelar los detalles de grado menor mientras se realiza el diseño.</a:t>
            </a:r>
            <a:endParaRPr/>
          </a:p>
          <a:p>
            <a:pPr marL="546100" lvl="0" indent="-368300" algn="just" rtl="0">
              <a:lnSpc>
                <a:spcPct val="100000"/>
              </a:lnSpc>
              <a:spcBef>
                <a:spcPts val="600"/>
              </a:spcBef>
              <a:spcAft>
                <a:spcPts val="0"/>
              </a:spcAft>
              <a:buClr>
                <a:srgbClr val="C00000"/>
              </a:buClr>
              <a:buSzPts val="2800"/>
              <a:buFont typeface="Noto Sans Symbols"/>
              <a:buNone/>
            </a:pPr>
            <a:endParaRPr sz="2800">
              <a:solidFill>
                <a:schemeClr val="dk1"/>
              </a:solidFill>
            </a:endParaRPr>
          </a:p>
          <a:p>
            <a:pPr marL="292100" lvl="1" indent="0" algn="just" rtl="0">
              <a:lnSpc>
                <a:spcPct val="100000"/>
              </a:lnSpc>
              <a:spcBef>
                <a:spcPts val="600"/>
              </a:spcBef>
              <a:spcAft>
                <a:spcPts val="0"/>
              </a:spcAft>
              <a:buClr>
                <a:srgbClr val="C00000"/>
              </a:buClr>
              <a:buSzPts val="2600"/>
              <a:buNone/>
            </a:pPr>
            <a:endParaRPr sz="2600">
              <a:solidFill>
                <a:schemeClr val="dk1"/>
              </a:solidFill>
            </a:endParaRPr>
          </a:p>
          <a:p>
            <a:pPr marL="546100" lvl="0" indent="-368300" algn="just" rtl="0">
              <a:lnSpc>
                <a:spcPct val="100000"/>
              </a:lnSpc>
              <a:spcBef>
                <a:spcPts val="600"/>
              </a:spcBef>
              <a:spcAft>
                <a:spcPts val="600"/>
              </a:spcAft>
              <a:buClr>
                <a:srgbClr val="C00000"/>
              </a:buClr>
              <a:buSzPts val="2800"/>
              <a:buFont typeface="Noto Sans Symbols"/>
              <a:buNone/>
            </a:pPr>
            <a:endParaRPr sz="2800">
              <a:solidFill>
                <a:schemeClr val="dk1"/>
              </a:solidFill>
            </a:endParaRPr>
          </a:p>
        </p:txBody>
      </p:sp>
      <p:pic>
        <p:nvPicPr>
          <p:cNvPr id="1095" name="Google Shape;1095;p137"/>
          <p:cNvPicPr preferRelativeResize="0"/>
          <p:nvPr/>
        </p:nvPicPr>
        <p:blipFill rotWithShape="1">
          <a:blip r:embed="rId3">
            <a:alphaModFix/>
          </a:blip>
          <a:srcRect l="20391" t="26000" r="54332" b="63150"/>
          <a:stretch/>
        </p:blipFill>
        <p:spPr>
          <a:xfrm>
            <a:off x="1096963" y="1909011"/>
            <a:ext cx="2111458" cy="607662"/>
          </a:xfrm>
          <a:prstGeom prst="rect">
            <a:avLst/>
          </a:prstGeom>
          <a:noFill/>
          <a:ln>
            <a:noFill/>
          </a:ln>
        </p:spPr>
      </p:pic>
      <p:pic>
        <p:nvPicPr>
          <p:cNvPr id="1096" name="Google Shape;1096;p137"/>
          <p:cNvPicPr preferRelativeResize="0"/>
          <p:nvPr/>
        </p:nvPicPr>
        <p:blipFill rotWithShape="1">
          <a:blip r:embed="rId4">
            <a:alphaModFix/>
          </a:blip>
          <a:srcRect r="-394" b="14751"/>
          <a:stretch/>
        </p:blipFill>
        <p:spPr>
          <a:xfrm>
            <a:off x="8983582" y="3142331"/>
            <a:ext cx="3135960" cy="19116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138"/>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Conceptos de Diseño </a:t>
            </a:r>
            <a:endParaRPr/>
          </a:p>
        </p:txBody>
      </p:sp>
      <p:sp>
        <p:nvSpPr>
          <p:cNvPr id="1102" name="Google Shape;1102;p138"/>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103" name="Google Shape;1103;p138"/>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104" name="Google Shape;1104;p13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62</a:t>
            </a:fld>
            <a:endParaRPr/>
          </a:p>
        </p:txBody>
      </p:sp>
      <p:sp>
        <p:nvSpPr>
          <p:cNvPr id="1105" name="Google Shape;1105;p138"/>
          <p:cNvSpPr txBox="1">
            <a:spLocks noGrp="1"/>
          </p:cNvSpPr>
          <p:nvPr>
            <p:ph type="body" idx="4294967295"/>
          </p:nvPr>
        </p:nvSpPr>
        <p:spPr>
          <a:xfrm>
            <a:off x="1096963" y="2516673"/>
            <a:ext cx="10115549" cy="3162916"/>
          </a:xfrm>
          <a:prstGeom prst="rect">
            <a:avLst/>
          </a:prstGeom>
          <a:noFill/>
          <a:ln>
            <a:noFill/>
          </a:ln>
        </p:spPr>
        <p:txBody>
          <a:bodyPr spcFirstLastPara="1" wrap="square" lIns="91425" tIns="45700" rIns="91425" bIns="45700" anchor="t" anchorCtr="0">
            <a:noAutofit/>
          </a:bodyPr>
          <a:lstStyle/>
          <a:p>
            <a:pPr marL="546100" lvl="0" indent="-546100" algn="just" rtl="0">
              <a:lnSpc>
                <a:spcPct val="100000"/>
              </a:lnSpc>
              <a:spcBef>
                <a:spcPts val="0"/>
              </a:spcBef>
              <a:spcAft>
                <a:spcPts val="0"/>
              </a:spcAft>
              <a:buClr>
                <a:srgbClr val="C00000"/>
              </a:buClr>
              <a:buSzPts val="2800"/>
              <a:buFont typeface="Noto Sans Symbols"/>
              <a:buChar char="❖"/>
            </a:pPr>
            <a:r>
              <a:rPr lang="es-AR" sz="2800">
                <a:solidFill>
                  <a:schemeClr val="dk1"/>
                </a:solidFill>
              </a:rPr>
              <a:t>Técnica de reorganización que simplifica el diseño de un componente sin cambiar su función o comportamiento. </a:t>
            </a:r>
            <a:endParaRPr/>
          </a:p>
          <a:p>
            <a:pPr marL="546100" lvl="0" indent="-546100" algn="just" rtl="0">
              <a:lnSpc>
                <a:spcPct val="100000"/>
              </a:lnSpc>
              <a:spcBef>
                <a:spcPts val="600"/>
              </a:spcBef>
              <a:spcAft>
                <a:spcPts val="0"/>
              </a:spcAft>
              <a:buClr>
                <a:srgbClr val="C00000"/>
              </a:buClr>
              <a:buSzPts val="2800"/>
              <a:buFont typeface="Noto Sans Symbols"/>
              <a:buChar char="❖"/>
            </a:pPr>
            <a:r>
              <a:rPr lang="es-AR" sz="2800">
                <a:solidFill>
                  <a:schemeClr val="dk1"/>
                </a:solidFill>
              </a:rPr>
              <a:t>Llamado también rediseño (Refactoring).</a:t>
            </a:r>
            <a:endParaRPr/>
          </a:p>
          <a:p>
            <a:pPr marL="546100" lvl="0" indent="-368300" algn="just" rtl="0">
              <a:lnSpc>
                <a:spcPct val="100000"/>
              </a:lnSpc>
              <a:spcBef>
                <a:spcPts val="600"/>
              </a:spcBef>
              <a:spcAft>
                <a:spcPts val="0"/>
              </a:spcAft>
              <a:buClr>
                <a:srgbClr val="C00000"/>
              </a:buClr>
              <a:buSzPts val="2800"/>
              <a:buFont typeface="Noto Sans Symbols"/>
              <a:buNone/>
            </a:pPr>
            <a:endParaRPr sz="2800">
              <a:solidFill>
                <a:schemeClr val="dk1"/>
              </a:solidFill>
            </a:endParaRPr>
          </a:p>
          <a:p>
            <a:pPr marL="292100" lvl="1" indent="0" algn="just" rtl="0">
              <a:lnSpc>
                <a:spcPct val="100000"/>
              </a:lnSpc>
              <a:spcBef>
                <a:spcPts val="600"/>
              </a:spcBef>
              <a:spcAft>
                <a:spcPts val="0"/>
              </a:spcAft>
              <a:buClr>
                <a:srgbClr val="C00000"/>
              </a:buClr>
              <a:buSzPts val="2600"/>
              <a:buNone/>
            </a:pPr>
            <a:endParaRPr sz="2600">
              <a:solidFill>
                <a:schemeClr val="dk1"/>
              </a:solidFill>
            </a:endParaRPr>
          </a:p>
          <a:p>
            <a:pPr marL="546100" lvl="0" indent="-368300" algn="just" rtl="0">
              <a:lnSpc>
                <a:spcPct val="100000"/>
              </a:lnSpc>
              <a:spcBef>
                <a:spcPts val="600"/>
              </a:spcBef>
              <a:spcAft>
                <a:spcPts val="600"/>
              </a:spcAft>
              <a:buClr>
                <a:srgbClr val="C00000"/>
              </a:buClr>
              <a:buSzPts val="2800"/>
              <a:buFont typeface="Noto Sans Symbols"/>
              <a:buNone/>
            </a:pPr>
            <a:endParaRPr sz="2800">
              <a:solidFill>
                <a:schemeClr val="dk1"/>
              </a:solidFill>
            </a:endParaRPr>
          </a:p>
        </p:txBody>
      </p:sp>
      <p:pic>
        <p:nvPicPr>
          <p:cNvPr id="1106" name="Google Shape;1106;p138"/>
          <p:cNvPicPr preferRelativeResize="0"/>
          <p:nvPr/>
        </p:nvPicPr>
        <p:blipFill rotWithShape="1">
          <a:blip r:embed="rId3">
            <a:alphaModFix/>
          </a:blip>
          <a:srcRect l="58224" t="25712" r="14770" b="63438"/>
          <a:stretch/>
        </p:blipFill>
        <p:spPr>
          <a:xfrm>
            <a:off x="1096962" y="1909011"/>
            <a:ext cx="2255837" cy="607662"/>
          </a:xfrm>
          <a:prstGeom prst="rect">
            <a:avLst/>
          </a:prstGeom>
          <a:noFill/>
          <a:ln>
            <a:noFill/>
          </a:ln>
        </p:spPr>
      </p:pic>
      <p:pic>
        <p:nvPicPr>
          <p:cNvPr id="1107" name="Google Shape;1107;p138"/>
          <p:cNvPicPr preferRelativeResize="0"/>
          <p:nvPr/>
        </p:nvPicPr>
        <p:blipFill rotWithShape="1">
          <a:blip r:embed="rId4">
            <a:alphaModFix/>
          </a:blip>
          <a:srcRect/>
          <a:stretch/>
        </p:blipFill>
        <p:spPr>
          <a:xfrm>
            <a:off x="9063789" y="3889092"/>
            <a:ext cx="2148723" cy="2180472"/>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139"/>
          <p:cNvSpPr txBox="1">
            <a:spLocks noGrp="1"/>
          </p:cNvSpPr>
          <p:nvPr>
            <p:ph type="title"/>
          </p:nvPr>
        </p:nvSpPr>
        <p:spPr>
          <a:xfrm>
            <a:off x="1096963" y="914401"/>
            <a:ext cx="10058400" cy="82232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AR"/>
              <a:t>Principios del modelado de Diseño </a:t>
            </a:r>
            <a:endParaRPr/>
          </a:p>
        </p:txBody>
      </p:sp>
      <p:sp>
        <p:nvSpPr>
          <p:cNvPr id="1113" name="Google Shape;1113;p13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114" name="Google Shape;1114;p13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115" name="Google Shape;1115;p13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63</a:t>
            </a:fld>
            <a:endParaRPr/>
          </a:p>
        </p:txBody>
      </p:sp>
      <p:sp>
        <p:nvSpPr>
          <p:cNvPr id="1116" name="Google Shape;1116;p139"/>
          <p:cNvSpPr txBox="1">
            <a:spLocks noGrp="1"/>
          </p:cNvSpPr>
          <p:nvPr>
            <p:ph type="body" idx="4294967295"/>
          </p:nvPr>
        </p:nvSpPr>
        <p:spPr>
          <a:xfrm>
            <a:off x="1096963" y="1704641"/>
            <a:ext cx="10115550" cy="3273733"/>
          </a:xfrm>
          <a:prstGeom prst="rect">
            <a:avLst/>
          </a:prstGeom>
          <a:noFill/>
          <a:ln>
            <a:noFill/>
          </a:ln>
        </p:spPr>
        <p:txBody>
          <a:bodyPr spcFirstLastPara="1" wrap="square" lIns="91425" tIns="45700" rIns="91425" bIns="45700" anchor="t" anchorCtr="0">
            <a:noAutofit/>
          </a:bodyPr>
          <a:lstStyle/>
          <a:p>
            <a:pPr lvl="0" indent="-457200" algn="just" rtl="0">
              <a:lnSpc>
                <a:spcPct val="100000"/>
              </a:lnSpc>
              <a:spcBef>
                <a:spcPts val="0"/>
              </a:spcBef>
              <a:spcAft>
                <a:spcPts val="0"/>
              </a:spcAft>
              <a:buClr>
                <a:schemeClr val="dk1"/>
              </a:buClr>
              <a:buSzPct val="100000"/>
              <a:buFont typeface="+mj-lt"/>
              <a:buAutoNum type="arabicPeriod"/>
            </a:pPr>
            <a:r>
              <a:rPr lang="es-AR" sz="2300" dirty="0">
                <a:solidFill>
                  <a:schemeClr val="dk1"/>
                </a:solidFill>
              </a:rPr>
              <a:t>El diseño debe poder rastrearse hasta el modelo de requerimientos.</a:t>
            </a:r>
            <a:endParaRPr sz="2300" dirty="0"/>
          </a:p>
          <a:p>
            <a:pPr lvl="0" indent="-457200" algn="just" rtl="0">
              <a:lnSpc>
                <a:spcPct val="100000"/>
              </a:lnSpc>
              <a:spcBef>
                <a:spcPts val="600"/>
              </a:spcBef>
              <a:spcAft>
                <a:spcPts val="0"/>
              </a:spcAft>
              <a:buClr>
                <a:schemeClr val="dk1"/>
              </a:buClr>
              <a:buSzPct val="100000"/>
              <a:buFont typeface="+mj-lt"/>
              <a:buAutoNum type="arabicPeriod"/>
            </a:pPr>
            <a:r>
              <a:rPr lang="es-AR" sz="2300" dirty="0">
                <a:solidFill>
                  <a:schemeClr val="dk1"/>
                </a:solidFill>
              </a:rPr>
              <a:t>Considerar siempre la arquitectura del sistema que se va a crear.</a:t>
            </a:r>
            <a:endParaRPr sz="2300" dirty="0"/>
          </a:p>
          <a:p>
            <a:pPr lvl="0" indent="-457200" algn="just" rtl="0">
              <a:lnSpc>
                <a:spcPct val="100000"/>
              </a:lnSpc>
              <a:spcBef>
                <a:spcPts val="600"/>
              </a:spcBef>
              <a:spcAft>
                <a:spcPts val="0"/>
              </a:spcAft>
              <a:buClr>
                <a:schemeClr val="dk1"/>
              </a:buClr>
              <a:buSzPct val="100000"/>
              <a:buFont typeface="+mj-lt"/>
              <a:buAutoNum type="arabicPeriod"/>
            </a:pPr>
            <a:r>
              <a:rPr lang="es-AR" sz="2300" dirty="0">
                <a:solidFill>
                  <a:schemeClr val="dk1"/>
                </a:solidFill>
              </a:rPr>
              <a:t>El diseño de los datos es tan importante como el diseño de funciones.</a:t>
            </a:r>
            <a:endParaRPr sz="2300" dirty="0"/>
          </a:p>
          <a:p>
            <a:pPr lvl="0" indent="-457200" algn="just" rtl="0">
              <a:lnSpc>
                <a:spcPct val="100000"/>
              </a:lnSpc>
              <a:spcBef>
                <a:spcPts val="600"/>
              </a:spcBef>
              <a:spcAft>
                <a:spcPts val="0"/>
              </a:spcAft>
              <a:buClr>
                <a:schemeClr val="dk1"/>
              </a:buClr>
              <a:buSzPct val="100000"/>
              <a:buFont typeface="+mj-lt"/>
              <a:buAutoNum type="arabicPeriod"/>
            </a:pPr>
            <a:r>
              <a:rPr lang="es-AR" sz="2300" dirty="0">
                <a:solidFill>
                  <a:schemeClr val="dk1"/>
                </a:solidFill>
              </a:rPr>
              <a:t>Las interfaces deben diseñarse con cuidado.</a:t>
            </a:r>
            <a:endParaRPr sz="2300" dirty="0"/>
          </a:p>
          <a:p>
            <a:pPr lvl="0" indent="-457200" algn="just" rtl="0">
              <a:lnSpc>
                <a:spcPct val="100000"/>
              </a:lnSpc>
              <a:spcBef>
                <a:spcPts val="600"/>
              </a:spcBef>
              <a:spcAft>
                <a:spcPts val="0"/>
              </a:spcAft>
              <a:buClr>
                <a:schemeClr val="dk1"/>
              </a:buClr>
              <a:buSzPct val="100000"/>
              <a:buFont typeface="+mj-lt"/>
              <a:buAutoNum type="arabicPeriod"/>
            </a:pPr>
            <a:r>
              <a:rPr lang="es-AR" sz="2300" dirty="0">
                <a:solidFill>
                  <a:schemeClr val="dk1"/>
                </a:solidFill>
              </a:rPr>
              <a:t>El diseño de interfaz debe ajustarse a las necesidades del usuario, haciendo énfasis en la facilidad de uso.</a:t>
            </a:r>
            <a:endParaRPr sz="2300" dirty="0"/>
          </a:p>
          <a:p>
            <a:pPr lvl="0" indent="-457200" algn="just" rtl="0">
              <a:lnSpc>
                <a:spcPct val="100000"/>
              </a:lnSpc>
              <a:spcBef>
                <a:spcPts val="600"/>
              </a:spcBef>
              <a:spcAft>
                <a:spcPts val="0"/>
              </a:spcAft>
              <a:buClr>
                <a:schemeClr val="dk1"/>
              </a:buClr>
              <a:buSzPct val="100000"/>
              <a:buFont typeface="+mj-lt"/>
              <a:buAutoNum type="arabicPeriod"/>
            </a:pPr>
            <a:r>
              <a:rPr lang="es-AR" sz="2300" dirty="0">
                <a:solidFill>
                  <a:schemeClr val="dk1"/>
                </a:solidFill>
              </a:rPr>
              <a:t>El diseño a nivel de componentes debe ser funcionalmente independiente.</a:t>
            </a:r>
            <a:endParaRPr sz="2300" dirty="0"/>
          </a:p>
          <a:p>
            <a:pPr lvl="0" indent="-457200" algn="just" rtl="0">
              <a:lnSpc>
                <a:spcPct val="100000"/>
              </a:lnSpc>
              <a:spcBef>
                <a:spcPts val="600"/>
              </a:spcBef>
              <a:spcAft>
                <a:spcPts val="0"/>
              </a:spcAft>
              <a:buClr>
                <a:schemeClr val="dk1"/>
              </a:buClr>
              <a:buSzPct val="100000"/>
              <a:buFont typeface="+mj-lt"/>
              <a:buAutoNum type="arabicPeriod"/>
            </a:pPr>
            <a:r>
              <a:rPr lang="es-AR" sz="2300" dirty="0">
                <a:solidFill>
                  <a:schemeClr val="dk1"/>
                </a:solidFill>
              </a:rPr>
              <a:t>Los componentes deben tener un bajo acoplamiento.</a:t>
            </a:r>
            <a:endParaRPr sz="2300" dirty="0"/>
          </a:p>
          <a:p>
            <a:pPr lvl="0" indent="-457200" algn="just" rtl="0">
              <a:lnSpc>
                <a:spcPct val="100000"/>
              </a:lnSpc>
              <a:spcBef>
                <a:spcPts val="600"/>
              </a:spcBef>
              <a:spcAft>
                <a:spcPts val="0"/>
              </a:spcAft>
              <a:buClr>
                <a:schemeClr val="dk1"/>
              </a:buClr>
              <a:buSzPct val="100000"/>
              <a:buFont typeface="+mj-lt"/>
              <a:buAutoNum type="arabicPeriod"/>
            </a:pPr>
            <a:r>
              <a:rPr lang="es-AR" sz="2300" dirty="0">
                <a:solidFill>
                  <a:schemeClr val="dk1"/>
                </a:solidFill>
              </a:rPr>
              <a:t>Las representaciones de diseño deben entenderse fácilmente.</a:t>
            </a:r>
            <a:endParaRPr sz="2300" dirty="0"/>
          </a:p>
          <a:p>
            <a:pPr lvl="0" indent="-457200" algn="just" rtl="0">
              <a:lnSpc>
                <a:spcPct val="100000"/>
              </a:lnSpc>
              <a:spcBef>
                <a:spcPts val="600"/>
              </a:spcBef>
              <a:spcAft>
                <a:spcPts val="0"/>
              </a:spcAft>
              <a:buClr>
                <a:schemeClr val="dk1"/>
              </a:buClr>
              <a:buSzPct val="100000"/>
              <a:buFont typeface="+mj-lt"/>
              <a:buAutoNum type="arabicPeriod"/>
            </a:pPr>
            <a:r>
              <a:rPr lang="es-AR" sz="2300" dirty="0">
                <a:solidFill>
                  <a:schemeClr val="dk1"/>
                </a:solidFill>
              </a:rPr>
              <a:t>El diseño debe desarrollarse de manera iterativa.</a:t>
            </a:r>
            <a:endParaRPr sz="2300" dirty="0"/>
          </a:p>
          <a:p>
            <a:pPr lvl="0" indent="-457200" algn="just" rtl="0">
              <a:lnSpc>
                <a:spcPct val="100000"/>
              </a:lnSpc>
              <a:spcBef>
                <a:spcPts val="600"/>
              </a:spcBef>
              <a:spcAft>
                <a:spcPts val="0"/>
              </a:spcAft>
              <a:buClr>
                <a:schemeClr val="dk1"/>
              </a:buClr>
              <a:buSzPct val="100000"/>
              <a:buFont typeface="+mj-lt"/>
              <a:buAutoNum type="arabicPeriod"/>
            </a:pPr>
            <a:r>
              <a:rPr lang="es-AR" sz="2300" dirty="0">
                <a:solidFill>
                  <a:schemeClr val="dk1"/>
                </a:solidFill>
              </a:rPr>
              <a:t>La creación de un modelo de diseño no impide metodología ágil.</a:t>
            </a:r>
            <a:endParaRPr sz="2300" dirty="0"/>
          </a:p>
          <a:p>
            <a:pPr marL="606425" lvl="0" indent="-457200" algn="just" rtl="0">
              <a:lnSpc>
                <a:spcPct val="100000"/>
              </a:lnSpc>
              <a:spcBef>
                <a:spcPts val="600"/>
              </a:spcBef>
              <a:spcAft>
                <a:spcPts val="0"/>
              </a:spcAft>
              <a:buClr>
                <a:schemeClr val="dk1"/>
              </a:buClr>
              <a:buSzPct val="100000"/>
              <a:buFont typeface="+mj-lt"/>
              <a:buAutoNum type="arabicPeriod"/>
            </a:pPr>
            <a:endParaRPr sz="2300" dirty="0">
              <a:solidFill>
                <a:schemeClr val="dk1"/>
              </a:solidFill>
            </a:endParaRPr>
          </a:p>
          <a:p>
            <a:pPr marL="749300" lvl="1" indent="-457200" algn="just" rtl="0">
              <a:lnSpc>
                <a:spcPct val="100000"/>
              </a:lnSpc>
              <a:spcBef>
                <a:spcPts val="600"/>
              </a:spcBef>
              <a:spcAft>
                <a:spcPts val="0"/>
              </a:spcAft>
              <a:buClr>
                <a:srgbClr val="C00000"/>
              </a:buClr>
              <a:buSzPct val="100000"/>
              <a:buFont typeface="+mj-lt"/>
              <a:buAutoNum type="arabicPeriod"/>
            </a:pPr>
            <a:endParaRPr sz="2300" dirty="0">
              <a:solidFill>
                <a:schemeClr val="dk1"/>
              </a:solidFill>
            </a:endParaRPr>
          </a:p>
          <a:p>
            <a:pPr marL="606425" lvl="0" indent="-457200" algn="just" rtl="0">
              <a:lnSpc>
                <a:spcPct val="100000"/>
              </a:lnSpc>
              <a:spcBef>
                <a:spcPts val="600"/>
              </a:spcBef>
              <a:spcAft>
                <a:spcPts val="600"/>
              </a:spcAft>
              <a:buClr>
                <a:srgbClr val="C00000"/>
              </a:buClr>
              <a:buSzPct val="100000"/>
              <a:buFont typeface="+mj-lt"/>
              <a:buAutoNum type="arabicPeriod"/>
            </a:pPr>
            <a:endParaRPr sz="2300" dirty="0">
              <a:solidFill>
                <a:schemeClr val="dk1"/>
              </a:solidFill>
            </a:endParaRPr>
          </a:p>
        </p:txBody>
      </p:sp>
    </p:spTree>
  </p:cSld>
  <p:clrMapOvr>
    <a:masterClrMapping/>
  </p:clrMapOvr>
</p:sld>
</file>

<file path=ppt/theme/theme1.xml><?xml version="1.0" encoding="utf-8"?>
<a:theme xmlns:a="http://schemas.openxmlformats.org/drawingml/2006/main" name="Retrospección">
  <a:themeElements>
    <a:clrScheme name="Naranja rojo">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3368</Words>
  <Application>Microsoft Office PowerPoint</Application>
  <PresentationFormat>Panorámica</PresentationFormat>
  <Paragraphs>879</Paragraphs>
  <Slides>63</Slides>
  <Notes>63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63</vt:i4>
      </vt:variant>
    </vt:vector>
  </HeadingPairs>
  <TitlesOfParts>
    <vt:vector size="69" baseType="lpstr">
      <vt:lpstr>Arial</vt:lpstr>
      <vt:lpstr>Calibri</vt:lpstr>
      <vt:lpstr>Noto Sans Symbols</vt:lpstr>
      <vt:lpstr>Times New Roman</vt:lpstr>
      <vt:lpstr>Twentieth Century</vt:lpstr>
      <vt:lpstr>Retrospección</vt:lpstr>
      <vt:lpstr>Ingeniería de Software II</vt:lpstr>
      <vt:lpstr>Contenidos</vt:lpstr>
      <vt:lpstr>Gestión de Proyectos </vt:lpstr>
      <vt:lpstr>Calendarización</vt:lpstr>
      <vt:lpstr>Calendarización</vt:lpstr>
      <vt:lpstr>Calendarización</vt:lpstr>
      <vt:lpstr>Calendarización</vt:lpstr>
      <vt:lpstr>Calendarización - Red de tareas</vt:lpstr>
      <vt:lpstr>Calendarización - Red de tareas</vt:lpstr>
      <vt:lpstr>Calendarización - Red de tareas</vt:lpstr>
      <vt:lpstr>Planificación Temporal – Diagrama de Gantt</vt:lpstr>
      <vt:lpstr>Planificación Temporal – Diagrama de Gantt</vt:lpstr>
      <vt:lpstr>Presentación de PowerPoint</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 – PERT y CPM</vt:lpstr>
      <vt:lpstr>Planificación Temporal</vt:lpstr>
      <vt:lpstr>Diseño de Software</vt:lpstr>
      <vt:lpstr>Diseño de Software - Tipos</vt:lpstr>
      <vt:lpstr>Diseño de Software - Tipos</vt:lpstr>
      <vt:lpstr>Diseño de Software - Tipos</vt:lpstr>
      <vt:lpstr>Diseño de Software - Tipos</vt:lpstr>
      <vt:lpstr>Diseño de Software - Tipos</vt:lpstr>
      <vt:lpstr>Diseño de Software – Características para su evaluación</vt:lpstr>
      <vt:lpstr>Criterios técnicos para un buen diseño</vt:lpstr>
      <vt:lpstr>Criterios técnicos para un buen diseño</vt:lpstr>
      <vt:lpstr>Evolución del diseño de software</vt:lpstr>
      <vt:lpstr>Conceptos de Diseño - Importancia</vt:lpstr>
      <vt:lpstr>Conceptos de Diseño </vt:lpstr>
      <vt:lpstr>Conceptos de Diseño </vt:lpstr>
      <vt:lpstr>Conceptos de Diseño </vt:lpstr>
      <vt:lpstr>Conceptos de Diseño </vt:lpstr>
      <vt:lpstr>Conceptos de Diseño </vt:lpstr>
      <vt:lpstr>Conceptos de Diseño </vt:lpstr>
      <vt:lpstr>Conceptos de Diseño </vt:lpstr>
      <vt:lpstr>Conceptos de Diseño </vt:lpstr>
      <vt:lpstr>Conceptos de Diseño </vt:lpstr>
      <vt:lpstr>Conceptos de Diseño </vt:lpstr>
      <vt:lpstr>Conceptos de Diseño </vt:lpstr>
      <vt:lpstr>Conceptos de Diseño </vt:lpstr>
      <vt:lpstr>Conceptos de Diseño </vt:lpstr>
      <vt:lpstr>Presentación de PowerPoint</vt:lpstr>
      <vt:lpstr>Conceptos de Diseño </vt:lpstr>
      <vt:lpstr>Conceptos de Diseño </vt:lpstr>
      <vt:lpstr>Principios del modelado de Diseño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Ariel</dc:creator>
  <cp:lastModifiedBy>Rocio Muñoz</cp:lastModifiedBy>
  <cp:revision>1</cp:revision>
  <dcterms:created xsi:type="dcterms:W3CDTF">2012-03-08T17:26:38Z</dcterms:created>
  <dcterms:modified xsi:type="dcterms:W3CDTF">2026-04-14T12:43:43Z</dcterms:modified>
</cp:coreProperties>
</file>