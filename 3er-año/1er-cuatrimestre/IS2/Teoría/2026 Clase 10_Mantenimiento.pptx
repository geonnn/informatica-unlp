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6" r:id="rId1"/>
  </p:sldMasterIdLst>
  <p:notesMasterIdLst>
    <p:notesMasterId r:id="rId35"/>
  </p:notesMasterIdLst>
  <p:sldIdLst>
    <p:sldId id="300" r:id="rId2"/>
    <p:sldId id="312" r:id="rId3"/>
    <p:sldId id="313" r:id="rId4"/>
    <p:sldId id="315" r:id="rId5"/>
    <p:sldId id="318" r:id="rId6"/>
    <p:sldId id="316" r:id="rId7"/>
    <p:sldId id="319" r:id="rId8"/>
    <p:sldId id="320" r:id="rId9"/>
    <p:sldId id="321" r:id="rId10"/>
    <p:sldId id="322" r:id="rId11"/>
    <p:sldId id="324" r:id="rId12"/>
    <p:sldId id="325" r:id="rId13"/>
    <p:sldId id="326" r:id="rId14"/>
    <p:sldId id="327" r:id="rId15"/>
    <p:sldId id="329" r:id="rId16"/>
    <p:sldId id="330" r:id="rId17"/>
    <p:sldId id="331" r:id="rId18"/>
    <p:sldId id="332" r:id="rId19"/>
    <p:sldId id="333" r:id="rId20"/>
    <p:sldId id="334" r:id="rId21"/>
    <p:sldId id="335" r:id="rId22"/>
    <p:sldId id="336" r:id="rId23"/>
    <p:sldId id="337" r:id="rId24"/>
    <p:sldId id="338" r:id="rId25"/>
    <p:sldId id="317" r:id="rId26"/>
    <p:sldId id="339" r:id="rId27"/>
    <p:sldId id="340" r:id="rId28"/>
    <p:sldId id="341" r:id="rId29"/>
    <p:sldId id="342" r:id="rId30"/>
    <p:sldId id="343" r:id="rId31"/>
    <p:sldId id="344" r:id="rId32"/>
    <p:sldId id="345" r:id="rId33"/>
    <p:sldId id="346" r:id="rId34"/>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gQd5YMdJJAam4kuP9m7xgvTQvJ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27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655EF1A-9E55-CD86-4AFF-B24619AEAC3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FF2DE59-2D63-2B1D-A097-0F7B1F35DF5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ADDC7FD-58A4-C14D-710B-F136AFC3BC9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373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D4E2811-4DB7-24AC-320F-CBD8D34139B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49BD3E2-8849-09B5-2004-2A0EF7A8FE1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20B0F57-770E-0AC2-C402-C1A41DD246E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2075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22AF039-8B7D-E4E1-A50E-A206E94554D9}"/>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AF5973E-BBF8-4582-F9FA-6943009ED4D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4DEF725-2BFA-EC35-EAB4-09B66D0FD0E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4690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7DF2F8D-9FB2-0FE4-2984-DAC2B210E2EF}"/>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7B6821C-A55E-8806-1490-7297F594A48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BC8207B-D290-9D3A-9B37-FA04B53E850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3339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CA9E009-DC46-69BE-AFD0-460045B6DB6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11B1069-F32C-66A2-6903-E7AD74C4FC2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53819C7-009B-948B-1917-901B3A1258F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2906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C8E8363-3F93-0200-8A61-1CF8CA83011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655C5F9-5188-0850-9511-74427446BD8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6C1E5A7-8BB2-0E7B-4771-F690902901C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5471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18CA960-E656-0CCF-5825-AF8DC148695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679B2F7C-4500-8939-9EC3-E790F11EC2C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D1DCDED-C031-BC46-A7C6-BA0297E54F2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5221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F2F890B-19CE-FE6A-A428-374A31327D3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5C823C8F-DC8A-54CA-B186-55D7373B78C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3D4DD1E-6A8E-C374-BFDA-674ADC70E05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2744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756EA94-15C5-AA54-F5E0-0BEECBE6772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6712E9BE-7547-EF5F-4902-EEA76F1CE55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614080D-AF82-2DF7-BA38-4C46101A8EE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3542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F4DBFFA-C1C5-CDCF-F003-E6AF5CDAD09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9029C90-C5F5-AAB5-F777-2C72E029E01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B1AA20E-32F9-1011-5159-8407E8A73B1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1175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2086084-9916-59BE-7DF9-3EBCAFB899F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060EBC5A-1400-3805-8C41-C179BA8872F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81A8DC8-180B-98EB-A939-40E1E47048B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6361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59CDEF0-9C10-2B80-BE78-70F633ACD0D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E43BF26-2F70-71ED-9A68-EE36B282E21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21BF4D5-34DA-B863-0708-725D9D26515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7245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11025BE-0467-3EF6-0E90-E25263C71EB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A400448-B62D-3E64-5A57-7805BA72232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E123FC3-05A8-B491-D7B3-3779DAA5EE2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5233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4ED3F4C-57D9-E1A9-B20B-D5AD685FA13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EE0224A-013D-4B6E-23AC-68E37307687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AA1E6A34-7A9E-9D37-7DFA-FF219D4F99E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5942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B120F09-7BA8-3E1F-E1A9-EA57D239426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BC69501-EF9E-6B8D-C9E3-218152D97A4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9DF20004-340C-6380-26E0-DF099B5CE04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3896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3767F6E-1F36-3A5E-F29D-07AE4AF8B81F}"/>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382E311-3EF7-9C3B-7F13-DF9012D4BD7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2BF3AF2-CC73-F503-9FF1-024A4843325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4523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7BFFCF6-962C-75E3-B544-544B53B0259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90683B8-7A47-ECAC-94B5-606CA73D469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104DD86-E6D8-F3B1-3396-56ACC89FA71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4108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0340E71-EAD1-FF9B-ED4F-F24D5F78A780}"/>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7AA77F96-68DD-7418-EDFB-3F5FDF20F5A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974A88F8-8E1E-A072-8E86-F9BAC24C584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6715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6F1B594-7673-2925-0D9F-CA19A796D4F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9380CCA-4D55-427D-744C-0622B82E277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EDFE943-667F-9358-4502-33CD23EC2A4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3676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E5298BC-04BF-6F84-9466-6424619DF67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A98F59B-E59E-C211-196E-3E7795C1585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9F13B00-BABC-4861-DFE2-AF1B884DAE0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1194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748D6DF6-DC39-AFC7-9630-282D55489F9C}"/>
            </a:ext>
          </a:extLst>
        </p:cNvPr>
        <p:cNvGrpSpPr/>
        <p:nvPr/>
      </p:nvGrpSpPr>
      <p:grpSpPr>
        <a:xfrm>
          <a:off x="0" y="0"/>
          <a:ext cx="0" cy="0"/>
          <a:chOff x="0" y="0"/>
          <a:chExt cx="0" cy="0"/>
        </a:xfrm>
      </p:grpSpPr>
      <p:sp>
        <p:nvSpPr>
          <p:cNvPr id="59" name="Google Shape;59;p2:notes">
            <a:extLst>
              <a:ext uri="{FF2B5EF4-FFF2-40B4-BE49-F238E27FC236}">
                <a16:creationId xmlns:a16="http://schemas.microsoft.com/office/drawing/2014/main" id="{B76ADC10-2985-F3DB-D285-CBDC0AB8F9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a:extLst>
              <a:ext uri="{FF2B5EF4-FFF2-40B4-BE49-F238E27FC236}">
                <a16:creationId xmlns:a16="http://schemas.microsoft.com/office/drawing/2014/main" id="{9BCDC452-1E39-9B6B-240C-F6D27AFA82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1" name="Google Shape;61;p2:notes">
            <a:extLst>
              <a:ext uri="{FF2B5EF4-FFF2-40B4-BE49-F238E27FC236}">
                <a16:creationId xmlns:a16="http://schemas.microsoft.com/office/drawing/2014/main" id="{74594812-9FC6-F3E1-8699-6201E6B183F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25</a:t>
            </a:fld>
            <a:endParaRPr/>
          </a:p>
        </p:txBody>
      </p:sp>
    </p:spTree>
    <p:extLst>
      <p:ext uri="{BB962C8B-B14F-4D97-AF65-F5344CB8AC3E}">
        <p14:creationId xmlns:p14="http://schemas.microsoft.com/office/powerpoint/2010/main" val="23123740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FFBC0ED-83E1-1F5A-CEB5-61CE56178AF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B9DF938-30BF-53CB-12A5-C9937EAD46D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7A02619-DA1B-2B3B-1357-BD5DE3DE2E4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3766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C50A249-026A-B503-7F89-91B017254B9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08A0C3D-FF54-EE81-86E4-8EEFBABF743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789DC952-3396-6717-E01A-37B5B9E803A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99095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F48D174-1C56-89A4-0855-9182E8B46C5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1C0AED85-C3BF-6725-19CC-EAC73E9851B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20C3BB7F-EEAE-793E-DBFC-38BB42DB981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5960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9B1FE39-15B2-FF13-513A-45A4CFDCC80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1B9FCCE0-508E-3F01-9E72-ACE1E10016E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1930604-FE39-0041-96B1-CDD0A15B22F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1863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C1089D5-0B3A-58DB-9E65-4E336C2464B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2B5694D-8D3E-2655-D5FA-639BE6EBF8A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A3283E3-7E5E-A9DC-76E7-0F87A1D9969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80093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9C6C905-A0B8-37CE-E57D-BBA2983A26A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9D8ED0A-C37A-5436-0054-F1D6F833FB7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D425021-8351-5592-6141-E40E1839E53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13758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167EFA1-0114-1300-1E15-37BBA79368A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62EF6B0-D26D-D82D-5C7E-CBCF01FA782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0725CDF-5C68-98C0-DEC4-09B7F5EF78E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21198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1DB3DF8-3CB1-F89F-7773-5704DF4ED50B}"/>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254A2B2-1140-D0C1-ECF0-BEF81249316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1C2E0BD-1F93-7D2D-1762-1D716BF05CE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5119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02A6E8A-0F99-7EFD-70F7-EC3D5A0F6C99}"/>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11C9E05D-943D-6564-64D0-87BE5764B3DA}"/>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4E257826-67BA-F43D-AAB0-389FD4001F28}"/>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A3830586-0777-988B-324A-A81D6CBDE589}"/>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4">
            <a:extLst>
              <a:ext uri="{FF2B5EF4-FFF2-40B4-BE49-F238E27FC236}">
                <a16:creationId xmlns:a16="http://schemas.microsoft.com/office/drawing/2014/main" id="{D728E25B-0CE4-6DC2-07A4-525C1CCD6101}"/>
              </a:ext>
            </a:extLst>
          </p:cNvPr>
          <p:cNvSpPr>
            <a:spLocks noGrp="1"/>
          </p:cNvSpPr>
          <p:nvPr>
            <p:ph type="ftr" sz="quarter" idx="11"/>
          </p:nvPr>
        </p:nvSpPr>
        <p:spPr/>
        <p:txBody>
          <a:bodyPr/>
          <a:lstStyle>
            <a:lvl1pPr>
              <a:defRPr/>
            </a:lvl1pPr>
          </a:lstStyle>
          <a:p>
            <a:endParaRPr lang="es-ES"/>
          </a:p>
        </p:txBody>
      </p:sp>
      <p:sp>
        <p:nvSpPr>
          <p:cNvPr id="9" name="Slide Number Placeholder 5">
            <a:extLst>
              <a:ext uri="{FF2B5EF4-FFF2-40B4-BE49-F238E27FC236}">
                <a16:creationId xmlns:a16="http://schemas.microsoft.com/office/drawing/2014/main" id="{3D5449D7-89C1-2CB5-4BE7-67649C8EF0CA}"/>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11449218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3A9A0BBB-809A-14E0-07FE-5A592016E404}"/>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D21C939D-CD41-0CE7-B32D-DD1B9D8ACB42}"/>
              </a:ext>
            </a:extLst>
          </p:cNvPr>
          <p:cNvSpPr>
            <a:spLocks noGrp="1"/>
          </p:cNvSpPr>
          <p:nvPr>
            <p:ph type="ftr" sz="quarter" idx="11"/>
          </p:nvPr>
        </p:nvSpPr>
        <p:spPr/>
        <p:txBody>
          <a:bodyPr/>
          <a:lstStyle>
            <a:lvl1pPr>
              <a:defRPr/>
            </a:lvl1pPr>
          </a:lstStyle>
          <a:p>
            <a:endParaRPr lang="es-ES"/>
          </a:p>
        </p:txBody>
      </p:sp>
      <p:sp>
        <p:nvSpPr>
          <p:cNvPr id="6" name="Slide Number Placeholder 5">
            <a:extLst>
              <a:ext uri="{FF2B5EF4-FFF2-40B4-BE49-F238E27FC236}">
                <a16:creationId xmlns:a16="http://schemas.microsoft.com/office/drawing/2014/main" id="{6CE8F2B8-FABC-15BA-0106-4F773F26D7E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6292220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6D1D0BD-62DA-7262-B096-C9D40B48A23F}"/>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A32C419D-65B3-E356-B58E-550FBBFF3F3B}"/>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B7D10530-0FF9-5B4E-E3A7-F36D2D8F8B95}"/>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BAF45665-003C-AF13-8BAA-60E0F46B1677}"/>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4">
            <a:extLst>
              <a:ext uri="{FF2B5EF4-FFF2-40B4-BE49-F238E27FC236}">
                <a16:creationId xmlns:a16="http://schemas.microsoft.com/office/drawing/2014/main" id="{709464C1-58DB-B96E-2025-04E5F0E5495E}"/>
              </a:ext>
            </a:extLst>
          </p:cNvPr>
          <p:cNvSpPr>
            <a:spLocks noGrp="1"/>
          </p:cNvSpPr>
          <p:nvPr>
            <p:ph type="ftr" sz="quarter" idx="11"/>
          </p:nvPr>
        </p:nvSpPr>
        <p:spPr/>
        <p:txBody>
          <a:bodyPr/>
          <a:lstStyle>
            <a:lvl1pPr>
              <a:defRPr/>
            </a:lvl1pPr>
          </a:lstStyle>
          <a:p>
            <a:endParaRPr lang="es-ES"/>
          </a:p>
        </p:txBody>
      </p:sp>
      <p:sp>
        <p:nvSpPr>
          <p:cNvPr id="9" name="Slide Number Placeholder 5">
            <a:extLst>
              <a:ext uri="{FF2B5EF4-FFF2-40B4-BE49-F238E27FC236}">
                <a16:creationId xmlns:a16="http://schemas.microsoft.com/office/drawing/2014/main" id="{2F183EE8-8AE8-5AA2-4C5A-A7FFFF10225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2716489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7CDDAB7B-0B0C-CE26-21F5-541CF36D471D}"/>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9B1A56C8-211F-A480-0353-64520140D795}"/>
              </a:ext>
            </a:extLst>
          </p:cNvPr>
          <p:cNvSpPr>
            <a:spLocks noGrp="1"/>
          </p:cNvSpPr>
          <p:nvPr>
            <p:ph type="ftr" sz="quarter" idx="11"/>
          </p:nvPr>
        </p:nvSpPr>
        <p:spPr/>
        <p:txBody>
          <a:bodyPr/>
          <a:lstStyle>
            <a:lvl1pPr>
              <a:defRPr/>
            </a:lvl1pPr>
          </a:lstStyle>
          <a:p>
            <a:endParaRPr lang="es-ES"/>
          </a:p>
        </p:txBody>
      </p:sp>
      <p:sp>
        <p:nvSpPr>
          <p:cNvPr id="6" name="Slide Number Placeholder 5">
            <a:extLst>
              <a:ext uri="{FF2B5EF4-FFF2-40B4-BE49-F238E27FC236}">
                <a16:creationId xmlns:a16="http://schemas.microsoft.com/office/drawing/2014/main" id="{8E81D108-561D-433B-4E73-DB052A2A924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93606569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41CA8494-CD3F-9935-36E8-0ADF61B62737}"/>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7" name="Footer Placeholder 4">
            <a:extLst>
              <a:ext uri="{FF2B5EF4-FFF2-40B4-BE49-F238E27FC236}">
                <a16:creationId xmlns:a16="http://schemas.microsoft.com/office/drawing/2014/main" id="{48F8177D-B2DA-AC63-3874-194717623485}"/>
              </a:ext>
            </a:extLst>
          </p:cNvPr>
          <p:cNvSpPr>
            <a:spLocks noGrp="1"/>
          </p:cNvSpPr>
          <p:nvPr>
            <p:ph type="ftr" sz="quarter" idx="11"/>
          </p:nvPr>
        </p:nvSpPr>
        <p:spPr/>
        <p:txBody>
          <a:bodyPr/>
          <a:lstStyle>
            <a:lvl1pPr>
              <a:defRPr/>
            </a:lvl1pPr>
          </a:lstStyle>
          <a:p>
            <a:endParaRPr lang="es-ES"/>
          </a:p>
        </p:txBody>
      </p:sp>
      <p:sp>
        <p:nvSpPr>
          <p:cNvPr id="8" name="Slide Number Placeholder 5">
            <a:extLst>
              <a:ext uri="{FF2B5EF4-FFF2-40B4-BE49-F238E27FC236}">
                <a16:creationId xmlns:a16="http://schemas.microsoft.com/office/drawing/2014/main" id="{44BD20F1-DCCD-6CE9-CC03-7B9CA783496A}"/>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38405564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BFA52ADF-F9CB-8528-DEA4-3A019F69890C}"/>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4" name="Footer Placeholder 4">
            <a:extLst>
              <a:ext uri="{FF2B5EF4-FFF2-40B4-BE49-F238E27FC236}">
                <a16:creationId xmlns:a16="http://schemas.microsoft.com/office/drawing/2014/main" id="{EA754FE8-97EE-7452-BCA8-67492D35B8B8}"/>
              </a:ext>
            </a:extLst>
          </p:cNvPr>
          <p:cNvSpPr>
            <a:spLocks noGrp="1"/>
          </p:cNvSpPr>
          <p:nvPr>
            <p:ph type="ftr" sz="quarter" idx="11"/>
          </p:nvPr>
        </p:nvSpPr>
        <p:spPr/>
        <p:txBody>
          <a:bodyPr/>
          <a:lstStyle>
            <a:lvl1pPr>
              <a:defRPr/>
            </a:lvl1pPr>
          </a:lstStyle>
          <a:p>
            <a:endParaRPr lang="es-ES"/>
          </a:p>
        </p:txBody>
      </p:sp>
      <p:sp>
        <p:nvSpPr>
          <p:cNvPr id="5" name="Slide Number Placeholder 5">
            <a:extLst>
              <a:ext uri="{FF2B5EF4-FFF2-40B4-BE49-F238E27FC236}">
                <a16:creationId xmlns:a16="http://schemas.microsoft.com/office/drawing/2014/main" id="{576D8894-5EA3-B358-FEA8-AD11C64978BB}"/>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08951363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327F7D1-0CAB-7B48-AE4D-951EBF4AB4F4}"/>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B4EAAE93-AF88-48D3-B5F7-F568C8DEB0D9}"/>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A915940C-8537-D121-CA67-DBC638F5D574}"/>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85113FD1-2F0B-0617-74F6-F1178AE19601}"/>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6" name="Footer Placeholder 7">
            <a:extLst>
              <a:ext uri="{FF2B5EF4-FFF2-40B4-BE49-F238E27FC236}">
                <a16:creationId xmlns:a16="http://schemas.microsoft.com/office/drawing/2014/main" id="{AB4CD2F9-7931-697F-83C8-09B3B7ACFE62}"/>
              </a:ext>
            </a:extLst>
          </p:cNvPr>
          <p:cNvSpPr>
            <a:spLocks noGrp="1"/>
          </p:cNvSpPr>
          <p:nvPr>
            <p:ph type="ftr" sz="quarter" idx="11"/>
          </p:nvPr>
        </p:nvSpPr>
        <p:spPr/>
        <p:txBody>
          <a:bodyPr/>
          <a:lstStyle>
            <a:lvl1pPr>
              <a:defRPr>
                <a:solidFill>
                  <a:srgbClr val="FFFFFF"/>
                </a:solidFill>
              </a:defRPr>
            </a:lvl1pPr>
          </a:lstStyle>
          <a:p>
            <a:endParaRPr lang="es-ES"/>
          </a:p>
        </p:txBody>
      </p:sp>
      <p:sp>
        <p:nvSpPr>
          <p:cNvPr id="7" name="Slide Number Placeholder 8">
            <a:extLst>
              <a:ext uri="{FF2B5EF4-FFF2-40B4-BE49-F238E27FC236}">
                <a16:creationId xmlns:a16="http://schemas.microsoft.com/office/drawing/2014/main" id="{21B28D86-2365-6731-72E6-07C8B507EE3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89381529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52E0B54-22EC-B1DF-619E-776A3EC1F3C4}"/>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4920DB6D-2739-1C67-9491-883AC87495D6}"/>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6E8546EB-7F02-84A0-56F9-018B8434CCC5}"/>
              </a:ext>
            </a:extLst>
          </p:cNvPr>
          <p:cNvSpPr>
            <a:spLocks noGrp="1"/>
          </p:cNvSpPr>
          <p:nvPr>
            <p:ph type="dt" sz="half" idx="10"/>
          </p:nvPr>
        </p:nvSpPr>
        <p:spPr>
          <a:xfrm>
            <a:off x="465138" y="6459538"/>
            <a:ext cx="2619375" cy="365125"/>
          </a:xfrm>
        </p:spPr>
        <p:txBody>
          <a:bodyPr/>
          <a:lstStyle>
            <a:lvl1pPr algn="l">
              <a:defRPr/>
            </a:lvl1pPr>
          </a:lstStyle>
          <a:p>
            <a:pPr>
              <a:defRPr/>
            </a:pPr>
            <a:r>
              <a:rPr lang="es-ES"/>
              <a:t>2026</a:t>
            </a:r>
            <a:endParaRPr lang="es-ES" dirty="0"/>
          </a:p>
        </p:txBody>
      </p:sp>
      <p:sp>
        <p:nvSpPr>
          <p:cNvPr id="8" name="Footer Placeholder 5">
            <a:extLst>
              <a:ext uri="{FF2B5EF4-FFF2-40B4-BE49-F238E27FC236}">
                <a16:creationId xmlns:a16="http://schemas.microsoft.com/office/drawing/2014/main" id="{6C3F1EDB-08D4-904E-18F9-E5384204AE1E}"/>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endParaRPr lang="es-ES"/>
          </a:p>
        </p:txBody>
      </p:sp>
      <p:sp>
        <p:nvSpPr>
          <p:cNvPr id="9" name="Slide Number Placeholder 6">
            <a:extLst>
              <a:ext uri="{FF2B5EF4-FFF2-40B4-BE49-F238E27FC236}">
                <a16:creationId xmlns:a16="http://schemas.microsoft.com/office/drawing/2014/main" id="{352800A2-DFFC-0BC8-115D-F373F633EB16}"/>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98744192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CDEEDB-5429-5CF8-AD94-85A95CA2D38B}"/>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A3BF096E-500A-5A30-E912-5C0ED43314DD}"/>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108411DD-47C5-EC1C-8DB4-BF49D5D00163}"/>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5">
            <a:extLst>
              <a:ext uri="{FF2B5EF4-FFF2-40B4-BE49-F238E27FC236}">
                <a16:creationId xmlns:a16="http://schemas.microsoft.com/office/drawing/2014/main" id="{B94434A8-BDFD-5EE5-F4DC-2D2F2F9CC515}"/>
              </a:ext>
            </a:extLst>
          </p:cNvPr>
          <p:cNvSpPr>
            <a:spLocks noGrp="1"/>
          </p:cNvSpPr>
          <p:nvPr>
            <p:ph type="ftr" sz="quarter" idx="11"/>
          </p:nvPr>
        </p:nvSpPr>
        <p:spPr/>
        <p:txBody>
          <a:bodyPr/>
          <a:lstStyle>
            <a:lvl1pPr>
              <a:defRPr/>
            </a:lvl1pPr>
          </a:lstStyle>
          <a:p>
            <a:endParaRPr lang="es-ES"/>
          </a:p>
        </p:txBody>
      </p:sp>
      <p:sp>
        <p:nvSpPr>
          <p:cNvPr id="9" name="Slide Number Placeholder 6">
            <a:extLst>
              <a:ext uri="{FF2B5EF4-FFF2-40B4-BE49-F238E27FC236}">
                <a16:creationId xmlns:a16="http://schemas.microsoft.com/office/drawing/2014/main" id="{8EC5618F-A923-3928-3020-7D6BFFDC20B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89024464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CB1D06B7-A8EB-4478-D769-5BC43723A98A}"/>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E6E26FE9-8CDF-40BE-A129-C8CA057C7E32}"/>
              </a:ext>
            </a:extLst>
          </p:cNvPr>
          <p:cNvSpPr>
            <a:spLocks noGrp="1"/>
          </p:cNvSpPr>
          <p:nvPr>
            <p:ph type="ftr" sz="quarter" idx="11"/>
          </p:nvPr>
        </p:nvSpPr>
        <p:spPr/>
        <p:txBody>
          <a:bodyPr/>
          <a:lstStyle>
            <a:lvl1pPr>
              <a:defRPr/>
            </a:lvl1pPr>
          </a:lstStyle>
          <a:p>
            <a:endParaRPr lang="es-ES"/>
          </a:p>
        </p:txBody>
      </p:sp>
      <p:sp>
        <p:nvSpPr>
          <p:cNvPr id="6" name="Slide Number Placeholder 5">
            <a:extLst>
              <a:ext uri="{FF2B5EF4-FFF2-40B4-BE49-F238E27FC236}">
                <a16:creationId xmlns:a16="http://schemas.microsoft.com/office/drawing/2014/main" id="{D50BD185-2094-7889-0B91-4E427FB0425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3317497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50DC541-E5A4-CBBD-ED4D-034669356FBD}"/>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E51459DD-B14F-30CE-C2E0-AD61C33C99B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3E012BC2-8ED3-C488-CC11-210EA4454622}"/>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7" name="Footer Placeholder 4">
            <a:extLst>
              <a:ext uri="{FF2B5EF4-FFF2-40B4-BE49-F238E27FC236}">
                <a16:creationId xmlns:a16="http://schemas.microsoft.com/office/drawing/2014/main" id="{A53E7BD9-F99D-F8D4-D4E3-7B2D87D1874A}"/>
              </a:ext>
            </a:extLst>
          </p:cNvPr>
          <p:cNvSpPr>
            <a:spLocks noGrp="1"/>
          </p:cNvSpPr>
          <p:nvPr>
            <p:ph type="ftr" sz="quarter" idx="11"/>
          </p:nvPr>
        </p:nvSpPr>
        <p:spPr/>
        <p:txBody>
          <a:bodyPr/>
          <a:lstStyle>
            <a:lvl1pPr>
              <a:defRPr/>
            </a:lvl1pPr>
          </a:lstStyle>
          <a:p>
            <a:endParaRPr lang="es-ES"/>
          </a:p>
        </p:txBody>
      </p:sp>
      <p:sp>
        <p:nvSpPr>
          <p:cNvPr id="8" name="Slide Number Placeholder 5">
            <a:extLst>
              <a:ext uri="{FF2B5EF4-FFF2-40B4-BE49-F238E27FC236}">
                <a16:creationId xmlns:a16="http://schemas.microsoft.com/office/drawing/2014/main" id="{6E870AE3-0E52-FBAF-2887-EAA2FE83045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6767464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F82F432D-BF27-8F2E-5346-C56BD3A65083}"/>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14CF0B14-33C5-5DB0-7B96-DDB2F925461E}"/>
              </a:ext>
            </a:extLst>
          </p:cNvPr>
          <p:cNvSpPr>
            <a:spLocks noGrp="1"/>
          </p:cNvSpPr>
          <p:nvPr>
            <p:ph type="ftr" sz="quarter" idx="11"/>
          </p:nvPr>
        </p:nvSpPr>
        <p:spPr/>
        <p:txBody>
          <a:bodyPr/>
          <a:lstStyle>
            <a:lvl1pPr>
              <a:defRPr/>
            </a:lvl1pPr>
          </a:lstStyle>
          <a:p>
            <a:endParaRPr lang="es-ES"/>
          </a:p>
        </p:txBody>
      </p:sp>
      <p:sp>
        <p:nvSpPr>
          <p:cNvPr id="4" name="Slide Number Placeholder 5">
            <a:extLst>
              <a:ext uri="{FF2B5EF4-FFF2-40B4-BE49-F238E27FC236}">
                <a16:creationId xmlns:a16="http://schemas.microsoft.com/office/drawing/2014/main" id="{CC5EB353-A0CE-3659-EC12-4FD966A7ADB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59967703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D212C5FE-FAB5-9750-1269-69438B9CDA83}"/>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D0D8DD6E-B922-B4B3-09D0-618A829A4EB1}"/>
              </a:ext>
            </a:extLst>
          </p:cNvPr>
          <p:cNvSpPr>
            <a:spLocks noGrp="1"/>
          </p:cNvSpPr>
          <p:nvPr>
            <p:ph type="ftr" sz="quarter" idx="11"/>
          </p:nvPr>
        </p:nvSpPr>
        <p:spPr/>
        <p:txBody>
          <a:bodyPr/>
          <a:lstStyle>
            <a:lvl1pPr>
              <a:defRPr/>
            </a:lvl1pPr>
          </a:lstStyle>
          <a:p>
            <a:endParaRPr lang="es-ES"/>
          </a:p>
        </p:txBody>
      </p:sp>
      <p:sp>
        <p:nvSpPr>
          <p:cNvPr id="4" name="Slide Number Placeholder 5">
            <a:extLst>
              <a:ext uri="{FF2B5EF4-FFF2-40B4-BE49-F238E27FC236}">
                <a16:creationId xmlns:a16="http://schemas.microsoft.com/office/drawing/2014/main" id="{2AB90746-F1CF-6FDA-681D-67EC83D0F2B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01517349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4820DD9C-A963-043E-46A9-5CBA2E82BD4E}"/>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5">
            <a:extLst>
              <a:ext uri="{FF2B5EF4-FFF2-40B4-BE49-F238E27FC236}">
                <a16:creationId xmlns:a16="http://schemas.microsoft.com/office/drawing/2014/main" id="{882C42EB-7C50-BB6E-A8F1-300699BC18E8}"/>
              </a:ext>
            </a:extLst>
          </p:cNvPr>
          <p:cNvSpPr>
            <a:spLocks noGrp="1"/>
          </p:cNvSpPr>
          <p:nvPr>
            <p:ph type="ftr" sz="quarter" idx="11"/>
          </p:nvPr>
        </p:nvSpPr>
        <p:spPr/>
        <p:txBody>
          <a:bodyPr/>
          <a:lstStyle>
            <a:lvl1pPr>
              <a:defRPr/>
            </a:lvl1pPr>
          </a:lstStyle>
          <a:p>
            <a:endParaRPr lang="es-ES"/>
          </a:p>
        </p:txBody>
      </p:sp>
      <p:sp>
        <p:nvSpPr>
          <p:cNvPr id="4" name="Slide Number Placeholder 6">
            <a:extLst>
              <a:ext uri="{FF2B5EF4-FFF2-40B4-BE49-F238E27FC236}">
                <a16:creationId xmlns:a16="http://schemas.microsoft.com/office/drawing/2014/main" id="{7F217A83-5A25-D246-92A8-56CD9821985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60485367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C79E310-F388-264A-0D08-F687C799F207}"/>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84B7CB4C-E9A8-7984-EAE6-B88A79ABCBA6}"/>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EC636403-2078-3657-AF74-7161CD0C9438}"/>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D5C09440-195B-65CB-0DD3-62EFA077CFD9}"/>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03AE7A4D-2DD5-483C-E3B0-713234569B9A}"/>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9E0AF50C-0E0C-85A9-576A-8989F9391F47}"/>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endParaRPr lang="es-ES"/>
          </a:p>
        </p:txBody>
      </p:sp>
      <p:sp>
        <p:nvSpPr>
          <p:cNvPr id="6" name="Slide Number Placeholder 5">
            <a:extLst>
              <a:ext uri="{FF2B5EF4-FFF2-40B4-BE49-F238E27FC236}">
                <a16:creationId xmlns:a16="http://schemas.microsoft.com/office/drawing/2014/main" id="{59D604C3-CDE5-DC95-678C-01B28856DEA0}"/>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AR" smtClean="0"/>
              <a:t>‹Nº›</a:t>
            </a:fld>
            <a:endParaRPr lang="es-AR"/>
          </a:p>
        </p:txBody>
      </p:sp>
      <p:cxnSp>
        <p:nvCxnSpPr>
          <p:cNvPr id="10" name="Straight Connector 9">
            <a:extLst>
              <a:ext uri="{FF2B5EF4-FFF2-40B4-BE49-F238E27FC236}">
                <a16:creationId xmlns:a16="http://schemas.microsoft.com/office/drawing/2014/main" id="{64E69DE3-65E4-20E0-50D9-70AB53D1DD9F}"/>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0D8BA578-65ED-1A12-21A3-E26D2C69B1B1}"/>
              </a:ext>
            </a:extLst>
          </p:cNvPr>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552259"/>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ftr="0" dt="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winmerge.org/"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hyperlink" Target="https://kinsta.com/es/blog/herramientas-de-revision-de-codigo/"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hyperlink" Target="https://ghidra-sre.org/" TargetMode="External"/><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lvl="0">
              <a:spcBef>
                <a:spcPts val="0"/>
              </a:spcBef>
              <a:spcAft>
                <a:spcPts val="0"/>
              </a:spcAft>
              <a:buClr>
                <a:schemeClr val="dk2"/>
              </a:buClr>
              <a:buSzPts val="7200"/>
            </a:pPr>
            <a:r>
              <a:rPr lang="es-AR" dirty="0"/>
              <a:t>Ingeniería de Software II</a:t>
            </a:r>
            <a:endParaRPr b="1" dirty="0">
              <a:solidFill>
                <a:srgbClr val="4A6617"/>
              </a:solidFill>
            </a:endParaRPr>
          </a:p>
        </p:txBody>
      </p:sp>
      <p:sp>
        <p:nvSpPr>
          <p:cNvPr id="65" name="Google Shape;65;p2"/>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lvl="0">
              <a:spcBef>
                <a:spcPts val="0"/>
              </a:spcBef>
              <a:spcAft>
                <a:spcPts val="0"/>
              </a:spcAft>
              <a:buSzPts val="2300"/>
            </a:pPr>
            <a:r>
              <a:rPr lang="es-AR" dirty="0"/>
              <a:t>2026 – CLASE 10</a:t>
            </a:r>
          </a:p>
        </p:txBody>
      </p:sp>
      <p:sp>
        <p:nvSpPr>
          <p:cNvPr id="3" name="Marcador de pie de página 2">
            <a:extLst>
              <a:ext uri="{FF2B5EF4-FFF2-40B4-BE49-F238E27FC236}">
                <a16:creationId xmlns:a16="http://schemas.microsoft.com/office/drawing/2014/main" id="{0C52CB20-B78C-1990-D42A-63E20E8EF6BF}"/>
              </a:ext>
            </a:extLst>
          </p:cNvPr>
          <p:cNvSpPr>
            <a:spLocks noGrp="1"/>
          </p:cNvSpPr>
          <p:nvPr>
            <p:ph type="ftr" sz="quarter" idx="11"/>
          </p:nvPr>
        </p:nvSpPr>
        <p:spPr/>
        <p:txBody>
          <a:bodyPr/>
          <a:lstStyle/>
          <a:p>
            <a:r>
              <a:rPr lang="es-ES"/>
              <a:t>Ingeniería de Software II</a:t>
            </a:r>
            <a:endParaRPr lang="es-ES" dirty="0"/>
          </a:p>
        </p:txBody>
      </p:sp>
      <p:sp>
        <p:nvSpPr>
          <p:cNvPr id="5" name="Google Shape;139;p2">
            <a:extLst>
              <a:ext uri="{FF2B5EF4-FFF2-40B4-BE49-F238E27FC236}">
                <a16:creationId xmlns:a16="http://schemas.microsoft.com/office/drawing/2014/main" id="{96B343B4-C220-21D8-663E-A95EB26AE944}"/>
              </a:ext>
            </a:extLst>
          </p:cNvPr>
          <p:cNvSpPr txBox="1">
            <a:spLocks/>
          </p:cNvSpPr>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defPPr>
              <a:defRPr lang="en-US"/>
            </a:defPPr>
            <a:lvl1pPr algn="r" defTabSz="457200" rtl="0" eaLnBrk="1" fontAlgn="auto" hangingPunct="1">
              <a:spcBef>
                <a:spcPts val="0"/>
              </a:spcBef>
              <a:spcAft>
                <a:spcPts val="0"/>
              </a:spcAft>
              <a:defRPr sz="1050" kern="1200" smtClean="0">
                <a:solidFill>
                  <a:srgbClr val="FFFFFF"/>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buSzPts val="1000"/>
            </a:pPr>
            <a:fld id="{00000000-1234-1234-1234-123412341234}" type="slidenum">
              <a:rPr lang="es-AR" smtClean="0"/>
              <a:pPr>
                <a:buSzPts val="1000"/>
              </a:pPr>
              <a:t>1</a:t>
            </a:fld>
            <a:endParaRPr lang="es-AR">
              <a:solidFill>
                <a:srgbClr val="000000"/>
              </a:solidFill>
              <a:latin typeface="Times New Roman"/>
              <a:ea typeface="Times New Roman"/>
              <a:cs typeface="Times New Roman"/>
              <a:sym typeface="Times New Roman"/>
            </a:endParaRPr>
          </a:p>
        </p:txBody>
      </p:sp>
      <p:sp>
        <p:nvSpPr>
          <p:cNvPr id="6" name="Google Shape;137;p2">
            <a:extLst>
              <a:ext uri="{FF2B5EF4-FFF2-40B4-BE49-F238E27FC236}">
                <a16:creationId xmlns:a16="http://schemas.microsoft.com/office/drawing/2014/main" id="{E76F2B96-E0E5-4767-88C2-D55D769E397B}"/>
              </a:ext>
            </a:extLst>
          </p:cNvPr>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96" tIns="44636" rIns="89296" bIns="44636" anchor="t" anchorCtr="0">
            <a:noAutofit/>
          </a:bodyPr>
          <a:lstStyle/>
          <a:p>
            <a:pPr>
              <a:spcBef>
                <a:spcPts val="0"/>
              </a:spcBef>
              <a:spcAft>
                <a:spcPts val="0"/>
              </a:spcAft>
              <a:buClr>
                <a:srgbClr val="000000"/>
              </a:buClr>
              <a:buSzPts val="1400"/>
            </a:pPr>
            <a:endParaRPr sz="1367">
              <a:solidFill>
                <a:srgbClr val="000000"/>
              </a:solidFill>
              <a:latin typeface="Arial"/>
              <a:ea typeface="Arial"/>
              <a:cs typeface="Arial"/>
              <a:sym typeface="Arial"/>
            </a:endParaRPr>
          </a:p>
        </p:txBody>
      </p:sp>
      <p:sp>
        <p:nvSpPr>
          <p:cNvPr id="135" name="Google Shape;135;p2"/>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1642"/>
              </a:spcBef>
              <a:spcAft>
                <a:spcPts val="0"/>
              </a:spcAft>
              <a:buClr>
                <a:srgbClr val="C00000"/>
              </a:buClr>
              <a:buSzPts val="3600"/>
              <a:buFont typeface="Noto Sans Symbols"/>
              <a:buChar char="❖"/>
            </a:pPr>
            <a:r>
              <a:rPr lang="es-ES" sz="3516" dirty="0">
                <a:solidFill>
                  <a:srgbClr val="000000"/>
                </a:solidFill>
                <a:latin typeface="Calibri"/>
                <a:ea typeface="Calibri"/>
                <a:cs typeface="Calibri"/>
                <a:sym typeface="Calibri"/>
              </a:rPr>
              <a:t>Mantenimiento</a:t>
            </a:r>
          </a:p>
          <a:p>
            <a:pPr marL="558360" indent="-558360">
              <a:lnSpc>
                <a:spcPct val="85000"/>
              </a:lnSpc>
              <a:spcBef>
                <a:spcPts val="1642"/>
              </a:spcBef>
              <a:spcAft>
                <a:spcPts val="0"/>
              </a:spcAft>
              <a:buClr>
                <a:srgbClr val="C00000"/>
              </a:buClr>
              <a:buSzPts val="3600"/>
              <a:buFont typeface="Noto Sans Symbols"/>
              <a:buChar char="❖"/>
            </a:pPr>
            <a:r>
              <a:rPr lang="es-ES" sz="3516" dirty="0">
                <a:solidFill>
                  <a:srgbClr val="000000"/>
                </a:solidFill>
                <a:latin typeface="Calibri"/>
                <a:ea typeface="Calibri"/>
                <a:cs typeface="Calibri"/>
                <a:sym typeface="Calibri"/>
              </a:rPr>
              <a:t>Rejuvenecimiento del Software</a:t>
            </a: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222279" y="287339"/>
            <a:ext cx="9806257" cy="1449387"/>
          </a:xfrm>
          <a:prstGeom prst="rect">
            <a:avLst/>
          </a:prstGeom>
          <a:noFill/>
          <a:ln>
            <a:noFill/>
          </a:ln>
        </p:spPr>
        <p:txBody>
          <a:bodyPr spcFirstLastPara="1" vert="horz" wrap="square" lIns="89296" tIns="44636" rIns="89296" bIns="44636" rtlCol="0" anchor="b" anchorCtr="0">
            <a:noAutofit/>
          </a:bodyPr>
          <a:lstStyle/>
          <a:p>
            <a:pPr>
              <a:spcBef>
                <a:spcPts val="0"/>
              </a:spcBef>
              <a:spcAft>
                <a:spcPts val="0"/>
              </a:spcAft>
            </a:pPr>
            <a:r>
              <a:rPr lang="es-AR"/>
              <a:t>Contenidos</a:t>
            </a:r>
            <a:endParaRPr/>
          </a:p>
        </p:txBody>
      </p:sp>
      <p:sp>
        <p:nvSpPr>
          <p:cNvPr id="137" name="Google Shape;137;p2"/>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
        <p:nvSpPr>
          <p:cNvPr id="138" name="Google Shape;138;p2"/>
          <p:cNvSpPr txBox="1">
            <a:spLocks noGrp="1"/>
          </p:cNvSpPr>
          <p:nvPr>
            <p:ph type="ftr" idx="11"/>
          </p:nvPr>
        </p:nvSpPr>
        <p:spPr>
          <a:xfrm>
            <a:off x="3746586" y="6459540"/>
            <a:ext cx="4701927" cy="365125"/>
          </a:xfrm>
          <a:prstGeom prst="rect">
            <a:avLst/>
          </a:prstGeom>
          <a:noFill/>
          <a:ln>
            <a:noFill/>
          </a:ln>
        </p:spPr>
        <p:txBody>
          <a:bodyPr spcFirstLastPara="1" vert="horz" wrap="square" lIns="89296" tIns="44636" rIns="89296" bIns="44636" rtlCol="0" anchor="ctr" anchorCtr="0">
            <a:noAutofit/>
          </a:bodyPr>
          <a:lstStyle/>
          <a:p>
            <a:r>
              <a:rPr lang="es-AR"/>
              <a:t>Ingeniería de Software II</a:t>
            </a:r>
            <a:endParaRPr/>
          </a:p>
        </p:txBody>
      </p:sp>
      <p:sp>
        <p:nvSpPr>
          <p:cNvPr id="139" name="Google Shape;139;p2"/>
          <p:cNvSpPr txBox="1">
            <a:spLocks noGrp="1"/>
          </p:cNvSpPr>
          <p:nvPr>
            <p:ph type="sldNum" idx="12"/>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p>
            <a:pPr>
              <a:buSzPts val="1000"/>
            </a:pPr>
            <a:fld id="{00000000-1234-1234-1234-123412341234}" type="slidenum">
              <a:rPr lang="es-AR"/>
              <a:pPr>
                <a:buSzPts val="1000"/>
              </a:pP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457200" y="2271252"/>
            <a:ext cx="3200400" cy="609107"/>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4A6617"/>
              </a:buClr>
              <a:buSzPts val="4000"/>
              <a:buFont typeface="Calibri"/>
              <a:buNone/>
            </a:pPr>
            <a:r>
              <a:rPr lang="es-AR" noProof="0" dirty="0"/>
              <a:t>Mantenimiento</a:t>
            </a:r>
          </a:p>
        </p:txBody>
      </p:sp>
      <p:sp>
        <p:nvSpPr>
          <p:cNvPr id="66" name="Google Shape;66;p2"/>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marL="442913" lvl="0" indent="-442913" algn="just" rtl="0">
              <a:lnSpc>
                <a:spcPct val="85000"/>
              </a:lnSpc>
              <a:spcBef>
                <a:spcPts val="0"/>
              </a:spcBef>
              <a:spcAft>
                <a:spcPts val="1200"/>
              </a:spcAft>
              <a:buClr>
                <a:srgbClr val="C00000"/>
              </a:buClr>
              <a:buFont typeface="Wingdings" panose="05000000000000000000" pitchFamily="2" charset="2"/>
              <a:buChar char="v"/>
            </a:pPr>
            <a:r>
              <a:rPr lang="es-ES" sz="2800" dirty="0">
                <a:solidFill>
                  <a:schemeClr val="tx1"/>
                </a:solidFill>
              </a:rPr>
              <a:t>El mantenimiento del software comienza c</a:t>
            </a:r>
            <a:r>
              <a:rPr lang="es-ES" sz="2800" noProof="0" dirty="0" err="1">
                <a:solidFill>
                  <a:schemeClr val="tx1"/>
                </a:solidFill>
              </a:rPr>
              <a:t>asi</a:t>
            </a:r>
            <a:r>
              <a:rPr lang="es-ES" sz="2800" noProof="0" dirty="0">
                <a:solidFill>
                  <a:schemeClr val="tx1"/>
                </a:solidFill>
              </a:rPr>
              <a:t> de inmediato. El software se libera a los usuarios finales y, en cuestión de días, los reportes de errores se filtran de vuelta hacia la organización de ingeniería de software.</a:t>
            </a:r>
          </a:p>
          <a:p>
            <a:pPr marL="442913" lvl="0" indent="-442913" algn="just" rtl="0">
              <a:lnSpc>
                <a:spcPct val="85000"/>
              </a:lnSpc>
              <a:spcBef>
                <a:spcPts val="0"/>
              </a:spcBef>
              <a:spcAft>
                <a:spcPts val="1200"/>
              </a:spcAft>
              <a:buClr>
                <a:srgbClr val="C00000"/>
              </a:buClr>
              <a:buFont typeface="Wingdings" panose="05000000000000000000" pitchFamily="2" charset="2"/>
              <a:buChar char="v"/>
            </a:pPr>
            <a:r>
              <a:rPr lang="es-ES" sz="2800" noProof="0" dirty="0">
                <a:solidFill>
                  <a:schemeClr val="tx1"/>
                </a:solidFill>
              </a:rPr>
              <a:t>En semanas, una clase de usuarios indica que el software debe cambiarse de modo que pueda ajustarse a las necesidades especiales de su entorno.</a:t>
            </a:r>
          </a:p>
          <a:p>
            <a:pPr marL="442913" lvl="0" indent="-442913" algn="just" rtl="0">
              <a:lnSpc>
                <a:spcPct val="85000"/>
              </a:lnSpc>
              <a:spcBef>
                <a:spcPts val="0"/>
              </a:spcBef>
              <a:spcAft>
                <a:spcPts val="1200"/>
              </a:spcAft>
              <a:buClr>
                <a:srgbClr val="C00000"/>
              </a:buClr>
              <a:buFont typeface="Wingdings" panose="05000000000000000000" pitchFamily="2" charset="2"/>
              <a:buChar char="v"/>
            </a:pPr>
            <a:r>
              <a:rPr lang="es-ES" sz="2800" noProof="0" dirty="0">
                <a:solidFill>
                  <a:schemeClr val="tx1"/>
                </a:solidFill>
              </a:rPr>
              <a:t>Y en meses, otro grupo corporativo, que no quería saber nada del software cuando se liberó, ahora reconoce que puede ofrecerle beneficios inesperados. Pero necesitará algunas mejoras para hacer que funcione en su mundo.</a:t>
            </a:r>
          </a:p>
        </p:txBody>
      </p:sp>
      <p:sp>
        <p:nvSpPr>
          <p:cNvPr id="3" name="Marcador de texto 2">
            <a:extLst>
              <a:ext uri="{FF2B5EF4-FFF2-40B4-BE49-F238E27FC236}">
                <a16:creationId xmlns:a16="http://schemas.microsoft.com/office/drawing/2014/main" id="{BFB22B7A-ADDD-A921-3961-E7EC7DCAA820}"/>
              </a:ext>
            </a:extLst>
          </p:cNvPr>
          <p:cNvSpPr>
            <a:spLocks noGrp="1"/>
          </p:cNvSpPr>
          <p:nvPr>
            <p:ph type="body" sz="half" idx="2"/>
          </p:nvPr>
        </p:nvSpPr>
        <p:spPr/>
        <p:txBody>
          <a:bodyPr/>
          <a:lstStyle/>
          <a:p>
            <a:endParaRPr lang="es-ES"/>
          </a:p>
        </p:txBody>
      </p:sp>
      <p:sp>
        <p:nvSpPr>
          <p:cNvPr id="67" name="Google Shape;67;p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Ingeniería de Software II</a:t>
            </a:r>
            <a:endParaRPr/>
          </a:p>
        </p:txBody>
      </p:sp>
      <p:sp>
        <p:nvSpPr>
          <p:cNvPr id="64" name="Google Shape;64;p2"/>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3</a:t>
            </a:fld>
            <a:endParaRPr/>
          </a:p>
        </p:txBody>
      </p:sp>
      <p:sp>
        <p:nvSpPr>
          <p:cNvPr id="2" name="Marcador de fecha 1">
            <a:extLst>
              <a:ext uri="{FF2B5EF4-FFF2-40B4-BE49-F238E27FC236}">
                <a16:creationId xmlns:a16="http://schemas.microsoft.com/office/drawing/2014/main" id="{9DD60904-A681-7189-2DBC-B0CB7FFC621A}"/>
              </a:ext>
            </a:extLst>
          </p:cNvPr>
          <p:cNvSpPr>
            <a:spLocks noGrp="1"/>
          </p:cNvSpPr>
          <p:nvPr>
            <p:ph type="dt" sz="half" idx="10"/>
          </p:nvPr>
        </p:nvSpPr>
        <p:spPr/>
        <p:txBody>
          <a:bodyPr/>
          <a:lstStyle/>
          <a:p>
            <a:r>
              <a:rPr lang="es-ES" noProof="0"/>
              <a:t>2026</a:t>
            </a:r>
            <a:endParaRPr lang="es-AR" noProof="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xEl>
                                              <p:pRg st="1" end="1"/>
                                            </p:txEl>
                                          </p:spTgt>
                                        </p:tgtEl>
                                        <p:attrNameLst>
                                          <p:attrName>style.visibility</p:attrName>
                                        </p:attrNameLst>
                                      </p:cBhvr>
                                      <p:to>
                                        <p:strVal val="visible"/>
                                      </p:to>
                                    </p:set>
                                    <p:animEffect transition="in" filter="fade">
                                      <p:cBhvr>
                                        <p:cTn id="7" dur="500"/>
                                        <p:tgtEl>
                                          <p:spTgt spid="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xEl>
                                              <p:pRg st="2" end="2"/>
                                            </p:txEl>
                                          </p:spTgt>
                                        </p:tgtEl>
                                        <p:attrNameLst>
                                          <p:attrName>style.visibility</p:attrName>
                                        </p:attrNameLst>
                                      </p:cBhvr>
                                      <p:to>
                                        <p:strVal val="visible"/>
                                      </p:to>
                                    </p:set>
                                    <p:animEffect transition="in" filter="fade">
                                      <p:cBhvr>
                                        <p:cTn id="12" dur="500"/>
                                        <p:tgtEl>
                                          <p:spTgt spid="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Una hipótesis</a:t>
            </a:r>
            <a:endParaRPr dirty="0"/>
          </a:p>
        </p:txBody>
      </p:sp>
      <p:sp>
        <p:nvSpPr>
          <p:cNvPr id="160" name="Google Shape;160;p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a:t>
            </a:fld>
            <a:endParaRPr/>
          </a:p>
        </p:txBody>
      </p:sp>
      <p:sp>
        <p:nvSpPr>
          <p:cNvPr id="163" name="Google Shape;163;p4"/>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0" lvl="0" indent="0" algn="just">
              <a:lnSpc>
                <a:spcPct val="85000"/>
              </a:lnSpc>
              <a:spcBef>
                <a:spcPts val="0"/>
              </a:spcBef>
              <a:spcAft>
                <a:spcPts val="1200"/>
              </a:spcAft>
              <a:buClr>
                <a:srgbClr val="C00000"/>
              </a:buClr>
              <a:buNone/>
            </a:pPr>
            <a:r>
              <a:rPr lang="es-ES" sz="2600" i="1" dirty="0">
                <a:solidFill>
                  <a:schemeClr val="dk1"/>
                </a:solidFill>
              </a:rPr>
              <a:t>“Mucho del software del que dependemos en la actualidad tiene en promedio una antigüedad de 10 a 15 años. Aun cuando dichos programas se crearon usando las mejores técnicas de diseño y codificación conocidas en la época [y muchas no lo fueron], se produjeron cuando el tamaño del programa y el espacio de almacenamiento eran las preocupaciones principales. </a:t>
            </a:r>
          </a:p>
          <a:p>
            <a:pPr marL="0" lvl="0" indent="0" algn="just">
              <a:lnSpc>
                <a:spcPct val="85000"/>
              </a:lnSpc>
              <a:spcBef>
                <a:spcPts val="0"/>
              </a:spcBef>
              <a:spcAft>
                <a:spcPts val="1200"/>
              </a:spcAft>
              <a:buClr>
                <a:srgbClr val="C00000"/>
              </a:buClr>
              <a:buNone/>
            </a:pPr>
            <a:r>
              <a:rPr lang="es-ES" sz="2600" i="1" dirty="0">
                <a:solidFill>
                  <a:schemeClr val="dk1"/>
                </a:solidFill>
              </a:rPr>
              <a:t>Luego migraron a nuevas plataformas, se ajustaron para cambios en máquina y tecnología de sistema operativo, y aumentaron para satisfacer las necesidades de los nuevos usuarios, todo sin suficiente preocupación por la arquitectura global. El resultado es estructuras pobremente diseñadas, pobre codificación, pobre lógica y pobre documentación de los sistemas de software que ahora debemos seguir usando...”</a:t>
            </a:r>
            <a:endParaRPr sz="2600" i="1" dirty="0">
              <a:solidFill>
                <a:schemeClr val="dk1"/>
              </a:solidFill>
            </a:endParaRPr>
          </a:p>
        </p:txBody>
      </p:sp>
      <p:sp>
        <p:nvSpPr>
          <p:cNvPr id="2" name="Google Shape;91;p21">
            <a:extLst>
              <a:ext uri="{FF2B5EF4-FFF2-40B4-BE49-F238E27FC236}">
                <a16:creationId xmlns:a16="http://schemas.microsoft.com/office/drawing/2014/main" id="{C4A85005-6E51-382D-7D58-C13451153624}"/>
              </a:ext>
            </a:extLst>
          </p:cNvPr>
          <p:cNvSpPr txBox="1"/>
          <p:nvPr/>
        </p:nvSpPr>
        <p:spPr>
          <a:xfrm>
            <a:off x="9693158" y="6046259"/>
            <a:ext cx="2498842"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AR" sz="1400" b="0" i="0" u="none" strike="noStrike" cap="none">
                <a:solidFill>
                  <a:srgbClr val="000000"/>
                </a:solidFill>
                <a:latin typeface="+mn-lt"/>
                <a:ea typeface="Arial"/>
                <a:cs typeface="Arial"/>
                <a:sym typeface="Arial"/>
              </a:rPr>
              <a:t>Osborne y Chikofsky [Osb90]</a:t>
            </a:r>
            <a:endParaRPr>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F722E8E-4610-F465-982C-12ED6F569E6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105E9C8-5C99-6FC0-6CAE-A716462AD54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A3D591D7-8566-6498-ADC1-1275BF3FEAB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7F732BDB-5BE2-A089-0609-3281E7DF34D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8FFCB25-D78E-F9AA-D5E7-621845348AB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a:t>
            </a:fld>
            <a:endParaRPr/>
          </a:p>
        </p:txBody>
      </p:sp>
      <p:sp>
        <p:nvSpPr>
          <p:cNvPr id="3" name="Google Shape;135;p2">
            <a:extLst>
              <a:ext uri="{FF2B5EF4-FFF2-40B4-BE49-F238E27FC236}">
                <a16:creationId xmlns:a16="http://schemas.microsoft.com/office/drawing/2014/main" id="{28E8919C-40B4-A3D5-EAE4-81601FC368F0}"/>
              </a:ext>
            </a:extLst>
          </p:cNvPr>
          <p:cNvSpPr/>
          <p:nvPr/>
        </p:nvSpPr>
        <p:spPr>
          <a:xfrm>
            <a:off x="1096963" y="1751473"/>
            <a:ext cx="9902083" cy="4371365"/>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Atención del sistema a lo largo de su evolución después que el sistema se ha entregado. </a:t>
            </a:r>
          </a:p>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El mantenimiento de software es el proceso de modificar, actualizar y cambiar el software para satisfacer las necesidades del cliente. A esta fase se la llama “Evolución del Sistema”.</a:t>
            </a:r>
          </a:p>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Es una actividad amplia que incluye: corregir errores, mejorar las capacidades, eliminar funciones obsoletas y optimizar otras.</a:t>
            </a:r>
          </a:p>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En ocasiones debe realizarse mantenimiento a sistemas “heredados”. ¿Qué problemas podemos encontrar en los sistemas heredados?</a:t>
            </a:r>
          </a:p>
          <a:p>
            <a:pPr marL="558360" indent="-558360" algn="just">
              <a:lnSpc>
                <a:spcPct val="85000"/>
              </a:lnSpc>
              <a:spcBef>
                <a:spcPts val="0"/>
              </a:spcBef>
              <a:spcAft>
                <a:spcPts val="1200"/>
              </a:spcAft>
              <a:buClr>
                <a:srgbClr val="C00000"/>
              </a:buClr>
              <a:buSzPct val="100000"/>
              <a:buFont typeface="Noto Sans Symbols"/>
              <a:buChar char="❖"/>
            </a:pPr>
            <a:endParaRPr lang="es-ES" sz="2800" dirty="0">
              <a:solidFill>
                <a:srgbClr val="000000"/>
              </a:solidFill>
              <a:latin typeface="Calibri"/>
              <a:ea typeface="Calibri"/>
              <a:cs typeface="Calibri"/>
              <a:sym typeface="Calibri"/>
            </a:endParaRPr>
          </a:p>
          <a:p>
            <a:pPr algn="just">
              <a:lnSpc>
                <a:spcPct val="85000"/>
              </a:lnSpc>
              <a:spcBef>
                <a:spcPts val="0"/>
              </a:spcBef>
              <a:spcAft>
                <a:spcPts val="1200"/>
              </a:spcAft>
              <a:buClr>
                <a:srgbClr val="000000"/>
              </a:buClr>
              <a:buSzPts val="3600"/>
            </a:pPr>
            <a:endParaRPr sz="32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50810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CD6E96E-8610-E73B-E901-9276C9A3564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5C04716-9247-47E8-021C-6398CD24EC8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5EF585E4-4F72-5CA2-314F-3648DADC1CA7}"/>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37AC2396-A7BF-DE2A-98EE-9AA8D777238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DEC4DA62-A09F-1B01-038E-AD01DCD0CD7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a:t>
            </a:fld>
            <a:endParaRPr/>
          </a:p>
        </p:txBody>
      </p:sp>
      <p:sp>
        <p:nvSpPr>
          <p:cNvPr id="3" name="Google Shape;135;p2">
            <a:extLst>
              <a:ext uri="{FF2B5EF4-FFF2-40B4-BE49-F238E27FC236}">
                <a16:creationId xmlns:a16="http://schemas.microsoft.com/office/drawing/2014/main" id="{C3B994C8-D991-3638-AE47-6485878E874B}"/>
              </a:ext>
            </a:extLst>
          </p:cNvPr>
          <p:cNvSpPr/>
          <p:nvPr/>
        </p:nvSpPr>
        <p:spPr>
          <a:xfrm>
            <a:off x="1175121" y="1843547"/>
            <a:ext cx="9902083" cy="4371365"/>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0"/>
              </a:spcBef>
              <a:spcAft>
                <a:spcPts val="1200"/>
              </a:spcAft>
              <a:buClr>
                <a:srgbClr val="C00000"/>
              </a:buClr>
              <a:buSzPct val="100000"/>
              <a:buFont typeface="Noto Sans Symbols"/>
              <a:buChar char="❖"/>
            </a:pPr>
            <a:r>
              <a:rPr lang="es-ES" sz="3000" dirty="0">
                <a:solidFill>
                  <a:srgbClr val="000000"/>
                </a:solidFill>
                <a:latin typeface="Calibri"/>
                <a:ea typeface="Calibri"/>
                <a:cs typeface="Calibri"/>
                <a:sym typeface="Calibri"/>
              </a:rPr>
              <a:t>Características de los sistemas heredados:</a:t>
            </a:r>
          </a:p>
          <a:p>
            <a:pPr marL="811213" indent="-368300">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Los sistemas son viejos.</a:t>
            </a:r>
          </a:p>
          <a:p>
            <a:pPr marL="811213" indent="-368300">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Sin metodología ni documentación.</a:t>
            </a:r>
          </a:p>
          <a:p>
            <a:pPr marL="811213" indent="-368300">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Sin modularidad.</a:t>
            </a:r>
          </a:p>
          <a:p>
            <a:pPr marL="558360" indent="-558360">
              <a:lnSpc>
                <a:spcPct val="85000"/>
              </a:lnSpc>
              <a:spcBef>
                <a:spcPts val="1642"/>
              </a:spcBef>
              <a:spcAft>
                <a:spcPts val="0"/>
              </a:spcAft>
              <a:buClr>
                <a:srgbClr val="C00000"/>
              </a:buClr>
              <a:buSzPct val="100000"/>
              <a:buFont typeface="Noto Sans Symbols"/>
              <a:buChar char="❖"/>
            </a:pPr>
            <a:endParaRPr lang="es-ES" sz="3200" dirty="0">
              <a:solidFill>
                <a:srgbClr val="000000"/>
              </a:solidFill>
              <a:latin typeface="Calibri"/>
              <a:ea typeface="Calibri"/>
              <a:cs typeface="Calibri"/>
              <a:sym typeface="Calibri"/>
            </a:endParaRP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pic>
        <p:nvPicPr>
          <p:cNvPr id="4" name="Google Shape;102;p3">
            <a:extLst>
              <a:ext uri="{FF2B5EF4-FFF2-40B4-BE49-F238E27FC236}">
                <a16:creationId xmlns:a16="http://schemas.microsoft.com/office/drawing/2014/main" id="{A1D9DDA0-7D7C-B05A-0484-62C042A5619F}"/>
              </a:ext>
            </a:extLst>
          </p:cNvPr>
          <p:cNvPicPr preferRelativeResize="0"/>
          <p:nvPr/>
        </p:nvPicPr>
        <p:blipFill rotWithShape="1">
          <a:blip r:embed="rId3"/>
          <a:srcRect l="45723" t="37173" r="28079" b="32861"/>
          <a:stretch>
            <a:fillRect/>
          </a:stretch>
        </p:blipFill>
        <p:spPr>
          <a:xfrm>
            <a:off x="6821383" y="3211963"/>
            <a:ext cx="4652696" cy="3002950"/>
          </a:xfrm>
          <a:prstGeom prst="rect">
            <a:avLst/>
          </a:prstGeom>
        </p:spPr>
      </p:pic>
    </p:spTree>
    <p:extLst>
      <p:ext uri="{BB962C8B-B14F-4D97-AF65-F5344CB8AC3E}">
        <p14:creationId xmlns:p14="http://schemas.microsoft.com/office/powerpoint/2010/main" val="3692494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5810F1E-4209-7C70-006F-AD53F8E02C2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4EA7E3C-D40C-12B1-0991-039627AB492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A30AA830-C861-D3E4-44D4-5A5CB6A29D6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8FB35D6-8891-6A3C-E7A2-3475D9DEAE91}"/>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673A51E8-54C9-E152-43DD-4525D216E8F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7</a:t>
            </a:fld>
            <a:endParaRPr/>
          </a:p>
        </p:txBody>
      </p:sp>
      <p:sp>
        <p:nvSpPr>
          <p:cNvPr id="3" name="Google Shape;135;p2">
            <a:extLst>
              <a:ext uri="{FF2B5EF4-FFF2-40B4-BE49-F238E27FC236}">
                <a16:creationId xmlns:a16="http://schemas.microsoft.com/office/drawing/2014/main" id="{81DFE772-FFB2-3FFB-E4A7-367DCB696B02}"/>
              </a:ext>
            </a:extLst>
          </p:cNvPr>
          <p:cNvSpPr/>
          <p:nvPr/>
        </p:nvSpPr>
        <p:spPr>
          <a:xfrm>
            <a:off x="1096963" y="1751473"/>
            <a:ext cx="9902083" cy="4371365"/>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Es necesario evaluar cuándo es conveniente cerrar el ciclo de vida de ese sistema y reemplazarlo por otro.</a:t>
            </a:r>
          </a:p>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La decisión se toma en función del costo del ciclo de vida del viejo proyecto y la estimación del nuevo proyecto.</a:t>
            </a:r>
          </a:p>
          <a:p>
            <a:pPr marL="558360" indent="-558360" algn="just">
              <a:lnSpc>
                <a:spcPct val="85000"/>
              </a:lnSpc>
              <a:spcBef>
                <a:spcPts val="0"/>
              </a:spcBef>
              <a:spcAft>
                <a:spcPts val="1200"/>
              </a:spcAft>
              <a:buClr>
                <a:srgbClr val="C00000"/>
              </a:buClr>
              <a:buSzPct val="100000"/>
              <a:buFont typeface="Noto Sans Symbols"/>
              <a:buChar char="❖"/>
            </a:pPr>
            <a:r>
              <a:rPr lang="es-ES" sz="2800" dirty="0">
                <a:solidFill>
                  <a:srgbClr val="000000"/>
                </a:solidFill>
                <a:latin typeface="Calibri"/>
                <a:ea typeface="Calibri"/>
                <a:cs typeface="Calibri"/>
                <a:sym typeface="Calibri"/>
              </a:rPr>
              <a:t>En ocasiones la complejidad del sistema crece por los cambios.</a:t>
            </a:r>
          </a:p>
          <a:p>
            <a:pPr marL="558360" indent="-558360" algn="just">
              <a:lnSpc>
                <a:spcPct val="85000"/>
              </a:lnSpc>
              <a:spcBef>
                <a:spcPts val="0"/>
              </a:spcBef>
              <a:spcAft>
                <a:spcPts val="1200"/>
              </a:spcAft>
              <a:buClr>
                <a:srgbClr val="C00000"/>
              </a:buClr>
              <a:buSzPct val="100000"/>
              <a:buFont typeface="Noto Sans Symbols"/>
              <a:buChar char="❖"/>
            </a:pPr>
            <a:endParaRPr lang="es-ES" sz="2800" dirty="0">
              <a:solidFill>
                <a:srgbClr val="000000"/>
              </a:solidFill>
              <a:latin typeface="Calibri"/>
              <a:ea typeface="Calibri"/>
              <a:cs typeface="Calibri"/>
              <a:sym typeface="Calibri"/>
            </a:endParaRPr>
          </a:p>
          <a:p>
            <a:pPr algn="just">
              <a:lnSpc>
                <a:spcPct val="85000"/>
              </a:lnSpc>
              <a:spcBef>
                <a:spcPts val="0"/>
              </a:spcBef>
              <a:spcAft>
                <a:spcPts val="1200"/>
              </a:spcAft>
              <a:buClr>
                <a:srgbClr val="000000"/>
              </a:buClr>
              <a:buSzPts val="3600"/>
            </a:pPr>
            <a:endParaRPr sz="3200" dirty="0">
              <a:solidFill>
                <a:srgbClr val="000000"/>
              </a:solidFill>
              <a:latin typeface="Arial"/>
              <a:ea typeface="Arial"/>
              <a:cs typeface="Arial"/>
              <a:sym typeface="Arial"/>
            </a:endParaRPr>
          </a:p>
        </p:txBody>
      </p:sp>
      <p:pic>
        <p:nvPicPr>
          <p:cNvPr id="1026" name="Picture 2" descr="Viejo Ordenador De Escritorio Lindo Arte PNG ,dibujos Monitor, Bloq Mayús,  Digital PNG Imagen para Descarga Gratuita | Pngtree">
            <a:extLst>
              <a:ext uri="{FF2B5EF4-FFF2-40B4-BE49-F238E27FC236}">
                <a16:creationId xmlns:a16="http://schemas.microsoft.com/office/drawing/2014/main" id="{CF89A504-1B2C-51DD-F195-290361CDC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2207" y="3937155"/>
            <a:ext cx="2356877" cy="244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29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4A6DC6D-12C7-E084-83E6-6967403FBEE4}"/>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5614A29-2EC8-3604-4EC5-5650A49974C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082FAB30-3DA3-FBCC-37CD-B0D2B1E5135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69F23B7A-BBCB-C639-F7B1-4D019B6DAD1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8212284B-8BFB-F8E5-2DE8-216B9BBEDFC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8</a:t>
            </a:fld>
            <a:endParaRPr/>
          </a:p>
        </p:txBody>
      </p:sp>
      <p:sp>
        <p:nvSpPr>
          <p:cNvPr id="3" name="Google Shape;135;p2">
            <a:extLst>
              <a:ext uri="{FF2B5EF4-FFF2-40B4-BE49-F238E27FC236}">
                <a16:creationId xmlns:a16="http://schemas.microsoft.com/office/drawing/2014/main" id="{1AEB5DD2-613C-8BE5-3922-AECC7EB4F74E}"/>
              </a:ext>
            </a:extLst>
          </p:cNvPr>
          <p:cNvSpPr/>
          <p:nvPr/>
        </p:nvSpPr>
        <p:spPr>
          <a:xfrm>
            <a:off x="1096963" y="1751473"/>
            <a:ext cx="9902083" cy="4371365"/>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300"/>
              </a:spcAft>
              <a:buClr>
                <a:srgbClr val="C00000"/>
              </a:buClr>
              <a:buSzPct val="100000"/>
              <a:buFont typeface="Noto Sans Symbols"/>
              <a:buChar char="❖"/>
            </a:pPr>
            <a:r>
              <a:rPr lang="es-ES" sz="2800" dirty="0">
                <a:solidFill>
                  <a:srgbClr val="000000"/>
                </a:solidFill>
                <a:latin typeface="Calibri"/>
                <a:ea typeface="Calibri"/>
                <a:cs typeface="Calibri"/>
                <a:sym typeface="Calibri"/>
              </a:rPr>
              <a:t>Dinámica de la evolución de los programas:</a:t>
            </a:r>
          </a:p>
          <a:p>
            <a:pPr marL="633413" indent="-279400" algn="just">
              <a:lnSpc>
                <a:spcPct val="85000"/>
              </a:lnSpc>
              <a:spcBef>
                <a:spcPts val="0"/>
              </a:spcBef>
              <a:spcAft>
                <a:spcPts val="300"/>
              </a:spcAft>
              <a:buClr>
                <a:srgbClr val="C00000"/>
              </a:buClr>
              <a:buSzPct val="100000"/>
              <a:buFont typeface="Noto Sans Symbols2" panose="020B0502040504020204" pitchFamily="34" charset="0"/>
              <a:buChar char="»"/>
            </a:pPr>
            <a:r>
              <a:rPr lang="es-ES" sz="2400" dirty="0">
                <a:solidFill>
                  <a:srgbClr val="000000"/>
                </a:solidFill>
                <a:latin typeface="Calibri"/>
                <a:ea typeface="Calibri"/>
                <a:cs typeface="Calibri"/>
                <a:sym typeface="Calibri"/>
              </a:rPr>
              <a:t>Manny Lehman y sus colaboradores realizaron análisis detallados de software de grado industrial y de sistemas en general con la intención de desarrollar una “teoría unificada para evolución del software”.</a:t>
            </a:r>
          </a:p>
          <a:p>
            <a:pPr marL="558360" indent="-558360" algn="just">
              <a:lnSpc>
                <a:spcPct val="85000"/>
              </a:lnSpc>
              <a:spcBef>
                <a:spcPts val="0"/>
              </a:spcBef>
              <a:spcAft>
                <a:spcPts val="1200"/>
              </a:spcAft>
              <a:buClr>
                <a:srgbClr val="C00000"/>
              </a:buClr>
              <a:buSzPct val="100000"/>
              <a:buFont typeface="Noto Sans Symbols"/>
              <a:buChar char="❖"/>
            </a:pPr>
            <a:endParaRPr lang="es-ES" sz="2800" dirty="0">
              <a:solidFill>
                <a:srgbClr val="000000"/>
              </a:solidFill>
              <a:latin typeface="Calibri"/>
              <a:ea typeface="Calibri"/>
              <a:cs typeface="Calibri"/>
              <a:sym typeface="Calibri"/>
            </a:endParaRPr>
          </a:p>
          <a:p>
            <a:pPr marL="558360" indent="-558360" algn="just">
              <a:lnSpc>
                <a:spcPct val="85000"/>
              </a:lnSpc>
              <a:spcBef>
                <a:spcPts val="0"/>
              </a:spcBef>
              <a:spcAft>
                <a:spcPts val="1200"/>
              </a:spcAft>
              <a:buClr>
                <a:srgbClr val="C00000"/>
              </a:buClr>
              <a:buSzPct val="100000"/>
              <a:buFont typeface="Noto Sans Symbols"/>
              <a:buChar char="❖"/>
            </a:pPr>
            <a:endParaRPr lang="es-ES" sz="2800" dirty="0">
              <a:solidFill>
                <a:srgbClr val="000000"/>
              </a:solidFill>
              <a:latin typeface="Calibri"/>
              <a:ea typeface="Calibri"/>
              <a:cs typeface="Calibri"/>
              <a:sym typeface="Calibri"/>
            </a:endParaRPr>
          </a:p>
          <a:p>
            <a:pPr algn="just">
              <a:lnSpc>
                <a:spcPct val="85000"/>
              </a:lnSpc>
              <a:spcBef>
                <a:spcPts val="0"/>
              </a:spcBef>
              <a:spcAft>
                <a:spcPts val="1200"/>
              </a:spcAft>
              <a:buClr>
                <a:srgbClr val="000000"/>
              </a:buClr>
              <a:buSzPts val="3600"/>
            </a:pPr>
            <a:endParaRPr sz="3200" dirty="0">
              <a:solidFill>
                <a:srgbClr val="000000"/>
              </a:solidFill>
              <a:latin typeface="Arial"/>
              <a:ea typeface="Arial"/>
              <a:cs typeface="Arial"/>
              <a:sym typeface="Arial"/>
            </a:endParaRPr>
          </a:p>
        </p:txBody>
      </p:sp>
      <p:pic>
        <p:nvPicPr>
          <p:cNvPr id="2" name="Google Shape;137;p23" descr="Tabla, Escala de tiempo&#10;&#10;Descripción generada automáticamente con confianza media">
            <a:extLst>
              <a:ext uri="{FF2B5EF4-FFF2-40B4-BE49-F238E27FC236}">
                <a16:creationId xmlns:a16="http://schemas.microsoft.com/office/drawing/2014/main" id="{4B9E8956-A20D-978B-1E70-31862362F979}"/>
              </a:ext>
            </a:extLst>
          </p:cNvPr>
          <p:cNvPicPr preferRelativeResize="0"/>
          <p:nvPr/>
        </p:nvPicPr>
        <p:blipFill rotWithShape="1">
          <a:blip r:embed="rId3">
            <a:alphaModFix/>
          </a:blip>
          <a:srcRect/>
          <a:stretch/>
        </p:blipFill>
        <p:spPr>
          <a:xfrm>
            <a:off x="2484607" y="3201054"/>
            <a:ext cx="7283112" cy="3090134"/>
          </a:xfrm>
          <a:prstGeom prst="rect">
            <a:avLst/>
          </a:prstGeom>
          <a:noFill/>
          <a:ln>
            <a:noFill/>
          </a:ln>
        </p:spPr>
      </p:pic>
      <p:sp>
        <p:nvSpPr>
          <p:cNvPr id="4" name="CuadroTexto 3">
            <a:extLst>
              <a:ext uri="{FF2B5EF4-FFF2-40B4-BE49-F238E27FC236}">
                <a16:creationId xmlns:a16="http://schemas.microsoft.com/office/drawing/2014/main" id="{3B53EDBB-CFA1-E8B6-F014-A6BDAC080C7D}"/>
              </a:ext>
            </a:extLst>
          </p:cNvPr>
          <p:cNvSpPr txBox="1"/>
          <p:nvPr/>
        </p:nvSpPr>
        <p:spPr>
          <a:xfrm>
            <a:off x="9901238" y="4376789"/>
            <a:ext cx="1797800" cy="369332"/>
          </a:xfrm>
          <a:prstGeom prst="rect">
            <a:avLst/>
          </a:prstGeom>
          <a:noFill/>
        </p:spPr>
        <p:txBody>
          <a:bodyPr wrap="none" rtlCol="0">
            <a:spAutoFit/>
          </a:bodyPr>
          <a:lstStyle/>
          <a:p>
            <a:r>
              <a:rPr lang="es-ES" b="1" dirty="0">
                <a:solidFill>
                  <a:srgbClr val="C00000"/>
                </a:solidFill>
              </a:rPr>
              <a:t>Leyes de Lehman</a:t>
            </a:r>
          </a:p>
        </p:txBody>
      </p:sp>
    </p:spTree>
    <p:extLst>
      <p:ext uri="{BB962C8B-B14F-4D97-AF65-F5344CB8AC3E}">
        <p14:creationId xmlns:p14="http://schemas.microsoft.com/office/powerpoint/2010/main" val="148656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E05DD17-DB05-284C-E5CA-5B9D71CA97F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4A7B505D-FB36-1E35-B6D0-83B51A05C8F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0C3974CE-B13F-A16F-B81F-0CE697AC1B6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A07AF29B-C6AB-38E0-0EDD-E3B04BFBCEB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543F0FED-AF7A-F079-C5E0-8029416ACCE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9</a:t>
            </a:fld>
            <a:endParaRPr/>
          </a:p>
        </p:txBody>
      </p:sp>
      <p:sp>
        <p:nvSpPr>
          <p:cNvPr id="3" name="Google Shape;135;p2">
            <a:extLst>
              <a:ext uri="{FF2B5EF4-FFF2-40B4-BE49-F238E27FC236}">
                <a16:creationId xmlns:a16="http://schemas.microsoft.com/office/drawing/2014/main" id="{FBCAA0D0-4B88-3E40-0632-611B8B26A108}"/>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solidFill>
                  <a:srgbClr val="000000"/>
                </a:solidFill>
                <a:latin typeface="Calibri"/>
                <a:ea typeface="Calibri"/>
                <a:cs typeface="Calibri"/>
                <a:sym typeface="Calibri"/>
              </a:rPr>
              <a:t>Barrera de mantenimiento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Cada modificación aumenta la complejidad del sistema y el costo de mantenimiento.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Llega un punto donde mantener el sistema resulta lento, costoso y difícil de modificar.</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En ese momento suele ser necesario rediseñar o reemplazar el software.</a:t>
            </a:r>
          </a:p>
          <a:p>
            <a:pPr algn="just">
              <a:lnSpc>
                <a:spcPct val="85000"/>
              </a:lnSpc>
              <a:spcBef>
                <a:spcPts val="0"/>
              </a:spcBef>
              <a:spcAft>
                <a:spcPts val="1200"/>
              </a:spcAft>
              <a:buClr>
                <a:srgbClr val="000000"/>
              </a:buClr>
              <a:buSzPts val="3600"/>
            </a:pPr>
            <a:endParaRPr sz="3000" dirty="0">
              <a:solidFill>
                <a:srgbClr val="000000"/>
              </a:solidFill>
              <a:latin typeface="Arial"/>
              <a:ea typeface="Arial"/>
              <a:cs typeface="Arial"/>
              <a:sym typeface="Arial"/>
            </a:endParaRPr>
          </a:p>
        </p:txBody>
      </p:sp>
      <p:pic>
        <p:nvPicPr>
          <p:cNvPr id="2" name="Google Shape;148;p5" descr="http://4025stevenmantenimiento.files.wordpress.com/2011/10/mantenimiento21.jpg">
            <a:extLst>
              <a:ext uri="{FF2B5EF4-FFF2-40B4-BE49-F238E27FC236}">
                <a16:creationId xmlns:a16="http://schemas.microsoft.com/office/drawing/2014/main" id="{B33E74C6-5870-A534-9580-64CDA7295ABF}"/>
              </a:ext>
            </a:extLst>
          </p:cNvPr>
          <p:cNvPicPr preferRelativeResize="0"/>
          <p:nvPr/>
        </p:nvPicPr>
        <p:blipFill rotWithShape="1">
          <a:blip r:embed="rId3">
            <a:alphaModFix/>
          </a:blip>
          <a:srcRect/>
          <a:stretch/>
        </p:blipFill>
        <p:spPr>
          <a:xfrm>
            <a:off x="9615948" y="4232786"/>
            <a:ext cx="2415562" cy="2026371"/>
          </a:xfrm>
          <a:prstGeom prst="rect">
            <a:avLst/>
          </a:prstGeom>
          <a:noFill/>
          <a:ln>
            <a:noFill/>
          </a:ln>
        </p:spPr>
      </p:pic>
    </p:spTree>
    <p:extLst>
      <p:ext uri="{BB962C8B-B14F-4D97-AF65-F5344CB8AC3E}">
        <p14:creationId xmlns:p14="http://schemas.microsoft.com/office/powerpoint/2010/main" val="2293690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7B4CB6B-EC9D-014D-C5FF-91E8C4EAF31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0BB1B0E-99DE-08D0-3D05-7D2208082AE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ED9D3E75-71D6-CC8C-1322-34AE2AC2FA4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06FE0EB6-0E8A-59F2-C863-F18B9D80F5F1}"/>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2B6CA4A-8F95-B010-2E80-9BCCC70ACC5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10</a:t>
            </a:fld>
            <a:endParaRPr/>
          </a:p>
        </p:txBody>
      </p:sp>
      <p:sp>
        <p:nvSpPr>
          <p:cNvPr id="3" name="Google Shape;135;p2">
            <a:extLst>
              <a:ext uri="{FF2B5EF4-FFF2-40B4-BE49-F238E27FC236}">
                <a16:creationId xmlns:a16="http://schemas.microsoft.com/office/drawing/2014/main" id="{95F78362-2043-0A41-4121-A12358847551}"/>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solidFill>
                  <a:srgbClr val="000000"/>
                </a:solidFill>
                <a:latin typeface="Calibri"/>
                <a:ea typeface="Calibri"/>
                <a:cs typeface="Calibri"/>
                <a:sym typeface="Calibri"/>
              </a:rPr>
              <a:t>Características</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Su consecuencia es la disminución de otros desarrollos.</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Pueden existir efectos secundarios sobre código, datos, documentación. </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Las modificaciones pueden provocar disminución de la calidad total del producto.</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Las tareas de mantenimiento generalmente provocan reiniciar las fases de análisis, diseño e implementación.</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Involucra entre un 40% a 70% del costo total de desarrollo.</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Los errores provocan insatisfacción del cliente.</a:t>
            </a:r>
          </a:p>
          <a:p>
            <a:pPr algn="just">
              <a:lnSpc>
                <a:spcPct val="85000"/>
              </a:lnSpc>
              <a:spcBef>
                <a:spcPts val="0"/>
              </a:spcBef>
              <a:spcAft>
                <a:spcPts val="1200"/>
              </a:spcAft>
              <a:buClr>
                <a:srgbClr val="000000"/>
              </a:buClr>
              <a:buSzPts val="3600"/>
            </a:pPr>
            <a:endParaRPr sz="30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06268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2B7B47B-5E59-0CCC-30EA-804A0EA3A905}"/>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43F9940-D30A-46D3-552F-1C10156BA3B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A717B47E-BACD-C867-5D76-1351FB8D27E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BC06ED6B-63DF-46AD-AA26-FD633B45027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EDF5F61-38AE-A769-C4D3-F0ED042C388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11</a:t>
            </a:fld>
            <a:endParaRPr/>
          </a:p>
        </p:txBody>
      </p:sp>
      <p:sp>
        <p:nvSpPr>
          <p:cNvPr id="3" name="Google Shape;135;p2">
            <a:extLst>
              <a:ext uri="{FF2B5EF4-FFF2-40B4-BE49-F238E27FC236}">
                <a16:creationId xmlns:a16="http://schemas.microsoft.com/office/drawing/2014/main" id="{892C6828-7FDF-691E-6666-91F8C83AAA7D}"/>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solidFill>
                  <a:srgbClr val="000000"/>
                </a:solidFill>
                <a:latin typeface="Calibri"/>
                <a:ea typeface="Calibri"/>
                <a:cs typeface="Calibri"/>
                <a:sym typeface="Calibri"/>
              </a:rPr>
              <a:t>Características</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No es un trabajo atractivo.</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No siempre en el diseño se prevén los cambios.</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solidFill>
                  <a:srgbClr val="000000"/>
                </a:solidFill>
                <a:latin typeface="Calibri"/>
                <a:ea typeface="Calibri"/>
                <a:cs typeface="Calibri"/>
                <a:sym typeface="Calibri"/>
              </a:rPr>
              <a:t>Es difícil comprender código ajeno, más aún sin documentación o con documentación inadecuada.</a:t>
            </a:r>
          </a:p>
          <a:p>
            <a:pPr algn="just">
              <a:lnSpc>
                <a:spcPct val="85000"/>
              </a:lnSpc>
              <a:spcBef>
                <a:spcPts val="0"/>
              </a:spcBef>
              <a:spcAft>
                <a:spcPts val="1200"/>
              </a:spcAft>
              <a:buClr>
                <a:srgbClr val="000000"/>
              </a:buClr>
              <a:buSzPts val="3600"/>
            </a:pPr>
            <a:endParaRPr sz="3000" dirty="0">
              <a:solidFill>
                <a:srgbClr val="000000"/>
              </a:solidFill>
              <a:latin typeface="Arial"/>
              <a:ea typeface="Arial"/>
              <a:cs typeface="Arial"/>
              <a:sym typeface="Arial"/>
            </a:endParaRPr>
          </a:p>
        </p:txBody>
      </p:sp>
      <p:pic>
        <p:nvPicPr>
          <p:cNvPr id="2" name="Google Shape;168;p7" descr="http://mec-s2-p.mlstatic.com/mantenimiento-y-reparacion-servicio-tecnico-impresoras-laser-7044-MEC5146704585_102013-F.jpg">
            <a:extLst>
              <a:ext uri="{FF2B5EF4-FFF2-40B4-BE49-F238E27FC236}">
                <a16:creationId xmlns:a16="http://schemas.microsoft.com/office/drawing/2014/main" id="{63D5E73D-19C1-5D9E-0C42-EB32EDD900B8}"/>
              </a:ext>
            </a:extLst>
          </p:cNvPr>
          <p:cNvPicPr preferRelativeResize="0"/>
          <p:nvPr/>
        </p:nvPicPr>
        <p:blipFill rotWithShape="1">
          <a:blip r:embed="rId3">
            <a:alphaModFix/>
          </a:blip>
          <a:srcRect/>
          <a:stretch/>
        </p:blipFill>
        <p:spPr>
          <a:xfrm>
            <a:off x="9639703" y="4317508"/>
            <a:ext cx="1834344" cy="1805330"/>
          </a:xfrm>
          <a:prstGeom prst="rect">
            <a:avLst/>
          </a:prstGeom>
          <a:noFill/>
          <a:ln>
            <a:noFill/>
          </a:ln>
        </p:spPr>
      </p:pic>
      <p:sp>
        <p:nvSpPr>
          <p:cNvPr id="4" name="CuadroTexto 3">
            <a:extLst>
              <a:ext uri="{FF2B5EF4-FFF2-40B4-BE49-F238E27FC236}">
                <a16:creationId xmlns:a16="http://schemas.microsoft.com/office/drawing/2014/main" id="{FEF4EB06-1AEA-4A3C-72BD-7611A193BCC1}"/>
              </a:ext>
            </a:extLst>
          </p:cNvPr>
          <p:cNvSpPr txBox="1"/>
          <p:nvPr/>
        </p:nvSpPr>
        <p:spPr>
          <a:xfrm>
            <a:off x="4488663" y="4958563"/>
            <a:ext cx="3274999" cy="523220"/>
          </a:xfrm>
          <a:prstGeom prst="rect">
            <a:avLst/>
          </a:prstGeom>
          <a:noFill/>
        </p:spPr>
        <p:txBody>
          <a:bodyPr wrap="none" rtlCol="0">
            <a:spAutoFit/>
          </a:bodyPr>
          <a:lstStyle/>
          <a:p>
            <a:r>
              <a:rPr lang="es-ES" sz="2800" dirty="0">
                <a:solidFill>
                  <a:srgbClr val="C00000"/>
                </a:solidFill>
              </a:rPr>
              <a:t>Resulta problemático</a:t>
            </a:r>
          </a:p>
        </p:txBody>
      </p:sp>
    </p:spTree>
    <p:extLst>
      <p:ext uri="{BB962C8B-B14F-4D97-AF65-F5344CB8AC3E}">
        <p14:creationId xmlns:p14="http://schemas.microsoft.com/office/powerpoint/2010/main" val="309265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3BF614D-3FF0-5D6C-5222-6C106A982C7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4340AE7-5846-743C-0A35-6BF80E6AC3D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B0432A81-110D-591A-0EC4-E39D83459C4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1F6CBCBB-4FED-61D9-FEBD-9BD40415230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3F2DD7F-123D-5A17-15E6-74DEA2E2AEFC}"/>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12</a:t>
            </a:fld>
            <a:endParaRPr/>
          </a:p>
        </p:txBody>
      </p:sp>
      <p:sp>
        <p:nvSpPr>
          <p:cNvPr id="3" name="Google Shape;135;p2">
            <a:extLst>
              <a:ext uri="{FF2B5EF4-FFF2-40B4-BE49-F238E27FC236}">
                <a16:creationId xmlns:a16="http://schemas.microsoft.com/office/drawing/2014/main" id="{2F0170B8-EA0D-F329-E381-2A93DB9C9664}"/>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Actividades del mantenimiento</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Debe utilizarse un mecanismo para realizar los cambios que permita: identificarlos, controlarlos, implementarlos  e informarlos.</a:t>
            </a:r>
          </a:p>
          <a:p>
            <a:pPr marL="811213" indent="-368300" algn="just">
              <a:lnSpc>
                <a:spcPct val="85000"/>
              </a:lnSpc>
              <a:spcBef>
                <a:spcPts val="0"/>
              </a:spcBef>
              <a:spcAft>
                <a:spcPts val="12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El proceso de cambio se facilita si en el desarrollo están presentes los atributos calidad como , modularidad, documentación interna del código fuente y de apoyo.</a:t>
            </a:r>
          </a:p>
          <a:p>
            <a:pPr algn="just">
              <a:lnSpc>
                <a:spcPct val="85000"/>
              </a:lnSpc>
              <a:spcBef>
                <a:spcPts val="0"/>
              </a:spcBef>
              <a:spcAft>
                <a:spcPts val="1200"/>
              </a:spcAft>
              <a:buClr>
                <a:srgbClr val="000000"/>
              </a:buClr>
              <a:buSzPts val="3600"/>
            </a:pPr>
            <a:endParaRPr sz="3000" dirty="0">
              <a:latin typeface="Arial"/>
              <a:ea typeface="Arial"/>
              <a:cs typeface="Arial"/>
              <a:sym typeface="Arial"/>
            </a:endParaRPr>
          </a:p>
        </p:txBody>
      </p:sp>
    </p:spTree>
    <p:extLst>
      <p:ext uri="{BB962C8B-B14F-4D97-AF65-F5344CB8AC3E}">
        <p14:creationId xmlns:p14="http://schemas.microsoft.com/office/powerpoint/2010/main" val="192615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4B678EF-1E47-E3D5-8EE5-E063737CD536}"/>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1479C3F-2CEE-5931-8ADA-5E5388D8AB7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4AA6C726-42CC-E2AE-0B29-A58D2E24DEA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E5A91B63-6EC8-9FA9-9654-09B0A13B3C1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FF2B1FCA-5F2B-FE2E-B4EE-6D19ACA9CB7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13</a:t>
            </a:fld>
            <a:endParaRPr/>
          </a:p>
        </p:txBody>
      </p:sp>
      <p:sp>
        <p:nvSpPr>
          <p:cNvPr id="3" name="Google Shape;135;p2">
            <a:extLst>
              <a:ext uri="{FF2B5EF4-FFF2-40B4-BE49-F238E27FC236}">
                <a16:creationId xmlns:a16="http://schemas.microsoft.com/office/drawing/2014/main" id="{F999789C-5B34-E8D0-446D-A07CB496167D}"/>
              </a:ext>
            </a:extLst>
          </p:cNvPr>
          <p:cNvSpPr/>
          <p:nvPr/>
        </p:nvSpPr>
        <p:spPr>
          <a:xfrm>
            <a:off x="1096963" y="1873045"/>
            <a:ext cx="6409965"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Ciclo del mantenimiento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Análisis: comprender el alcance y el efecto de la modificación.</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Diseño: rediseñar para incorporar los cambios.</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Implementación: recodificar y actualizar la documentación interna del código.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Prueba: revalidar el software.</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Actualizar la documentación de apoyo.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Distribuir e instalar las nuevas versiones.</a:t>
            </a:r>
          </a:p>
          <a:p>
            <a:pPr algn="just">
              <a:lnSpc>
                <a:spcPct val="85000"/>
              </a:lnSpc>
              <a:spcBef>
                <a:spcPts val="0"/>
              </a:spcBef>
              <a:spcAft>
                <a:spcPts val="600"/>
              </a:spcAft>
              <a:buClr>
                <a:srgbClr val="000000"/>
              </a:buClr>
              <a:buSzPts val="3600"/>
            </a:pPr>
            <a:endParaRPr sz="3000" dirty="0">
              <a:latin typeface="Arial"/>
              <a:ea typeface="Arial"/>
              <a:cs typeface="Arial"/>
              <a:sym typeface="Arial"/>
            </a:endParaRPr>
          </a:p>
        </p:txBody>
      </p:sp>
      <p:pic>
        <p:nvPicPr>
          <p:cNvPr id="2" name="Google Shape;187;p9">
            <a:extLst>
              <a:ext uri="{FF2B5EF4-FFF2-40B4-BE49-F238E27FC236}">
                <a16:creationId xmlns:a16="http://schemas.microsoft.com/office/drawing/2014/main" id="{5AABE0C1-3A67-87B5-AF89-E37B12C952D0}"/>
              </a:ext>
            </a:extLst>
          </p:cNvPr>
          <p:cNvPicPr preferRelativeResize="0"/>
          <p:nvPr/>
        </p:nvPicPr>
        <p:blipFill rotWithShape="1">
          <a:blip r:embed="rId3">
            <a:alphaModFix/>
          </a:blip>
          <a:srcRect/>
          <a:stretch/>
        </p:blipFill>
        <p:spPr>
          <a:xfrm>
            <a:off x="7639664" y="2287128"/>
            <a:ext cx="4239885" cy="3733599"/>
          </a:xfrm>
          <a:prstGeom prst="rect">
            <a:avLst/>
          </a:prstGeom>
          <a:noFill/>
          <a:ln>
            <a:noFill/>
          </a:ln>
        </p:spPr>
      </p:pic>
    </p:spTree>
    <p:extLst>
      <p:ext uri="{BB962C8B-B14F-4D97-AF65-F5344CB8AC3E}">
        <p14:creationId xmlns:p14="http://schemas.microsoft.com/office/powerpoint/2010/main" val="1876291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7EDE3EC-404C-85DE-8140-91C0CF8D09DB}"/>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5E722BE-075A-4BE2-3B22-A1BCFF87540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BD0D44A6-6DF6-4CE2-1A97-B6D1ED4F744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C632B64-4220-C6DD-D901-84EA7E75C02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D9C3E49A-9AD8-FDD6-5395-8CAE1DD091A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14</a:t>
            </a:fld>
            <a:endParaRPr/>
          </a:p>
        </p:txBody>
      </p:sp>
      <p:sp>
        <p:nvSpPr>
          <p:cNvPr id="3" name="Google Shape;135;p2">
            <a:extLst>
              <a:ext uri="{FF2B5EF4-FFF2-40B4-BE49-F238E27FC236}">
                <a16:creationId xmlns:a16="http://schemas.microsoft.com/office/drawing/2014/main" id="{EF744637-8D56-D987-F811-39FAB05CF89B}"/>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Facilidades en el desarrollo para ayudar al mantenimiento</a:t>
            </a:r>
            <a:endParaRPr lang="es-ES" sz="2600" dirty="0">
              <a:latin typeface="Calibri"/>
              <a:ea typeface="Calibri"/>
              <a:cs typeface="Calibri"/>
              <a:sym typeface="Calibri"/>
            </a:endParaRP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Análisis:</a:t>
            </a:r>
          </a:p>
          <a:p>
            <a:pPr marL="811213" algn="just">
              <a:lnSpc>
                <a:spcPct val="85000"/>
              </a:lnSpc>
              <a:spcBef>
                <a:spcPts val="0"/>
              </a:spcBef>
              <a:spcAft>
                <a:spcPts val="300"/>
              </a:spcAft>
              <a:buClr>
                <a:srgbClr val="C00000"/>
              </a:buClr>
              <a:buSzPct val="100000"/>
            </a:pPr>
            <a:r>
              <a:rPr lang="es-ES" sz="2000" dirty="0">
                <a:latin typeface="Calibri"/>
                <a:ea typeface="Calibri"/>
                <a:cs typeface="Calibri"/>
                <a:sym typeface="Calibri"/>
              </a:rPr>
              <a:t>Señalar principios generales, armar planes temporales, especificar controles de calidad, identificar posibles mejoras, estimar recursos para mantenimiento.</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Diseño arquitectónico:</a:t>
            </a:r>
          </a:p>
          <a:p>
            <a:pPr marL="811213" algn="just">
              <a:lnSpc>
                <a:spcPct val="85000"/>
              </a:lnSpc>
              <a:spcBef>
                <a:spcPts val="0"/>
              </a:spcBef>
              <a:spcAft>
                <a:spcPts val="300"/>
              </a:spcAft>
              <a:buClr>
                <a:srgbClr val="C00000"/>
              </a:buClr>
              <a:buSzPct val="100000"/>
            </a:pPr>
            <a:r>
              <a:rPr lang="es-ES" sz="2000" dirty="0">
                <a:latin typeface="Calibri"/>
                <a:ea typeface="Calibri"/>
                <a:cs typeface="Calibri"/>
                <a:sym typeface="Calibri"/>
              </a:rPr>
              <a:t>Claro, modular, modificable, con notaciones estandarizadas.</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Diseño detallado:</a:t>
            </a:r>
          </a:p>
          <a:p>
            <a:pPr marL="811213" algn="just">
              <a:lnSpc>
                <a:spcPct val="85000"/>
              </a:lnSpc>
              <a:spcBef>
                <a:spcPts val="0"/>
              </a:spcBef>
              <a:spcAft>
                <a:spcPts val="300"/>
              </a:spcAft>
              <a:buClr>
                <a:srgbClr val="C00000"/>
              </a:buClr>
              <a:buSzPct val="100000"/>
            </a:pPr>
            <a:r>
              <a:rPr lang="es-ES" sz="2000" dirty="0">
                <a:latin typeface="Calibri"/>
                <a:ea typeface="Calibri"/>
                <a:cs typeface="Calibri"/>
                <a:sym typeface="Calibri"/>
              </a:rPr>
              <a:t>Notaciones para algoritmos y estructuras de datos, especificación de interfaces, manejo de excepciones, efectos colaterales.</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Implementación:</a:t>
            </a:r>
          </a:p>
          <a:p>
            <a:pPr marL="811213" algn="just">
              <a:lnSpc>
                <a:spcPct val="85000"/>
              </a:lnSpc>
              <a:spcBef>
                <a:spcPts val="0"/>
              </a:spcBef>
              <a:spcAft>
                <a:spcPts val="300"/>
              </a:spcAft>
              <a:buClr>
                <a:srgbClr val="C00000"/>
              </a:buClr>
              <a:buSzPct val="100000"/>
            </a:pPr>
            <a:r>
              <a:rPr lang="es-ES" sz="2000" dirty="0" err="1">
                <a:latin typeface="Calibri"/>
                <a:ea typeface="Calibri"/>
                <a:cs typeface="Calibri"/>
                <a:sym typeface="Calibri"/>
              </a:rPr>
              <a:t>Indentación</a:t>
            </a:r>
            <a:r>
              <a:rPr lang="es-ES" sz="2000" dirty="0">
                <a:latin typeface="Calibri"/>
                <a:ea typeface="Calibri"/>
                <a:cs typeface="Calibri"/>
                <a:sym typeface="Calibri"/>
              </a:rPr>
              <a:t>, comentarios de prólogo e internos, codificación simple y clara.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Verificación: </a:t>
            </a:r>
          </a:p>
          <a:p>
            <a:pPr marL="811213" algn="just">
              <a:lnSpc>
                <a:spcPct val="85000"/>
              </a:lnSpc>
              <a:spcBef>
                <a:spcPts val="0"/>
              </a:spcBef>
              <a:spcAft>
                <a:spcPts val="300"/>
              </a:spcAft>
              <a:buClr>
                <a:srgbClr val="C00000"/>
              </a:buClr>
              <a:buSzPct val="100000"/>
            </a:pPr>
            <a:r>
              <a:rPr lang="es-ES" sz="2000" dirty="0">
                <a:latin typeface="Calibri"/>
                <a:ea typeface="Calibri"/>
                <a:cs typeface="Calibri"/>
                <a:sym typeface="Calibri"/>
              </a:rPr>
              <a:t>Lotes de prueba y resultados.</a:t>
            </a:r>
            <a:endParaRPr sz="2400" dirty="0">
              <a:latin typeface="Arial"/>
              <a:ea typeface="Arial"/>
              <a:cs typeface="Arial"/>
              <a:sym typeface="Arial"/>
            </a:endParaRPr>
          </a:p>
        </p:txBody>
      </p:sp>
    </p:spTree>
    <p:extLst>
      <p:ext uri="{BB962C8B-B14F-4D97-AF65-F5344CB8AC3E}">
        <p14:creationId xmlns:p14="http://schemas.microsoft.com/office/powerpoint/2010/main" val="2542491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3B39535-36F1-E2C6-EB10-6125B64BA01E}"/>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9298102-2BE0-A29C-15EB-F961F8ADB3E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A52DAA60-30DE-A665-FADF-A50E6104811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C7B23D82-DC29-2C3F-771B-8287E1D799F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EE2A903-AA57-8124-D945-A45CB887A47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15</a:t>
            </a:fld>
            <a:endParaRPr/>
          </a:p>
        </p:txBody>
      </p:sp>
      <p:sp>
        <p:nvSpPr>
          <p:cNvPr id="3" name="Google Shape;135;p2">
            <a:extLst>
              <a:ext uri="{FF2B5EF4-FFF2-40B4-BE49-F238E27FC236}">
                <a16:creationId xmlns:a16="http://schemas.microsoft.com/office/drawing/2014/main" id="{603717E6-7E12-9131-089F-E8A9EC566B45}"/>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El equipo que desarrolla un sistema no siempre es el que se utiliza para mantener el sistema una vez que esté operativo. </a:t>
            </a:r>
          </a:p>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A menudo se emplea un equipo de mantenimiento independiente para garantizar que el sistema funcione correctamente. </a:t>
            </a:r>
          </a:p>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El equipo de mantenimiento involucra a los usuarios. Operadores o representantes del cliente se acercan al equipo de mantenimiento, con un comentario o problema, y los analistas/programadores determinan qué partes del código se ve afectado, el impacto en el diseño y los recursos (incluido el tiempo y esfuerzo) para realizar los cambios necesarios.</a:t>
            </a:r>
          </a:p>
        </p:txBody>
      </p:sp>
    </p:spTree>
    <p:extLst>
      <p:ext uri="{BB962C8B-B14F-4D97-AF65-F5344CB8AC3E}">
        <p14:creationId xmlns:p14="http://schemas.microsoft.com/office/powerpoint/2010/main" val="82598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F861AA4-4720-5CAA-3881-63AEACB0600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A1C160F-C7B7-FBC7-34AC-4F46918DB63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A0C4758E-AE4C-B9C7-8644-96C7A0F0B3C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603013F1-AFFD-1043-0611-EE29460B9DE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EF7643A-90E2-7E91-09E6-9B387A52723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16</a:t>
            </a:fld>
            <a:endParaRPr/>
          </a:p>
        </p:txBody>
      </p:sp>
      <p:sp>
        <p:nvSpPr>
          <p:cNvPr id="3" name="Google Shape;135;p2">
            <a:extLst>
              <a:ext uri="{FF2B5EF4-FFF2-40B4-BE49-F238E27FC236}">
                <a16:creationId xmlns:a16="http://schemas.microsoft.com/office/drawing/2014/main" id="{3AF988E5-F981-3158-F70B-3F0D435A4843}"/>
              </a:ext>
            </a:extLst>
          </p:cNvPr>
          <p:cNvSpPr/>
          <p:nvPr/>
        </p:nvSpPr>
        <p:spPr>
          <a:xfrm>
            <a:off x="1096963" y="172556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Tareas del equipo de mantenimiento</a:t>
            </a:r>
            <a:endParaRPr lang="es-ES" dirty="0">
              <a:latin typeface="Calibri"/>
              <a:ea typeface="Calibri"/>
              <a:cs typeface="Calibri"/>
              <a:sym typeface="Calibri"/>
            </a:endParaRP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Comprender el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Localizar información en la documentación del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Mantener actualizada la documentación del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Ampliar las funciones existentes para adaptarse a requisitos nuevos o cambiantes.</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Agregar nuevas funciones al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Encontrar la fuente de fallas o problemas del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Localizar y corregir fallos.</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Responder preguntas sobre la forma en que funciona el sistema.</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Reestructuración del diseño y los componentes del código.</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Rescribir componentes de diseño y código.</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Eliminar componentes de diseño y código que ya no son útiles.</a:t>
            </a:r>
          </a:p>
          <a:p>
            <a:pPr marL="811213" indent="-368300" algn="just">
              <a:lnSpc>
                <a:spcPct val="85000"/>
              </a:lnSpc>
              <a:spcBef>
                <a:spcPts val="0"/>
              </a:spcBef>
              <a:spcAft>
                <a:spcPts val="3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Gestionar los cambios en el sistema a medida que se realizan.</a:t>
            </a:r>
            <a:endParaRPr sz="2200" dirty="0">
              <a:latin typeface="Arial"/>
              <a:ea typeface="Arial"/>
              <a:cs typeface="Arial"/>
              <a:sym typeface="Arial"/>
            </a:endParaRPr>
          </a:p>
        </p:txBody>
      </p:sp>
    </p:spTree>
    <p:extLst>
      <p:ext uri="{BB962C8B-B14F-4D97-AF65-F5344CB8AC3E}">
        <p14:creationId xmlns:p14="http://schemas.microsoft.com/office/powerpoint/2010/main" val="1532571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9410A28-D268-F79F-47A0-1EB864F99CAB}"/>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8C1375E-F511-4DA2-9293-43668F03646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D472F35B-9235-6B18-936A-F2CCAFC7206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813ED7E8-A65C-A933-64FA-74C87C0B867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146FC87-7489-25DE-59A5-335C98B684A8}"/>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17</a:t>
            </a:fld>
            <a:endParaRPr/>
          </a:p>
        </p:txBody>
      </p:sp>
      <p:sp>
        <p:nvSpPr>
          <p:cNvPr id="3" name="Google Shape;135;p2">
            <a:extLst>
              <a:ext uri="{FF2B5EF4-FFF2-40B4-BE49-F238E27FC236}">
                <a16:creationId xmlns:a16="http://schemas.microsoft.com/office/drawing/2014/main" id="{FD7788C9-3C9A-026F-9CE0-CEFD0D65CB28}"/>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Tipos de mantenimiento</a:t>
            </a:r>
          </a:p>
        </p:txBody>
      </p:sp>
      <p:grpSp>
        <p:nvGrpSpPr>
          <p:cNvPr id="2" name="Google Shape;221;p11">
            <a:extLst>
              <a:ext uri="{FF2B5EF4-FFF2-40B4-BE49-F238E27FC236}">
                <a16:creationId xmlns:a16="http://schemas.microsoft.com/office/drawing/2014/main" id="{67F8084F-D20F-52FA-EA7F-0B6CA3CC3CB5}"/>
              </a:ext>
            </a:extLst>
          </p:cNvPr>
          <p:cNvGrpSpPr/>
          <p:nvPr/>
        </p:nvGrpSpPr>
        <p:grpSpPr>
          <a:xfrm>
            <a:off x="2058399" y="2280927"/>
            <a:ext cx="8135527" cy="3978231"/>
            <a:chOff x="0" y="55863"/>
            <a:chExt cx="8128000" cy="5328340"/>
          </a:xfrm>
        </p:grpSpPr>
        <p:sp>
          <p:nvSpPr>
            <p:cNvPr id="4" name="Google Shape;222;p11">
              <a:extLst>
                <a:ext uri="{FF2B5EF4-FFF2-40B4-BE49-F238E27FC236}">
                  <a16:creationId xmlns:a16="http://schemas.microsoft.com/office/drawing/2014/main" id="{33DE1140-4247-72F9-B3B6-24077F24FC41}"/>
                </a:ext>
              </a:extLst>
            </p:cNvPr>
            <p:cNvSpPr/>
            <p:nvPr/>
          </p:nvSpPr>
          <p:spPr>
            <a:xfrm>
              <a:off x="0" y="314906"/>
              <a:ext cx="8128000" cy="793012"/>
            </a:xfrm>
            <a:prstGeom prst="rect">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23;p11">
              <a:extLst>
                <a:ext uri="{FF2B5EF4-FFF2-40B4-BE49-F238E27FC236}">
                  <a16:creationId xmlns:a16="http://schemas.microsoft.com/office/drawing/2014/main" id="{B6508864-ABC8-90EC-4BCA-5B5BFAEAA95E}"/>
                </a:ext>
              </a:extLst>
            </p:cNvPr>
            <p:cNvSpPr txBox="1"/>
            <p:nvPr/>
          </p:nvSpPr>
          <p:spPr>
            <a:xfrm>
              <a:off x="0" y="184301"/>
              <a:ext cx="8128000" cy="923618"/>
            </a:xfrm>
            <a:prstGeom prst="rect">
              <a:avLst/>
            </a:prstGeom>
            <a:noFill/>
            <a:ln>
              <a:noFill/>
            </a:ln>
          </p:spPr>
          <p:txBody>
            <a:bodyPr spcFirstLastPara="1" wrap="square" lIns="630800" tIns="395725" rIns="630800" bIns="135125" anchor="t" anchorCtr="0">
              <a:noAutofit/>
            </a:bodyPr>
            <a:lstStyle/>
            <a:p>
              <a:pPr marL="171450" marR="0" lvl="1" indent="-171450" algn="l" rtl="0">
                <a:lnSpc>
                  <a:spcPct val="90000"/>
                </a:lnSpc>
                <a:spcBef>
                  <a:spcPts val="0"/>
                </a:spcBef>
                <a:spcAft>
                  <a:spcPts val="0"/>
                </a:spcAft>
                <a:buClr>
                  <a:srgbClr val="000000"/>
                </a:buClr>
                <a:buSzPts val="1900"/>
                <a:buFont typeface="Arial"/>
                <a:buChar char="•"/>
              </a:pPr>
              <a:r>
                <a:rPr lang="es-AR" sz="1900" b="0" i="1" u="none" strike="noStrike" cap="none" dirty="0">
                  <a:solidFill>
                    <a:srgbClr val="000000"/>
                  </a:solidFill>
                  <a:latin typeface="Arial"/>
                  <a:ea typeface="Arial"/>
                  <a:cs typeface="Arial"/>
                  <a:sym typeface="Arial"/>
                </a:rPr>
                <a:t>Diagnóstico y corrección de errores.</a:t>
              </a:r>
              <a:endParaRPr sz="1900" b="0" i="1" u="none" strike="noStrike" cap="none" dirty="0">
                <a:solidFill>
                  <a:srgbClr val="000000"/>
                </a:solidFill>
                <a:latin typeface="Arial"/>
                <a:ea typeface="Arial"/>
                <a:cs typeface="Arial"/>
                <a:sym typeface="Arial"/>
              </a:endParaRPr>
            </a:p>
          </p:txBody>
        </p:sp>
        <p:sp>
          <p:nvSpPr>
            <p:cNvPr id="6" name="Google Shape;224;p11">
              <a:extLst>
                <a:ext uri="{FF2B5EF4-FFF2-40B4-BE49-F238E27FC236}">
                  <a16:creationId xmlns:a16="http://schemas.microsoft.com/office/drawing/2014/main" id="{E578DFED-A3BA-5A89-5C25-FE47164E859A}"/>
                </a:ext>
              </a:extLst>
            </p:cNvPr>
            <p:cNvSpPr/>
            <p:nvPr/>
          </p:nvSpPr>
          <p:spPr>
            <a:xfrm>
              <a:off x="392899" y="55863"/>
              <a:ext cx="5689600" cy="560880"/>
            </a:xfrm>
            <a:prstGeom prst="roundRect">
              <a:avLst>
                <a:gd name="adj" fmla="val 16667"/>
              </a:avLst>
            </a:prstGeom>
            <a:solidFill>
              <a:srgbClr val="FF3F4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5;p11">
              <a:extLst>
                <a:ext uri="{FF2B5EF4-FFF2-40B4-BE49-F238E27FC236}">
                  <a16:creationId xmlns:a16="http://schemas.microsoft.com/office/drawing/2014/main" id="{ED1A2AE7-E080-4FDF-010A-A3C102AD1D45}"/>
                </a:ext>
              </a:extLst>
            </p:cNvPr>
            <p:cNvSpPr txBox="1"/>
            <p:nvPr/>
          </p:nvSpPr>
          <p:spPr>
            <a:xfrm>
              <a:off x="420279" y="83243"/>
              <a:ext cx="5634840" cy="506120"/>
            </a:xfrm>
            <a:prstGeom prst="rect">
              <a:avLst/>
            </a:prstGeom>
            <a:noFill/>
            <a:ln>
              <a:noFill/>
            </a:ln>
          </p:spPr>
          <p:txBody>
            <a:bodyPr spcFirstLastPara="1" wrap="square" lIns="215050" tIns="0" rIns="215050" bIns="0" anchor="ctr" anchorCtr="0">
              <a:noAutofit/>
            </a:bodyPr>
            <a:lstStyle/>
            <a:p>
              <a:pPr marL="0" marR="0" lvl="0" indent="0" algn="l" rtl="0">
                <a:lnSpc>
                  <a:spcPct val="90000"/>
                </a:lnSpc>
                <a:spcBef>
                  <a:spcPts val="0"/>
                </a:spcBef>
                <a:spcAft>
                  <a:spcPts val="0"/>
                </a:spcAft>
                <a:buClr>
                  <a:srgbClr val="C00000"/>
                </a:buClr>
                <a:buSzPts val="2800"/>
                <a:buFont typeface="Arial"/>
                <a:buNone/>
              </a:pPr>
              <a:r>
                <a:rPr lang="es-AR" sz="2800" b="1" i="0" u="none" strike="noStrike" cap="none">
                  <a:solidFill>
                    <a:schemeClr val="lt1"/>
                  </a:solidFill>
                  <a:latin typeface="Arial"/>
                  <a:ea typeface="Arial"/>
                  <a:cs typeface="Arial"/>
                  <a:sym typeface="Arial"/>
                </a:rPr>
                <a:t>Mantenimiento correctivo</a:t>
              </a:r>
              <a:endParaRPr/>
            </a:p>
          </p:txBody>
        </p:sp>
        <p:sp>
          <p:nvSpPr>
            <p:cNvPr id="8" name="Google Shape;226;p11">
              <a:extLst>
                <a:ext uri="{FF2B5EF4-FFF2-40B4-BE49-F238E27FC236}">
                  <a16:creationId xmlns:a16="http://schemas.microsoft.com/office/drawing/2014/main" id="{D2AA6018-A4A7-5092-9853-C95FE2622E35}"/>
                </a:ext>
              </a:extLst>
            </p:cNvPr>
            <p:cNvSpPr/>
            <p:nvPr/>
          </p:nvSpPr>
          <p:spPr>
            <a:xfrm>
              <a:off x="0" y="1490958"/>
              <a:ext cx="8128000" cy="1047375"/>
            </a:xfrm>
            <a:prstGeom prst="rect">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7;p11">
              <a:extLst>
                <a:ext uri="{FF2B5EF4-FFF2-40B4-BE49-F238E27FC236}">
                  <a16:creationId xmlns:a16="http://schemas.microsoft.com/office/drawing/2014/main" id="{B23A5C93-951F-C21B-24B3-12F4DA642BD0}"/>
                </a:ext>
              </a:extLst>
            </p:cNvPr>
            <p:cNvSpPr txBox="1"/>
            <p:nvPr/>
          </p:nvSpPr>
          <p:spPr>
            <a:xfrm>
              <a:off x="0" y="1290502"/>
              <a:ext cx="8128000" cy="1124074"/>
            </a:xfrm>
            <a:prstGeom prst="rect">
              <a:avLst/>
            </a:prstGeom>
            <a:noFill/>
            <a:ln>
              <a:noFill/>
            </a:ln>
          </p:spPr>
          <p:txBody>
            <a:bodyPr spcFirstLastPara="1" wrap="square" lIns="630800" tIns="395725" rIns="630800" bIns="135125" anchor="t" anchorCtr="0">
              <a:noAutofit/>
            </a:bodyPr>
            <a:lstStyle/>
            <a:p>
              <a:pPr marL="171450" marR="0" lvl="1" indent="-171450" algn="l" rtl="0">
                <a:lnSpc>
                  <a:spcPct val="90000"/>
                </a:lnSpc>
                <a:spcBef>
                  <a:spcPts val="0"/>
                </a:spcBef>
                <a:spcAft>
                  <a:spcPts val="0"/>
                </a:spcAft>
                <a:buClr>
                  <a:srgbClr val="000000"/>
                </a:buClr>
                <a:buSzPts val="1900"/>
                <a:buFont typeface="Arial"/>
                <a:buChar char="•"/>
              </a:pPr>
              <a:r>
                <a:rPr lang="es-AR" sz="1900" b="0" i="1" u="none" strike="noStrike" cap="none" dirty="0">
                  <a:solidFill>
                    <a:srgbClr val="000000"/>
                  </a:solidFill>
                  <a:latin typeface="Arial"/>
                  <a:ea typeface="Arial"/>
                  <a:cs typeface="Arial"/>
                  <a:sym typeface="Arial"/>
                </a:rPr>
                <a:t>Modificación del software para interaccionar correctamente con el entorno.</a:t>
              </a:r>
              <a:endParaRPr sz="1900" b="0" i="0" u="none" strike="noStrike" cap="none" dirty="0">
                <a:solidFill>
                  <a:srgbClr val="000000"/>
                </a:solidFill>
                <a:latin typeface="Arial"/>
                <a:ea typeface="Arial"/>
                <a:cs typeface="Arial"/>
                <a:sym typeface="Arial"/>
              </a:endParaRPr>
            </a:p>
          </p:txBody>
        </p:sp>
        <p:sp>
          <p:nvSpPr>
            <p:cNvPr id="10" name="Google Shape;228;p11">
              <a:extLst>
                <a:ext uri="{FF2B5EF4-FFF2-40B4-BE49-F238E27FC236}">
                  <a16:creationId xmlns:a16="http://schemas.microsoft.com/office/drawing/2014/main" id="{4796BEE7-534B-1758-D3E2-79EB6B3A5F26}"/>
                </a:ext>
              </a:extLst>
            </p:cNvPr>
            <p:cNvSpPr/>
            <p:nvPr/>
          </p:nvSpPr>
          <p:spPr>
            <a:xfrm>
              <a:off x="406400" y="1210518"/>
              <a:ext cx="5689600" cy="560880"/>
            </a:xfrm>
            <a:prstGeom prst="roundRect">
              <a:avLst>
                <a:gd name="adj" fmla="val 16667"/>
              </a:avLst>
            </a:prstGeom>
            <a:solidFill>
              <a:srgbClr val="C6939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9;p11">
              <a:extLst>
                <a:ext uri="{FF2B5EF4-FFF2-40B4-BE49-F238E27FC236}">
                  <a16:creationId xmlns:a16="http://schemas.microsoft.com/office/drawing/2014/main" id="{F196D832-6BB2-CC2B-B4BD-5005A48DA945}"/>
                </a:ext>
              </a:extLst>
            </p:cNvPr>
            <p:cNvSpPr txBox="1"/>
            <p:nvPr/>
          </p:nvSpPr>
          <p:spPr>
            <a:xfrm>
              <a:off x="433780" y="1237898"/>
              <a:ext cx="5634840" cy="506120"/>
            </a:xfrm>
            <a:prstGeom prst="rect">
              <a:avLst/>
            </a:prstGeom>
            <a:noFill/>
            <a:ln>
              <a:noFill/>
            </a:ln>
          </p:spPr>
          <p:txBody>
            <a:bodyPr spcFirstLastPara="1" wrap="square" lIns="215050" tIns="0" rIns="215050" bIns="0" anchor="ctr" anchorCtr="0">
              <a:noAutofit/>
            </a:bodyPr>
            <a:lstStyle/>
            <a:p>
              <a:pPr marL="0" marR="0" lvl="0" indent="0" algn="l" rtl="0">
                <a:lnSpc>
                  <a:spcPct val="90000"/>
                </a:lnSpc>
                <a:spcBef>
                  <a:spcPts val="0"/>
                </a:spcBef>
                <a:spcAft>
                  <a:spcPts val="0"/>
                </a:spcAft>
                <a:buClr>
                  <a:srgbClr val="C00000"/>
                </a:buClr>
                <a:buSzPts val="2800"/>
                <a:buFont typeface="Arial"/>
                <a:buNone/>
              </a:pPr>
              <a:r>
                <a:rPr lang="es-AR" sz="2800" b="1" i="0" u="none" strike="noStrike" cap="none">
                  <a:solidFill>
                    <a:schemeClr val="lt1"/>
                  </a:solidFill>
                  <a:latin typeface="Arial"/>
                  <a:ea typeface="Arial"/>
                  <a:cs typeface="Arial"/>
                  <a:sym typeface="Arial"/>
                </a:rPr>
                <a:t>Mantenimiento adaptativo </a:t>
              </a:r>
              <a:endParaRPr/>
            </a:p>
          </p:txBody>
        </p:sp>
        <p:sp>
          <p:nvSpPr>
            <p:cNvPr id="12" name="Google Shape;230;p11">
              <a:extLst>
                <a:ext uri="{FF2B5EF4-FFF2-40B4-BE49-F238E27FC236}">
                  <a16:creationId xmlns:a16="http://schemas.microsoft.com/office/drawing/2014/main" id="{8C8DA313-7483-0270-57E9-4928F5C02E63}"/>
                </a:ext>
              </a:extLst>
            </p:cNvPr>
            <p:cNvSpPr/>
            <p:nvPr/>
          </p:nvSpPr>
          <p:spPr>
            <a:xfrm>
              <a:off x="0" y="2921373"/>
              <a:ext cx="8128000" cy="793012"/>
            </a:xfrm>
            <a:prstGeom prst="rect">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1;p11">
              <a:extLst>
                <a:ext uri="{FF2B5EF4-FFF2-40B4-BE49-F238E27FC236}">
                  <a16:creationId xmlns:a16="http://schemas.microsoft.com/office/drawing/2014/main" id="{F22D40E8-3582-A6C6-8E0A-AF10DC62F843}"/>
                </a:ext>
              </a:extLst>
            </p:cNvPr>
            <p:cNvSpPr txBox="1"/>
            <p:nvPr/>
          </p:nvSpPr>
          <p:spPr>
            <a:xfrm>
              <a:off x="0" y="2763817"/>
              <a:ext cx="8128000" cy="950570"/>
            </a:xfrm>
            <a:prstGeom prst="rect">
              <a:avLst/>
            </a:prstGeom>
            <a:noFill/>
            <a:ln>
              <a:noFill/>
            </a:ln>
          </p:spPr>
          <p:txBody>
            <a:bodyPr spcFirstLastPara="1" wrap="square" lIns="630800" tIns="395725" rIns="630800" bIns="135125" anchor="t" anchorCtr="0">
              <a:noAutofit/>
            </a:bodyPr>
            <a:lstStyle/>
            <a:p>
              <a:pPr marL="171450" marR="0" lvl="1" indent="-171450" algn="l" rtl="0">
                <a:lnSpc>
                  <a:spcPct val="90000"/>
                </a:lnSpc>
                <a:spcBef>
                  <a:spcPts val="0"/>
                </a:spcBef>
                <a:spcAft>
                  <a:spcPts val="0"/>
                </a:spcAft>
                <a:buClr>
                  <a:srgbClr val="000000"/>
                </a:buClr>
                <a:buSzPts val="1900"/>
                <a:buFont typeface="Arial"/>
                <a:buChar char="•"/>
              </a:pPr>
              <a:r>
                <a:rPr lang="es-AR" sz="1900" b="0" i="1" u="none" strike="noStrike" cap="none" dirty="0">
                  <a:solidFill>
                    <a:srgbClr val="000000"/>
                  </a:solidFill>
                  <a:latin typeface="Arial"/>
                  <a:ea typeface="Arial"/>
                  <a:cs typeface="Arial"/>
                  <a:sym typeface="Arial"/>
                </a:rPr>
                <a:t>Mejoras al sistema.</a:t>
              </a:r>
              <a:endParaRPr sz="1900" b="0" i="0" u="none" strike="noStrike" cap="none" dirty="0">
                <a:solidFill>
                  <a:srgbClr val="000000"/>
                </a:solidFill>
                <a:latin typeface="Arial"/>
                <a:ea typeface="Arial"/>
                <a:cs typeface="Arial"/>
                <a:sym typeface="Arial"/>
              </a:endParaRPr>
            </a:p>
          </p:txBody>
        </p:sp>
        <p:sp>
          <p:nvSpPr>
            <p:cNvPr id="14" name="Google Shape;232;p11">
              <a:extLst>
                <a:ext uri="{FF2B5EF4-FFF2-40B4-BE49-F238E27FC236}">
                  <a16:creationId xmlns:a16="http://schemas.microsoft.com/office/drawing/2014/main" id="{0953A2E7-28D7-F3EF-9619-B152FBBFD016}"/>
                </a:ext>
              </a:extLst>
            </p:cNvPr>
            <p:cNvSpPr/>
            <p:nvPr/>
          </p:nvSpPr>
          <p:spPr>
            <a:xfrm>
              <a:off x="406400" y="2640933"/>
              <a:ext cx="5689600" cy="560880"/>
            </a:xfrm>
            <a:prstGeom prst="roundRect">
              <a:avLst>
                <a:gd name="adj" fmla="val 16667"/>
              </a:avLst>
            </a:prstGeom>
            <a:solidFill>
              <a:srgbClr val="AAD95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3;p11">
              <a:extLst>
                <a:ext uri="{FF2B5EF4-FFF2-40B4-BE49-F238E27FC236}">
                  <a16:creationId xmlns:a16="http://schemas.microsoft.com/office/drawing/2014/main" id="{188AF9AE-54AE-FB79-C6FB-81C062CB3289}"/>
                </a:ext>
              </a:extLst>
            </p:cNvPr>
            <p:cNvSpPr txBox="1"/>
            <p:nvPr/>
          </p:nvSpPr>
          <p:spPr>
            <a:xfrm>
              <a:off x="433780" y="2668313"/>
              <a:ext cx="5634840" cy="506120"/>
            </a:xfrm>
            <a:prstGeom prst="rect">
              <a:avLst/>
            </a:prstGeom>
            <a:noFill/>
            <a:ln>
              <a:noFill/>
            </a:ln>
          </p:spPr>
          <p:txBody>
            <a:bodyPr spcFirstLastPara="1" wrap="square" lIns="215050" tIns="0" rIns="215050" bIns="0" anchor="ctr" anchorCtr="0">
              <a:noAutofit/>
            </a:bodyPr>
            <a:lstStyle/>
            <a:p>
              <a:pPr marL="0" marR="0" lvl="0" indent="0" algn="l" rtl="0">
                <a:lnSpc>
                  <a:spcPct val="90000"/>
                </a:lnSpc>
                <a:spcBef>
                  <a:spcPts val="0"/>
                </a:spcBef>
                <a:spcAft>
                  <a:spcPts val="0"/>
                </a:spcAft>
                <a:buClr>
                  <a:srgbClr val="C00000"/>
                </a:buClr>
                <a:buSzPts val="2800"/>
                <a:buFont typeface="Arial"/>
                <a:buNone/>
              </a:pPr>
              <a:r>
                <a:rPr lang="es-AR" sz="2800" b="1" i="0" u="none" strike="noStrike" cap="none" dirty="0">
                  <a:solidFill>
                    <a:schemeClr val="lt1"/>
                  </a:solidFill>
                  <a:latin typeface="Arial"/>
                  <a:ea typeface="Arial"/>
                  <a:cs typeface="Arial"/>
                  <a:sym typeface="Arial"/>
                </a:rPr>
                <a:t>Mantenimiento perfectivo </a:t>
              </a:r>
              <a:endParaRPr dirty="0"/>
            </a:p>
          </p:txBody>
        </p:sp>
        <p:sp>
          <p:nvSpPr>
            <p:cNvPr id="16" name="Google Shape;234;p11">
              <a:extLst>
                <a:ext uri="{FF2B5EF4-FFF2-40B4-BE49-F238E27FC236}">
                  <a16:creationId xmlns:a16="http://schemas.microsoft.com/office/drawing/2014/main" id="{F0BBA14F-B6B1-5689-ABCF-11666E1F8EEE}"/>
                </a:ext>
              </a:extLst>
            </p:cNvPr>
            <p:cNvSpPr/>
            <p:nvPr/>
          </p:nvSpPr>
          <p:spPr>
            <a:xfrm>
              <a:off x="0" y="4097426"/>
              <a:ext cx="8128000" cy="1286775"/>
            </a:xfrm>
            <a:prstGeom prst="rect">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5;p11">
              <a:extLst>
                <a:ext uri="{FF2B5EF4-FFF2-40B4-BE49-F238E27FC236}">
                  <a16:creationId xmlns:a16="http://schemas.microsoft.com/office/drawing/2014/main" id="{C7BD322D-959C-0E1C-6CF4-E88C63E66050}"/>
                </a:ext>
              </a:extLst>
            </p:cNvPr>
            <p:cNvSpPr txBox="1"/>
            <p:nvPr/>
          </p:nvSpPr>
          <p:spPr>
            <a:xfrm>
              <a:off x="0" y="3837270"/>
              <a:ext cx="8128000" cy="1546933"/>
            </a:xfrm>
            <a:prstGeom prst="rect">
              <a:avLst/>
            </a:prstGeom>
            <a:noFill/>
            <a:ln>
              <a:noFill/>
            </a:ln>
          </p:spPr>
          <p:txBody>
            <a:bodyPr spcFirstLastPara="1" wrap="square" lIns="630800" tIns="395725" rIns="630800" bIns="135125" anchor="t" anchorCtr="0">
              <a:noAutofit/>
            </a:bodyPr>
            <a:lstStyle/>
            <a:p>
              <a:pPr marL="171450" marR="0" lvl="1" indent="-171450" algn="l" rtl="0">
                <a:lnSpc>
                  <a:spcPct val="90000"/>
                </a:lnSpc>
                <a:spcBef>
                  <a:spcPts val="0"/>
                </a:spcBef>
                <a:spcAft>
                  <a:spcPts val="0"/>
                </a:spcAft>
                <a:buClr>
                  <a:srgbClr val="000000"/>
                </a:buClr>
                <a:buSzPts val="1900"/>
                <a:buFont typeface="Arial"/>
                <a:buChar char="•"/>
              </a:pPr>
              <a:r>
                <a:rPr lang="es-AR" sz="1900" b="0" i="1" u="none" strike="noStrike" cap="none" dirty="0">
                  <a:solidFill>
                    <a:srgbClr val="000000"/>
                  </a:solidFill>
                  <a:latin typeface="Arial"/>
                  <a:ea typeface="Arial"/>
                  <a:cs typeface="Arial"/>
                  <a:sym typeface="Arial"/>
                </a:rPr>
                <a:t>Se efectúa antes que haya una petición, para facilitar el futuro mantenimiento. Se aprovecha el conocimiento sobre el producto.</a:t>
              </a:r>
              <a:endParaRPr sz="1900" b="0" i="0" u="none" strike="noStrike" cap="none" dirty="0">
                <a:solidFill>
                  <a:srgbClr val="000000"/>
                </a:solidFill>
                <a:latin typeface="Arial"/>
                <a:ea typeface="Arial"/>
                <a:cs typeface="Arial"/>
                <a:sym typeface="Arial"/>
              </a:endParaRPr>
            </a:p>
          </p:txBody>
        </p:sp>
        <p:sp>
          <p:nvSpPr>
            <p:cNvPr id="18" name="Google Shape;236;p11">
              <a:extLst>
                <a:ext uri="{FF2B5EF4-FFF2-40B4-BE49-F238E27FC236}">
                  <a16:creationId xmlns:a16="http://schemas.microsoft.com/office/drawing/2014/main" id="{7BE0E9FC-E33B-EDB4-6F55-3B6A2168BFE7}"/>
                </a:ext>
              </a:extLst>
            </p:cNvPr>
            <p:cNvSpPr/>
            <p:nvPr/>
          </p:nvSpPr>
          <p:spPr>
            <a:xfrm>
              <a:off x="406400" y="3816986"/>
              <a:ext cx="5689600" cy="560880"/>
            </a:xfrm>
            <a:prstGeom prst="roundRect">
              <a:avLst>
                <a:gd name="adj" fmla="val 16667"/>
              </a:avLst>
            </a:prstGeom>
            <a:solidFill>
              <a:srgbClr val="F0B57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7;p11">
              <a:extLst>
                <a:ext uri="{FF2B5EF4-FFF2-40B4-BE49-F238E27FC236}">
                  <a16:creationId xmlns:a16="http://schemas.microsoft.com/office/drawing/2014/main" id="{38A6A4F9-0956-EF6E-8550-5E93D2F66529}"/>
                </a:ext>
              </a:extLst>
            </p:cNvPr>
            <p:cNvSpPr txBox="1"/>
            <p:nvPr/>
          </p:nvSpPr>
          <p:spPr>
            <a:xfrm>
              <a:off x="433780" y="3844366"/>
              <a:ext cx="5634840" cy="506120"/>
            </a:xfrm>
            <a:prstGeom prst="rect">
              <a:avLst/>
            </a:prstGeom>
            <a:noFill/>
            <a:ln>
              <a:noFill/>
            </a:ln>
          </p:spPr>
          <p:txBody>
            <a:bodyPr spcFirstLastPara="1" wrap="square" lIns="215050" tIns="0" rIns="215050" bIns="0" anchor="ctr" anchorCtr="0">
              <a:noAutofit/>
            </a:bodyPr>
            <a:lstStyle/>
            <a:p>
              <a:pPr marL="0" marR="0" lvl="0" indent="0" algn="l" rtl="0">
                <a:lnSpc>
                  <a:spcPct val="90000"/>
                </a:lnSpc>
                <a:spcBef>
                  <a:spcPts val="0"/>
                </a:spcBef>
                <a:spcAft>
                  <a:spcPts val="0"/>
                </a:spcAft>
                <a:buClr>
                  <a:srgbClr val="C00000"/>
                </a:buClr>
                <a:buSzPts val="2800"/>
                <a:buFont typeface="Arial"/>
                <a:buNone/>
              </a:pPr>
              <a:r>
                <a:rPr lang="es-AR" sz="2800" b="1" i="0" u="none" strike="noStrike" cap="none">
                  <a:solidFill>
                    <a:schemeClr val="lt1"/>
                  </a:solidFill>
                  <a:latin typeface="Arial"/>
                  <a:ea typeface="Arial"/>
                  <a:cs typeface="Arial"/>
                  <a:sym typeface="Arial"/>
                </a:rPr>
                <a:t>Mantenimiento preventivo </a:t>
              </a:r>
              <a:endParaRPr/>
            </a:p>
          </p:txBody>
        </p:sp>
      </p:grpSp>
    </p:spTree>
    <p:extLst>
      <p:ext uri="{BB962C8B-B14F-4D97-AF65-F5344CB8AC3E}">
        <p14:creationId xmlns:p14="http://schemas.microsoft.com/office/powerpoint/2010/main" val="3487297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FBBBBDB-6308-D439-52F0-B087EE75C93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4006598B-43A2-14B6-AB44-B28DDB7D123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9044E184-9A12-9B3E-7471-F8A0FE9A0CA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61BFFC97-0AB3-0EB1-754D-0C77236A70D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9D9398D0-C305-D329-3E1E-3CD09029E9A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18</a:t>
            </a:fld>
            <a:endParaRPr/>
          </a:p>
        </p:txBody>
      </p:sp>
      <p:sp>
        <p:nvSpPr>
          <p:cNvPr id="3" name="Google Shape;135;p2">
            <a:extLst>
              <a:ext uri="{FF2B5EF4-FFF2-40B4-BE49-F238E27FC236}">
                <a16:creationId xmlns:a16="http://schemas.microsoft.com/office/drawing/2014/main" id="{631CC0D7-5CFB-4E43-9FA4-D208E2EC751F}"/>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Mantenimiento correctivo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Es una acción reactiva que se realiza cuando se detecta un fallo o error en una pieza de software.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El objetivo es restablecer el funcionamiento óptimo del sistema y minimizar el impacto del problema en producción.</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Suele realizarse lo más rápido posible. Los encargados del mantenimiento deben detectar la causa del fallo, decidir si se puede reparar o no y aplicar la solución elegida. </a:t>
            </a:r>
          </a:p>
        </p:txBody>
      </p:sp>
    </p:spTree>
    <p:extLst>
      <p:ext uri="{BB962C8B-B14F-4D97-AF65-F5344CB8AC3E}">
        <p14:creationId xmlns:p14="http://schemas.microsoft.com/office/powerpoint/2010/main" val="1708910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9CA9833-FFE0-4A0A-881F-4A63BDE7D77D}"/>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9D283CC-F592-91F0-E430-78BD787A778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2121BD8F-90CB-DF76-B224-D587D7F5869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8B5705E-988E-1053-D85F-A02DB90F6C7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86DFDBD-183B-9604-E698-1773345C129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19</a:t>
            </a:fld>
            <a:endParaRPr/>
          </a:p>
        </p:txBody>
      </p:sp>
      <p:sp>
        <p:nvSpPr>
          <p:cNvPr id="3" name="Google Shape;135;p2">
            <a:extLst>
              <a:ext uri="{FF2B5EF4-FFF2-40B4-BE49-F238E27FC236}">
                <a16:creationId xmlns:a16="http://schemas.microsoft.com/office/drawing/2014/main" id="{03AB274A-D2F6-C33F-84C6-B6DB3B55CBE4}"/>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Mantenimiento adaptativo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Tiene que ver con las tecnologías cambiantes, así como con las políticas y reglas relacionadas con el software, incluyendo cambios en el sistema operativo, almacenamiento en la nube, hardware, etc.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Cuando se realizan estos cambios el software debe adaptarse para cumplir adecuadamente los nuevos requisitos y continuar funcionando bien.</a:t>
            </a:r>
          </a:p>
        </p:txBody>
      </p:sp>
    </p:spTree>
    <p:extLst>
      <p:ext uri="{BB962C8B-B14F-4D97-AF65-F5344CB8AC3E}">
        <p14:creationId xmlns:p14="http://schemas.microsoft.com/office/powerpoint/2010/main" val="351495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charRg st="25" end="224"/>
                                            </p:txEl>
                                          </p:spTgt>
                                        </p:tgtEl>
                                        <p:attrNameLst>
                                          <p:attrName>style.visibility</p:attrName>
                                        </p:attrNameLst>
                                      </p:cBhvr>
                                      <p:to>
                                        <p:strVal val="visible"/>
                                      </p:to>
                                    </p:set>
                                    <p:animEffect transition="in" filter="fade">
                                      <p:cBhvr>
                                        <p:cTn id="7" dur="500"/>
                                        <p:tgtEl>
                                          <p:spTgt spid="3">
                                            <p:txEl>
                                              <p:charRg st="25" end="2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charRg st="224" end="363"/>
                                            </p:txEl>
                                          </p:spTgt>
                                        </p:tgtEl>
                                        <p:attrNameLst>
                                          <p:attrName>style.visibility</p:attrName>
                                        </p:attrNameLst>
                                      </p:cBhvr>
                                      <p:to>
                                        <p:strVal val="visible"/>
                                      </p:to>
                                    </p:set>
                                    <p:animEffect transition="in" filter="fade">
                                      <p:cBhvr>
                                        <p:cTn id="12" dur="500"/>
                                        <p:tgtEl>
                                          <p:spTgt spid="3">
                                            <p:txEl>
                                              <p:charRg st="224" end="3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B3D81AB-0327-D78C-6B7E-BD250490138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1AF0971-9C8E-697A-94BA-D74A94B3924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38F5E7CE-28FC-5AF6-E8D8-6E06EE05B57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F4357C3D-F5BD-2007-E858-996EAAD9571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34B3A40-3522-0082-5E4F-FF860322182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20</a:t>
            </a:fld>
            <a:endParaRPr/>
          </a:p>
        </p:txBody>
      </p:sp>
      <p:sp>
        <p:nvSpPr>
          <p:cNvPr id="3" name="Google Shape;135;p2">
            <a:extLst>
              <a:ext uri="{FF2B5EF4-FFF2-40B4-BE49-F238E27FC236}">
                <a16:creationId xmlns:a16="http://schemas.microsoft.com/office/drawing/2014/main" id="{91418607-1557-BF8E-5C68-0ED5F2CC0A7C}"/>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Mantenimiento perfectivo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 realiza para mejorar la eficiencia o rendimiento de un sistema.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 centra en características que mejoran la experiencia del usuario a través de mejoras funcionales, en respuesta a los comentarios de los clientes (los usuarios pueden ver la necesidad de nuevas características o requisitos que les gustaría ver en el software para convertirlo en una mejor herramienta).</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Tiene como objetivo ajustar el software agregando nuevas características según sea necesario y eliminando características que son irrelevantes o no efectivas en el software dado. Este proceso mantiene el software relevante a medida que el mercado y las necesidades del usuario cambian. </a:t>
            </a:r>
          </a:p>
        </p:txBody>
      </p:sp>
    </p:spTree>
    <p:extLst>
      <p:ext uri="{BB962C8B-B14F-4D97-AF65-F5344CB8AC3E}">
        <p14:creationId xmlns:p14="http://schemas.microsoft.com/office/powerpoint/2010/main" val="156481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0AF82D9-160F-DAFC-F92D-601CE4B236D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1D14B08-DFE9-B3B9-9A00-4C0D38E7B90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88E6EDA6-6218-07F0-731B-4B385981D00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35EF68EC-BF43-AA7A-07D5-DC39746857E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FB2C9309-A71A-7FAE-8D08-E0F613D655C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21</a:t>
            </a:fld>
            <a:endParaRPr/>
          </a:p>
        </p:txBody>
      </p:sp>
      <p:sp>
        <p:nvSpPr>
          <p:cNvPr id="3" name="Google Shape;135;p2">
            <a:extLst>
              <a:ext uri="{FF2B5EF4-FFF2-40B4-BE49-F238E27FC236}">
                <a16:creationId xmlns:a16="http://schemas.microsoft.com/office/drawing/2014/main" id="{BC9DA928-BBEC-55A5-D342-928F145E7BF5}"/>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Mantenimiento preventivo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Es un conjunto de actividades planificadas y realizadas regularmente para prevenir posibles fallos en el futuro.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Estas actividades incluyen:</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Realizar cambios necesarios</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Actualizaciones</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Prevenir fallas en el sistema operativo, antivirus o programas ofimáticos</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Instalar y configurar un cortafuego para impedir accesos no autorizados de terceros</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Programas antimalware para impedir que el equipo se infecte con malware</a:t>
            </a:r>
          </a:p>
          <a:p>
            <a:pPr marL="1076325" indent="-265113" algn="just">
              <a:lnSpc>
                <a:spcPct val="85000"/>
              </a:lnSpc>
              <a:spcBef>
                <a:spcPts val="0"/>
              </a:spcBef>
              <a:spcAft>
                <a:spcPts val="600"/>
              </a:spcAft>
              <a:buSzPct val="100000"/>
              <a:buFont typeface="Arial" panose="020B0604020202020204" pitchFamily="34" charset="0"/>
              <a:buChar char="•"/>
            </a:pPr>
            <a:r>
              <a:rPr lang="es-ES" sz="2200" dirty="0">
                <a:latin typeface="Calibri"/>
                <a:ea typeface="Calibri"/>
                <a:cs typeface="Calibri"/>
                <a:sym typeface="Calibri"/>
              </a:rPr>
              <a:t>Activar y configurar los puntos de restauración del sistema para poder volver a un estado anterior en caso de algún desastre </a:t>
            </a:r>
          </a:p>
        </p:txBody>
      </p:sp>
    </p:spTree>
    <p:extLst>
      <p:ext uri="{BB962C8B-B14F-4D97-AF65-F5344CB8AC3E}">
        <p14:creationId xmlns:p14="http://schemas.microsoft.com/office/powerpoint/2010/main" val="189355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charRg st="25" end="139"/>
                                            </p:txEl>
                                          </p:spTgt>
                                        </p:tgtEl>
                                        <p:attrNameLst>
                                          <p:attrName>style.visibility</p:attrName>
                                        </p:attrNameLst>
                                      </p:cBhvr>
                                      <p:to>
                                        <p:strVal val="visible"/>
                                      </p:to>
                                    </p:set>
                                    <p:animEffect transition="in" filter="fade">
                                      <p:cBhvr>
                                        <p:cTn id="7" dur="500"/>
                                        <p:tgtEl>
                                          <p:spTgt spid="3">
                                            <p:txEl>
                                              <p:charRg st="25" end="1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charRg st="139" end="167"/>
                                            </p:txEl>
                                          </p:spTgt>
                                        </p:tgtEl>
                                        <p:attrNameLst>
                                          <p:attrName>style.visibility</p:attrName>
                                        </p:attrNameLst>
                                      </p:cBhvr>
                                      <p:to>
                                        <p:strVal val="visible"/>
                                      </p:to>
                                    </p:set>
                                    <p:animEffect transition="in" filter="fade">
                                      <p:cBhvr>
                                        <p:cTn id="12" dur="500"/>
                                        <p:tgtEl>
                                          <p:spTgt spid="3">
                                            <p:txEl>
                                              <p:charRg st="139" end="167"/>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charRg st="167" end="195"/>
                                            </p:txEl>
                                          </p:spTgt>
                                        </p:tgtEl>
                                        <p:attrNameLst>
                                          <p:attrName>style.visibility</p:attrName>
                                        </p:attrNameLst>
                                      </p:cBhvr>
                                      <p:to>
                                        <p:strVal val="visible"/>
                                      </p:to>
                                    </p:set>
                                    <p:animEffect transition="in" filter="fade">
                                      <p:cBhvr>
                                        <p:cTn id="15" dur="500"/>
                                        <p:tgtEl>
                                          <p:spTgt spid="3">
                                            <p:txEl>
                                              <p:charRg st="167" end="19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charRg st="195" end="211"/>
                                            </p:txEl>
                                          </p:spTgt>
                                        </p:tgtEl>
                                        <p:attrNameLst>
                                          <p:attrName>style.visibility</p:attrName>
                                        </p:attrNameLst>
                                      </p:cBhvr>
                                      <p:to>
                                        <p:strVal val="visible"/>
                                      </p:to>
                                    </p:set>
                                    <p:animEffect transition="in" filter="fade">
                                      <p:cBhvr>
                                        <p:cTn id="18" dur="500"/>
                                        <p:tgtEl>
                                          <p:spTgt spid="3">
                                            <p:txEl>
                                              <p:charRg st="195" end="21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D1D3E51-C54C-2AB7-1BB9-15DC98952A9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996D981-BD80-8AA3-3A56-9A257766F08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FE7E244E-53E8-4403-D15F-08C2A52B1A0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F82F94E3-5F90-2D8A-FC09-00D133DEC38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81DF7D8-2994-B192-218F-302F2284AB9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22</a:t>
            </a:fld>
            <a:endParaRPr/>
          </a:p>
        </p:txBody>
      </p:sp>
      <p:sp>
        <p:nvSpPr>
          <p:cNvPr id="3" name="Google Shape;135;p2">
            <a:extLst>
              <a:ext uri="{FF2B5EF4-FFF2-40B4-BE49-F238E27FC236}">
                <a16:creationId xmlns:a16="http://schemas.microsoft.com/office/drawing/2014/main" id="{EF337916-5813-2F19-797C-60B63E0616D3}"/>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Tipos de mantenimiento que se realiza en un software</a:t>
            </a:r>
            <a:endParaRPr lang="es-ES" sz="2200" dirty="0">
              <a:latin typeface="Calibri"/>
              <a:ea typeface="Calibri"/>
              <a:cs typeface="Calibri"/>
              <a:sym typeface="Calibri"/>
            </a:endParaRPr>
          </a:p>
        </p:txBody>
      </p:sp>
      <p:pic>
        <p:nvPicPr>
          <p:cNvPr id="2" name="Google Shape;279;p12">
            <a:extLst>
              <a:ext uri="{FF2B5EF4-FFF2-40B4-BE49-F238E27FC236}">
                <a16:creationId xmlns:a16="http://schemas.microsoft.com/office/drawing/2014/main" id="{7A63260A-7709-0AF2-6CBD-246D438B5DE7}"/>
              </a:ext>
            </a:extLst>
          </p:cNvPr>
          <p:cNvPicPr preferRelativeResize="0"/>
          <p:nvPr/>
        </p:nvPicPr>
        <p:blipFill rotWithShape="1">
          <a:blip r:embed="rId3">
            <a:duotone>
              <a:schemeClr val="accent2">
                <a:shade val="45000"/>
                <a:satMod val="135000"/>
              </a:schemeClr>
              <a:prstClr val="white"/>
            </a:duotone>
          </a:blip>
          <a:srcRect l="4483" t="20359" r="8210" b="7782"/>
          <a:stretch/>
        </p:blipFill>
        <p:spPr>
          <a:xfrm>
            <a:off x="3411734" y="2588402"/>
            <a:ext cx="5428858" cy="3401699"/>
          </a:xfrm>
          <a:prstGeom prst="rect">
            <a:avLst/>
          </a:prstGeom>
        </p:spPr>
      </p:pic>
    </p:spTree>
    <p:extLst>
      <p:ext uri="{BB962C8B-B14F-4D97-AF65-F5344CB8AC3E}">
        <p14:creationId xmlns:p14="http://schemas.microsoft.com/office/powerpoint/2010/main" val="2214722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61BB363-6052-ECEA-8EF5-BBA20D134ACA}"/>
            </a:ext>
          </a:extLst>
        </p:cNvPr>
        <p:cNvGrpSpPr/>
        <p:nvPr/>
      </p:nvGrpSpPr>
      <p:grpSpPr>
        <a:xfrm>
          <a:off x="0" y="0"/>
          <a:ext cx="0" cy="0"/>
          <a:chOff x="0" y="0"/>
          <a:chExt cx="0" cy="0"/>
        </a:xfrm>
      </p:grpSpPr>
      <p:pic>
        <p:nvPicPr>
          <p:cNvPr id="4" name="Google Shape;289;p13">
            <a:extLst>
              <a:ext uri="{FF2B5EF4-FFF2-40B4-BE49-F238E27FC236}">
                <a16:creationId xmlns:a16="http://schemas.microsoft.com/office/drawing/2014/main" id="{7F9B79B2-DE5C-E190-73E1-9CF063A1D7AE}"/>
              </a:ext>
            </a:extLst>
          </p:cNvPr>
          <p:cNvPicPr preferRelativeResize="0"/>
          <p:nvPr/>
        </p:nvPicPr>
        <p:blipFill rotWithShape="1">
          <a:blip r:embed="rId3"/>
          <a:srcRect l="1859" r="3207" b="8711"/>
          <a:stretch>
            <a:fillRect/>
          </a:stretch>
        </p:blipFill>
        <p:spPr>
          <a:xfrm>
            <a:off x="2868148" y="2041395"/>
            <a:ext cx="8226889" cy="4249793"/>
          </a:xfrm>
          <a:prstGeom prst="rect">
            <a:avLst/>
          </a:prstGeom>
        </p:spPr>
      </p:pic>
      <p:sp>
        <p:nvSpPr>
          <p:cNvPr id="159" name="Google Shape;159;p4">
            <a:extLst>
              <a:ext uri="{FF2B5EF4-FFF2-40B4-BE49-F238E27FC236}">
                <a16:creationId xmlns:a16="http://schemas.microsoft.com/office/drawing/2014/main" id="{5E5224B6-DDBB-56AD-F448-DA4BAE1DC50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6D9E46D3-5B66-EF45-86FD-CB4075D25A8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9B3F89F-BCC1-D1C7-BD05-88D0B9CA44C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1A533480-5E67-DB1C-205C-910CB05DEC0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23</a:t>
            </a:fld>
            <a:endParaRPr/>
          </a:p>
        </p:txBody>
      </p:sp>
      <p:sp>
        <p:nvSpPr>
          <p:cNvPr id="3" name="Google Shape;135;p2">
            <a:extLst>
              <a:ext uri="{FF2B5EF4-FFF2-40B4-BE49-F238E27FC236}">
                <a16:creationId xmlns:a16="http://schemas.microsoft.com/office/drawing/2014/main" id="{D9C32C05-B3E7-016F-EAA5-A1252AFF112E}"/>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Actividades</a:t>
            </a:r>
            <a:endParaRPr lang="es-ES" sz="2200" dirty="0">
              <a:latin typeface="Calibri"/>
              <a:ea typeface="Calibri"/>
              <a:cs typeface="Calibri"/>
              <a:sym typeface="Calibri"/>
            </a:endParaRPr>
          </a:p>
        </p:txBody>
      </p:sp>
    </p:spTree>
    <p:extLst>
      <p:ext uri="{BB962C8B-B14F-4D97-AF65-F5344CB8AC3E}">
        <p14:creationId xmlns:p14="http://schemas.microsoft.com/office/powerpoint/2010/main" val="3584182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1D43766-FFD4-2864-83F6-33051924C9EB}"/>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4F093AC8-6747-5132-4B37-EED52841340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Mantenimiento</a:t>
            </a:r>
            <a:endParaRPr dirty="0"/>
          </a:p>
        </p:txBody>
      </p:sp>
      <p:sp>
        <p:nvSpPr>
          <p:cNvPr id="160" name="Google Shape;160;p4">
            <a:extLst>
              <a:ext uri="{FF2B5EF4-FFF2-40B4-BE49-F238E27FC236}">
                <a16:creationId xmlns:a16="http://schemas.microsoft.com/office/drawing/2014/main" id="{93452B3A-8380-DB2E-A56E-5991AF299D3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E2022A1D-DD70-0460-25C6-D2721BEAFAD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78A23A5-3027-1E89-9533-222D162BCB4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24</a:t>
            </a:fld>
            <a:endParaRPr/>
          </a:p>
        </p:txBody>
      </p:sp>
      <p:sp>
        <p:nvSpPr>
          <p:cNvPr id="3" name="Google Shape;135;p2">
            <a:extLst>
              <a:ext uri="{FF2B5EF4-FFF2-40B4-BE49-F238E27FC236}">
                <a16:creationId xmlns:a16="http://schemas.microsoft.com/office/drawing/2014/main" id="{6C894C62-7F35-0584-7B56-C4F0D3265F15}"/>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Herramientas para realizar el mantenimiento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Editores de texto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Comparadores de archivos (</a:t>
            </a:r>
            <a:r>
              <a:rPr lang="es-ES" sz="2400" dirty="0">
                <a:solidFill>
                  <a:srgbClr val="C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https://winmerge.org/</a:t>
            </a:r>
            <a:r>
              <a:rPr lang="es-ES" sz="2600" dirty="0">
                <a:latin typeface="Calibri"/>
                <a:ea typeface="Calibri"/>
                <a:cs typeface="Calibri"/>
                <a:sym typeface="Calibri"/>
              </a:rPr>
              <a:t>)</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Compiladores y </a:t>
            </a:r>
            <a:r>
              <a:rPr lang="es-ES" sz="2600" dirty="0" err="1">
                <a:latin typeface="Calibri"/>
                <a:ea typeface="Calibri"/>
                <a:cs typeface="Calibri"/>
                <a:sym typeface="Calibri"/>
              </a:rPr>
              <a:t>linkeadores</a:t>
            </a:r>
            <a:endParaRPr lang="es-ES" sz="2600" dirty="0">
              <a:latin typeface="Calibri"/>
              <a:ea typeface="Calibri"/>
              <a:cs typeface="Calibri"/>
              <a:sym typeface="Calibri"/>
            </a:endParaRP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err="1">
                <a:latin typeface="Calibri"/>
                <a:ea typeface="Calibri"/>
                <a:cs typeface="Calibri"/>
                <a:sym typeface="Calibri"/>
              </a:rPr>
              <a:t>Debbuggers</a:t>
            </a:r>
            <a:endParaRPr lang="es-ES" sz="2600" dirty="0">
              <a:latin typeface="Calibri"/>
              <a:ea typeface="Calibri"/>
              <a:cs typeface="Calibri"/>
              <a:sym typeface="Calibri"/>
            </a:endParaRP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Analizadores de código estático </a:t>
            </a:r>
          </a:p>
          <a:p>
            <a:pPr marL="811213" algn="just">
              <a:lnSpc>
                <a:spcPct val="85000"/>
              </a:lnSpc>
              <a:spcBef>
                <a:spcPts val="0"/>
              </a:spcBef>
              <a:spcAft>
                <a:spcPts val="600"/>
              </a:spcAft>
              <a:buClr>
                <a:srgbClr val="C00000"/>
              </a:buClr>
              <a:buSzPct val="100000"/>
            </a:pPr>
            <a:r>
              <a:rPr lang="es-ES" sz="2600" dirty="0">
                <a:latin typeface="Calibri"/>
                <a:ea typeface="Calibri"/>
                <a:cs typeface="Calibri"/>
                <a:sym typeface="Calibri"/>
              </a:rPr>
              <a:t>(</a:t>
            </a:r>
            <a:r>
              <a:rPr lang="es-ES" sz="2400" dirty="0">
                <a:solidFill>
                  <a:srgbClr val="C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https://kinsta.com/es/blog/herramientas-de-revision-de-codigo/</a:t>
            </a:r>
            <a:r>
              <a:rPr lang="es-ES" sz="2400" dirty="0">
                <a:latin typeface="Calibri"/>
                <a:ea typeface="Calibri"/>
                <a:cs typeface="Calibri"/>
                <a:sym typeface="Calibri"/>
              </a:rPr>
              <a:t>)</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Repositorios de gestión de configuración (Git, Docker, </a:t>
            </a:r>
            <a:r>
              <a:rPr lang="es-ES" sz="2600" dirty="0" err="1">
                <a:latin typeface="Calibri"/>
                <a:ea typeface="Calibri"/>
                <a:cs typeface="Calibri"/>
                <a:sym typeface="Calibri"/>
              </a:rPr>
              <a:t>Terraform</a:t>
            </a:r>
            <a:r>
              <a:rPr lang="es-ES" sz="2600" dirty="0">
                <a:latin typeface="Calibri"/>
                <a:ea typeface="Calibri"/>
                <a:cs typeface="Calibri"/>
                <a:sym typeface="Calibri"/>
              </a:rPr>
              <a:t>, Ansible, </a:t>
            </a:r>
            <a:r>
              <a:rPr lang="es-ES" sz="2600" dirty="0" err="1">
                <a:latin typeface="Calibri"/>
                <a:ea typeface="Calibri"/>
                <a:cs typeface="Calibri"/>
                <a:sym typeface="Calibri"/>
              </a:rPr>
              <a:t>SaltStack</a:t>
            </a:r>
            <a:r>
              <a:rPr lang="es-ES" sz="2600" dirty="0">
                <a:latin typeface="Calibri"/>
                <a:ea typeface="Calibri"/>
                <a:cs typeface="Calibri"/>
                <a:sym typeface="Calibri"/>
              </a:rPr>
              <a:t>, Chef,  </a:t>
            </a:r>
            <a:r>
              <a:rPr lang="es-ES" sz="2600" dirty="0" err="1">
                <a:latin typeface="Calibri"/>
                <a:ea typeface="Calibri"/>
                <a:cs typeface="Calibri"/>
                <a:sym typeface="Calibri"/>
              </a:rPr>
              <a:t>Puppet</a:t>
            </a:r>
            <a:r>
              <a:rPr lang="es-ES" sz="2600" dirty="0">
                <a:latin typeface="Calibri"/>
                <a:ea typeface="Calibri"/>
                <a:cs typeface="Calibri"/>
                <a:sym typeface="Calibri"/>
              </a:rPr>
              <a:t>)</a:t>
            </a:r>
          </a:p>
          <a:p>
            <a:pPr marL="1076325" indent="-265113" algn="just">
              <a:lnSpc>
                <a:spcPct val="85000"/>
              </a:lnSpc>
              <a:spcBef>
                <a:spcPts val="0"/>
              </a:spcBef>
              <a:spcAft>
                <a:spcPts val="600"/>
              </a:spcAft>
              <a:buSzPct val="100000"/>
              <a:buFont typeface="Arial" panose="020B0604020202020204" pitchFamily="34" charset="0"/>
              <a:buChar char="•"/>
            </a:pPr>
            <a:endParaRPr lang="es-ES" sz="2200" dirty="0">
              <a:latin typeface="Calibri"/>
              <a:ea typeface="Calibri"/>
              <a:cs typeface="Calibri"/>
              <a:sym typeface="Calibri"/>
            </a:endParaRPr>
          </a:p>
        </p:txBody>
      </p:sp>
    </p:spTree>
    <p:extLst>
      <p:ext uri="{BB962C8B-B14F-4D97-AF65-F5344CB8AC3E}">
        <p14:creationId xmlns:p14="http://schemas.microsoft.com/office/powerpoint/2010/main" val="3193590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B60FCE5A-1016-1415-A4DD-F980452A4096}"/>
            </a:ext>
          </a:extLst>
        </p:cNvPr>
        <p:cNvGrpSpPr/>
        <p:nvPr/>
      </p:nvGrpSpPr>
      <p:grpSpPr>
        <a:xfrm>
          <a:off x="0" y="0"/>
          <a:ext cx="0" cy="0"/>
          <a:chOff x="0" y="0"/>
          <a:chExt cx="0" cy="0"/>
        </a:xfrm>
      </p:grpSpPr>
      <p:sp>
        <p:nvSpPr>
          <p:cNvPr id="63" name="Google Shape;63;p2">
            <a:extLst>
              <a:ext uri="{FF2B5EF4-FFF2-40B4-BE49-F238E27FC236}">
                <a16:creationId xmlns:a16="http://schemas.microsoft.com/office/drawing/2014/main" id="{95ED6F95-BE7D-0217-EC06-E4591613F27C}"/>
              </a:ext>
            </a:extLst>
          </p:cNvPr>
          <p:cNvSpPr txBox="1">
            <a:spLocks noGrp="1"/>
          </p:cNvSpPr>
          <p:nvPr>
            <p:ph type="title"/>
          </p:nvPr>
        </p:nvSpPr>
        <p:spPr>
          <a:xfrm>
            <a:off x="457199" y="1843548"/>
            <a:ext cx="3451123" cy="1036811"/>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4A6617"/>
              </a:buClr>
              <a:buSzPts val="4000"/>
              <a:buFont typeface="Calibri"/>
              <a:buNone/>
            </a:pPr>
            <a:r>
              <a:rPr lang="es-AR" noProof="0" dirty="0"/>
              <a:t>Rejuvenecimiento del Software</a:t>
            </a:r>
          </a:p>
        </p:txBody>
      </p:sp>
      <p:sp>
        <p:nvSpPr>
          <p:cNvPr id="66" name="Google Shape;66;p2">
            <a:extLst>
              <a:ext uri="{FF2B5EF4-FFF2-40B4-BE49-F238E27FC236}">
                <a16:creationId xmlns:a16="http://schemas.microsoft.com/office/drawing/2014/main" id="{95A9BAB8-C7C5-FB94-A1BB-B2178A4C1981}"/>
              </a:ext>
            </a:extLst>
          </p:cNvPr>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442913" lvl="0" indent="-442913" algn="just">
              <a:lnSpc>
                <a:spcPct val="85000"/>
              </a:lnSpc>
              <a:spcBef>
                <a:spcPts val="0"/>
              </a:spcBef>
              <a:spcAft>
                <a:spcPts val="1200"/>
              </a:spcAft>
              <a:buClr>
                <a:srgbClr val="C00000"/>
              </a:buClr>
              <a:buFont typeface="Wingdings" panose="05000000000000000000" pitchFamily="2" charset="2"/>
              <a:buChar char="v"/>
            </a:pPr>
            <a:r>
              <a:rPr lang="es-ES" sz="2800" dirty="0">
                <a:solidFill>
                  <a:schemeClr val="tx1"/>
                </a:solidFill>
              </a:rPr>
              <a:t>Es un desafío del mantenimiento, intentando aumentar la calidad global de un sistema existente.</a:t>
            </a:r>
          </a:p>
          <a:p>
            <a:pPr marL="442913" lvl="0" indent="-442913" algn="just">
              <a:lnSpc>
                <a:spcPct val="85000"/>
              </a:lnSpc>
              <a:spcBef>
                <a:spcPts val="0"/>
              </a:spcBef>
              <a:spcAft>
                <a:spcPts val="1200"/>
              </a:spcAft>
              <a:buClr>
                <a:srgbClr val="C00000"/>
              </a:buClr>
              <a:buFont typeface="Wingdings" panose="05000000000000000000" pitchFamily="2" charset="2"/>
              <a:buChar char="v"/>
            </a:pPr>
            <a:r>
              <a:rPr lang="es-ES" sz="2800" dirty="0">
                <a:solidFill>
                  <a:schemeClr val="tx1"/>
                </a:solidFill>
              </a:rPr>
              <a:t>Contempla retrospectivamente los subproductos de un sistema para intentar derivar la información adicional o reformarlo de un modo comprensible.</a:t>
            </a:r>
          </a:p>
          <a:p>
            <a:pPr marL="442913" lvl="0" indent="-442913" algn="just">
              <a:lnSpc>
                <a:spcPct val="85000"/>
              </a:lnSpc>
              <a:spcBef>
                <a:spcPts val="0"/>
              </a:spcBef>
              <a:spcAft>
                <a:spcPts val="1200"/>
              </a:spcAft>
              <a:buClr>
                <a:srgbClr val="C00000"/>
              </a:buClr>
              <a:buFont typeface="Wingdings" panose="05000000000000000000" pitchFamily="2" charset="2"/>
              <a:buChar char="v"/>
            </a:pPr>
            <a:r>
              <a:rPr lang="es-ES" sz="2800" dirty="0">
                <a:solidFill>
                  <a:schemeClr val="tx1"/>
                </a:solidFill>
              </a:rPr>
              <a:t>Tipos de Rejuvenecimiento:</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err="1">
                <a:solidFill>
                  <a:schemeClr val="tx1"/>
                </a:solidFill>
              </a:rPr>
              <a:t>Re-estructuración</a:t>
            </a:r>
            <a:r>
              <a:rPr lang="es-ES" sz="2400" dirty="0">
                <a:solidFill>
                  <a:schemeClr val="tx1"/>
                </a:solidFill>
              </a:rPr>
              <a:t> </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err="1">
                <a:solidFill>
                  <a:schemeClr val="tx1"/>
                </a:solidFill>
              </a:rPr>
              <a:t>Re-documentación</a:t>
            </a:r>
            <a:endParaRPr lang="es-ES" sz="2400" dirty="0">
              <a:solidFill>
                <a:schemeClr val="tx1"/>
              </a:solidFill>
            </a:endParaRP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Ingeniería Inversa</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err="1">
                <a:solidFill>
                  <a:schemeClr val="tx1"/>
                </a:solidFill>
              </a:rPr>
              <a:t>Re-ingeniería</a:t>
            </a:r>
            <a:endParaRPr lang="es-ES" sz="2400" dirty="0">
              <a:solidFill>
                <a:schemeClr val="tx1"/>
              </a:solidFill>
            </a:endParaRPr>
          </a:p>
        </p:txBody>
      </p:sp>
      <p:sp>
        <p:nvSpPr>
          <p:cNvPr id="3" name="Marcador de texto 2">
            <a:extLst>
              <a:ext uri="{FF2B5EF4-FFF2-40B4-BE49-F238E27FC236}">
                <a16:creationId xmlns:a16="http://schemas.microsoft.com/office/drawing/2014/main" id="{C1C2D4B2-5D26-AA67-3D30-3886E8264AD9}"/>
              </a:ext>
            </a:extLst>
          </p:cNvPr>
          <p:cNvSpPr>
            <a:spLocks noGrp="1"/>
          </p:cNvSpPr>
          <p:nvPr>
            <p:ph type="body" sz="half" idx="2"/>
          </p:nvPr>
        </p:nvSpPr>
        <p:spPr/>
        <p:txBody>
          <a:bodyPr/>
          <a:lstStyle/>
          <a:p>
            <a:endParaRPr lang="es-ES"/>
          </a:p>
        </p:txBody>
      </p:sp>
      <p:sp>
        <p:nvSpPr>
          <p:cNvPr id="67" name="Google Shape;67;p2">
            <a:extLst>
              <a:ext uri="{FF2B5EF4-FFF2-40B4-BE49-F238E27FC236}">
                <a16:creationId xmlns:a16="http://schemas.microsoft.com/office/drawing/2014/main" id="{A2376F9B-F742-2C1D-9F96-0E792A8DE450}"/>
              </a:ext>
            </a:extLst>
          </p:cNvPr>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Ingeniería de Software II</a:t>
            </a:r>
            <a:endParaRPr/>
          </a:p>
        </p:txBody>
      </p:sp>
      <p:sp>
        <p:nvSpPr>
          <p:cNvPr id="64" name="Google Shape;64;p2">
            <a:extLst>
              <a:ext uri="{FF2B5EF4-FFF2-40B4-BE49-F238E27FC236}">
                <a16:creationId xmlns:a16="http://schemas.microsoft.com/office/drawing/2014/main" id="{1979F741-D1C4-760B-A7AD-D75F8EF711D1}"/>
              </a:ext>
            </a:extLst>
          </p:cNvPr>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n-US"/>
              <a:t>25</a:t>
            </a:fld>
            <a:endParaRPr/>
          </a:p>
        </p:txBody>
      </p:sp>
      <p:sp>
        <p:nvSpPr>
          <p:cNvPr id="2" name="Marcador de fecha 1">
            <a:extLst>
              <a:ext uri="{FF2B5EF4-FFF2-40B4-BE49-F238E27FC236}">
                <a16:creationId xmlns:a16="http://schemas.microsoft.com/office/drawing/2014/main" id="{F9F2B322-751E-4578-3AC0-D45DADEA48FE}"/>
              </a:ext>
            </a:extLst>
          </p:cNvPr>
          <p:cNvSpPr>
            <a:spLocks noGrp="1"/>
          </p:cNvSpPr>
          <p:nvPr>
            <p:ph type="dt" sz="half" idx="10"/>
          </p:nvPr>
        </p:nvSpPr>
        <p:spPr/>
        <p:txBody>
          <a:bodyPr/>
          <a:lstStyle/>
          <a:p>
            <a:r>
              <a:rPr lang="es-ES" noProof="0"/>
              <a:t>2026</a:t>
            </a:r>
            <a:endParaRPr lang="es-AR" noProof="0"/>
          </a:p>
        </p:txBody>
      </p:sp>
    </p:spTree>
    <p:extLst>
      <p:ext uri="{BB962C8B-B14F-4D97-AF65-F5344CB8AC3E}">
        <p14:creationId xmlns:p14="http://schemas.microsoft.com/office/powerpoint/2010/main" val="191536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xEl>
                                              <p:pRg st="1" end="1"/>
                                            </p:txEl>
                                          </p:spTgt>
                                        </p:tgtEl>
                                        <p:attrNameLst>
                                          <p:attrName>style.visibility</p:attrName>
                                        </p:attrNameLst>
                                      </p:cBhvr>
                                      <p:to>
                                        <p:strVal val="visible"/>
                                      </p:to>
                                    </p:set>
                                    <p:animEffect transition="in" filter="fade">
                                      <p:cBhvr>
                                        <p:cTn id="7" dur="500"/>
                                        <p:tgtEl>
                                          <p:spTgt spid="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xEl>
                                              <p:pRg st="2" end="2"/>
                                            </p:txEl>
                                          </p:spTgt>
                                        </p:tgtEl>
                                        <p:attrNameLst>
                                          <p:attrName>style.visibility</p:attrName>
                                        </p:attrNameLst>
                                      </p:cBhvr>
                                      <p:to>
                                        <p:strVal val="visible"/>
                                      </p:to>
                                    </p:set>
                                    <p:animEffect transition="in" filter="fade">
                                      <p:cBhvr>
                                        <p:cTn id="12" dur="500"/>
                                        <p:tgtEl>
                                          <p:spTgt spid="66">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6">
                                            <p:txEl>
                                              <p:pRg st="3" end="3"/>
                                            </p:txEl>
                                          </p:spTgt>
                                        </p:tgtEl>
                                        <p:attrNameLst>
                                          <p:attrName>style.visibility</p:attrName>
                                        </p:attrNameLst>
                                      </p:cBhvr>
                                      <p:to>
                                        <p:strVal val="visible"/>
                                      </p:to>
                                    </p:set>
                                    <p:animEffect transition="in" filter="fade">
                                      <p:cBhvr>
                                        <p:cTn id="15" dur="500"/>
                                        <p:tgtEl>
                                          <p:spTgt spid="6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6">
                                            <p:txEl>
                                              <p:pRg st="4" end="4"/>
                                            </p:txEl>
                                          </p:spTgt>
                                        </p:tgtEl>
                                        <p:attrNameLst>
                                          <p:attrName>style.visibility</p:attrName>
                                        </p:attrNameLst>
                                      </p:cBhvr>
                                      <p:to>
                                        <p:strVal val="visible"/>
                                      </p:to>
                                    </p:set>
                                    <p:animEffect transition="in" filter="fade">
                                      <p:cBhvr>
                                        <p:cTn id="18" dur="500"/>
                                        <p:tgtEl>
                                          <p:spTgt spid="66">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6">
                                            <p:txEl>
                                              <p:pRg st="5" end="5"/>
                                            </p:txEl>
                                          </p:spTgt>
                                        </p:tgtEl>
                                        <p:attrNameLst>
                                          <p:attrName>style.visibility</p:attrName>
                                        </p:attrNameLst>
                                      </p:cBhvr>
                                      <p:to>
                                        <p:strVal val="visible"/>
                                      </p:to>
                                    </p:set>
                                    <p:animEffect transition="in" filter="fade">
                                      <p:cBhvr>
                                        <p:cTn id="21" dur="500"/>
                                        <p:tgtEl>
                                          <p:spTgt spid="66">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6">
                                            <p:txEl>
                                              <p:pRg st="6" end="6"/>
                                            </p:txEl>
                                          </p:spTgt>
                                        </p:tgtEl>
                                        <p:attrNameLst>
                                          <p:attrName>style.visibility</p:attrName>
                                        </p:attrNameLst>
                                      </p:cBhvr>
                                      <p:to>
                                        <p:strVal val="visible"/>
                                      </p:to>
                                    </p:set>
                                    <p:animEffect transition="in" filter="fade">
                                      <p:cBhvr>
                                        <p:cTn id="24" dur="500"/>
                                        <p:tgtEl>
                                          <p:spTgt spid="6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A782B8C-0A79-95FC-9057-40662721B2A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910ECB2-30D9-3F08-E18F-7B5EA9F0458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Rejuvenecimiento del Software</a:t>
            </a:r>
            <a:endParaRPr dirty="0"/>
          </a:p>
        </p:txBody>
      </p:sp>
      <p:sp>
        <p:nvSpPr>
          <p:cNvPr id="160" name="Google Shape;160;p4">
            <a:extLst>
              <a:ext uri="{FF2B5EF4-FFF2-40B4-BE49-F238E27FC236}">
                <a16:creationId xmlns:a16="http://schemas.microsoft.com/office/drawing/2014/main" id="{386F03CE-C578-C148-E932-7F33A233EA7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9C7A7D05-8CE4-FF66-45F8-5D54260F7DB6}"/>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262B466-1E51-6AC4-1EDE-06ED52F65A4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26</a:t>
            </a:fld>
            <a:endParaRPr/>
          </a:p>
        </p:txBody>
      </p:sp>
      <p:pic>
        <p:nvPicPr>
          <p:cNvPr id="2" name="Google Shape;314;p15" descr="1-5">
            <a:extLst>
              <a:ext uri="{FF2B5EF4-FFF2-40B4-BE49-F238E27FC236}">
                <a16:creationId xmlns:a16="http://schemas.microsoft.com/office/drawing/2014/main" id="{85313E2F-A5C8-A3C2-A1D2-57934DF774A0}"/>
              </a:ext>
            </a:extLst>
          </p:cNvPr>
          <p:cNvPicPr preferRelativeResize="0"/>
          <p:nvPr/>
        </p:nvPicPr>
        <p:blipFill rotWithShape="1">
          <a:blip r:embed="rId3">
            <a:alphaModFix/>
          </a:blip>
          <a:srcRect l="4628" t="2629" r="4341" b="9588"/>
          <a:stretch/>
        </p:blipFill>
        <p:spPr>
          <a:xfrm>
            <a:off x="2578567" y="1843549"/>
            <a:ext cx="7034866" cy="4409452"/>
          </a:xfrm>
          <a:prstGeom prst="rect">
            <a:avLst/>
          </a:prstGeom>
          <a:noFill/>
          <a:ln>
            <a:noFill/>
          </a:ln>
        </p:spPr>
      </p:pic>
    </p:spTree>
    <p:extLst>
      <p:ext uri="{BB962C8B-B14F-4D97-AF65-F5344CB8AC3E}">
        <p14:creationId xmlns:p14="http://schemas.microsoft.com/office/powerpoint/2010/main" val="334556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9F16DC6-1E8F-D447-2AD4-AB8A28A4EB9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BE5A978-9DAE-3B3B-0BD8-1F5AA3E56C8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8257D129-9FD8-D4AD-17BF-BF12FF083217}"/>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B5F49FA5-77E5-C9CB-152E-941341F2BF9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3B3EA157-3393-52F3-9ECA-5C8A2062693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27</a:t>
            </a:fld>
            <a:endParaRPr/>
          </a:p>
        </p:txBody>
      </p:sp>
      <p:sp>
        <p:nvSpPr>
          <p:cNvPr id="3" name="Google Shape;135;p2">
            <a:extLst>
              <a:ext uri="{FF2B5EF4-FFF2-40B4-BE49-F238E27FC236}">
                <a16:creationId xmlns:a16="http://schemas.microsoft.com/office/drawing/2014/main" id="{67922AFD-E5AA-577C-397A-32A6039222EE}"/>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err="1">
                <a:latin typeface="Calibri"/>
                <a:ea typeface="Calibri"/>
                <a:cs typeface="Calibri"/>
                <a:sym typeface="Calibri"/>
              </a:rPr>
              <a:t>Re-estructuración</a:t>
            </a:r>
            <a:r>
              <a:rPr lang="es-ES" sz="3000" dirty="0">
                <a:latin typeface="Calibri"/>
                <a:ea typeface="Calibri"/>
                <a:cs typeface="Calibri"/>
                <a:sym typeface="Calibri"/>
              </a:rPr>
              <a:t>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 trata de reestructurar el software para hacerlo más fácil de entender y de cambiar.</a:t>
            </a:r>
          </a:p>
          <a:p>
            <a:pPr marL="1076325" indent="-265113" algn="just">
              <a:lnSpc>
                <a:spcPct val="85000"/>
              </a:lnSpc>
              <a:spcBef>
                <a:spcPts val="0"/>
              </a:spcBef>
              <a:spcAft>
                <a:spcPts val="600"/>
              </a:spcAft>
              <a:buSzPct val="100000"/>
              <a:buFont typeface="Arial" panose="020B0604020202020204" pitchFamily="34" charset="0"/>
              <a:buChar char="•"/>
            </a:pPr>
            <a:endParaRPr lang="es-ES" sz="2200" dirty="0">
              <a:latin typeface="Calibri"/>
              <a:ea typeface="Calibri"/>
              <a:cs typeface="Calibri"/>
              <a:sym typeface="Calibri"/>
            </a:endParaRPr>
          </a:p>
        </p:txBody>
      </p:sp>
      <p:pic>
        <p:nvPicPr>
          <p:cNvPr id="2" name="Google Shape;325;p16" descr="1-7">
            <a:extLst>
              <a:ext uri="{FF2B5EF4-FFF2-40B4-BE49-F238E27FC236}">
                <a16:creationId xmlns:a16="http://schemas.microsoft.com/office/drawing/2014/main" id="{981C5950-DA9F-AA48-31C1-9AE10BB74C0B}"/>
              </a:ext>
            </a:extLst>
          </p:cNvPr>
          <p:cNvPicPr preferRelativeResize="0"/>
          <p:nvPr/>
        </p:nvPicPr>
        <p:blipFill rotWithShape="1">
          <a:blip r:embed="rId3"/>
          <a:srcRect l="7812" t="6627" r="9172" b="10622"/>
          <a:stretch>
            <a:fillRect/>
          </a:stretch>
        </p:blipFill>
        <p:spPr>
          <a:xfrm>
            <a:off x="4149213" y="3248230"/>
            <a:ext cx="3893574" cy="3010928"/>
          </a:xfrm>
          <a:prstGeom prst="rect">
            <a:avLst/>
          </a:prstGeom>
        </p:spPr>
      </p:pic>
      <p:sp>
        <p:nvSpPr>
          <p:cNvPr id="4" name="Google Shape;326;p16">
            <a:extLst>
              <a:ext uri="{FF2B5EF4-FFF2-40B4-BE49-F238E27FC236}">
                <a16:creationId xmlns:a16="http://schemas.microsoft.com/office/drawing/2014/main" id="{976030FF-1341-7626-430E-88AFE018A721}"/>
              </a:ext>
            </a:extLst>
          </p:cNvPr>
          <p:cNvSpPr/>
          <p:nvPr/>
        </p:nvSpPr>
        <p:spPr>
          <a:xfrm>
            <a:off x="1096963" y="3164903"/>
            <a:ext cx="3155854" cy="833038"/>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AR" sz="1600" b="0" i="0" u="none" strike="noStrike" cap="none" dirty="0">
                <a:latin typeface="+mn-lt"/>
                <a:ea typeface="Arial"/>
                <a:cs typeface="Arial"/>
                <a:sym typeface="Arial"/>
              </a:rPr>
              <a:t>1. Interpretamos el código fuente y lo representamos internamente como una red semántica o grafo.</a:t>
            </a:r>
            <a:endParaRPr sz="1600" b="0" i="0" u="none" strike="noStrike" cap="none" dirty="0">
              <a:latin typeface="+mn-lt"/>
              <a:ea typeface="Arial"/>
              <a:cs typeface="Arial"/>
              <a:sym typeface="Arial"/>
            </a:endParaRPr>
          </a:p>
        </p:txBody>
      </p:sp>
      <p:sp>
        <p:nvSpPr>
          <p:cNvPr id="5" name="Google Shape;327;p16">
            <a:extLst>
              <a:ext uri="{FF2B5EF4-FFF2-40B4-BE49-F238E27FC236}">
                <a16:creationId xmlns:a16="http://schemas.microsoft.com/office/drawing/2014/main" id="{BC2DA138-C853-C0A3-490E-FAB179775554}"/>
              </a:ext>
            </a:extLst>
          </p:cNvPr>
          <p:cNvSpPr/>
          <p:nvPr/>
        </p:nvSpPr>
        <p:spPr>
          <a:xfrm>
            <a:off x="1243364" y="5280711"/>
            <a:ext cx="2905849" cy="783116"/>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AR" sz="1600" b="0" i="0" u="none" strike="noStrike" cap="none" dirty="0">
                <a:latin typeface="+mn-lt"/>
                <a:ea typeface="Arial"/>
                <a:cs typeface="Arial"/>
                <a:sym typeface="Arial"/>
              </a:rPr>
              <a:t>2. Se utilizan reglas de transformación para simplificar la representación interna.</a:t>
            </a:r>
            <a:endParaRPr sz="1600" b="0" i="0" u="none" strike="noStrike" cap="none" dirty="0">
              <a:latin typeface="+mn-lt"/>
              <a:ea typeface="Arial"/>
              <a:cs typeface="Arial"/>
              <a:sym typeface="Arial"/>
            </a:endParaRPr>
          </a:p>
        </p:txBody>
      </p:sp>
      <p:sp>
        <p:nvSpPr>
          <p:cNvPr id="6" name="Google Shape;328;p16">
            <a:extLst>
              <a:ext uri="{FF2B5EF4-FFF2-40B4-BE49-F238E27FC236}">
                <a16:creationId xmlns:a16="http://schemas.microsoft.com/office/drawing/2014/main" id="{5ACFE166-9AF8-8062-B7F4-008F76EB1E59}"/>
              </a:ext>
            </a:extLst>
          </p:cNvPr>
          <p:cNvSpPr/>
          <p:nvPr/>
        </p:nvSpPr>
        <p:spPr>
          <a:xfrm>
            <a:off x="7999208" y="3794473"/>
            <a:ext cx="3156155" cy="1256167"/>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AR" sz="1600" b="0" i="0" u="none" strike="noStrike" cap="none" dirty="0">
                <a:latin typeface="+mn-lt"/>
                <a:ea typeface="Arial"/>
                <a:cs typeface="Arial"/>
                <a:sym typeface="Arial"/>
              </a:rPr>
              <a:t>3. Los resultados se reformulan como código estructurado, donde se espera que la complejidad, por ejemplo </a:t>
            </a:r>
            <a:r>
              <a:rPr lang="es-AR" sz="1600" b="0" i="0" u="none" strike="noStrike" cap="none" dirty="0" err="1">
                <a:latin typeface="+mn-lt"/>
                <a:ea typeface="Arial"/>
                <a:cs typeface="Arial"/>
                <a:sym typeface="Arial"/>
              </a:rPr>
              <a:t>ciclomática</a:t>
            </a:r>
            <a:r>
              <a:rPr lang="es-AR" sz="1600" b="0" i="0" u="none" strike="noStrike" cap="none" dirty="0">
                <a:latin typeface="+mn-lt"/>
                <a:ea typeface="Arial"/>
                <a:cs typeface="Arial"/>
                <a:sym typeface="Arial"/>
              </a:rPr>
              <a:t>, sea reducida</a:t>
            </a:r>
            <a:endParaRPr sz="1600" dirty="0">
              <a:latin typeface="+mn-lt"/>
            </a:endParaRPr>
          </a:p>
        </p:txBody>
      </p:sp>
    </p:spTree>
    <p:extLst>
      <p:ext uri="{BB962C8B-B14F-4D97-AF65-F5344CB8AC3E}">
        <p14:creationId xmlns:p14="http://schemas.microsoft.com/office/powerpoint/2010/main" val="418712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9EAEFA1-80E1-0BAF-1F13-71C116589B0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F8CE548-8ECC-F71A-42B7-0D70BA47BED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60AE23C5-777E-8B9A-1B8F-4CAC7D3F1BE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9DC359BC-AAA6-BCF4-8D5B-E98D8F987FA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0D3582A-2016-0B4B-0576-29C46EC54AE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28</a:t>
            </a:fld>
            <a:endParaRPr/>
          </a:p>
        </p:txBody>
      </p:sp>
      <p:sp>
        <p:nvSpPr>
          <p:cNvPr id="3" name="Google Shape;135;p2">
            <a:extLst>
              <a:ext uri="{FF2B5EF4-FFF2-40B4-BE49-F238E27FC236}">
                <a16:creationId xmlns:a16="http://schemas.microsoft.com/office/drawing/2014/main" id="{8E860EB6-7CA9-A6C5-7C51-A199C160DB1A}"/>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err="1">
                <a:latin typeface="Calibri"/>
                <a:ea typeface="Calibri"/>
                <a:cs typeface="Calibri"/>
                <a:sym typeface="Calibri"/>
              </a:rPr>
              <a:t>Re-documentación</a:t>
            </a:r>
            <a:r>
              <a:rPr lang="es-ES" sz="3000" dirty="0">
                <a:latin typeface="Calibri"/>
                <a:ea typeface="Calibri"/>
                <a:cs typeface="Calibri"/>
                <a:sym typeface="Calibri"/>
              </a:rPr>
              <a:t>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Representa un análisis estático del código para producir la documentación del sistema.</a:t>
            </a:r>
            <a:endParaRPr lang="es-ES" sz="2200" dirty="0">
              <a:latin typeface="Calibri"/>
              <a:ea typeface="Calibri"/>
              <a:cs typeface="Calibri"/>
              <a:sym typeface="Calibri"/>
            </a:endParaRP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La información producida por un análisis de código estático puede ser gráfico o textual.</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Podemos obtener: relaciones de llamada de componentes,  jerarquías de clases, tablas de interfaz de datos, información del diccionario de datos, tablas o diagramas de flujo de datos, tablas o diagramas de flujo de control, pseudocódigo, caminos de prueba, referencias cruzadas de componentes y variables.</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endParaRPr lang="es-ES" sz="2600" dirty="0">
              <a:latin typeface="Calibri"/>
              <a:ea typeface="Calibri"/>
              <a:cs typeface="Calibri"/>
              <a:sym typeface="Calibri"/>
            </a:endParaRPr>
          </a:p>
        </p:txBody>
      </p:sp>
    </p:spTree>
    <p:extLst>
      <p:ext uri="{BB962C8B-B14F-4D97-AF65-F5344CB8AC3E}">
        <p14:creationId xmlns:p14="http://schemas.microsoft.com/office/powerpoint/2010/main" val="172607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2997CF1-62D3-AE46-B270-5754F0980B95}"/>
            </a:ext>
          </a:extLst>
        </p:cNvPr>
        <p:cNvGrpSpPr/>
        <p:nvPr/>
      </p:nvGrpSpPr>
      <p:grpSpPr>
        <a:xfrm>
          <a:off x="0" y="0"/>
          <a:ext cx="0" cy="0"/>
          <a:chOff x="0" y="0"/>
          <a:chExt cx="0" cy="0"/>
        </a:xfrm>
      </p:grpSpPr>
      <p:pic>
        <p:nvPicPr>
          <p:cNvPr id="342" name="Google Shape;342;p39" descr="1-6"/>
          <p:cNvPicPr preferRelativeResize="0"/>
          <p:nvPr/>
        </p:nvPicPr>
        <p:blipFill rotWithShape="1">
          <a:blip r:embed="rId3"/>
          <a:srcRect l="5227" t="5473" r="3150" b="11632"/>
          <a:stretch>
            <a:fillRect/>
          </a:stretch>
        </p:blipFill>
        <p:spPr>
          <a:xfrm>
            <a:off x="2435702" y="2235382"/>
            <a:ext cx="7224604" cy="4055806"/>
          </a:xfrm>
          <a:prstGeom prst="rect">
            <a:avLst/>
          </a:prstGeom>
        </p:spPr>
      </p:pic>
      <p:sp>
        <p:nvSpPr>
          <p:cNvPr id="159" name="Google Shape;159;p4">
            <a:extLst>
              <a:ext uri="{FF2B5EF4-FFF2-40B4-BE49-F238E27FC236}">
                <a16:creationId xmlns:a16="http://schemas.microsoft.com/office/drawing/2014/main" id="{D391CC30-CE3D-4791-F3BF-1A2D5B35395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8B46DACB-8F1D-CFC3-417E-36FB2D409EC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B586052-910E-ACF1-4599-71407E75D06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F87AC86A-96A7-B234-74D3-0839A7AFEA1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29</a:t>
            </a:fld>
            <a:endParaRPr/>
          </a:p>
        </p:txBody>
      </p:sp>
      <p:sp>
        <p:nvSpPr>
          <p:cNvPr id="3" name="Google Shape;135;p2">
            <a:extLst>
              <a:ext uri="{FF2B5EF4-FFF2-40B4-BE49-F238E27FC236}">
                <a16:creationId xmlns:a16="http://schemas.microsoft.com/office/drawing/2014/main" id="{8E60F3C5-12C0-47FA-4C19-03A0CBE01A01}"/>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err="1">
                <a:latin typeface="Calibri"/>
                <a:ea typeface="Calibri"/>
                <a:cs typeface="Calibri"/>
                <a:sym typeface="Calibri"/>
              </a:rPr>
              <a:t>Re-documentación</a:t>
            </a:r>
            <a:r>
              <a:rPr lang="es-ES" sz="3000" dirty="0">
                <a:latin typeface="Calibri"/>
                <a:ea typeface="Calibri"/>
                <a:cs typeface="Calibri"/>
                <a:sym typeface="Calibri"/>
              </a:rPr>
              <a:t> </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endParaRPr lang="es-ES" sz="2600" dirty="0">
              <a:latin typeface="Calibri"/>
              <a:ea typeface="Calibri"/>
              <a:cs typeface="Calibri"/>
              <a:sym typeface="Calibri"/>
            </a:endParaRPr>
          </a:p>
        </p:txBody>
      </p:sp>
    </p:spTree>
    <p:extLst>
      <p:ext uri="{BB962C8B-B14F-4D97-AF65-F5344CB8AC3E}">
        <p14:creationId xmlns:p14="http://schemas.microsoft.com/office/powerpoint/2010/main" val="259501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1DF38BA-D61C-C5E8-6915-2CCB2FC1A11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BC69E68-D8FB-738F-F25A-CBABB9769BE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B9B88497-F0A3-1853-27C8-C78623BCC34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06CAA538-3D1A-2A02-1D87-13B8E3F0B8D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6BCE4E1F-8B67-7E85-7E45-05C0AE46999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30</a:t>
            </a:fld>
            <a:endParaRPr/>
          </a:p>
        </p:txBody>
      </p:sp>
      <p:sp>
        <p:nvSpPr>
          <p:cNvPr id="3" name="Google Shape;135;p2">
            <a:extLst>
              <a:ext uri="{FF2B5EF4-FFF2-40B4-BE49-F238E27FC236}">
                <a16:creationId xmlns:a16="http://schemas.microsoft.com/office/drawing/2014/main" id="{FF453F9D-14A9-E19E-9FC1-4426B02C933B}"/>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Ingeniería inversa</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Proceso de analizar un producto o sistema para comprender su diseño, funcionamiento interno y funcionalidad.</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Parte del código fuente y recupera el diseño y en ocasiones la especificación, para aquellos sistemas en los que no hay documentación.</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 puede utilizar </a:t>
            </a:r>
            <a:r>
              <a:rPr lang="es-ES" sz="2600" dirty="0" err="1">
                <a:latin typeface="Calibri"/>
                <a:ea typeface="Calibri"/>
                <a:cs typeface="Calibri"/>
                <a:sym typeface="Calibri"/>
              </a:rPr>
              <a:t>Ghidra</a:t>
            </a:r>
            <a:r>
              <a:rPr lang="es-ES" sz="2600" dirty="0">
                <a:latin typeface="Calibri"/>
                <a:ea typeface="Calibri"/>
                <a:cs typeface="Calibri"/>
                <a:sym typeface="Calibri"/>
              </a:rPr>
              <a:t> (</a:t>
            </a:r>
            <a:r>
              <a:rPr lang="es-ES" sz="2400" dirty="0">
                <a:solidFill>
                  <a:srgbClr val="C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https://ghidra-sre.org/</a:t>
            </a:r>
            <a:r>
              <a:rPr lang="es-ES" sz="2600" dirty="0">
                <a:latin typeface="Calibri"/>
                <a:ea typeface="Calibri"/>
                <a:cs typeface="Calibri"/>
                <a:sym typeface="Calibri"/>
              </a:rPr>
              <a:t>) para desensamblar, descompilar y analizar código binario.  Incluye un descompilador que puede convertir el código ensamblador en un lenguaje de nivel superior, como C o Java, lo que puede facilitar la comprensión de la funcionalidad de un archivo binario.</a:t>
            </a:r>
          </a:p>
        </p:txBody>
      </p:sp>
    </p:spTree>
    <p:extLst>
      <p:ext uri="{BB962C8B-B14F-4D97-AF65-F5344CB8AC3E}">
        <p14:creationId xmlns:p14="http://schemas.microsoft.com/office/powerpoint/2010/main" val="55346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ACF8D2B-9DE4-7BE3-2FBD-ED8389F725FA}"/>
            </a:ext>
          </a:extLst>
        </p:cNvPr>
        <p:cNvGrpSpPr/>
        <p:nvPr/>
      </p:nvGrpSpPr>
      <p:grpSpPr>
        <a:xfrm>
          <a:off x="0" y="0"/>
          <a:ext cx="0" cy="0"/>
          <a:chOff x="0" y="0"/>
          <a:chExt cx="0" cy="0"/>
        </a:xfrm>
      </p:grpSpPr>
      <p:pic>
        <p:nvPicPr>
          <p:cNvPr id="2" name="Google Shape;366;p18" descr="1-8">
            <a:extLst>
              <a:ext uri="{FF2B5EF4-FFF2-40B4-BE49-F238E27FC236}">
                <a16:creationId xmlns:a16="http://schemas.microsoft.com/office/drawing/2014/main" id="{E681B5BF-C1F2-1BC5-5AD5-5A4551C997EB}"/>
              </a:ext>
            </a:extLst>
          </p:cNvPr>
          <p:cNvPicPr preferRelativeResize="0"/>
          <p:nvPr/>
        </p:nvPicPr>
        <p:blipFill rotWithShape="1">
          <a:blip r:embed="rId3"/>
          <a:srcRect l="6412" t="5716" r="1627" b="13205"/>
          <a:stretch>
            <a:fillRect/>
          </a:stretch>
        </p:blipFill>
        <p:spPr>
          <a:xfrm>
            <a:off x="4380270" y="2178578"/>
            <a:ext cx="5216078" cy="4080580"/>
          </a:xfrm>
          <a:prstGeom prst="rect">
            <a:avLst/>
          </a:prstGeom>
        </p:spPr>
      </p:pic>
      <p:sp>
        <p:nvSpPr>
          <p:cNvPr id="159" name="Google Shape;159;p4">
            <a:extLst>
              <a:ext uri="{FF2B5EF4-FFF2-40B4-BE49-F238E27FC236}">
                <a16:creationId xmlns:a16="http://schemas.microsoft.com/office/drawing/2014/main" id="{3D8BEE03-C2D6-9782-ECBB-37ECB1CDAA1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432F36AF-081B-F361-C432-C52BC29461B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91201A0A-6104-F0D9-FDE4-9A600FBFBBD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762FD6D-31D8-DCA8-681B-0BCA8CCC812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31</a:t>
            </a:fld>
            <a:endParaRPr/>
          </a:p>
        </p:txBody>
      </p:sp>
      <p:sp>
        <p:nvSpPr>
          <p:cNvPr id="3" name="Google Shape;135;p2">
            <a:extLst>
              <a:ext uri="{FF2B5EF4-FFF2-40B4-BE49-F238E27FC236}">
                <a16:creationId xmlns:a16="http://schemas.microsoft.com/office/drawing/2014/main" id="{DA645D99-54B0-CF08-9184-4FE4F3F2B6F3}"/>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a:latin typeface="Calibri"/>
                <a:ea typeface="Calibri"/>
                <a:cs typeface="Calibri"/>
                <a:sym typeface="Calibri"/>
              </a:rPr>
              <a:t>Ingeniería inversa</a:t>
            </a:r>
          </a:p>
        </p:txBody>
      </p:sp>
      <p:sp>
        <p:nvSpPr>
          <p:cNvPr id="4" name="Google Shape;367;p18">
            <a:extLst>
              <a:ext uri="{FF2B5EF4-FFF2-40B4-BE49-F238E27FC236}">
                <a16:creationId xmlns:a16="http://schemas.microsoft.com/office/drawing/2014/main" id="{7FBFAB5F-82E4-537D-02DE-85029AD274F9}"/>
              </a:ext>
            </a:extLst>
          </p:cNvPr>
          <p:cNvSpPr/>
          <p:nvPr/>
        </p:nvSpPr>
        <p:spPr>
          <a:xfrm>
            <a:off x="1121582" y="2715296"/>
            <a:ext cx="3147935" cy="1382835"/>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spcBef>
                <a:spcPts val="0"/>
              </a:spcBef>
              <a:spcAft>
                <a:spcPts val="0"/>
              </a:spcAft>
            </a:pPr>
            <a:r>
              <a:rPr lang="es-AR" sz="1600" dirty="0">
                <a:latin typeface="+mn-lt"/>
                <a:cs typeface="Arial"/>
                <a:sym typeface="Arial"/>
              </a:rPr>
              <a:t>1. Se envía el código fuente y se</a:t>
            </a:r>
            <a:endParaRPr sz="1600" dirty="0">
              <a:latin typeface="+mn-lt"/>
              <a:cs typeface="Arial"/>
            </a:endParaRPr>
          </a:p>
          <a:p>
            <a:pPr algn="ctr">
              <a:spcBef>
                <a:spcPts val="0"/>
              </a:spcBef>
              <a:spcAft>
                <a:spcPts val="0"/>
              </a:spcAft>
            </a:pPr>
            <a:r>
              <a:rPr lang="es-AR" sz="1600" dirty="0">
                <a:latin typeface="+mn-lt"/>
                <a:cs typeface="Arial"/>
                <a:sym typeface="Arial"/>
              </a:rPr>
              <a:t>conecta a una herramienta de ingeniería inversa que interpreta la estructura y la información de nomenclatura.</a:t>
            </a:r>
            <a:endParaRPr sz="1600" dirty="0">
              <a:latin typeface="+mn-lt"/>
              <a:cs typeface="Arial"/>
            </a:endParaRPr>
          </a:p>
        </p:txBody>
      </p:sp>
      <p:sp>
        <p:nvSpPr>
          <p:cNvPr id="5" name="Google Shape;368;p18">
            <a:extLst>
              <a:ext uri="{FF2B5EF4-FFF2-40B4-BE49-F238E27FC236}">
                <a16:creationId xmlns:a16="http://schemas.microsoft.com/office/drawing/2014/main" id="{7D4E025B-B00A-5D2A-D6C3-343E555301C0}"/>
              </a:ext>
            </a:extLst>
          </p:cNvPr>
          <p:cNvSpPr/>
          <p:nvPr/>
        </p:nvSpPr>
        <p:spPr>
          <a:xfrm>
            <a:off x="1861483" y="4770143"/>
            <a:ext cx="3649383" cy="680683"/>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spcBef>
                <a:spcPts val="0"/>
              </a:spcBef>
              <a:spcAft>
                <a:spcPts val="0"/>
              </a:spcAft>
            </a:pPr>
            <a:r>
              <a:rPr lang="es-AR" sz="1600" dirty="0">
                <a:latin typeface="+mn-lt"/>
                <a:cs typeface="Arial"/>
                <a:sym typeface="Arial"/>
              </a:rPr>
              <a:t>2. Se obtienen múltiples formatos hasta llegar a la especificación del sistema</a:t>
            </a:r>
            <a:endParaRPr sz="1600" dirty="0">
              <a:latin typeface="+mn-lt"/>
              <a:cs typeface="Arial"/>
            </a:endParaRPr>
          </a:p>
        </p:txBody>
      </p:sp>
    </p:spTree>
    <p:extLst>
      <p:ext uri="{BB962C8B-B14F-4D97-AF65-F5344CB8AC3E}">
        <p14:creationId xmlns:p14="http://schemas.microsoft.com/office/powerpoint/2010/main" val="3639780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2FADCFD-B391-AC36-4A75-CE0BD8447B1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963A00A-4358-A122-663E-196AC7E714C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3A0BE086-E8D6-87BB-A7F9-A08C6EA9C6B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5DDD1123-A4CA-931D-3962-4C4B8279A06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88350703-6A69-4A50-85C7-48ED1FDABB2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32</a:t>
            </a:fld>
            <a:endParaRPr/>
          </a:p>
        </p:txBody>
      </p:sp>
      <p:sp>
        <p:nvSpPr>
          <p:cNvPr id="3" name="Google Shape;135;p2">
            <a:extLst>
              <a:ext uri="{FF2B5EF4-FFF2-40B4-BE49-F238E27FC236}">
                <a16:creationId xmlns:a16="http://schemas.microsoft.com/office/drawing/2014/main" id="{CF4EFA12-24AA-39F5-A722-AF9F656C2A82}"/>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3000" dirty="0" err="1">
                <a:latin typeface="Calibri"/>
                <a:ea typeface="Calibri"/>
                <a:cs typeface="Calibri"/>
                <a:sym typeface="Calibri"/>
              </a:rPr>
              <a:t>Re-ingeniería</a:t>
            </a:r>
            <a:endParaRPr lang="es-ES" sz="3000" dirty="0">
              <a:latin typeface="Calibri"/>
              <a:ea typeface="Calibri"/>
              <a:cs typeface="Calibri"/>
              <a:sym typeface="Calibri"/>
            </a:endParaRP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Produce un nuevo código fuente correctamente estructurado, mejorando la calidad  sin cambiar la funcionalidad del sistema.</a:t>
            </a:r>
          </a:p>
        </p:txBody>
      </p:sp>
      <p:pic>
        <p:nvPicPr>
          <p:cNvPr id="2" name="Google Shape;388;p41" descr="1-9">
            <a:extLst>
              <a:ext uri="{FF2B5EF4-FFF2-40B4-BE49-F238E27FC236}">
                <a16:creationId xmlns:a16="http://schemas.microsoft.com/office/drawing/2014/main" id="{3A0144B2-CC39-B60E-47A4-046025EF1DC6}"/>
              </a:ext>
            </a:extLst>
          </p:cNvPr>
          <p:cNvPicPr preferRelativeResize="0">
            <a:picLocks/>
          </p:cNvPicPr>
          <p:nvPr/>
        </p:nvPicPr>
        <p:blipFill rotWithShape="1">
          <a:blip r:embed="rId3">
            <a:alphaModFix/>
          </a:blip>
          <a:srcRect t="5236" r="1090" b="7381"/>
          <a:stretch/>
        </p:blipFill>
        <p:spPr>
          <a:xfrm>
            <a:off x="3968039" y="3134001"/>
            <a:ext cx="4255921" cy="3154623"/>
          </a:xfrm>
          <a:prstGeom prst="rect">
            <a:avLst/>
          </a:prstGeom>
          <a:noFill/>
          <a:ln>
            <a:noFill/>
          </a:ln>
        </p:spPr>
      </p:pic>
      <p:sp>
        <p:nvSpPr>
          <p:cNvPr id="4" name="Google Shape;390;p41">
            <a:extLst>
              <a:ext uri="{FF2B5EF4-FFF2-40B4-BE49-F238E27FC236}">
                <a16:creationId xmlns:a16="http://schemas.microsoft.com/office/drawing/2014/main" id="{761B6160-F7A6-B33B-CC5D-EA508DEBCCBD}"/>
              </a:ext>
            </a:extLst>
          </p:cNvPr>
          <p:cNvSpPr/>
          <p:nvPr/>
        </p:nvSpPr>
        <p:spPr>
          <a:xfrm>
            <a:off x="267875" y="3134001"/>
            <a:ext cx="3622846" cy="1275767"/>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spcBef>
                <a:spcPts val="0"/>
              </a:spcBef>
              <a:spcAft>
                <a:spcPts val="0"/>
              </a:spcAft>
            </a:pPr>
            <a:r>
              <a:rPr lang="es-AR" sz="1600" dirty="0">
                <a:latin typeface="+mn-lt"/>
                <a:cs typeface="Arial"/>
                <a:sym typeface="Arial"/>
              </a:rPr>
              <a:t>1. El sistema tiene ingeniería inversa y se representa internamente para humanos y modificaciones de código basadas en métodos actuales para especificar y diseñar software.</a:t>
            </a:r>
            <a:endParaRPr sz="1600" dirty="0">
              <a:latin typeface="+mn-lt"/>
              <a:cs typeface="Arial"/>
              <a:sym typeface="Arial"/>
            </a:endParaRPr>
          </a:p>
        </p:txBody>
      </p:sp>
      <p:sp>
        <p:nvSpPr>
          <p:cNvPr id="5" name="Google Shape;391;p41">
            <a:extLst>
              <a:ext uri="{FF2B5EF4-FFF2-40B4-BE49-F238E27FC236}">
                <a16:creationId xmlns:a16="http://schemas.microsoft.com/office/drawing/2014/main" id="{FC4943DB-4C4D-8CED-DE14-949236997FEB}"/>
              </a:ext>
            </a:extLst>
          </p:cNvPr>
          <p:cNvSpPr/>
          <p:nvPr/>
        </p:nvSpPr>
        <p:spPr>
          <a:xfrm>
            <a:off x="1192953" y="5596608"/>
            <a:ext cx="3230554" cy="713372"/>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spcBef>
                <a:spcPts val="0"/>
              </a:spcBef>
              <a:spcAft>
                <a:spcPts val="0"/>
              </a:spcAft>
            </a:pPr>
            <a:r>
              <a:rPr lang="es-AR" sz="1600" dirty="0">
                <a:latin typeface="+mn-lt"/>
                <a:cs typeface="Arial"/>
                <a:sym typeface="Arial"/>
              </a:rPr>
              <a:t>2. Se corrige o completa el modelo del sistema de software. </a:t>
            </a:r>
            <a:endParaRPr sz="1600" dirty="0">
              <a:latin typeface="+mn-lt"/>
              <a:cs typeface="Arial"/>
            </a:endParaRPr>
          </a:p>
        </p:txBody>
      </p:sp>
      <p:sp>
        <p:nvSpPr>
          <p:cNvPr id="6" name="Google Shape;392;p41">
            <a:extLst>
              <a:ext uri="{FF2B5EF4-FFF2-40B4-BE49-F238E27FC236}">
                <a16:creationId xmlns:a16="http://schemas.microsoft.com/office/drawing/2014/main" id="{907E9900-65EF-9097-43A7-225925A82BB7}"/>
              </a:ext>
            </a:extLst>
          </p:cNvPr>
          <p:cNvSpPr/>
          <p:nvPr/>
        </p:nvSpPr>
        <p:spPr>
          <a:xfrm>
            <a:off x="7889948" y="4492937"/>
            <a:ext cx="3443110" cy="689590"/>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algn="ctr">
              <a:spcBef>
                <a:spcPts val="0"/>
              </a:spcBef>
              <a:spcAft>
                <a:spcPts val="0"/>
              </a:spcAft>
            </a:pPr>
            <a:r>
              <a:rPr lang="es-AR" sz="1600" dirty="0">
                <a:latin typeface="+mn-lt"/>
                <a:cs typeface="Arial"/>
                <a:sym typeface="Arial"/>
              </a:rPr>
              <a:t>3. El nuevo sistema se genera a partir de esta nueva especificación o diseño.</a:t>
            </a:r>
            <a:endParaRPr sz="1600" dirty="0">
              <a:latin typeface="+mn-lt"/>
              <a:cs typeface="Arial"/>
              <a:sym typeface="Arial"/>
            </a:endParaRPr>
          </a:p>
        </p:txBody>
      </p:sp>
    </p:spTree>
    <p:extLst>
      <p:ext uri="{BB962C8B-B14F-4D97-AF65-F5344CB8AC3E}">
        <p14:creationId xmlns:p14="http://schemas.microsoft.com/office/powerpoint/2010/main" val="276962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A9ED1E5-4D17-43AE-9237-D098E118EFC5}"/>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75CC0B5-1F0A-42C9-0B74-AF0DB4E46E9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lvl="0">
              <a:spcBef>
                <a:spcPts val="0"/>
              </a:spcBef>
              <a:spcAft>
                <a:spcPts val="0"/>
              </a:spcAft>
              <a:buClr>
                <a:srgbClr val="4A6617"/>
              </a:buClr>
              <a:buSzPts val="4000"/>
            </a:pPr>
            <a:r>
              <a:rPr lang="es-AR" dirty="0"/>
              <a:t>Rejuvenecimiento del Software</a:t>
            </a:r>
            <a:endParaRPr dirty="0"/>
          </a:p>
        </p:txBody>
      </p:sp>
      <p:sp>
        <p:nvSpPr>
          <p:cNvPr id="160" name="Google Shape;160;p4">
            <a:extLst>
              <a:ext uri="{FF2B5EF4-FFF2-40B4-BE49-F238E27FC236}">
                <a16:creationId xmlns:a16="http://schemas.microsoft.com/office/drawing/2014/main" id="{9257F1D2-1C88-D61D-253E-9402E45912A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ES"/>
              <a:t>2026</a:t>
            </a:r>
            <a:endParaRPr/>
          </a:p>
        </p:txBody>
      </p:sp>
      <p:sp>
        <p:nvSpPr>
          <p:cNvPr id="161" name="Google Shape;161;p4">
            <a:extLst>
              <a:ext uri="{FF2B5EF4-FFF2-40B4-BE49-F238E27FC236}">
                <a16:creationId xmlns:a16="http://schemas.microsoft.com/office/drawing/2014/main" id="{DD8B964D-D6AA-B557-ED59-A79ACFA1E4F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129D37CC-805B-AFF2-832A-A2EFD76A7F4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33</a:t>
            </a:fld>
            <a:endParaRPr/>
          </a:p>
        </p:txBody>
      </p:sp>
      <p:sp>
        <p:nvSpPr>
          <p:cNvPr id="3" name="Google Shape;135;p2">
            <a:extLst>
              <a:ext uri="{FF2B5EF4-FFF2-40B4-BE49-F238E27FC236}">
                <a16:creationId xmlns:a16="http://schemas.microsoft.com/office/drawing/2014/main" id="{2C3E3689-06CB-4762-1B7F-02680EBA4AED}"/>
              </a:ext>
            </a:extLst>
          </p:cNvPr>
          <p:cNvSpPr/>
          <p:nvPr/>
        </p:nvSpPr>
        <p:spPr>
          <a:xfrm>
            <a:off x="1096963" y="1873045"/>
            <a:ext cx="9902083" cy="4249793"/>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gn="just">
              <a:lnSpc>
                <a:spcPct val="85000"/>
              </a:lnSpc>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Futuro del rejuvenecimiento del software</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Las herramientas de ingeniería inversa recuperan </a:t>
            </a:r>
            <a:r>
              <a:rPr lang="es-ES" sz="2200" i="1" dirty="0">
                <a:latin typeface="Calibri"/>
                <a:ea typeface="Calibri"/>
                <a:cs typeface="Calibri"/>
                <a:sym typeface="Calibri"/>
              </a:rPr>
              <a:t>parcialmente</a:t>
            </a:r>
            <a:r>
              <a:rPr lang="es-ES" sz="2200" dirty="0">
                <a:latin typeface="Calibri"/>
                <a:ea typeface="Calibri"/>
                <a:cs typeface="Calibri"/>
                <a:sym typeface="Calibri"/>
              </a:rPr>
              <a:t> un sistema de software (identifican y analizan información del código fuente, pero no reconstruyen, capturan ni expresan abstracciones de diseño que no son representadas explícitamente en el código fuente.</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La información del código fuente no contiene mucha información sobre el contexto original.</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Para la recuperación se requiere  información del código, documentación de diseño existente, experiencia personal y conocimiento general sobre el dominio del problema. Se necesitan modismos de aplicación antes de que un diseño completo pueda ser entendido, reconstruido y estructurado.</a:t>
            </a:r>
          </a:p>
          <a:p>
            <a:pPr marL="811213" indent="-368300" algn="just">
              <a:lnSpc>
                <a:spcPct val="85000"/>
              </a:lnSpc>
              <a:spcBef>
                <a:spcPts val="0"/>
              </a:spcBef>
              <a:spcAft>
                <a:spcPts val="60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El rejuvenecimiento del software avanzará cuando la tecnología y los métodos puedan capturar reglas, políticas, decisiones de diseño, terminología, convenciones de nomenclatura y otros elementos de información informal. </a:t>
            </a:r>
          </a:p>
        </p:txBody>
      </p:sp>
    </p:spTree>
    <p:extLst>
      <p:ext uri="{BB962C8B-B14F-4D97-AF65-F5344CB8AC3E}">
        <p14:creationId xmlns:p14="http://schemas.microsoft.com/office/powerpoint/2010/main" val="332278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 Ingenieria de software 2</Template>
  <TotalTime>90</TotalTime>
  <Words>2249</Words>
  <Application>Microsoft Office PowerPoint</Application>
  <PresentationFormat>Panorámica</PresentationFormat>
  <Paragraphs>287</Paragraphs>
  <Slides>33</Slides>
  <Notes>33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33</vt:i4>
      </vt:variant>
    </vt:vector>
  </HeadingPairs>
  <TitlesOfParts>
    <vt:vector size="40" baseType="lpstr">
      <vt:lpstr>Arial</vt:lpstr>
      <vt:lpstr>Calibri</vt:lpstr>
      <vt:lpstr>Noto Sans Symbols</vt:lpstr>
      <vt:lpstr>Noto Sans Symbols2</vt:lpstr>
      <vt:lpstr>Times New Roman</vt:lpstr>
      <vt:lpstr>Wingdings</vt:lpstr>
      <vt:lpstr>Retrospección</vt:lpstr>
      <vt:lpstr>Ingeniería de Software II</vt:lpstr>
      <vt:lpstr>Contenidos</vt:lpstr>
      <vt:lpstr>Mantenimiento</vt:lpstr>
      <vt:lpstr>Una hipótesis</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Mantenimiento</vt:lpstr>
      <vt:lpstr>Rejuvenecimiento del Software</vt:lpstr>
      <vt:lpstr>Rejuvenecimiento del Software</vt:lpstr>
      <vt:lpstr>Rejuvenecimiento del Software</vt:lpstr>
      <vt:lpstr>Rejuvenecimiento del Software</vt:lpstr>
      <vt:lpstr>Rejuvenecimiento del Software</vt:lpstr>
      <vt:lpstr>Rejuvenecimiento del Software</vt:lpstr>
      <vt:lpstr>Rejuvenecimiento del Software</vt:lpstr>
      <vt:lpstr>Rejuvenecimiento del Software</vt:lpstr>
      <vt:lpstr>Rejuvenecimiento del Software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 Pasini</dc:creator>
  <cp:lastModifiedBy>Rocio Muñoz</cp:lastModifiedBy>
  <cp:revision>12</cp:revision>
  <dcterms:created xsi:type="dcterms:W3CDTF">2016-02-19T02:46:31Z</dcterms:created>
  <dcterms:modified xsi:type="dcterms:W3CDTF">2026-05-21T14:25:28Z</dcterms:modified>
</cp:coreProperties>
</file>