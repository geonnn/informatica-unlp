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media/image21.jpg" ContentType="image/unknown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8"/>
  </p:notesMasterIdLst>
  <p:sldIdLst>
    <p:sldId id="256" r:id="rId2"/>
    <p:sldId id="29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7" r:id="rId14"/>
    <p:sldId id="298" r:id="rId15"/>
    <p:sldId id="270" r:id="rId16"/>
    <p:sldId id="299" r:id="rId17"/>
    <p:sldId id="271" r:id="rId18"/>
    <p:sldId id="300" r:id="rId19"/>
    <p:sldId id="301" r:id="rId20"/>
    <p:sldId id="302" r:id="rId21"/>
    <p:sldId id="277" r:id="rId22"/>
    <p:sldId id="303" r:id="rId23"/>
    <p:sldId id="304" r:id="rId24"/>
    <p:sldId id="305" r:id="rId25"/>
    <p:sldId id="306" r:id="rId26"/>
    <p:sldId id="315" r:id="rId27"/>
    <p:sldId id="285" r:id="rId28"/>
    <p:sldId id="28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</p:sldIdLst>
  <p:sldSz cx="12192000" cy="6858000"/>
  <p:notesSz cx="6858000" cy="9144000"/>
  <p:embeddedFontLst>
    <p:embeddedFont>
      <p:font typeface="Roboto" panose="02000000000000000000" pitchFamily="2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E30vq9fggSicC2pjD6xwjrn1q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F29E7D-9136-45D8-AAB8-1E4A301F7CE6}">
  <a:tblStyle styleId="{3EF29E7D-9136-45D8-AAB8-1E4A301F7C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3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A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:notes"/>
          <p:cNvSpPr/>
          <p:nvPr/>
        </p:nvSpPr>
        <p:spPr>
          <a:xfrm>
            <a:off x="3884760" y="8685360"/>
            <a:ext cx="2971080" cy="456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A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/>
              <a:t>Conocidos : se descubren despues de una evaluacion cuidadosa de la documentacio y otras fuentes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/>
              <a:t>Predecibles:  experiencisa de proyectos anteriores (rotacion de personal, falta de comunicacion con el cliente, etc)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/>
              <a:t>impredecibles: son dificiles de identificar por adelantado </a:t>
            </a:r>
            <a:endParaRPr/>
          </a:p>
        </p:txBody>
      </p:sp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7" name="Google Shape;2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688707CE-2B6F-2980-3F3F-0E73F0F7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>
            <a:extLst>
              <a:ext uri="{FF2B5EF4-FFF2-40B4-BE49-F238E27FC236}">
                <a16:creationId xmlns:a16="http://schemas.microsoft.com/office/drawing/2014/main" id="{521D6855-F5C8-F41B-7719-FA16C0911D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97" name="Google Shape;297;p12:notes">
            <a:extLst>
              <a:ext uri="{FF2B5EF4-FFF2-40B4-BE49-F238E27FC236}">
                <a16:creationId xmlns:a16="http://schemas.microsoft.com/office/drawing/2014/main" id="{78B987B2-1363-B722-61EB-FC14AAF9F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63129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4C4ADD29-4A4B-43CF-B866-A7CB46A44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>
            <a:extLst>
              <a:ext uri="{FF2B5EF4-FFF2-40B4-BE49-F238E27FC236}">
                <a16:creationId xmlns:a16="http://schemas.microsoft.com/office/drawing/2014/main" id="{DA6953FA-A124-D8EE-9783-ACB1E719E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97" name="Google Shape;297;p12:notes">
            <a:extLst>
              <a:ext uri="{FF2B5EF4-FFF2-40B4-BE49-F238E27FC236}">
                <a16:creationId xmlns:a16="http://schemas.microsoft.com/office/drawing/2014/main" id="{C982A8E0-0280-FFFE-3621-47608FBFF3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44334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36" name="Google Shape;3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>
          <a:extLst>
            <a:ext uri="{FF2B5EF4-FFF2-40B4-BE49-F238E27FC236}">
              <a16:creationId xmlns:a16="http://schemas.microsoft.com/office/drawing/2014/main" id="{52E4FD71-DF93-98C1-644B-145989DD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>
            <a:extLst>
              <a:ext uri="{FF2B5EF4-FFF2-40B4-BE49-F238E27FC236}">
                <a16:creationId xmlns:a16="http://schemas.microsoft.com/office/drawing/2014/main" id="{EDF3E3B9-1FE3-A7F7-936F-D77EF8088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44" name="Google Shape;344;p16:notes">
            <a:extLst>
              <a:ext uri="{FF2B5EF4-FFF2-40B4-BE49-F238E27FC236}">
                <a16:creationId xmlns:a16="http://schemas.microsoft.com/office/drawing/2014/main" id="{6AB22B4A-55DE-CC8E-FE29-2C8518D298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69937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44" name="Google Shape;3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>
          <a:extLst>
            <a:ext uri="{FF2B5EF4-FFF2-40B4-BE49-F238E27FC236}">
              <a16:creationId xmlns:a16="http://schemas.microsoft.com/office/drawing/2014/main" id="{40DA4BDC-7BAC-4CCE-9DEE-AD2674CA1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>
            <a:extLst>
              <a:ext uri="{FF2B5EF4-FFF2-40B4-BE49-F238E27FC236}">
                <a16:creationId xmlns:a16="http://schemas.microsoft.com/office/drawing/2014/main" id="{EC13B075-38A7-036B-213A-B9624466F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44" name="Google Shape;344;p16:notes">
            <a:extLst>
              <a:ext uri="{FF2B5EF4-FFF2-40B4-BE49-F238E27FC236}">
                <a16:creationId xmlns:a16="http://schemas.microsoft.com/office/drawing/2014/main" id="{D3E95C8B-F122-4BC1-9F02-7CF944CCA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94257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>
          <a:extLst>
            <a:ext uri="{FF2B5EF4-FFF2-40B4-BE49-F238E27FC236}">
              <a16:creationId xmlns:a16="http://schemas.microsoft.com/office/drawing/2014/main" id="{8C85F326-1C40-F3DB-9594-ABEA798CB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>
            <a:extLst>
              <a:ext uri="{FF2B5EF4-FFF2-40B4-BE49-F238E27FC236}">
                <a16:creationId xmlns:a16="http://schemas.microsoft.com/office/drawing/2014/main" id="{1B39DF3B-A7FE-D88B-4449-E61F2DC30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44" name="Google Shape;344;p16:notes">
            <a:extLst>
              <a:ext uri="{FF2B5EF4-FFF2-40B4-BE49-F238E27FC236}">
                <a16:creationId xmlns:a16="http://schemas.microsoft.com/office/drawing/2014/main" id="{8A898F0E-7BF7-279A-6E21-35FD66F8B7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975129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>
          <a:extLst>
            <a:ext uri="{FF2B5EF4-FFF2-40B4-BE49-F238E27FC236}">
              <a16:creationId xmlns:a16="http://schemas.microsoft.com/office/drawing/2014/main" id="{DB6E4E4A-3542-9F16-7DAE-5FFFAA2E7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>
            <a:extLst>
              <a:ext uri="{FF2B5EF4-FFF2-40B4-BE49-F238E27FC236}">
                <a16:creationId xmlns:a16="http://schemas.microsoft.com/office/drawing/2014/main" id="{0B6C2CBE-7F10-0540-9CF7-14F2C3E5B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44" name="Google Shape;344;p16:notes">
            <a:extLst>
              <a:ext uri="{FF2B5EF4-FFF2-40B4-BE49-F238E27FC236}">
                <a16:creationId xmlns:a16="http://schemas.microsoft.com/office/drawing/2014/main" id="{F5BA68D9-8FCF-7C85-75CE-CA7ECCFFBF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973253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/>
          <p:cNvSpPr txBox="1"/>
          <p:nvPr/>
        </p:nvSpPr>
        <p:spPr>
          <a:xfrm>
            <a:off x="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de Software II. Fac. de Informática. UNLP.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:notes"/>
          <p:cNvSpPr txBox="1"/>
          <p:nvPr/>
        </p:nvSpPr>
        <p:spPr>
          <a:xfrm>
            <a:off x="385056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:notes"/>
          <p:cNvSpPr txBox="1"/>
          <p:nvPr/>
        </p:nvSpPr>
        <p:spPr>
          <a:xfrm>
            <a:off x="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Lic. Patricia M. Pesado.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:notes"/>
          <p:cNvSpPr txBox="1"/>
          <p:nvPr/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2:notes"/>
          <p:cNvSpPr txBox="1">
            <a:spLocks noGrp="1"/>
          </p:cNvSpPr>
          <p:nvPr>
            <p:ph type="body" idx="1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92B43B17-EED2-9F60-4651-99F7BE3C2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>
            <a:extLst>
              <a:ext uri="{FF2B5EF4-FFF2-40B4-BE49-F238E27FC236}">
                <a16:creationId xmlns:a16="http://schemas.microsoft.com/office/drawing/2014/main" id="{BD89B3C1-AB87-5EF3-463E-640E1CBA83A5}"/>
              </a:ext>
            </a:extLst>
          </p:cNvPr>
          <p:cNvSpPr txBox="1"/>
          <p:nvPr/>
        </p:nvSpPr>
        <p:spPr>
          <a:xfrm>
            <a:off x="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de Software II. Fac. de Informática. UNLP.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:notes">
            <a:extLst>
              <a:ext uri="{FF2B5EF4-FFF2-40B4-BE49-F238E27FC236}">
                <a16:creationId xmlns:a16="http://schemas.microsoft.com/office/drawing/2014/main" id="{0F819688-313A-3ED5-319B-F878589BB0B7}"/>
              </a:ext>
            </a:extLst>
          </p:cNvPr>
          <p:cNvSpPr txBox="1"/>
          <p:nvPr/>
        </p:nvSpPr>
        <p:spPr>
          <a:xfrm>
            <a:off x="385056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:notes">
            <a:extLst>
              <a:ext uri="{FF2B5EF4-FFF2-40B4-BE49-F238E27FC236}">
                <a16:creationId xmlns:a16="http://schemas.microsoft.com/office/drawing/2014/main" id="{CC5DC094-E60A-E97A-5A41-2171EFA2E4C5}"/>
              </a:ext>
            </a:extLst>
          </p:cNvPr>
          <p:cNvSpPr txBox="1"/>
          <p:nvPr/>
        </p:nvSpPr>
        <p:spPr>
          <a:xfrm>
            <a:off x="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Lic. Patricia M. Pesado.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:notes">
            <a:extLst>
              <a:ext uri="{FF2B5EF4-FFF2-40B4-BE49-F238E27FC236}">
                <a16:creationId xmlns:a16="http://schemas.microsoft.com/office/drawing/2014/main" id="{C43CA53F-7FEB-2E4E-CA45-1D83F2D15F96}"/>
              </a:ext>
            </a:extLst>
          </p:cNvPr>
          <p:cNvSpPr txBox="1"/>
          <p:nvPr/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:notes">
            <a:extLst>
              <a:ext uri="{FF2B5EF4-FFF2-40B4-BE49-F238E27FC236}">
                <a16:creationId xmlns:a16="http://schemas.microsoft.com/office/drawing/2014/main" id="{DB607A01-270F-2BE8-52ED-759E38C95E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2:notes">
            <a:extLst>
              <a:ext uri="{FF2B5EF4-FFF2-40B4-BE49-F238E27FC236}">
                <a16:creationId xmlns:a16="http://schemas.microsoft.com/office/drawing/2014/main" id="{DB3072E4-3544-234C-7360-6B9C6EE93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01599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21C704FC-B938-54E1-DE20-4E8829A0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>
            <a:extLst>
              <a:ext uri="{FF2B5EF4-FFF2-40B4-BE49-F238E27FC236}">
                <a16:creationId xmlns:a16="http://schemas.microsoft.com/office/drawing/2014/main" id="{D9B7E1F8-31D2-09AA-8A76-1740C75675DF}"/>
              </a:ext>
            </a:extLst>
          </p:cNvPr>
          <p:cNvSpPr txBox="1"/>
          <p:nvPr/>
        </p:nvSpPr>
        <p:spPr>
          <a:xfrm>
            <a:off x="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de Software II. Fac. de Informática. UNLP.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:notes">
            <a:extLst>
              <a:ext uri="{FF2B5EF4-FFF2-40B4-BE49-F238E27FC236}">
                <a16:creationId xmlns:a16="http://schemas.microsoft.com/office/drawing/2014/main" id="{41143262-B06A-A2C5-245B-D53CD9F09C1B}"/>
              </a:ext>
            </a:extLst>
          </p:cNvPr>
          <p:cNvSpPr txBox="1"/>
          <p:nvPr/>
        </p:nvSpPr>
        <p:spPr>
          <a:xfrm>
            <a:off x="385056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:notes">
            <a:extLst>
              <a:ext uri="{FF2B5EF4-FFF2-40B4-BE49-F238E27FC236}">
                <a16:creationId xmlns:a16="http://schemas.microsoft.com/office/drawing/2014/main" id="{10EB3D16-8DB6-DBE0-B846-1B656B5859AC}"/>
              </a:ext>
            </a:extLst>
          </p:cNvPr>
          <p:cNvSpPr txBox="1"/>
          <p:nvPr/>
        </p:nvSpPr>
        <p:spPr>
          <a:xfrm>
            <a:off x="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Lic. Patricia M. Pesado.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:notes">
            <a:extLst>
              <a:ext uri="{FF2B5EF4-FFF2-40B4-BE49-F238E27FC236}">
                <a16:creationId xmlns:a16="http://schemas.microsoft.com/office/drawing/2014/main" id="{86D8B605-6FE2-957E-65EE-37CF1F9FF371}"/>
              </a:ext>
            </a:extLst>
          </p:cNvPr>
          <p:cNvSpPr txBox="1"/>
          <p:nvPr/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:notes">
            <a:extLst>
              <a:ext uri="{FF2B5EF4-FFF2-40B4-BE49-F238E27FC236}">
                <a16:creationId xmlns:a16="http://schemas.microsoft.com/office/drawing/2014/main" id="{0E58F167-F577-D31D-7EB6-57D5E0460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2:notes">
            <a:extLst>
              <a:ext uri="{FF2B5EF4-FFF2-40B4-BE49-F238E27FC236}">
                <a16:creationId xmlns:a16="http://schemas.microsoft.com/office/drawing/2014/main" id="{62A19971-6DF5-0E91-44A2-0E4661FD5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56644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30DE19C9-1E32-21F9-A008-504074C5D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>
            <a:extLst>
              <a:ext uri="{FF2B5EF4-FFF2-40B4-BE49-F238E27FC236}">
                <a16:creationId xmlns:a16="http://schemas.microsoft.com/office/drawing/2014/main" id="{58FD6862-E1FD-7B33-0636-F3BB567CEFAE}"/>
              </a:ext>
            </a:extLst>
          </p:cNvPr>
          <p:cNvSpPr txBox="1"/>
          <p:nvPr/>
        </p:nvSpPr>
        <p:spPr>
          <a:xfrm>
            <a:off x="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de Software II. Fac. de Informática. UNLP.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:notes">
            <a:extLst>
              <a:ext uri="{FF2B5EF4-FFF2-40B4-BE49-F238E27FC236}">
                <a16:creationId xmlns:a16="http://schemas.microsoft.com/office/drawing/2014/main" id="{38C0335D-442E-7B53-937A-D3101B3B69DB}"/>
              </a:ext>
            </a:extLst>
          </p:cNvPr>
          <p:cNvSpPr txBox="1"/>
          <p:nvPr/>
        </p:nvSpPr>
        <p:spPr>
          <a:xfrm>
            <a:off x="385056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:notes">
            <a:extLst>
              <a:ext uri="{FF2B5EF4-FFF2-40B4-BE49-F238E27FC236}">
                <a16:creationId xmlns:a16="http://schemas.microsoft.com/office/drawing/2014/main" id="{954E55D9-6DDB-FB52-2C1C-B141C87FE9C0}"/>
              </a:ext>
            </a:extLst>
          </p:cNvPr>
          <p:cNvSpPr txBox="1"/>
          <p:nvPr/>
        </p:nvSpPr>
        <p:spPr>
          <a:xfrm>
            <a:off x="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Lic. Patricia M. Pesado.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:notes">
            <a:extLst>
              <a:ext uri="{FF2B5EF4-FFF2-40B4-BE49-F238E27FC236}">
                <a16:creationId xmlns:a16="http://schemas.microsoft.com/office/drawing/2014/main" id="{AE279889-2FB5-430E-E28B-DEAB7A7A3219}"/>
              </a:ext>
            </a:extLst>
          </p:cNvPr>
          <p:cNvSpPr txBox="1"/>
          <p:nvPr/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:notes">
            <a:extLst>
              <a:ext uri="{FF2B5EF4-FFF2-40B4-BE49-F238E27FC236}">
                <a16:creationId xmlns:a16="http://schemas.microsoft.com/office/drawing/2014/main" id="{0C5A16CF-0E02-C022-EDE2-05D91B5D7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2:notes">
            <a:extLst>
              <a:ext uri="{FF2B5EF4-FFF2-40B4-BE49-F238E27FC236}">
                <a16:creationId xmlns:a16="http://schemas.microsoft.com/office/drawing/2014/main" id="{6E812446-BCC7-B97D-DEDA-3141D37BE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93701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419F8F1E-A805-C2E9-8557-319745FC3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>
            <a:extLst>
              <a:ext uri="{FF2B5EF4-FFF2-40B4-BE49-F238E27FC236}">
                <a16:creationId xmlns:a16="http://schemas.microsoft.com/office/drawing/2014/main" id="{1EC386E2-BED2-96F5-38F9-5784082C6986}"/>
              </a:ext>
            </a:extLst>
          </p:cNvPr>
          <p:cNvSpPr txBox="1"/>
          <p:nvPr/>
        </p:nvSpPr>
        <p:spPr>
          <a:xfrm>
            <a:off x="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de Software II. Fac. de Informática. UNLP.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:notes">
            <a:extLst>
              <a:ext uri="{FF2B5EF4-FFF2-40B4-BE49-F238E27FC236}">
                <a16:creationId xmlns:a16="http://schemas.microsoft.com/office/drawing/2014/main" id="{1BCD6DC1-6762-8250-D3C1-7739112A1D1B}"/>
              </a:ext>
            </a:extLst>
          </p:cNvPr>
          <p:cNvSpPr txBox="1"/>
          <p:nvPr/>
        </p:nvSpPr>
        <p:spPr>
          <a:xfrm>
            <a:off x="385056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:notes">
            <a:extLst>
              <a:ext uri="{FF2B5EF4-FFF2-40B4-BE49-F238E27FC236}">
                <a16:creationId xmlns:a16="http://schemas.microsoft.com/office/drawing/2014/main" id="{E3220784-3015-6AD7-49DF-D97DE49BA7E7}"/>
              </a:ext>
            </a:extLst>
          </p:cNvPr>
          <p:cNvSpPr txBox="1"/>
          <p:nvPr/>
        </p:nvSpPr>
        <p:spPr>
          <a:xfrm>
            <a:off x="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Lic. Patricia M. Pesado.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:notes">
            <a:extLst>
              <a:ext uri="{FF2B5EF4-FFF2-40B4-BE49-F238E27FC236}">
                <a16:creationId xmlns:a16="http://schemas.microsoft.com/office/drawing/2014/main" id="{9FE343EC-7890-3EF7-D6C3-FC26D9248EC0}"/>
              </a:ext>
            </a:extLst>
          </p:cNvPr>
          <p:cNvSpPr txBox="1"/>
          <p:nvPr/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:notes">
            <a:extLst>
              <a:ext uri="{FF2B5EF4-FFF2-40B4-BE49-F238E27FC236}">
                <a16:creationId xmlns:a16="http://schemas.microsoft.com/office/drawing/2014/main" id="{87F23A41-BDE0-2D72-3C41-034E92711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2:notes">
            <a:extLst>
              <a:ext uri="{FF2B5EF4-FFF2-40B4-BE49-F238E27FC236}">
                <a16:creationId xmlns:a16="http://schemas.microsoft.com/office/drawing/2014/main" id="{9783360B-4ED8-3C69-082E-29F67D407E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8281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523" name="Google Shape;52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529" name="Google Shape;52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8BE764CB-C4CE-289E-C53B-F3B1F5DE4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>
            <a:extLst>
              <a:ext uri="{FF2B5EF4-FFF2-40B4-BE49-F238E27FC236}">
                <a16:creationId xmlns:a16="http://schemas.microsoft.com/office/drawing/2014/main" id="{3A2647E0-3D87-EF32-1CEE-572EF858F34B}"/>
              </a:ext>
            </a:extLst>
          </p:cNvPr>
          <p:cNvSpPr txBox="1"/>
          <p:nvPr/>
        </p:nvSpPr>
        <p:spPr>
          <a:xfrm>
            <a:off x="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de Software II. Fac. de Informática. UNLP.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:notes">
            <a:extLst>
              <a:ext uri="{FF2B5EF4-FFF2-40B4-BE49-F238E27FC236}">
                <a16:creationId xmlns:a16="http://schemas.microsoft.com/office/drawing/2014/main" id="{116C1C5B-4900-DB7C-5D71-5BC1D291D021}"/>
              </a:ext>
            </a:extLst>
          </p:cNvPr>
          <p:cNvSpPr txBox="1"/>
          <p:nvPr/>
        </p:nvSpPr>
        <p:spPr>
          <a:xfrm>
            <a:off x="385056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:notes">
            <a:extLst>
              <a:ext uri="{FF2B5EF4-FFF2-40B4-BE49-F238E27FC236}">
                <a16:creationId xmlns:a16="http://schemas.microsoft.com/office/drawing/2014/main" id="{810FFD13-E64B-AC0B-019C-910CC145E569}"/>
              </a:ext>
            </a:extLst>
          </p:cNvPr>
          <p:cNvSpPr txBox="1"/>
          <p:nvPr/>
        </p:nvSpPr>
        <p:spPr>
          <a:xfrm>
            <a:off x="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Lic. Patricia M. Pesado.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:notes">
            <a:extLst>
              <a:ext uri="{FF2B5EF4-FFF2-40B4-BE49-F238E27FC236}">
                <a16:creationId xmlns:a16="http://schemas.microsoft.com/office/drawing/2014/main" id="{1CA8D56C-CDD4-50A2-5EBB-CFEC0D35E87A}"/>
              </a:ext>
            </a:extLst>
          </p:cNvPr>
          <p:cNvSpPr txBox="1"/>
          <p:nvPr/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:notes">
            <a:extLst>
              <a:ext uri="{FF2B5EF4-FFF2-40B4-BE49-F238E27FC236}">
                <a16:creationId xmlns:a16="http://schemas.microsoft.com/office/drawing/2014/main" id="{107BAC24-DC0D-7A81-5FD3-EBCD8E21A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2:notes">
            <a:extLst>
              <a:ext uri="{FF2B5EF4-FFF2-40B4-BE49-F238E27FC236}">
                <a16:creationId xmlns:a16="http://schemas.microsoft.com/office/drawing/2014/main" id="{C53BB26E-2E57-1C20-BD83-81B868144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28411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17A4903F-0FBF-E499-A10C-D8C489D7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>
            <a:extLst>
              <a:ext uri="{FF2B5EF4-FFF2-40B4-BE49-F238E27FC236}">
                <a16:creationId xmlns:a16="http://schemas.microsoft.com/office/drawing/2014/main" id="{536BA6A5-B528-0B74-F9BE-276462F30952}"/>
              </a:ext>
            </a:extLst>
          </p:cNvPr>
          <p:cNvSpPr txBox="1"/>
          <p:nvPr/>
        </p:nvSpPr>
        <p:spPr>
          <a:xfrm>
            <a:off x="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de Software II. Fac. de Informática. UNLP.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:notes">
            <a:extLst>
              <a:ext uri="{FF2B5EF4-FFF2-40B4-BE49-F238E27FC236}">
                <a16:creationId xmlns:a16="http://schemas.microsoft.com/office/drawing/2014/main" id="{3892F153-6907-A8F1-506B-6C995334AC0E}"/>
              </a:ext>
            </a:extLst>
          </p:cNvPr>
          <p:cNvSpPr txBox="1"/>
          <p:nvPr/>
        </p:nvSpPr>
        <p:spPr>
          <a:xfrm>
            <a:off x="385056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:notes">
            <a:extLst>
              <a:ext uri="{FF2B5EF4-FFF2-40B4-BE49-F238E27FC236}">
                <a16:creationId xmlns:a16="http://schemas.microsoft.com/office/drawing/2014/main" id="{8E887D88-8D80-F18A-5E99-D5038E371510}"/>
              </a:ext>
            </a:extLst>
          </p:cNvPr>
          <p:cNvSpPr txBox="1"/>
          <p:nvPr/>
        </p:nvSpPr>
        <p:spPr>
          <a:xfrm>
            <a:off x="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Lic. Patricia M. Pesado.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:notes">
            <a:extLst>
              <a:ext uri="{FF2B5EF4-FFF2-40B4-BE49-F238E27FC236}">
                <a16:creationId xmlns:a16="http://schemas.microsoft.com/office/drawing/2014/main" id="{51361C20-B20F-4D13-5C07-CCE918F43DBA}"/>
              </a:ext>
            </a:extLst>
          </p:cNvPr>
          <p:cNvSpPr txBox="1"/>
          <p:nvPr/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:notes">
            <a:extLst>
              <a:ext uri="{FF2B5EF4-FFF2-40B4-BE49-F238E27FC236}">
                <a16:creationId xmlns:a16="http://schemas.microsoft.com/office/drawing/2014/main" id="{23110528-3342-E596-11C6-F7945825B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2:notes">
            <a:extLst>
              <a:ext uri="{FF2B5EF4-FFF2-40B4-BE49-F238E27FC236}">
                <a16:creationId xmlns:a16="http://schemas.microsoft.com/office/drawing/2014/main" id="{5CAD3573-2678-2492-0567-85A0723EC4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99591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764B6B5F-7250-229D-99B3-C987FC27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>
            <a:extLst>
              <a:ext uri="{FF2B5EF4-FFF2-40B4-BE49-F238E27FC236}">
                <a16:creationId xmlns:a16="http://schemas.microsoft.com/office/drawing/2014/main" id="{6F096FF8-1EBF-C4D3-53BA-E6D92777D7BD}"/>
              </a:ext>
            </a:extLst>
          </p:cNvPr>
          <p:cNvSpPr txBox="1"/>
          <p:nvPr/>
        </p:nvSpPr>
        <p:spPr>
          <a:xfrm>
            <a:off x="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de Software II. Fac. de Informática. UNLP.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:notes">
            <a:extLst>
              <a:ext uri="{FF2B5EF4-FFF2-40B4-BE49-F238E27FC236}">
                <a16:creationId xmlns:a16="http://schemas.microsoft.com/office/drawing/2014/main" id="{B0D0447C-E1C6-34D0-9E31-04022C27DF49}"/>
              </a:ext>
            </a:extLst>
          </p:cNvPr>
          <p:cNvSpPr txBox="1"/>
          <p:nvPr/>
        </p:nvSpPr>
        <p:spPr>
          <a:xfrm>
            <a:off x="385056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:notes">
            <a:extLst>
              <a:ext uri="{FF2B5EF4-FFF2-40B4-BE49-F238E27FC236}">
                <a16:creationId xmlns:a16="http://schemas.microsoft.com/office/drawing/2014/main" id="{292B9BEE-8069-63D5-9804-86B59F9DB86C}"/>
              </a:ext>
            </a:extLst>
          </p:cNvPr>
          <p:cNvSpPr txBox="1"/>
          <p:nvPr/>
        </p:nvSpPr>
        <p:spPr>
          <a:xfrm>
            <a:off x="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Lic. Patricia M. Pesado.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:notes">
            <a:extLst>
              <a:ext uri="{FF2B5EF4-FFF2-40B4-BE49-F238E27FC236}">
                <a16:creationId xmlns:a16="http://schemas.microsoft.com/office/drawing/2014/main" id="{1F9AAC79-7E7C-D235-C55D-217A20B3AFBA}"/>
              </a:ext>
            </a:extLst>
          </p:cNvPr>
          <p:cNvSpPr txBox="1"/>
          <p:nvPr/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:notes">
            <a:extLst>
              <a:ext uri="{FF2B5EF4-FFF2-40B4-BE49-F238E27FC236}">
                <a16:creationId xmlns:a16="http://schemas.microsoft.com/office/drawing/2014/main" id="{91798BA9-5B72-4422-3387-1CA8D7E0F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2:notes">
            <a:extLst>
              <a:ext uri="{FF2B5EF4-FFF2-40B4-BE49-F238E27FC236}">
                <a16:creationId xmlns:a16="http://schemas.microsoft.com/office/drawing/2014/main" id="{22DF28C8-95A6-F139-44FD-E2039417C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96511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>
          <a:extLst>
            <a:ext uri="{FF2B5EF4-FFF2-40B4-BE49-F238E27FC236}">
              <a16:creationId xmlns:a16="http://schemas.microsoft.com/office/drawing/2014/main" id="{15A3E4F6-D6BF-7B73-98F0-368C1A9F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:notes">
            <a:extLst>
              <a:ext uri="{FF2B5EF4-FFF2-40B4-BE49-F238E27FC236}">
                <a16:creationId xmlns:a16="http://schemas.microsoft.com/office/drawing/2014/main" id="{1075A1EA-2A6C-779A-A925-81AE258B80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529" name="Google Shape;529;p31:notes">
            <a:extLst>
              <a:ext uri="{FF2B5EF4-FFF2-40B4-BE49-F238E27FC236}">
                <a16:creationId xmlns:a16="http://schemas.microsoft.com/office/drawing/2014/main" id="{7AA160A9-F8C6-E9B0-A102-459CE13B4F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57540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C5FE9F46-5090-C432-F826-2E32856FD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>
            <a:extLst>
              <a:ext uri="{FF2B5EF4-FFF2-40B4-BE49-F238E27FC236}">
                <a16:creationId xmlns:a16="http://schemas.microsoft.com/office/drawing/2014/main" id="{B0815F30-3663-8BD4-57F9-A48C8041A9B9}"/>
              </a:ext>
            </a:extLst>
          </p:cNvPr>
          <p:cNvSpPr txBox="1"/>
          <p:nvPr/>
        </p:nvSpPr>
        <p:spPr>
          <a:xfrm>
            <a:off x="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de Software II. Fac. de Informática. UNLP.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:notes">
            <a:extLst>
              <a:ext uri="{FF2B5EF4-FFF2-40B4-BE49-F238E27FC236}">
                <a16:creationId xmlns:a16="http://schemas.microsoft.com/office/drawing/2014/main" id="{482B6FAA-0B31-28F7-D2F5-93517419BC21}"/>
              </a:ext>
            </a:extLst>
          </p:cNvPr>
          <p:cNvSpPr txBox="1"/>
          <p:nvPr/>
        </p:nvSpPr>
        <p:spPr>
          <a:xfrm>
            <a:off x="385056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:notes">
            <a:extLst>
              <a:ext uri="{FF2B5EF4-FFF2-40B4-BE49-F238E27FC236}">
                <a16:creationId xmlns:a16="http://schemas.microsoft.com/office/drawing/2014/main" id="{917A017B-A1F0-7350-B42D-6B99F75B6512}"/>
              </a:ext>
            </a:extLst>
          </p:cNvPr>
          <p:cNvSpPr txBox="1"/>
          <p:nvPr/>
        </p:nvSpPr>
        <p:spPr>
          <a:xfrm>
            <a:off x="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Lic. Patricia M. Pesado.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:notes">
            <a:extLst>
              <a:ext uri="{FF2B5EF4-FFF2-40B4-BE49-F238E27FC236}">
                <a16:creationId xmlns:a16="http://schemas.microsoft.com/office/drawing/2014/main" id="{E640ECBD-324C-BF19-93BC-8FF43E934EFD}"/>
              </a:ext>
            </a:extLst>
          </p:cNvPr>
          <p:cNvSpPr txBox="1"/>
          <p:nvPr/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:notes">
            <a:extLst>
              <a:ext uri="{FF2B5EF4-FFF2-40B4-BE49-F238E27FC236}">
                <a16:creationId xmlns:a16="http://schemas.microsoft.com/office/drawing/2014/main" id="{6DE2EDA6-1FC6-38C7-3007-E6294FD8BA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2:notes">
            <a:extLst>
              <a:ext uri="{FF2B5EF4-FFF2-40B4-BE49-F238E27FC236}">
                <a16:creationId xmlns:a16="http://schemas.microsoft.com/office/drawing/2014/main" id="{37BCA30C-4831-170D-6195-E1DC91DA0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47139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D7994C5C-859C-1AA5-6F4C-C8E326B7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>
            <a:extLst>
              <a:ext uri="{FF2B5EF4-FFF2-40B4-BE49-F238E27FC236}">
                <a16:creationId xmlns:a16="http://schemas.microsoft.com/office/drawing/2014/main" id="{7C2A7535-B809-A264-DD36-5829DC43FCA6}"/>
              </a:ext>
            </a:extLst>
          </p:cNvPr>
          <p:cNvSpPr txBox="1"/>
          <p:nvPr/>
        </p:nvSpPr>
        <p:spPr>
          <a:xfrm>
            <a:off x="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de Software II. Fac. de Informática. UNLP.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:notes">
            <a:extLst>
              <a:ext uri="{FF2B5EF4-FFF2-40B4-BE49-F238E27FC236}">
                <a16:creationId xmlns:a16="http://schemas.microsoft.com/office/drawing/2014/main" id="{1175733D-51E1-76B5-ECEA-53A92E747967}"/>
              </a:ext>
            </a:extLst>
          </p:cNvPr>
          <p:cNvSpPr txBox="1"/>
          <p:nvPr/>
        </p:nvSpPr>
        <p:spPr>
          <a:xfrm>
            <a:off x="385056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:notes">
            <a:extLst>
              <a:ext uri="{FF2B5EF4-FFF2-40B4-BE49-F238E27FC236}">
                <a16:creationId xmlns:a16="http://schemas.microsoft.com/office/drawing/2014/main" id="{2D6D6268-F5A1-8B58-3B86-B76BCF862CC6}"/>
              </a:ext>
            </a:extLst>
          </p:cNvPr>
          <p:cNvSpPr txBox="1"/>
          <p:nvPr/>
        </p:nvSpPr>
        <p:spPr>
          <a:xfrm>
            <a:off x="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Lic. Patricia M. Pesado.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:notes">
            <a:extLst>
              <a:ext uri="{FF2B5EF4-FFF2-40B4-BE49-F238E27FC236}">
                <a16:creationId xmlns:a16="http://schemas.microsoft.com/office/drawing/2014/main" id="{1E896DF2-1CE3-D474-950C-5F3E310945AA}"/>
              </a:ext>
            </a:extLst>
          </p:cNvPr>
          <p:cNvSpPr txBox="1"/>
          <p:nvPr/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:notes">
            <a:extLst>
              <a:ext uri="{FF2B5EF4-FFF2-40B4-BE49-F238E27FC236}">
                <a16:creationId xmlns:a16="http://schemas.microsoft.com/office/drawing/2014/main" id="{25619C6F-8F61-92F9-8D85-CA0E466557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2:notes">
            <a:extLst>
              <a:ext uri="{FF2B5EF4-FFF2-40B4-BE49-F238E27FC236}">
                <a16:creationId xmlns:a16="http://schemas.microsoft.com/office/drawing/2014/main" id="{359A56BD-243A-D8B7-4FD7-1B52BC3BB6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70838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>
          <a:extLst>
            <a:ext uri="{FF2B5EF4-FFF2-40B4-BE49-F238E27FC236}">
              <a16:creationId xmlns:a16="http://schemas.microsoft.com/office/drawing/2014/main" id="{AEE86D24-05B3-1335-88D2-4957D9F94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:notes">
            <a:extLst>
              <a:ext uri="{FF2B5EF4-FFF2-40B4-BE49-F238E27FC236}">
                <a16:creationId xmlns:a16="http://schemas.microsoft.com/office/drawing/2014/main" id="{CEF60C52-25E2-0960-2564-C7271BE101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529" name="Google Shape;529;p31:notes">
            <a:extLst>
              <a:ext uri="{FF2B5EF4-FFF2-40B4-BE49-F238E27FC236}">
                <a16:creationId xmlns:a16="http://schemas.microsoft.com/office/drawing/2014/main" id="{D660E9D4-7EE3-0DE8-CC63-1FEDAB45F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16429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EE9EFD13-28A9-C49E-563F-950AFA45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:notes">
            <a:extLst>
              <a:ext uri="{FF2B5EF4-FFF2-40B4-BE49-F238E27FC236}">
                <a16:creationId xmlns:a16="http://schemas.microsoft.com/office/drawing/2014/main" id="{33068247-552B-D6C6-80EF-3E3F4845C5A8}"/>
              </a:ext>
            </a:extLst>
          </p:cNvPr>
          <p:cNvSpPr txBox="1"/>
          <p:nvPr/>
        </p:nvSpPr>
        <p:spPr>
          <a:xfrm>
            <a:off x="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de Software II. Fac. de Informática. UNLP.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:notes">
            <a:extLst>
              <a:ext uri="{FF2B5EF4-FFF2-40B4-BE49-F238E27FC236}">
                <a16:creationId xmlns:a16="http://schemas.microsoft.com/office/drawing/2014/main" id="{4CF11931-03EC-D722-BA72-46F387DEB12E}"/>
              </a:ext>
            </a:extLst>
          </p:cNvPr>
          <p:cNvSpPr txBox="1"/>
          <p:nvPr/>
        </p:nvSpPr>
        <p:spPr>
          <a:xfrm>
            <a:off x="3850560" y="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:notes">
            <a:extLst>
              <a:ext uri="{FF2B5EF4-FFF2-40B4-BE49-F238E27FC236}">
                <a16:creationId xmlns:a16="http://schemas.microsoft.com/office/drawing/2014/main" id="{2B8BB0DA-0600-94C5-148F-186389865EFB}"/>
              </a:ext>
            </a:extLst>
          </p:cNvPr>
          <p:cNvSpPr txBox="1"/>
          <p:nvPr/>
        </p:nvSpPr>
        <p:spPr>
          <a:xfrm>
            <a:off x="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Lic. Patricia M. Pesado.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:notes">
            <a:extLst>
              <a:ext uri="{FF2B5EF4-FFF2-40B4-BE49-F238E27FC236}">
                <a16:creationId xmlns:a16="http://schemas.microsoft.com/office/drawing/2014/main" id="{84D173A0-D18F-BF59-E2FA-D920A3910A12}"/>
              </a:ext>
            </a:extLst>
          </p:cNvPr>
          <p:cNvSpPr txBox="1"/>
          <p:nvPr/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:notes">
            <a:extLst>
              <a:ext uri="{FF2B5EF4-FFF2-40B4-BE49-F238E27FC236}">
                <a16:creationId xmlns:a16="http://schemas.microsoft.com/office/drawing/2014/main" id="{E7CC83C5-053D-18D6-7269-5723E24BE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2:notes">
            <a:extLst>
              <a:ext uri="{FF2B5EF4-FFF2-40B4-BE49-F238E27FC236}">
                <a16:creationId xmlns:a16="http://schemas.microsoft.com/office/drawing/2014/main" id="{EF3F5773-C440-F163-D996-DCE372218A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320" y="4691160"/>
            <a:ext cx="5438520" cy="444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8218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 con 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741AA95B-E09E-AE0F-8890-6310727ECEE9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10B6DD5-ED3F-9F93-9AE1-D3D9C14AC9BA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0D83937A-4B2F-CFC5-6E60-70E38EEEEAC8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>
            <a:lvl1pPr algn="l">
              <a:lnSpc>
                <a:spcPct val="85000"/>
              </a:lnSpc>
              <a:defRPr sz="72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8F68A63-4507-3504-21E2-09B87589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EADBD5E-6D72-9013-A709-430A09AFA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EB752D5-4144-7855-40B9-5FF3739D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316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632CC-CA77-BF96-A0E7-8E404624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3D7CB-2A0C-CAB0-90FD-2A361FA1E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8A0B1-EB1E-B521-4823-CD6F6344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325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264C4971-B67D-A2D0-E500-DCAE877AD8AF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8FE58FB-CFC1-553D-F432-C3229CB92782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90B39DEB-C66B-9F6B-0037-C7F20F9C844D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85856BF-AE92-6F32-F09A-479E2202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D3F6FC6-829F-BF17-25D3-010C06C2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E35FBB-3EBD-5C7F-942A-9EA34AAA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6719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8A958F4-4543-3F24-DAFB-C3EAD971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561A2-1D15-2C71-2327-D5616C12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BC476-CD3E-A9A8-C217-B07D96B4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556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F2DD7DA-F784-C816-E4FA-B934255EA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8BDFA1C-C3D9-0298-27F1-44AC7755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6508C-0B1D-26E2-F63A-CBDA4D93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2562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AA4F762-DDFF-BE2D-D2F9-5A3CCA526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1D74B1-5FE2-44E0-67EF-21EB7DB0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E1245E-BBA2-D9E2-C0C9-99535C76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244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4C0ECBC-8771-F74C-F61A-CD90689A945B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D950A68-F4E6-442E-6282-46B235400FAD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Google Shape;67;p52">
            <a:extLst>
              <a:ext uri="{FF2B5EF4-FFF2-40B4-BE49-F238E27FC236}">
                <a16:creationId xmlns:a16="http://schemas.microsoft.com/office/drawing/2014/main" id="{1285CA7A-0B19-0095-C721-D695562F640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63127B7E-FD03-6905-54FA-61695730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50226AA-D20C-006A-5276-6F3AAC063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94D36153-C066-7B07-E5EA-DF783770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5392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1C56F1C-88CD-6A20-A1B7-5DAB66D6DCB7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BBBDE26-2748-1ACA-B141-FC870FAA53A9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260FD4D-4A5D-D45A-2843-CC2B4508F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36F1E2E-BCEC-AA8C-5786-1FFC3CAE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094894D-59E1-D74E-716B-6A5AAE5DD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654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ACCC187-ABC3-E3CC-414F-F454B1F2ACF5}"/>
              </a:ext>
            </a:extLst>
          </p:cNvPr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A35B747-0358-F589-467F-F4F45136004B}"/>
              </a:ext>
            </a:extLst>
          </p:cNvPr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4C9CFA99-922D-B2E8-A373-8EB118AA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3E3DA86-E258-4921-67B0-690C668A8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F80A816-8685-2071-256B-B0FDED1F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83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E4A5E-F070-0703-D239-BED016B1F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5A9AC-0ADC-F431-120B-82BA5F192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71740-69F8-AA65-98E9-AA4CA170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0561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E01D790A-1097-D067-5B18-A34FCAB6DFA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53B3641-AC71-0E67-19E2-AA63CB82011C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A7C137-1E44-79AF-1870-DBD9605C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C74CE38-D720-39DA-BC2E-6560E399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Ingeniería de Software II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0EC94E6-EB19-A93C-34E3-6DA3CE64B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6905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1_En blanc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5B6CF8C-B4A0-0209-24AA-C357DFF4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B768F23-CBE6-B8F1-9431-FB6A5683E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C5F0161-F75D-6419-6830-84E66F29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795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1_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EE37FD2-3443-5E31-9B35-3AF26B0A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E6CBC9-DC46-11DD-53B2-46D5C5A5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9A62DA9-5CD3-DADF-0EED-67CD1F41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338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fuente ">
  <p:cSld name="Normal con fuente 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EC5D313A-1E25-695F-22F7-32D8216D7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F4789992-FD21-9C17-EC35-3645BD55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1E3C2E29-2513-187B-2710-0303CCC1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901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E5EA8E-908C-FFC1-3623-5F3477FFEFC0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9E0E34-ED19-3AE6-C697-91A17D3B8D16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B0A9-CDC7-9CE6-AC04-C77A1642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5CD985DA-71E4-39B9-D5FF-6CFEC67F34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los estilos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159C6-AD58-DFB8-C447-87550B1FE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DF2C5-F26C-857B-CD4B-DE8678376C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DBFC7-6FA2-E609-F479-4C79E5663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5DB543-64D5-9187-3708-F1E2163EFF65}"/>
              </a:ext>
            </a:extLst>
          </p:cNvPr>
          <p:cNvCxnSpPr/>
          <p:nvPr/>
        </p:nvCxnSpPr>
        <p:spPr>
          <a:xfrm>
            <a:off x="1193800" y="17383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Google Shape;67;p52">
            <a:extLst>
              <a:ext uri="{FF2B5EF4-FFF2-40B4-BE49-F238E27FC236}">
                <a16:creationId xmlns:a16="http://schemas.microsoft.com/office/drawing/2014/main" id="{CF215CED-7074-879B-144D-4B4F237BA2E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002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hdr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 kern="1200" spc="-50">
          <a:solidFill>
            <a:schemeClr val="tx1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90488" indent="-90488" algn="l" rtl="0" eaLnBrk="1" fontAlgn="base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B6DD2-81DA-48AB-AF48-F1A821FBB1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Ingeniería de Software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64FE7-EB1E-DD70-3AD7-4DADEDD09C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spc="0" dirty="0">
                <a:latin typeface="+mn-lt"/>
              </a:rPr>
              <a:t>2026 – clase 3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AEE392C0-E1C8-AE2C-05DE-298260653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87AB13-7866-FCCE-26B4-4CEAE844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48F071-AB77-D3A1-7FEB-21CA628D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"/>
          <p:cNvSpPr/>
          <p:nvPr/>
        </p:nvSpPr>
        <p:spPr>
          <a:xfrm>
            <a:off x="9170372" y="2852665"/>
            <a:ext cx="2851962" cy="10478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89296" tIns="44636" rIns="89296" bIns="44636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sz="13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5955542" y="6509477"/>
            <a:ext cx="2107590" cy="30485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89296" tIns="44636" rIns="89296" bIns="44636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sz="13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1222279" y="1859038"/>
            <a:ext cx="9902083" cy="44781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5325" tIns="57650" rIns="115325" bIns="57650" anchor="t" anchorCtr="0">
            <a:noAutofit/>
          </a:bodyPr>
          <a:lstStyle/>
          <a:p>
            <a:pPr marL="558360" indent="-55836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lang="es-AR" sz="351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 de Proyectos</a:t>
            </a: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51454" lvl="3" indent="-558360">
              <a:lnSpc>
                <a:spcPct val="85000"/>
              </a:lnSpc>
              <a:spcBef>
                <a:spcPts val="756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s-ES" sz="351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 de Riesgos</a:t>
            </a: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>
            <a:spLocks noGrp="1"/>
          </p:cNvSpPr>
          <p:nvPr>
            <p:ph type="title"/>
          </p:nvPr>
        </p:nvSpPr>
        <p:spPr>
          <a:xfrm>
            <a:off x="1222279" y="287339"/>
            <a:ext cx="9806257" cy="14493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b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AR"/>
              <a:t>Contenidos</a:t>
            </a:r>
            <a:endParaRPr/>
          </a:p>
        </p:txBody>
      </p:sp>
      <p:sp>
        <p:nvSpPr>
          <p:cNvPr id="137" name="Google Shape;137;p2"/>
          <p:cNvSpPr txBox="1">
            <a:spLocks noGrp="1"/>
          </p:cNvSpPr>
          <p:nvPr>
            <p:ph type="dt" idx="10"/>
          </p:nvPr>
        </p:nvSpPr>
        <p:spPr>
          <a:xfrm>
            <a:off x="1222279" y="6459540"/>
            <a:ext cx="241132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AR"/>
              <a:t>2026</a:t>
            </a:r>
            <a:endParaRPr/>
          </a:p>
        </p:txBody>
      </p:sp>
      <p:sp>
        <p:nvSpPr>
          <p:cNvPr id="138" name="Google Shape;138;p2"/>
          <p:cNvSpPr txBox="1">
            <a:spLocks noGrp="1"/>
          </p:cNvSpPr>
          <p:nvPr>
            <p:ph type="ftr" idx="11"/>
          </p:nvPr>
        </p:nvSpPr>
        <p:spPr>
          <a:xfrm>
            <a:off x="3746586" y="6459540"/>
            <a:ext cx="4701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AR"/>
              <a:t>INGENIERÍA DE SOFTWARE II</a:t>
            </a:r>
            <a:endParaRPr/>
          </a:p>
        </p:txBody>
      </p:sp>
      <p:sp>
        <p:nvSpPr>
          <p:cNvPr id="139" name="Google Shape;139;p2"/>
          <p:cNvSpPr txBox="1">
            <a:spLocks noGrp="1"/>
          </p:cNvSpPr>
          <p:nvPr>
            <p:ph type="sldNum" idx="12"/>
          </p:nvPr>
        </p:nvSpPr>
        <p:spPr>
          <a:xfrm>
            <a:off x="9805850" y="6459540"/>
            <a:ext cx="1278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pPr>
              <a:buSzPts val="1000"/>
            </a:pPr>
            <a:fld id="{00000000-1234-1234-1234-123412341234}" type="slidenum">
              <a:rPr lang="es-AR"/>
              <a:pPr>
                <a:buSzPts val="1000"/>
              </a:pPr>
              <a:t>2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ACF27D8-171F-2A32-49BE-6E6C3E1A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Riesgos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FCDE864-EA8A-C2FF-83CE-8E26B807A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9560" lvl="0" indent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s-ES" sz="3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¿Qué es un riesgo?    </a:t>
            </a:r>
          </a:p>
          <a:p>
            <a:pPr marL="457200" lvl="0" indent="-50800">
              <a:spcBef>
                <a:spcPts val="1301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endParaRPr lang="es-ES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119560" lvl="0" indent="0">
              <a:spcBef>
                <a:spcPts val="1301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s-E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Un riesgo es un evento no deseado que tiene consecuencias negativas.</a:t>
            </a:r>
          </a:p>
          <a:p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30BD389-0FB4-B559-CB41-E7ED98FB4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448FE1-F977-EE90-2815-51C1D1C5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A9F120C6-6255-6592-29D1-9AB93CBF9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F63611-C752-4957-A6A4-0641710C2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</a:t>
            </a:fld>
            <a:endParaRPr lang="es-ES"/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3">
            <a:alphaModFix/>
          </a:blip>
          <a:srcRect t="11474" b="4228"/>
          <a:stretch/>
        </p:blipFill>
        <p:spPr>
          <a:xfrm>
            <a:off x="4565056" y="3678900"/>
            <a:ext cx="6963327" cy="2447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4" descr="ESTAMOS EN OBRAS – Colegio de Bioquímicos de la Provincia de Salta"/>
          <p:cNvPicPr preferRelativeResize="0"/>
          <p:nvPr/>
        </p:nvPicPr>
        <p:blipFill rotWithShape="1">
          <a:blip r:embed="rId3">
            <a:alphaModFix/>
          </a:blip>
          <a:srcRect l="18405" r="23569" b="2"/>
          <a:stretch/>
        </p:blipFill>
        <p:spPr>
          <a:xfrm>
            <a:off x="8981767" y="3701845"/>
            <a:ext cx="2903793" cy="251017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32D43B0E-339D-66EE-7A19-CE7BB0C6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Gestión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C505DE-EC88-B6E0-17E0-31C321496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9449F614-02DE-AC76-99CE-0A647639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3C0DDC3-143B-D2B2-400F-8D881295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4</a:t>
            </a:fld>
            <a:endParaRPr lang="es-ES"/>
          </a:p>
        </p:txBody>
      </p:sp>
      <p:sp>
        <p:nvSpPr>
          <p:cNvPr id="9" name="Google Shape;170;p5">
            <a:extLst>
              <a:ext uri="{FF2B5EF4-FFF2-40B4-BE49-F238E27FC236}">
                <a16:creationId xmlns:a16="http://schemas.microsoft.com/office/drawing/2014/main" id="{E130F950-E18C-7C43-6179-155D84ABB341}"/>
              </a:ext>
            </a:extLst>
          </p:cNvPr>
          <p:cNvSpPr/>
          <p:nvPr/>
        </p:nvSpPr>
        <p:spPr>
          <a:xfrm>
            <a:off x="1023980" y="1926771"/>
            <a:ext cx="10277674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620713" marR="0" lvl="0" indent="-620713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AR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 gerentes </a:t>
            </a:r>
            <a:r>
              <a:rPr lang="es-E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deben determinar si pueden presentarse eventos no deseados durante el desarrollo o el mantenimiento.</a:t>
            </a:r>
          </a:p>
          <a:p>
            <a:pPr marL="620713" marR="0" lvl="0" indent="-620713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Deben </a:t>
            </a:r>
            <a:r>
              <a:rPr lang="es-E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hacer planes para evitar estos eventos, o, si son inevitables, minimizar sus consecuencias negativas.</a:t>
            </a:r>
          </a:p>
          <a:p>
            <a:pPr marL="620713" marR="0" lvl="0" indent="-620713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</a:pPr>
            <a:r>
              <a:rPr lang="es-ES" sz="32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ANTICIPAR / EVITAR</a:t>
            </a:r>
            <a:endParaRPr sz="32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/>
        </p:nvSpPr>
        <p:spPr>
          <a:xfrm>
            <a:off x="399940" y="1562209"/>
            <a:ext cx="4008586" cy="4680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“El riesgo concierne…</a:t>
            </a:r>
            <a:endParaRPr dirty="0"/>
          </a:p>
        </p:txBody>
      </p:sp>
      <p:grpSp>
        <p:nvGrpSpPr>
          <p:cNvPr id="144" name="Google Shape;144;p5"/>
          <p:cNvGrpSpPr/>
          <p:nvPr/>
        </p:nvGrpSpPr>
        <p:grpSpPr>
          <a:xfrm>
            <a:off x="3288891" y="1953470"/>
            <a:ext cx="8563496" cy="4072575"/>
            <a:chOff x="0" y="3759"/>
            <a:chExt cx="6096000" cy="4056481"/>
          </a:xfrm>
        </p:grpSpPr>
        <p:sp>
          <p:nvSpPr>
            <p:cNvPr id="145" name="Google Shape;145;p5"/>
            <p:cNvSpPr/>
            <p:nvPr/>
          </p:nvSpPr>
          <p:spPr>
            <a:xfrm>
              <a:off x="0" y="239919"/>
              <a:ext cx="6096000" cy="90720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"/>
            <p:cNvSpPr txBox="1"/>
            <p:nvPr/>
          </p:nvSpPr>
          <p:spPr>
            <a:xfrm>
              <a:off x="0" y="239919"/>
              <a:ext cx="6096000" cy="90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3100" tIns="333225" rIns="473100" bIns="113775" anchor="t" anchorCtr="0">
              <a:noAutofit/>
            </a:bodyPr>
            <a:lstStyle/>
            <a:p>
              <a:pPr marL="138875" marR="0" lvl="1" indent="-138875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262626"/>
                </a:buClr>
                <a:buSzPts val="1600"/>
                <a:buFont typeface="Calibri"/>
                <a:buChar char="•"/>
              </a:pPr>
              <a:r>
                <a:rPr lang="es-ES" sz="2000" b="0" i="0" u="none" strike="noStrike" cap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¿Cuáles son los riesgos que pueden hacer que fracase el proyecto?.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304800" y="3759"/>
              <a:ext cx="4267200" cy="47232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1"/>
                </a:gs>
                <a:gs pos="41000">
                  <a:srgbClr val="F0B8B8"/>
                </a:gs>
                <a:gs pos="100000">
                  <a:srgbClr val="F6DDDD"/>
                </a:gs>
              </a:gsLst>
              <a:lin ang="5400000" scaled="0"/>
            </a:gra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327857" y="26816"/>
              <a:ext cx="4221086" cy="4262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1275" tIns="0" rIns="16127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s-ES" sz="200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“…a lo que ocurrirá en el futuro”.</a:t>
              </a:r>
              <a:endPara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0" y="1469679"/>
              <a:ext cx="6096000" cy="113400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0" y="1469679"/>
              <a:ext cx="6096000" cy="11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3100" tIns="333225" rIns="473100" bIns="113775" anchor="t" anchorCtr="0">
              <a:noAutofit/>
            </a:bodyPr>
            <a:lstStyle/>
            <a:p>
              <a:pPr marL="138875" marR="0" lvl="1" indent="-138875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262626"/>
                </a:buClr>
                <a:buSzPts val="1600"/>
                <a:buFont typeface="Calibri"/>
                <a:buChar char="•"/>
              </a:pPr>
              <a:r>
                <a:rPr lang="es-ES" sz="2000" b="0" i="0" u="none" strike="noStrike" cap="none" dirty="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¿Cómo afectarán al éxito global y a los plazos los cambios en los requisitos del cliente, en las tecnologías de desarrollo, etc.?</a:t>
              </a:r>
              <a:endParaRPr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04800" y="1233519"/>
              <a:ext cx="4267200" cy="47232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dk2"/>
                </a:gs>
                <a:gs pos="38000">
                  <a:srgbClr val="F0B8B8"/>
                </a:gs>
                <a:gs pos="100000">
                  <a:srgbClr val="F6DDDD"/>
                </a:gs>
              </a:gsLst>
              <a:lin ang="5400000" scaled="0"/>
            </a:gra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5"/>
            <p:cNvSpPr txBox="1"/>
            <p:nvPr/>
          </p:nvSpPr>
          <p:spPr>
            <a:xfrm>
              <a:off x="327857" y="1256576"/>
              <a:ext cx="4221086" cy="4262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1275" tIns="0" rIns="16127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s-ES" sz="200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“…a como afectarán los cambios al desarrollo”</a:t>
              </a:r>
              <a:endPara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0" y="2926240"/>
              <a:ext cx="6096000" cy="113400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"/>
            <p:cNvSpPr txBox="1"/>
            <p:nvPr/>
          </p:nvSpPr>
          <p:spPr>
            <a:xfrm>
              <a:off x="0" y="2926240"/>
              <a:ext cx="6096000" cy="11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3100" tIns="333225" rIns="473100" bIns="113775" anchor="t" anchorCtr="0">
              <a:noAutofit/>
            </a:bodyPr>
            <a:lstStyle/>
            <a:p>
              <a:pPr marL="138875" marR="0" lvl="1" indent="-138875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262626"/>
                </a:buClr>
                <a:buSzPts val="1600"/>
                <a:buFont typeface="Calibri"/>
                <a:buChar char="•"/>
              </a:pPr>
              <a:r>
                <a:rPr lang="es-ES" sz="2000" b="0" i="0" u="none" strike="noStrike" cap="none" dirty="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¿Qué métodos y herramientas debemos usar, cuánta gente debe estar involucrada, cuánta importancia hay que darle a la calidad?</a:t>
              </a:r>
              <a:endParaRPr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304800" y="2690080"/>
              <a:ext cx="4267200" cy="47232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dk2"/>
                </a:gs>
                <a:gs pos="38000">
                  <a:srgbClr val="F0B8B8"/>
                </a:gs>
                <a:gs pos="100000">
                  <a:srgbClr val="F6DDDD"/>
                </a:gs>
              </a:gsLst>
              <a:lin ang="5400000" scaled="0"/>
            </a:gra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5"/>
            <p:cNvSpPr txBox="1"/>
            <p:nvPr/>
          </p:nvSpPr>
          <p:spPr>
            <a:xfrm>
              <a:off x="327857" y="2713137"/>
              <a:ext cx="4221086" cy="4262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1275" tIns="0" rIns="16127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s-ES" sz="2000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“….a las elecciones”</a:t>
              </a:r>
              <a:endPara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Título 4">
            <a:extLst>
              <a:ext uri="{FF2B5EF4-FFF2-40B4-BE49-F238E27FC236}">
                <a16:creationId xmlns:a16="http://schemas.microsoft.com/office/drawing/2014/main" id="{0C1C4589-C7E9-1A20-7DA2-CB1B7F0AF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100" dirty="0"/>
              <a:t>Gestión de Riesgos en el Desarrollo de Software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8BCC80-C05F-5208-D701-4BAB2C1B9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AE4C49D0-516F-154B-6244-2936825B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1D91116-6F15-DE49-FFF8-4B49CD252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5</a:t>
            </a:fld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6"/>
          <p:cNvGrpSpPr/>
          <p:nvPr/>
        </p:nvGrpSpPr>
        <p:grpSpPr>
          <a:xfrm>
            <a:off x="856406" y="1806882"/>
            <a:ext cx="10539513" cy="4453054"/>
            <a:chOff x="0" y="4543"/>
            <a:chExt cx="10515600" cy="5023288"/>
          </a:xfrm>
        </p:grpSpPr>
        <p:sp>
          <p:nvSpPr>
            <p:cNvPr id="164" name="Google Shape;164;p6"/>
            <p:cNvSpPr/>
            <p:nvPr/>
          </p:nvSpPr>
          <p:spPr>
            <a:xfrm>
              <a:off x="0" y="4543"/>
              <a:ext cx="10515600" cy="1025487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381591" y="251300"/>
              <a:ext cx="493187" cy="56401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1184989" y="4543"/>
              <a:ext cx="9312361" cy="1057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6"/>
            <p:cNvSpPr txBox="1"/>
            <p:nvPr/>
          </p:nvSpPr>
          <p:spPr>
            <a:xfrm>
              <a:off x="1184989" y="4543"/>
              <a:ext cx="9312361" cy="1057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1900" tIns="111900" rIns="111900" bIns="11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0" i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“</a:t>
              </a:r>
              <a:r>
                <a:rPr lang="es-ES" sz="2000" b="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deuda técnica</a:t>
              </a:r>
              <a:r>
                <a:rPr lang="es-ES" sz="2000" b="0" i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” es el término que se utiliza para describir los costos asociados al aplazamiento de actividades, tales como documentación y refactorización del software. </a:t>
              </a: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0" y="1326461"/>
              <a:ext cx="10515600" cy="1025487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381591" y="1557196"/>
              <a:ext cx="493187" cy="56401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1184989" y="1326461"/>
              <a:ext cx="9312361" cy="1057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1184989" y="1326461"/>
              <a:ext cx="9312361" cy="1057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1900" tIns="111900" rIns="111900" bIns="11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0" i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</a:t>
              </a:r>
              <a:r>
                <a:rPr lang="es-ES" sz="2000" b="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deuda técnica </a:t>
              </a:r>
              <a:r>
                <a:rPr lang="es-ES" sz="2000" b="0" i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que no se paga, resulta en un producto de mala calidad, documentación insuficiente, complejidad innecesaria.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0" y="2648379"/>
              <a:ext cx="10515600" cy="1025487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381591" y="2879114"/>
              <a:ext cx="493187" cy="56401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1184989" y="2648379"/>
              <a:ext cx="9312361" cy="1057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6"/>
            <p:cNvSpPr txBox="1"/>
            <p:nvPr/>
          </p:nvSpPr>
          <p:spPr>
            <a:xfrm>
              <a:off x="1184989" y="2648379"/>
              <a:ext cx="9312361" cy="1057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1900" tIns="111900" rIns="111900" bIns="11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0" i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</a:t>
              </a:r>
              <a:r>
                <a:rPr lang="es-ES" sz="2000" b="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deuda técnica </a:t>
              </a:r>
              <a:r>
                <a:rPr lang="es-ES" sz="2000" b="0" i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implica que los costos (esfuerzo, tiempo, recursos) de luchar con temas técnicos se puede reducir si se afrontan los problemas al principio, en vez de dejarlos para el final.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0" y="3970297"/>
              <a:ext cx="10515600" cy="1025487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381591" y="4201031"/>
              <a:ext cx="493187" cy="56401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1184989" y="3970297"/>
              <a:ext cx="9312361" cy="1057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6"/>
            <p:cNvSpPr txBox="1"/>
            <p:nvPr/>
          </p:nvSpPr>
          <p:spPr>
            <a:xfrm>
              <a:off x="1184989" y="3970297"/>
              <a:ext cx="9312361" cy="1057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1900" tIns="111900" rIns="111900" bIns="1119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0" i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desarrollo ágil no implica dejar de lado la gestión de riesgos, ya que podría llevar a obtener una </a:t>
              </a:r>
              <a:r>
                <a:rPr lang="es-ES" sz="2000" b="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deuda técnica</a:t>
              </a:r>
              <a:r>
                <a:rPr lang="es-ES" sz="20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ítulo 4">
            <a:extLst>
              <a:ext uri="{FF2B5EF4-FFF2-40B4-BE49-F238E27FC236}">
                <a16:creationId xmlns:a16="http://schemas.microsoft.com/office/drawing/2014/main" id="{C518230A-110F-7A6C-4D64-8E3A51894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100" dirty="0"/>
              <a:t>Gestión de Riesgos en el Desarrollo de Software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39528A-A8C2-1E26-A2D2-2C6BF049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FEC69B7-A54F-1990-B61E-58C1563D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BB292C1-1D2B-1A69-DC9B-08E0B2DA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6</a:t>
            </a:fld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7"/>
          <p:cNvGrpSpPr/>
          <p:nvPr/>
        </p:nvGrpSpPr>
        <p:grpSpPr>
          <a:xfrm>
            <a:off x="792395" y="2072504"/>
            <a:ext cx="6575069" cy="3441148"/>
            <a:chOff x="127590" y="262833"/>
            <a:chExt cx="6575069" cy="3441148"/>
          </a:xfrm>
        </p:grpSpPr>
        <p:sp>
          <p:nvSpPr>
            <p:cNvPr id="187" name="Google Shape;187;p7"/>
            <p:cNvSpPr/>
            <p:nvPr/>
          </p:nvSpPr>
          <p:spPr>
            <a:xfrm>
              <a:off x="127590" y="324037"/>
              <a:ext cx="1569760" cy="1303046"/>
            </a:xfrm>
            <a:prstGeom prst="chord">
              <a:avLst>
                <a:gd name="adj1" fmla="val 4800000"/>
                <a:gd name="adj2" fmla="val 16800000"/>
              </a:avLst>
            </a:prstGeom>
            <a:solidFill>
              <a:srgbClr val="E8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506461" y="648076"/>
              <a:ext cx="812006" cy="812006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AD0000"/>
            </a:solidFill>
            <a:ln w="25400" cap="flat" cmpd="sng">
              <a:solidFill>
                <a:srgbClr val="A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378554" y="2232249"/>
              <a:ext cx="2247202" cy="609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"/>
            <p:cNvSpPr txBox="1"/>
            <p:nvPr/>
          </p:nvSpPr>
          <p:spPr>
            <a:xfrm>
              <a:off x="378553" y="1983958"/>
              <a:ext cx="2526930" cy="609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ES" sz="20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reaccionar ante el problema y “gestionar la crisis” (Indiana Jones…).</a:t>
              </a:r>
              <a:endParaRPr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1353963" y="576072"/>
              <a:ext cx="2030015" cy="29118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"/>
            <p:cNvSpPr txBox="1"/>
            <p:nvPr/>
          </p:nvSpPr>
          <p:spPr>
            <a:xfrm>
              <a:off x="1353963" y="576072"/>
              <a:ext cx="2030015" cy="29118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lang="es-ES" sz="3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Reactivas</a:t>
              </a:r>
              <a:endParaRPr sz="3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3816420" y="262833"/>
              <a:ext cx="1391474" cy="1433262"/>
            </a:xfrm>
            <a:prstGeom prst="chord">
              <a:avLst>
                <a:gd name="adj1" fmla="val 4800000"/>
                <a:gd name="adj2" fmla="val 16800000"/>
              </a:avLst>
            </a:prstGeom>
            <a:solidFill>
              <a:srgbClr val="E8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4070103" y="400563"/>
              <a:ext cx="1113179" cy="1146609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D59393"/>
            </a:solidFill>
            <a:ln w="25400" cap="flat" cmpd="sng">
              <a:solidFill>
                <a:srgbClr val="D593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3759137" y="1800198"/>
              <a:ext cx="2943522" cy="609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"/>
            <p:cNvSpPr txBox="1"/>
            <p:nvPr/>
          </p:nvSpPr>
          <p:spPr>
            <a:xfrm>
              <a:off x="3759137" y="1800198"/>
              <a:ext cx="2943522" cy="609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tener estrategias de tratamiento</a:t>
              </a:r>
              <a:r>
                <a:rPr lang="es-E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4844241" y="504068"/>
              <a:ext cx="1858418" cy="3199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"/>
            <p:cNvSpPr txBox="1"/>
            <p:nvPr/>
          </p:nvSpPr>
          <p:spPr>
            <a:xfrm>
              <a:off x="4844241" y="504068"/>
              <a:ext cx="1858418" cy="3199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lang="es-ES" sz="3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Proactivas</a:t>
              </a:r>
              <a:endParaRPr sz="3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9" name="Google Shape;19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7464" y="3743278"/>
            <a:ext cx="4824536" cy="23804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AAD80266-ACC1-05F3-A166-D8B5EE718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Gestión de Riesgos - Estrategias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E8FA36-F1DC-1929-A3D7-EDA9C76DC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831A5E3-778D-C3B5-3070-2C43E96D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E67F2B8-8B5C-8A44-FEA1-C32A1ACDA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7</a:t>
            </a:fld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8"/>
          <p:cNvGrpSpPr/>
          <p:nvPr/>
        </p:nvGrpSpPr>
        <p:grpSpPr>
          <a:xfrm>
            <a:off x="3460651" y="1944024"/>
            <a:ext cx="5394864" cy="4308215"/>
            <a:chOff x="382487" y="1471"/>
            <a:chExt cx="5394864" cy="4308215"/>
          </a:xfrm>
        </p:grpSpPr>
        <p:sp>
          <p:nvSpPr>
            <p:cNvPr id="207" name="Google Shape;207;p8"/>
            <p:cNvSpPr/>
            <p:nvPr/>
          </p:nvSpPr>
          <p:spPr>
            <a:xfrm>
              <a:off x="382487" y="1471"/>
              <a:ext cx="1728000" cy="1728000"/>
            </a:xfrm>
            <a:prstGeom prst="ellipse">
              <a:avLst/>
            </a:prstGeom>
            <a:solidFill>
              <a:srgbClr val="8C000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8"/>
            <p:cNvSpPr txBox="1"/>
            <p:nvPr/>
          </p:nvSpPr>
          <p:spPr>
            <a:xfrm>
              <a:off x="432110" y="378572"/>
              <a:ext cx="1628753" cy="1047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ES" sz="20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Incertidumbre</a:t>
              </a:r>
              <a:endParaRPr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817041" y="1728588"/>
              <a:ext cx="858887" cy="858887"/>
            </a:xfrm>
            <a:prstGeom prst="mathPlus">
              <a:avLst>
                <a:gd name="adj1" fmla="val 23520"/>
              </a:avLst>
            </a:prstGeom>
            <a:solidFill>
              <a:srgbClr val="B7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382487" y="2581686"/>
              <a:ext cx="1728000" cy="1728000"/>
            </a:xfrm>
            <a:prstGeom prst="ellipse">
              <a:avLst/>
            </a:prstGeom>
            <a:solidFill>
              <a:srgbClr val="D8606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8"/>
            <p:cNvSpPr txBox="1"/>
            <p:nvPr/>
          </p:nvSpPr>
          <p:spPr>
            <a:xfrm>
              <a:off x="722930" y="2966112"/>
              <a:ext cx="1047111" cy="1047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925" tIns="27925" rIns="27925" bIns="279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s-ES" sz="20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Pérdida</a:t>
              </a:r>
              <a:endParaRPr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964969" y="1882595"/>
              <a:ext cx="932382" cy="55087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E2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2897351" y="721408"/>
              <a:ext cx="2880000" cy="2880000"/>
            </a:xfrm>
            <a:prstGeom prst="ellipse">
              <a:avLst/>
            </a:prstGeom>
            <a:solidFill>
              <a:srgbClr val="D8606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8"/>
            <p:cNvSpPr txBox="1"/>
            <p:nvPr/>
          </p:nvSpPr>
          <p:spPr>
            <a:xfrm>
              <a:off x="3290239" y="1110919"/>
              <a:ext cx="2094223" cy="2094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225" tIns="62225" rIns="62225" bIns="622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00"/>
                <a:buFont typeface="Arial"/>
                <a:buNone/>
              </a:pPr>
              <a:r>
                <a:rPr lang="es-ES" sz="49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Riesgo</a:t>
              </a:r>
              <a:endParaRPr sz="49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Título 4">
            <a:extLst>
              <a:ext uri="{FF2B5EF4-FFF2-40B4-BE49-F238E27FC236}">
                <a16:creationId xmlns:a16="http://schemas.microsoft.com/office/drawing/2014/main" id="{8D21F396-5421-3F0A-CC10-F6415D04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Riesgos de Software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2AC079-E1F7-EA8A-DA78-BA99BA71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E134C27-53DA-93D2-751C-F63AC961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49E0865-2139-7F25-071E-4877C47A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8</a:t>
            </a:fld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9" descr="http://www.actuarios.org.co/Images/mund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49811" y="4729022"/>
            <a:ext cx="1788899" cy="13494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9"/>
          <p:cNvGrpSpPr/>
          <p:nvPr/>
        </p:nvGrpSpPr>
        <p:grpSpPr>
          <a:xfrm>
            <a:off x="3060461" y="2396835"/>
            <a:ext cx="6071078" cy="3824963"/>
            <a:chOff x="1279" y="0"/>
            <a:chExt cx="6071078" cy="4064000"/>
          </a:xfrm>
        </p:grpSpPr>
        <p:sp>
          <p:nvSpPr>
            <p:cNvPr id="224" name="Google Shape;224;p9"/>
            <p:cNvSpPr/>
            <p:nvPr/>
          </p:nvSpPr>
          <p:spPr>
            <a:xfrm>
              <a:off x="1279" y="0"/>
              <a:ext cx="1991320" cy="406400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alpha val="88627"/>
              </a:scheme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9"/>
            <p:cNvSpPr txBox="1"/>
            <p:nvPr/>
          </p:nvSpPr>
          <p:spPr>
            <a:xfrm>
              <a:off x="1279" y="2052951"/>
              <a:ext cx="1991320" cy="1198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3350" tIns="213350" rIns="213350" bIns="2133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s-ES" sz="3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Proyecto</a:t>
              </a:r>
              <a:endPara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320284" y="323692"/>
              <a:ext cx="1368000" cy="1453492"/>
            </a:xfrm>
            <a:prstGeom prst="ellipse">
              <a:avLst/>
            </a:prstGeom>
            <a:solidFill>
              <a:srgbClr val="D5C1C1">
                <a:alpha val="88627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9"/>
            <p:cNvSpPr/>
            <p:nvPr/>
          </p:nvSpPr>
          <p:spPr>
            <a:xfrm>
              <a:off x="2052339" y="0"/>
              <a:ext cx="1991320" cy="406400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alpha val="68627"/>
              </a:scheme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9"/>
            <p:cNvSpPr txBox="1"/>
            <p:nvPr/>
          </p:nvSpPr>
          <p:spPr>
            <a:xfrm>
              <a:off x="2052339" y="2052951"/>
              <a:ext cx="1991320" cy="1198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3350" tIns="213350" rIns="213350" bIns="2133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s-ES" sz="3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Producto</a:t>
              </a:r>
              <a:endPara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2371344" y="323693"/>
              <a:ext cx="1368000" cy="1453492"/>
            </a:xfrm>
            <a:prstGeom prst="ellipse">
              <a:avLst/>
            </a:prstGeom>
            <a:solidFill>
              <a:srgbClr val="E1D4D4">
                <a:alpha val="68627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4081037" y="0"/>
              <a:ext cx="1991320" cy="406400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alpha val="48627"/>
              </a:scheme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4081037" y="2052951"/>
              <a:ext cx="1991320" cy="1198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3350" tIns="213350" rIns="213350" bIns="2133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s-ES" sz="3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Negocio</a:t>
              </a:r>
              <a:endPara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>
              <a:off x="4422403" y="323692"/>
              <a:ext cx="1368000" cy="1453492"/>
            </a:xfrm>
            <a:prstGeom prst="ellipse">
              <a:avLst/>
            </a:prstGeom>
            <a:solidFill>
              <a:srgbClr val="EEE7E7">
                <a:alpha val="48627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243839" y="3251200"/>
              <a:ext cx="5608320" cy="609600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rgbClr val="DECFC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4" name="Google Shape;23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466" y="2773488"/>
            <a:ext cx="1224000" cy="1224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5" name="Google Shape;235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95181" y="2773488"/>
            <a:ext cx="1224000" cy="1224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6" name="Google Shape;236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3585" y="2773488"/>
            <a:ext cx="1224000" cy="122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7" name="Google Shape;237;p9"/>
          <p:cNvSpPr/>
          <p:nvPr/>
        </p:nvSpPr>
        <p:spPr>
          <a:xfrm>
            <a:off x="1013623" y="2739458"/>
            <a:ext cx="1428951" cy="865423"/>
          </a:xfrm>
          <a:prstGeom prst="wedgeRoundRectCallout">
            <a:avLst>
              <a:gd name="adj1" fmla="val 141681"/>
              <a:gd name="adj2" fmla="val 168729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Calendario</a:t>
            </a:r>
            <a:endParaRPr sz="14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Presupuesto</a:t>
            </a:r>
            <a:endParaRPr sz="14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Recursos</a:t>
            </a:r>
            <a:endParaRPr sz="14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719180" y="1425168"/>
            <a:ext cx="1522945" cy="695885"/>
          </a:xfrm>
          <a:prstGeom prst="wedgeRoundRectCallout">
            <a:avLst>
              <a:gd name="adj1" fmla="val -87309"/>
              <a:gd name="adj2" fmla="val 433691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Calidad</a:t>
            </a:r>
            <a:endParaRPr sz="14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174625" marR="0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Requerimientos</a:t>
            </a:r>
            <a:endParaRPr sz="14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9492665" y="2088410"/>
            <a:ext cx="2546045" cy="1888940"/>
          </a:xfrm>
          <a:prstGeom prst="wedgeRoundRectCallout">
            <a:avLst>
              <a:gd name="adj1" fmla="val -99392"/>
              <a:gd name="adj2" fmla="val 90855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Sistema excelente que nadie quiere (de mercado)</a:t>
            </a:r>
            <a:endParaRPr sz="14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Sistema no se adapta a las estrategias de la empresa (estratégico)</a:t>
            </a:r>
            <a:endParaRPr sz="14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Pérdida de apoyo de la gerencia (gerencial)</a:t>
            </a:r>
            <a:endParaRPr sz="14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7180D26-3260-3297-910E-0DB2F0F71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Categorización de los riegos en el </a:t>
            </a:r>
            <a:br>
              <a:rPr lang="es-ES" dirty="0"/>
            </a:br>
            <a:r>
              <a:rPr lang="es-ES" dirty="0"/>
              <a:t>Desarrollo de Software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F905F4-78B4-2328-EA43-A3BE97DF5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E423B1D6-D971-79E9-4C42-936314315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192C5A0-4CB8-688B-555C-0B15C2AD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9</a:t>
            </a:fld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0" descr="http://3.bp.blogspot.com/_mFgrt8wxdC0/TORMv3JRJQI/AAAAAAAAAAg/ve9-Dv0QiXs/s1600/RIESGOS+EN+INTERNE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0239" y="1882013"/>
            <a:ext cx="2494944" cy="20162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10"/>
          <p:cNvGrpSpPr/>
          <p:nvPr/>
        </p:nvGrpSpPr>
        <p:grpSpPr>
          <a:xfrm>
            <a:off x="1632332" y="2302752"/>
            <a:ext cx="8904034" cy="3467861"/>
            <a:chOff x="20245" y="1107145"/>
            <a:chExt cx="7389608" cy="2470432"/>
          </a:xfrm>
        </p:grpSpPr>
        <p:sp>
          <p:nvSpPr>
            <p:cNvPr id="250" name="Google Shape;250;p10"/>
            <p:cNvSpPr txBox="1"/>
            <p:nvPr/>
          </p:nvSpPr>
          <p:spPr>
            <a:xfrm>
              <a:off x="3239169" y="1107145"/>
              <a:ext cx="951760" cy="62161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s-ES" sz="10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Tipos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1783695" y="1748098"/>
              <a:ext cx="1931354" cy="2641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0"/>
            <p:cNvSpPr txBox="1"/>
            <p:nvPr/>
          </p:nvSpPr>
          <p:spPr>
            <a:xfrm>
              <a:off x="1302573" y="2031554"/>
              <a:ext cx="951760" cy="62161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s-ES" sz="10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Genéricos</a:t>
              </a:r>
              <a:endParaRPr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>
              <a:off x="496126" y="2672507"/>
              <a:ext cx="1287569" cy="2641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0"/>
            <p:cNvSpPr txBox="1"/>
            <p:nvPr/>
          </p:nvSpPr>
          <p:spPr>
            <a:xfrm>
              <a:off x="20245" y="2955963"/>
              <a:ext cx="951760" cy="6216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s-ES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Conocidos</a:t>
              </a:r>
              <a:endPara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1737975" y="2672507"/>
              <a:ext cx="91440" cy="2641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0"/>
            <p:cNvSpPr txBox="1"/>
            <p:nvPr/>
          </p:nvSpPr>
          <p:spPr>
            <a:xfrm>
              <a:off x="1307815" y="2955963"/>
              <a:ext cx="951760" cy="6216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s-ES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Predecibles</a:t>
              </a:r>
              <a:endPara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1783695" y="2672507"/>
              <a:ext cx="1287569" cy="2641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0"/>
            <p:cNvSpPr txBox="1"/>
            <p:nvPr/>
          </p:nvSpPr>
          <p:spPr>
            <a:xfrm>
              <a:off x="2595385" y="2955963"/>
              <a:ext cx="951760" cy="6216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s-ES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Impredecibles</a:t>
              </a:r>
              <a:endPara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3715049" y="1748098"/>
              <a:ext cx="1931354" cy="2641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0"/>
            <p:cNvSpPr txBox="1"/>
            <p:nvPr/>
          </p:nvSpPr>
          <p:spPr>
            <a:xfrm>
              <a:off x="5170524" y="2031554"/>
              <a:ext cx="951760" cy="62161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s-ES" sz="10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Específicos</a:t>
              </a:r>
              <a:endParaRPr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4358834" y="2672507"/>
              <a:ext cx="1287569" cy="2641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0"/>
            <p:cNvSpPr txBox="1"/>
            <p:nvPr/>
          </p:nvSpPr>
          <p:spPr>
            <a:xfrm>
              <a:off x="3882954" y="2955963"/>
              <a:ext cx="951760" cy="6216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s-ES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Conocidos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5600684" y="2672507"/>
              <a:ext cx="91440" cy="2641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0"/>
            <p:cNvSpPr txBox="1"/>
            <p:nvPr/>
          </p:nvSpPr>
          <p:spPr>
            <a:xfrm>
              <a:off x="5170524" y="2955963"/>
              <a:ext cx="951760" cy="6216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s-ES" sz="10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Predecibles 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5646404" y="2672507"/>
              <a:ext cx="1287569" cy="2641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0"/>
            <p:cNvSpPr txBox="1"/>
            <p:nvPr/>
          </p:nvSpPr>
          <p:spPr>
            <a:xfrm>
              <a:off x="6458093" y="2955963"/>
              <a:ext cx="951760" cy="6216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s-ES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Impredecibles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Título 4">
            <a:extLst>
              <a:ext uri="{FF2B5EF4-FFF2-40B4-BE49-F238E27FC236}">
                <a16:creationId xmlns:a16="http://schemas.microsoft.com/office/drawing/2014/main" id="{2ACBFB1A-2898-2E23-453D-C1BA1291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A5E2A3-E18C-2D69-66A2-AFB047B8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AF3FDD88-FF03-4E03-00DE-3D6D4065F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6783D1C-3BED-3447-94BF-01BEE1B3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10</a:t>
            </a:fld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"/>
          <p:cNvSpPr/>
          <p:nvPr/>
        </p:nvSpPr>
        <p:spPr>
          <a:xfrm>
            <a:off x="2658390" y="2590358"/>
            <a:ext cx="1821050" cy="91052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9192"/>
              </a:gs>
              <a:gs pos="35000">
                <a:srgbClr val="FFB4B4"/>
              </a:gs>
              <a:gs pos="100000">
                <a:srgbClr val="FFE0E0"/>
              </a:gs>
            </a:gsLst>
            <a:lin ang="16200000" scaled="0"/>
          </a:gradFill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1.Identificacion de riesgos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4440696" y="3035932"/>
            <a:ext cx="1927601" cy="7846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0"/>
          </a:gradFill>
          <a:ln w="9525" cap="flat" cmpd="sng">
            <a:solidFill>
              <a:srgbClr val="60871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2.Análisis de riesgos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2737801" y="3953955"/>
            <a:ext cx="1065510" cy="910528"/>
          </a:xfrm>
          <a:prstGeom prst="flowChartMultidocument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de riesgos potenciales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11"/>
          <p:cNvCxnSpPr/>
          <p:nvPr/>
        </p:nvCxnSpPr>
        <p:spPr>
          <a:xfrm flipH="1">
            <a:off x="3451712" y="3466982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286" name="Google Shape;286;p11"/>
          <p:cNvSpPr/>
          <p:nvPr/>
        </p:nvSpPr>
        <p:spPr>
          <a:xfrm>
            <a:off x="4772456" y="4341918"/>
            <a:ext cx="1181745" cy="610245"/>
          </a:xfrm>
          <a:prstGeom prst="flowChartDocumen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de priorización de riesgos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1"/>
          <p:cNvCxnSpPr/>
          <p:nvPr/>
        </p:nvCxnSpPr>
        <p:spPr>
          <a:xfrm flipH="1">
            <a:off x="5359941" y="3883498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288" name="Google Shape;288;p11"/>
          <p:cNvSpPr/>
          <p:nvPr/>
        </p:nvSpPr>
        <p:spPr>
          <a:xfrm>
            <a:off x="6203627" y="3626805"/>
            <a:ext cx="1927601" cy="7846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C5CED1"/>
              </a:gs>
              <a:gs pos="35000">
                <a:srgbClr val="D4DBDE"/>
              </a:gs>
              <a:gs pos="100000">
                <a:srgbClr val="EEF2F2"/>
              </a:gs>
            </a:gsLst>
            <a:lin ang="16200000" scaled="0"/>
          </a:gradFill>
          <a:ln w="9525" cap="flat" cmpd="sng">
            <a:solidFill>
              <a:srgbClr val="717D8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3.Planeación de riesgos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11"/>
          <p:cNvCxnSpPr/>
          <p:nvPr/>
        </p:nvCxnSpPr>
        <p:spPr>
          <a:xfrm>
            <a:off x="7157744" y="4484057"/>
            <a:ext cx="13561" cy="497883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290" name="Google Shape;290;p11"/>
          <p:cNvSpPr/>
          <p:nvPr/>
        </p:nvSpPr>
        <p:spPr>
          <a:xfrm>
            <a:off x="6474849" y="4988488"/>
            <a:ext cx="1511083" cy="765228"/>
          </a:xfrm>
          <a:prstGeom prst="flowChartPredefinedProcess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Anulación  de  riesgos  y 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planes  de 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contingencia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8092482" y="4082067"/>
            <a:ext cx="1927601" cy="7846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B983"/>
              </a:gs>
              <a:gs pos="35000">
                <a:srgbClr val="FFCCA8"/>
              </a:gs>
              <a:gs pos="100000">
                <a:srgbClr val="FFE9DB"/>
              </a:gs>
            </a:gsLst>
            <a:lin ang="16200000" scaled="0"/>
          </a:gradFill>
          <a:ln w="9525" cap="flat" cmpd="sng">
            <a:solidFill>
              <a:srgbClr val="E47F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4.Supervisión de riesgos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11"/>
          <p:cNvCxnSpPr/>
          <p:nvPr/>
        </p:nvCxnSpPr>
        <p:spPr>
          <a:xfrm>
            <a:off x="9104717" y="4871513"/>
            <a:ext cx="13560" cy="420392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293" name="Google Shape;293;p11"/>
          <p:cNvSpPr/>
          <p:nvPr/>
        </p:nvSpPr>
        <p:spPr>
          <a:xfrm>
            <a:off x="8509000" y="5327513"/>
            <a:ext cx="1220489" cy="736169"/>
          </a:xfrm>
          <a:prstGeom prst="flowChartPredefinedProcess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Valoración  de  riesgos 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 rot="-10020000">
            <a:off x="5557680" y="2670156"/>
            <a:ext cx="4746354" cy="891151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702DFB3-F26B-9D8A-54CC-61158320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Gestión de Riesgos - Proceso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61DDA1-F14F-B47C-6A69-A7C755F3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C03D6DF-DFB5-B625-D8AB-291B133F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6248A7A-64BB-A3AC-5F57-DA6C0C7F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11</a:t>
            </a:fld>
            <a:endParaRPr lang="es-ES"/>
          </a:p>
        </p:txBody>
      </p:sp>
      <p:sp>
        <p:nvSpPr>
          <p:cNvPr id="6" name="Google Shape;170;p5">
            <a:extLst>
              <a:ext uri="{FF2B5EF4-FFF2-40B4-BE49-F238E27FC236}">
                <a16:creationId xmlns:a16="http://schemas.microsoft.com/office/drawing/2014/main" id="{25606EC2-6039-0C71-7517-D4A318C300B5}"/>
              </a:ext>
            </a:extLst>
          </p:cNvPr>
          <p:cNvSpPr/>
          <p:nvPr/>
        </p:nvSpPr>
        <p:spPr>
          <a:xfrm>
            <a:off x="1023980" y="1926771"/>
            <a:ext cx="10277674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620713" marR="0" lvl="0" indent="-620713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un proceso iterativo que debe documentarse</a:t>
            </a:r>
          </a:p>
          <a:p>
            <a:pPr marL="620713" marR="0" lvl="0" indent="-620713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"/>
          <p:cNvSpPr/>
          <p:nvPr/>
        </p:nvSpPr>
        <p:spPr>
          <a:xfrm>
            <a:off x="8080188" y="235630"/>
            <a:ext cx="1821050" cy="91052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9192"/>
              </a:gs>
              <a:gs pos="35000">
                <a:srgbClr val="FFB4B4"/>
              </a:gs>
              <a:gs pos="100000">
                <a:srgbClr val="FFE0E0"/>
              </a:gs>
            </a:gsLst>
            <a:lin ang="16200000" scaled="0"/>
          </a:gradFill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1.Identificacion de riesgos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159599" y="1599228"/>
            <a:ext cx="1065510" cy="910528"/>
          </a:xfrm>
          <a:prstGeom prst="flowChartMultidocument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de riesgos potenciales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2"/>
          <p:cNvCxnSpPr/>
          <p:nvPr/>
        </p:nvCxnSpPr>
        <p:spPr>
          <a:xfrm flipH="1">
            <a:off x="8873510" y="111225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304" name="Google Shape;304;p12"/>
          <p:cNvSpPr/>
          <p:nvPr/>
        </p:nvSpPr>
        <p:spPr>
          <a:xfrm>
            <a:off x="6785812" y="3429000"/>
            <a:ext cx="4454934" cy="1984200"/>
          </a:xfrm>
          <a:prstGeom prst="flowChartAlternateProcess">
            <a:avLst/>
          </a:prstGeom>
          <a:solidFill>
            <a:schemeClr val="accent1"/>
          </a:solidFill>
          <a:ln w="254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Tamaño del producto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Impacto de negocio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Características de partes interesadas  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Definición del proceso  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5. Ambiente de desarrollo 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6. Tecnología por crear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7. Tamaño y experiencia del personal </a:t>
            </a:r>
            <a:endParaRPr sz="1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26C74A6-98D6-A8D8-BBC0-5711176B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Identificación de riegos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8542AF-6478-0793-7B9D-EA106EAC6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410998B-02CA-9B61-9D93-C088B482B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264A696-9DB7-2CB7-7B8D-DEB039B9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12</a:t>
            </a:fld>
            <a:endParaRPr lang="es-ES"/>
          </a:p>
        </p:txBody>
      </p:sp>
      <p:sp>
        <p:nvSpPr>
          <p:cNvPr id="6" name="Google Shape;170;p5">
            <a:extLst>
              <a:ext uri="{FF2B5EF4-FFF2-40B4-BE49-F238E27FC236}">
                <a16:creationId xmlns:a16="http://schemas.microsoft.com/office/drawing/2014/main" id="{8E270D55-F927-84E8-7679-52869BE48A41}"/>
              </a:ext>
            </a:extLst>
          </p:cNvPr>
          <p:cNvSpPr/>
          <p:nvPr/>
        </p:nvSpPr>
        <p:spPr>
          <a:xfrm>
            <a:off x="1023980" y="1926771"/>
            <a:ext cx="10277674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620713" marR="0" lvl="0" indent="-62071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“Verdaderos riesgos”</a:t>
            </a:r>
          </a:p>
          <a:p>
            <a:pPr marL="620713" marR="0" lvl="0" indent="-62071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“Lista de comprobación de elementos de riesgo”</a:t>
            </a:r>
          </a:p>
          <a:p>
            <a:pPr marL="620713" marR="0" lvl="0" indent="-62071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</a:pPr>
            <a:endParaRPr lang="es-ES"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0713" indent="-620713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Utiliza un enfoque de </a:t>
            </a:r>
            <a:r>
              <a:rPr lang="es-ES" sz="3200" b="0" i="1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tormenta de ideas</a:t>
            </a:r>
            <a:r>
              <a:rPr lang="es-ES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o en base a la </a:t>
            </a:r>
            <a:r>
              <a:rPr lang="es-ES" sz="3200" b="0" i="1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experiencia</a:t>
            </a:r>
            <a:r>
              <a:rPr lang="es-ES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s-E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lang="es-E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20713" marR="0" lvl="0" indent="-62071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endParaRPr lang="es-ES"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0713" marR="0" lvl="0" indent="-62071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7A0623BD-4B29-11A9-74E6-6CBC3A53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">
            <a:extLst>
              <a:ext uri="{FF2B5EF4-FFF2-40B4-BE49-F238E27FC236}">
                <a16:creationId xmlns:a16="http://schemas.microsoft.com/office/drawing/2014/main" id="{A8797745-3BE0-10F8-9153-DD57219A767D}"/>
              </a:ext>
            </a:extLst>
          </p:cNvPr>
          <p:cNvSpPr/>
          <p:nvPr/>
        </p:nvSpPr>
        <p:spPr>
          <a:xfrm>
            <a:off x="8080188" y="235630"/>
            <a:ext cx="1821050" cy="91052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9192"/>
              </a:gs>
              <a:gs pos="35000">
                <a:srgbClr val="FFB4B4"/>
              </a:gs>
              <a:gs pos="100000">
                <a:srgbClr val="FFE0E0"/>
              </a:gs>
            </a:gsLst>
            <a:lin ang="16200000" scaled="0"/>
          </a:gradFill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1.Identificacion de riesgos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>
            <a:extLst>
              <a:ext uri="{FF2B5EF4-FFF2-40B4-BE49-F238E27FC236}">
                <a16:creationId xmlns:a16="http://schemas.microsoft.com/office/drawing/2014/main" id="{B8646791-E628-A701-A7AE-57E07F047DF4}"/>
              </a:ext>
            </a:extLst>
          </p:cNvPr>
          <p:cNvSpPr/>
          <p:nvPr/>
        </p:nvSpPr>
        <p:spPr>
          <a:xfrm>
            <a:off x="8159599" y="1599228"/>
            <a:ext cx="1065510" cy="910528"/>
          </a:xfrm>
          <a:prstGeom prst="flowChartMultidocument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de riesgos potenciales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2">
            <a:extLst>
              <a:ext uri="{FF2B5EF4-FFF2-40B4-BE49-F238E27FC236}">
                <a16:creationId xmlns:a16="http://schemas.microsoft.com/office/drawing/2014/main" id="{9B7BD957-0A3F-253D-CDF9-759599A40D51}"/>
              </a:ext>
            </a:extLst>
          </p:cNvPr>
          <p:cNvCxnSpPr/>
          <p:nvPr/>
        </p:nvCxnSpPr>
        <p:spPr>
          <a:xfrm flipH="1">
            <a:off x="8873510" y="111225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5" name="Título 4">
            <a:extLst>
              <a:ext uri="{FF2B5EF4-FFF2-40B4-BE49-F238E27FC236}">
                <a16:creationId xmlns:a16="http://schemas.microsoft.com/office/drawing/2014/main" id="{DB3107A4-7D3A-54EE-72BA-22824C52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Identificación de riegos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17C564-9C59-B505-3CCF-C2B18EFB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72FAE621-DFCB-0F4E-8D9B-87D5D22D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033EB3A-CFE0-AC19-645C-049650AED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13</a:t>
            </a:fld>
            <a:endParaRPr lang="es-ES"/>
          </a:p>
        </p:txBody>
      </p:sp>
      <p:sp>
        <p:nvSpPr>
          <p:cNvPr id="6" name="Google Shape;170;p5">
            <a:extLst>
              <a:ext uri="{FF2B5EF4-FFF2-40B4-BE49-F238E27FC236}">
                <a16:creationId xmlns:a16="http://schemas.microsoft.com/office/drawing/2014/main" id="{54991594-0800-A57B-1850-019A63F90DF1}"/>
              </a:ext>
            </a:extLst>
          </p:cNvPr>
          <p:cNvSpPr/>
          <p:nvPr/>
        </p:nvSpPr>
        <p:spPr>
          <a:xfrm>
            <a:off x="1023980" y="1926771"/>
            <a:ext cx="10277674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620713" marR="0" lvl="0" indent="-62071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Categorías</a:t>
            </a:r>
            <a:endParaRPr lang="es-ES"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0713" marR="0" lvl="0" indent="-62071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2;p13">
            <a:extLst>
              <a:ext uri="{FF2B5EF4-FFF2-40B4-BE49-F238E27FC236}">
                <a16:creationId xmlns:a16="http://schemas.microsoft.com/office/drawing/2014/main" id="{DF38700F-34F7-2D35-EE8F-EC7636FE321B}"/>
              </a:ext>
            </a:extLst>
          </p:cNvPr>
          <p:cNvSpPr txBox="1"/>
          <p:nvPr/>
        </p:nvSpPr>
        <p:spPr>
          <a:xfrm>
            <a:off x="2171635" y="2439406"/>
            <a:ext cx="8871331" cy="389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0350" marR="0" lvl="1" indent="-7874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350" marR="0" lvl="1" indent="-25654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 "/>
            </a:pPr>
            <a:r>
              <a:rPr lang="es-ES" sz="28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                 Del proyecto</a:t>
            </a:r>
            <a:endParaRPr sz="2800" b="0" i="1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350" marR="0" lvl="1" indent="-7874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350" marR="0" lvl="1" indent="-7874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350" marR="0" lvl="1" indent="-25654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 "/>
            </a:pPr>
            <a:r>
              <a:rPr lang="es-ES" sz="28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                  Del producto </a:t>
            </a:r>
            <a:endParaRPr sz="2800" b="0" i="1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350" marR="0" lvl="1" indent="-7874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350" marR="0" lvl="1" indent="-7874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0350" marR="0" lvl="1" indent="-25654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 "/>
            </a:pPr>
            <a:r>
              <a:rPr lang="es-ES" sz="28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                Del negocio </a:t>
            </a:r>
            <a:endParaRPr sz="2800" b="0" i="1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11480" marR="0" lvl="2" indent="-233045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13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13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314;p13">
            <a:extLst>
              <a:ext uri="{FF2B5EF4-FFF2-40B4-BE49-F238E27FC236}">
                <a16:creationId xmlns:a16="http://schemas.microsoft.com/office/drawing/2014/main" id="{4D193507-1D6E-43D6-2920-42B1432293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3840000">
            <a:off x="2451831" y="2618607"/>
            <a:ext cx="1030118" cy="1010389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" name="Google Shape;315;p13">
            <a:extLst>
              <a:ext uri="{FF2B5EF4-FFF2-40B4-BE49-F238E27FC236}">
                <a16:creationId xmlns:a16="http://schemas.microsoft.com/office/drawing/2014/main" id="{5F32D331-4587-0F64-57E3-A88972A6B5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5498" y="5169233"/>
            <a:ext cx="893337" cy="903079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1" name="Google Shape;316;p13">
            <a:extLst>
              <a:ext uri="{FF2B5EF4-FFF2-40B4-BE49-F238E27FC236}">
                <a16:creationId xmlns:a16="http://schemas.microsoft.com/office/drawing/2014/main" id="{EA337F99-AA78-41BD-F729-C2B65C2BBAB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14777" y="3865684"/>
            <a:ext cx="1036242" cy="1047542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" name="Google Shape;317;p13">
            <a:extLst>
              <a:ext uri="{FF2B5EF4-FFF2-40B4-BE49-F238E27FC236}">
                <a16:creationId xmlns:a16="http://schemas.microsoft.com/office/drawing/2014/main" id="{9FD05EB1-075C-3E7F-BB8D-1485485ECFCE}"/>
              </a:ext>
            </a:extLst>
          </p:cNvPr>
          <p:cNvSpPr/>
          <p:nvPr/>
        </p:nvSpPr>
        <p:spPr>
          <a:xfrm>
            <a:off x="6221759" y="2894489"/>
            <a:ext cx="600559" cy="3215897"/>
          </a:xfrm>
          <a:prstGeom prst="rightBrace">
            <a:avLst>
              <a:gd name="adj1" fmla="val 8333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318;p13">
            <a:extLst>
              <a:ext uri="{FF2B5EF4-FFF2-40B4-BE49-F238E27FC236}">
                <a16:creationId xmlns:a16="http://schemas.microsoft.com/office/drawing/2014/main" id="{ABDBBD7D-8CEC-3523-6687-43C99FC5F556}"/>
              </a:ext>
            </a:extLst>
          </p:cNvPr>
          <p:cNvSpPr txBox="1"/>
          <p:nvPr/>
        </p:nvSpPr>
        <p:spPr>
          <a:xfrm>
            <a:off x="7092710" y="3736247"/>
            <a:ext cx="27432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❑"/>
            </a:pPr>
            <a:r>
              <a:rPr lang="es-ES" sz="1800" b="0" i="1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Riesgos conocidos </a:t>
            </a: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❑"/>
            </a:pPr>
            <a:r>
              <a:rPr lang="es-ES" sz="1800" b="0" i="1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Riesgos predecibles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❑"/>
            </a:pPr>
            <a:r>
              <a:rPr lang="es-ES" sz="1800" b="0" i="1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Riesgos impredecibles 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703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296EA59C-39C8-0A5F-C353-D8B2FC62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">
            <a:extLst>
              <a:ext uri="{FF2B5EF4-FFF2-40B4-BE49-F238E27FC236}">
                <a16:creationId xmlns:a16="http://schemas.microsoft.com/office/drawing/2014/main" id="{789F9331-C489-F194-D14F-EA03DB1B1CD0}"/>
              </a:ext>
            </a:extLst>
          </p:cNvPr>
          <p:cNvSpPr/>
          <p:nvPr/>
        </p:nvSpPr>
        <p:spPr>
          <a:xfrm>
            <a:off x="8080188" y="235630"/>
            <a:ext cx="1821050" cy="91052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9192"/>
              </a:gs>
              <a:gs pos="35000">
                <a:srgbClr val="FFB4B4"/>
              </a:gs>
              <a:gs pos="100000">
                <a:srgbClr val="FFE0E0"/>
              </a:gs>
            </a:gsLst>
            <a:lin ang="16200000" scaled="0"/>
          </a:gradFill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1.Identificacion de riesgos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>
            <a:extLst>
              <a:ext uri="{FF2B5EF4-FFF2-40B4-BE49-F238E27FC236}">
                <a16:creationId xmlns:a16="http://schemas.microsoft.com/office/drawing/2014/main" id="{BE3A2709-AB55-2487-2F5E-CB211E73FC09}"/>
              </a:ext>
            </a:extLst>
          </p:cNvPr>
          <p:cNvSpPr/>
          <p:nvPr/>
        </p:nvSpPr>
        <p:spPr>
          <a:xfrm>
            <a:off x="8159599" y="1599228"/>
            <a:ext cx="1065510" cy="910528"/>
          </a:xfrm>
          <a:prstGeom prst="flowChartMultidocument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de riesgos potenciales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2">
            <a:extLst>
              <a:ext uri="{FF2B5EF4-FFF2-40B4-BE49-F238E27FC236}">
                <a16:creationId xmlns:a16="http://schemas.microsoft.com/office/drawing/2014/main" id="{2606D027-6F18-954F-3ABE-044DA62F98BF}"/>
              </a:ext>
            </a:extLst>
          </p:cNvPr>
          <p:cNvCxnSpPr/>
          <p:nvPr/>
        </p:nvCxnSpPr>
        <p:spPr>
          <a:xfrm flipH="1">
            <a:off x="8873510" y="111225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5" name="Título 4">
            <a:extLst>
              <a:ext uri="{FF2B5EF4-FFF2-40B4-BE49-F238E27FC236}">
                <a16:creationId xmlns:a16="http://schemas.microsoft.com/office/drawing/2014/main" id="{45A8EE31-E02B-7EA0-7483-50D093E5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Identificación de riegos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8D530B-5251-3018-BEF8-5F3A5490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74DB541-0A2C-D51E-EF6F-B43F2449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FDCCB5E-EB4E-7905-3F51-CF6E4C87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14</a:t>
            </a:fld>
            <a:endParaRPr lang="es-ES"/>
          </a:p>
        </p:txBody>
      </p:sp>
      <p:sp>
        <p:nvSpPr>
          <p:cNvPr id="6" name="Google Shape;170;p5">
            <a:extLst>
              <a:ext uri="{FF2B5EF4-FFF2-40B4-BE49-F238E27FC236}">
                <a16:creationId xmlns:a16="http://schemas.microsoft.com/office/drawing/2014/main" id="{0A47E1E9-41BA-585E-A433-7B32ECFD44B6}"/>
              </a:ext>
            </a:extLst>
          </p:cNvPr>
          <p:cNvSpPr/>
          <p:nvPr/>
        </p:nvSpPr>
        <p:spPr>
          <a:xfrm>
            <a:off x="1023980" y="1573847"/>
            <a:ext cx="10277674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620713" marR="0" lvl="0" indent="-62071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 dirty="0">
                <a:latin typeface="Calibri"/>
                <a:ea typeface="Calibri"/>
                <a:cs typeface="Calibri"/>
                <a:sym typeface="Calibri"/>
              </a:rPr>
              <a:t>Preguntas:</a:t>
            </a:r>
          </a:p>
          <a:p>
            <a:pPr marL="273050" lvl="0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✔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 ¿Los gerentes de software y de cliente se reunieron formalmente para apoyar el proyecto?</a:t>
            </a:r>
          </a:p>
          <a:p>
            <a:pPr marL="273050" lvl="0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✔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¿Los usuarios finales se comprometen con el proyecto y sistema/producto que se va a construir?</a:t>
            </a:r>
            <a:endParaRPr lang="es-ES" sz="1400" b="0" i="0" u="none" strike="noStrike" cap="none" dirty="0">
              <a:latin typeface="+mn-lt"/>
              <a:ea typeface="Arial"/>
              <a:cs typeface="Arial"/>
              <a:sym typeface="Arial"/>
            </a:endParaRPr>
          </a:p>
          <a:p>
            <a:pPr marL="273050" lvl="0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✔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¿El equipo y sus clientes entienden por completo los requisitos?</a:t>
            </a:r>
          </a:p>
          <a:p>
            <a:pPr marL="273050" lvl="0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✔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¿Los clientes se involucraron plenamente en la definición de los requisitos?</a:t>
            </a:r>
          </a:p>
          <a:p>
            <a:pPr marL="273050" lvl="0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✔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¿Los usuarios finales tienen expectativas realistas?</a:t>
            </a:r>
          </a:p>
          <a:p>
            <a:pPr marL="273050" lvl="0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✔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¿El ámbito del proyecto es estable?</a:t>
            </a:r>
          </a:p>
          <a:p>
            <a:pPr marL="273050" lvl="0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✔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¿El equipo tiene la mezcla correcta de habilidades?</a:t>
            </a:r>
          </a:p>
          <a:p>
            <a:pPr marL="273050" lvl="0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✔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¿Los requisitos del proyecto son estables?</a:t>
            </a:r>
          </a:p>
          <a:p>
            <a:pPr marL="273050" lvl="0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✔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¿El equipo tiene experiencia con la tecnología que se va a implementar?</a:t>
            </a:r>
          </a:p>
          <a:p>
            <a:pPr marL="273050" lvl="0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✔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¿El número de personas que hay en el equipo es adecuado para hacer el trabajo?</a:t>
            </a:r>
          </a:p>
          <a:p>
            <a:pPr marL="273050" lvl="0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✔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¿Todos los clientes/usuarios están de acuerdo en la importancia del proyecto y en los requisitos </a:t>
            </a:r>
          </a:p>
          <a:p>
            <a:pPr marL="95250" lvl="0" indent="177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</a:pPr>
            <a:r>
              <a:rPr lang="es-ES" sz="1400" b="0" i="0" u="none" strike="noStrike" cap="none" dirty="0">
                <a:latin typeface="+mn-lt"/>
                <a:ea typeface="Calibri"/>
                <a:cs typeface="Calibri"/>
                <a:sym typeface="Calibri"/>
              </a:rPr>
              <a:t>para el sistema/producto que se va a construir?</a:t>
            </a: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29;p14">
            <a:extLst>
              <a:ext uri="{FF2B5EF4-FFF2-40B4-BE49-F238E27FC236}">
                <a16:creationId xmlns:a16="http://schemas.microsoft.com/office/drawing/2014/main" id="{3996E6D6-ED8B-B1F7-19DD-5F02C861E1FC}"/>
              </a:ext>
            </a:extLst>
          </p:cNvPr>
          <p:cNvSpPr/>
          <p:nvPr/>
        </p:nvSpPr>
        <p:spPr>
          <a:xfrm>
            <a:off x="7730548" y="2978060"/>
            <a:ext cx="4365200" cy="2676202"/>
          </a:xfrm>
          <a:prstGeom prst="rect">
            <a:avLst/>
          </a:prstGeom>
          <a:solidFill>
            <a:srgbClr val="CC5E5E"/>
          </a:solidFill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la respuesta a alguna de estas preguntas es negativa, estamos frente a un/unos riesgo/s inminente/s. 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grado de riesgo es directamente proporcional al nro. de respuestas negativas.</a:t>
            </a:r>
            <a:endParaRPr sz="2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728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"/>
          <p:cNvSpPr txBox="1"/>
          <p:nvPr/>
        </p:nvSpPr>
        <p:spPr>
          <a:xfrm>
            <a:off x="2031600" y="1998000"/>
            <a:ext cx="3497400" cy="376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0027" y="1752767"/>
            <a:ext cx="9191946" cy="4532549"/>
          </a:xfrm>
          <a:prstGeom prst="rect">
            <a:avLst/>
          </a:prstGeom>
          <a:noFill/>
          <a:ln>
            <a:noFill/>
          </a:ln>
          <a:effectLst>
            <a:outerShdw blurRad="292100" dist="139498" dir="2700000" algn="tl" rotWithShape="0">
              <a:srgbClr val="333333">
                <a:alpha val="63529"/>
              </a:srgbClr>
            </a:outerShdw>
          </a:effec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DB8A9160-4761-EF48-924D-9BC63185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Categorización de los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1C67EC-977E-640D-3AB2-F88B354E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A8039113-8A8C-A799-B5BD-EF0ED16B8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0AF882C-B0CE-53CA-7083-B5E79AC3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15</a:t>
            </a:fld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>
          <a:extLst>
            <a:ext uri="{FF2B5EF4-FFF2-40B4-BE49-F238E27FC236}">
              <a16:creationId xmlns:a16="http://schemas.microsoft.com/office/drawing/2014/main" id="{31E03AB6-A7EA-1AFC-BE39-4F884806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Google Shape;348;p16">
            <a:extLst>
              <a:ext uri="{FF2B5EF4-FFF2-40B4-BE49-F238E27FC236}">
                <a16:creationId xmlns:a16="http://schemas.microsoft.com/office/drawing/2014/main" id="{1137A1FA-C146-E522-BC86-A47B8BFC20A8}"/>
              </a:ext>
            </a:extLst>
          </p:cNvPr>
          <p:cNvGraphicFramePr/>
          <p:nvPr/>
        </p:nvGraphicFramePr>
        <p:xfrm>
          <a:off x="2333625" y="4195842"/>
          <a:ext cx="8291009" cy="2008227"/>
        </p:xfrm>
        <a:graphic>
          <a:graphicData uri="http://schemas.openxmlformats.org/drawingml/2006/table">
            <a:tbl>
              <a:tblPr>
                <a:noFill/>
                <a:tableStyleId>{3EF29E7D-9136-45D8-AAB8-1E4A301F7CE6}</a:tableStyleId>
              </a:tblPr>
              <a:tblGrid>
                <a:gridCol w="2234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7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2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757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1ra Columna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Calibri"/>
                        <a:buNone/>
                      </a:pPr>
                      <a:r>
                        <a:rPr lang="es-ES" sz="200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2da columna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3ra columna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Calibri"/>
                        <a:buNone/>
                      </a:pPr>
                      <a:r>
                        <a:rPr lang="es-ES" sz="200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4ta columna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41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s-ES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todos los riesgos, en desorden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s-E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 del riesgo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s-ES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probabilidad estimada del riesgo (por consenso, o individualmente y sacar un promedio)</a:t>
                      </a:r>
                      <a:endParaRPr sz="16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impacto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9" name="Google Shape;349;p16">
            <a:extLst>
              <a:ext uri="{FF2B5EF4-FFF2-40B4-BE49-F238E27FC236}">
                <a16:creationId xmlns:a16="http://schemas.microsoft.com/office/drawing/2014/main" id="{370F24F1-BDA9-5A3D-C1AF-EB6EC2D9DF7C}"/>
              </a:ext>
            </a:extLst>
          </p:cNvPr>
          <p:cNvSpPr/>
          <p:nvPr/>
        </p:nvSpPr>
        <p:spPr>
          <a:xfrm>
            <a:off x="7973637" y="287338"/>
            <a:ext cx="1927601" cy="7846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0"/>
          </a:gradFill>
          <a:ln w="9525" cap="flat" cmpd="sng">
            <a:solidFill>
              <a:srgbClr val="60871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2.Análisis de riesgos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">
            <a:extLst>
              <a:ext uri="{FF2B5EF4-FFF2-40B4-BE49-F238E27FC236}">
                <a16:creationId xmlns:a16="http://schemas.microsoft.com/office/drawing/2014/main" id="{9CBB706E-D1A8-7E8B-3A84-B8C2BE68CD0D}"/>
              </a:ext>
            </a:extLst>
          </p:cNvPr>
          <p:cNvSpPr/>
          <p:nvPr/>
        </p:nvSpPr>
        <p:spPr>
          <a:xfrm>
            <a:off x="8305397" y="1593324"/>
            <a:ext cx="1181745" cy="610245"/>
          </a:xfrm>
          <a:prstGeom prst="flowChartDocumen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de priorización de riesgos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16">
            <a:extLst>
              <a:ext uri="{FF2B5EF4-FFF2-40B4-BE49-F238E27FC236}">
                <a16:creationId xmlns:a16="http://schemas.microsoft.com/office/drawing/2014/main" id="{66448A81-79F1-9FFD-0577-2D7BB0916E88}"/>
              </a:ext>
            </a:extLst>
          </p:cNvPr>
          <p:cNvCxnSpPr/>
          <p:nvPr/>
        </p:nvCxnSpPr>
        <p:spPr>
          <a:xfrm flipH="1">
            <a:off x="8892882" y="113490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graphicFrame>
        <p:nvGraphicFramePr>
          <p:cNvPr id="352" name="Google Shape;352;p16">
            <a:extLst>
              <a:ext uri="{FF2B5EF4-FFF2-40B4-BE49-F238E27FC236}">
                <a16:creationId xmlns:a16="http://schemas.microsoft.com/office/drawing/2014/main" id="{68F912C2-FDE1-1367-F494-0C056FDE4A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190852"/>
              </p:ext>
            </p:extLst>
          </p:nvPr>
        </p:nvGraphicFramePr>
        <p:xfrm>
          <a:off x="2333625" y="4195842"/>
          <a:ext cx="8291008" cy="1713150"/>
        </p:xfrm>
        <a:graphic>
          <a:graphicData uri="http://schemas.openxmlformats.org/drawingml/2006/table">
            <a:tbl>
              <a:tblPr>
                <a:noFill/>
                <a:tableStyleId>{3EF29E7D-9136-45D8-AAB8-1E4A301F7CE6}</a:tableStyleId>
              </a:tblPr>
              <a:tblGrid>
                <a:gridCol w="3972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Riesgos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Probabilidad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Impacto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cliente cambiará los requisitos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Falta de formación en las herramientas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C3AE2CC4-98FC-F124-9865-39E2D8B0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Análisis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0478D-2CCB-20DD-422A-2116F9A7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969D265A-F83C-2F11-AEF8-66C856C2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02CC73D-8832-5073-AF72-5082AC78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16</a:t>
            </a:fld>
            <a:endParaRPr lang="es-ES"/>
          </a:p>
        </p:txBody>
      </p:sp>
      <p:sp>
        <p:nvSpPr>
          <p:cNvPr id="9" name="Google Shape;170;p5">
            <a:extLst>
              <a:ext uri="{FF2B5EF4-FFF2-40B4-BE49-F238E27FC236}">
                <a16:creationId xmlns:a16="http://schemas.microsoft.com/office/drawing/2014/main" id="{64D50292-F6AE-23C7-7950-07E60561691E}"/>
              </a:ext>
            </a:extLst>
          </p:cNvPr>
          <p:cNvSpPr/>
          <p:nvPr/>
        </p:nvSpPr>
        <p:spPr>
          <a:xfrm>
            <a:off x="1023980" y="1926771"/>
            <a:ext cx="10277674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620713" marR="0" lvl="0" indent="-620713" algn="just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Cada riesgo identificado requiere:</a:t>
            </a:r>
          </a:p>
          <a:p>
            <a:pPr marL="801688" lvl="1" indent="-344488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 pitchFamily="34" charset="0"/>
              <a:buChar char="•"/>
            </a:pPr>
            <a:r>
              <a:rPr lang="es-E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Probabilidad</a:t>
            </a:r>
          </a:p>
          <a:p>
            <a:pPr marL="801688" lvl="1" indent="-344488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 pitchFamily="34" charset="0"/>
              <a:buChar char="•"/>
            </a:pPr>
            <a:r>
              <a:rPr lang="es-E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</a:p>
          <a:p>
            <a:pPr marL="620713" indent="-620713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 construye la tabla de riesgos</a:t>
            </a:r>
            <a:endParaRPr lang="es-ES"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20713" marR="0" lvl="0" indent="-620713" algn="just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633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1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"/>
          <p:cNvSpPr/>
          <p:nvPr/>
        </p:nvSpPr>
        <p:spPr>
          <a:xfrm>
            <a:off x="7973637" y="287338"/>
            <a:ext cx="1927601" cy="7846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0"/>
          </a:gradFill>
          <a:ln w="9525" cap="flat" cmpd="sng">
            <a:solidFill>
              <a:srgbClr val="60871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2.Análisis de riesgos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8305397" y="1593324"/>
            <a:ext cx="1181745" cy="610245"/>
          </a:xfrm>
          <a:prstGeom prst="flowChartDocumen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de priorización de riesgos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16"/>
          <p:cNvCxnSpPr/>
          <p:nvPr/>
        </p:nvCxnSpPr>
        <p:spPr>
          <a:xfrm flipH="1">
            <a:off x="8892882" y="113490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graphicFrame>
        <p:nvGraphicFramePr>
          <p:cNvPr id="352" name="Google Shape;352;p16"/>
          <p:cNvGraphicFramePr/>
          <p:nvPr>
            <p:extLst>
              <p:ext uri="{D42A27DB-BD31-4B8C-83A1-F6EECF244321}">
                <p14:modId xmlns:p14="http://schemas.microsoft.com/office/powerpoint/2010/main" val="3226751645"/>
              </p:ext>
            </p:extLst>
          </p:nvPr>
        </p:nvGraphicFramePr>
        <p:xfrm>
          <a:off x="2333626" y="4791717"/>
          <a:ext cx="8291008" cy="1489697"/>
        </p:xfrm>
        <a:graphic>
          <a:graphicData uri="http://schemas.openxmlformats.org/drawingml/2006/table">
            <a:tbl>
              <a:tblPr>
                <a:noFill/>
                <a:tableStyleId>{3EF29E7D-9136-45D8-AAB8-1E4A301F7CE6}</a:tableStyleId>
              </a:tblPr>
              <a:tblGrid>
                <a:gridCol w="3972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Riesgos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Probabilidad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Impacto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10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cliente cambiará los requisitos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latin typeface="+mn-lt"/>
                        </a:rPr>
                        <a:t>80%</a:t>
                      </a:r>
                      <a:endParaRPr sz="1800" u="none" strike="noStrike" cap="none" dirty="0">
                        <a:latin typeface="+mn-lt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34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Falta de formación en las herramientas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latin typeface="+mn-lt"/>
                        </a:rPr>
                        <a:t>80%</a:t>
                      </a:r>
                      <a:endParaRPr sz="1800" u="none" strike="noStrike" cap="none" dirty="0">
                        <a:latin typeface="+mn-lt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2AC2BC1-95AD-4DF7-220B-61ABF3CD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Análisis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1B5830-84EA-7970-D017-14CBF863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9C598083-8719-6ECA-E6D2-933E44EEC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A8FB38B-6D52-3B6A-4926-7E10CCED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17</a:t>
            </a:fld>
            <a:endParaRPr lang="es-ES"/>
          </a:p>
        </p:txBody>
      </p:sp>
      <p:sp>
        <p:nvSpPr>
          <p:cNvPr id="9" name="Google Shape;170;p5">
            <a:extLst>
              <a:ext uri="{FF2B5EF4-FFF2-40B4-BE49-F238E27FC236}">
                <a16:creationId xmlns:a16="http://schemas.microsoft.com/office/drawing/2014/main" id="{6AF160EA-8643-D25C-C8E3-4DBF5BD113E1}"/>
              </a:ext>
            </a:extLst>
          </p:cNvPr>
          <p:cNvSpPr/>
          <p:nvPr/>
        </p:nvSpPr>
        <p:spPr>
          <a:xfrm>
            <a:off x="1023980" y="2105739"/>
            <a:ext cx="10277674" cy="209010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348160" lvl="0" indent="-34816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3200" dirty="0">
                <a:latin typeface="Calibri"/>
                <a:ea typeface="Calibri"/>
                <a:cs typeface="Calibri"/>
                <a:sym typeface="Calibri"/>
              </a:rPr>
              <a:t>Se debe e</a:t>
            </a:r>
            <a:r>
              <a:rPr lang="es-ES" sz="32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stablecer una escala que refleje la probabilidad observada de un riesgo</a:t>
            </a:r>
          </a:p>
          <a:p>
            <a:pPr marL="722313" lvl="3" indent="-255588"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 "/>
            </a:pPr>
            <a:r>
              <a:rPr lang="es-ES" sz="2000" b="1" i="0" u="none" strike="noStrike" cap="none" dirty="0">
                <a:latin typeface="Calibri"/>
                <a:ea typeface="Calibri"/>
                <a:cs typeface="Calibri"/>
                <a:sym typeface="Calibri"/>
              </a:rPr>
              <a:t>Bastante improbable </a:t>
            </a:r>
            <a:r>
              <a:rPr lang="es-E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: &lt; 10%</a:t>
            </a:r>
            <a:endParaRPr lang="es-ES" sz="2000" b="0" i="1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722313" lvl="3" indent="-255588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 "/>
            </a:pPr>
            <a:r>
              <a:rPr lang="es-ES" sz="2000" b="1" i="0" u="none" strike="noStrike" cap="none" dirty="0">
                <a:latin typeface="Calibri"/>
                <a:ea typeface="Calibri"/>
                <a:cs typeface="Calibri"/>
                <a:sym typeface="Calibri"/>
              </a:rPr>
              <a:t>Improbable</a:t>
            </a:r>
            <a:r>
              <a:rPr lang="es-E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 : 10 - 25%</a:t>
            </a:r>
            <a:endParaRPr lang="es-ES" sz="2000" b="0" i="1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722313" lvl="3" indent="-255588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 "/>
            </a:pPr>
            <a:r>
              <a:rPr lang="es-ES" sz="2000" b="1" i="0" u="none" strike="noStrike" cap="none" dirty="0">
                <a:latin typeface="Calibri"/>
                <a:ea typeface="Calibri"/>
                <a:cs typeface="Calibri"/>
                <a:sym typeface="Calibri"/>
              </a:rPr>
              <a:t>Moderado</a:t>
            </a:r>
            <a:r>
              <a:rPr lang="es-E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 : 25 - 50%</a:t>
            </a:r>
            <a:endParaRPr lang="es-ES" sz="2000" b="0" i="1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722313" lvl="3" indent="-255588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 "/>
            </a:pPr>
            <a:r>
              <a:rPr lang="es-ES" sz="2000" b="1" i="0" u="none" strike="noStrike" cap="none" dirty="0">
                <a:latin typeface="Calibri"/>
                <a:ea typeface="Calibri"/>
                <a:cs typeface="Calibri"/>
                <a:sym typeface="Calibri"/>
              </a:rPr>
              <a:t>Probable</a:t>
            </a:r>
            <a:r>
              <a:rPr lang="es-E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 : 50 - 75%</a:t>
            </a:r>
            <a:endParaRPr lang="es-ES" sz="2000" b="0" i="1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722313" lvl="3" indent="-255588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 "/>
            </a:pPr>
            <a:r>
              <a:rPr lang="es-ES" sz="2000" b="1" i="0" u="none" strike="noStrike" cap="none" dirty="0">
                <a:latin typeface="Calibri"/>
                <a:ea typeface="Calibri"/>
                <a:cs typeface="Calibri"/>
                <a:sym typeface="Calibri"/>
              </a:rPr>
              <a:t>Bastante probable </a:t>
            </a:r>
            <a:r>
              <a:rPr lang="es-ES" sz="20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: &gt; 75%</a:t>
            </a:r>
            <a:endParaRPr lang="es-ES" sz="3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>
          <a:extLst>
            <a:ext uri="{FF2B5EF4-FFF2-40B4-BE49-F238E27FC236}">
              <a16:creationId xmlns:a16="http://schemas.microsoft.com/office/drawing/2014/main" id="{CE6546D8-7A47-DA78-40FF-87E23961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">
            <a:extLst>
              <a:ext uri="{FF2B5EF4-FFF2-40B4-BE49-F238E27FC236}">
                <a16:creationId xmlns:a16="http://schemas.microsoft.com/office/drawing/2014/main" id="{16F0EEC5-AFED-D369-738A-FC02AA37713F}"/>
              </a:ext>
            </a:extLst>
          </p:cNvPr>
          <p:cNvSpPr/>
          <p:nvPr/>
        </p:nvSpPr>
        <p:spPr>
          <a:xfrm>
            <a:off x="7973637" y="287338"/>
            <a:ext cx="1927601" cy="7846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0"/>
          </a:gradFill>
          <a:ln w="9525" cap="flat" cmpd="sng">
            <a:solidFill>
              <a:srgbClr val="60871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2.Análisis de riesgos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">
            <a:extLst>
              <a:ext uri="{FF2B5EF4-FFF2-40B4-BE49-F238E27FC236}">
                <a16:creationId xmlns:a16="http://schemas.microsoft.com/office/drawing/2014/main" id="{E7403E10-DAFF-A808-7470-ECED48B7C8EE}"/>
              </a:ext>
            </a:extLst>
          </p:cNvPr>
          <p:cNvSpPr/>
          <p:nvPr/>
        </p:nvSpPr>
        <p:spPr>
          <a:xfrm>
            <a:off x="8305397" y="1593324"/>
            <a:ext cx="1181745" cy="610245"/>
          </a:xfrm>
          <a:prstGeom prst="flowChartDocumen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de priorización de riesgos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16">
            <a:extLst>
              <a:ext uri="{FF2B5EF4-FFF2-40B4-BE49-F238E27FC236}">
                <a16:creationId xmlns:a16="http://schemas.microsoft.com/office/drawing/2014/main" id="{7C1E5BC3-28BE-6452-5EFA-CA2DBD3BE56F}"/>
              </a:ext>
            </a:extLst>
          </p:cNvPr>
          <p:cNvCxnSpPr/>
          <p:nvPr/>
        </p:nvCxnSpPr>
        <p:spPr>
          <a:xfrm flipH="1">
            <a:off x="8892882" y="113490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graphicFrame>
        <p:nvGraphicFramePr>
          <p:cNvPr id="352" name="Google Shape;352;p16">
            <a:extLst>
              <a:ext uri="{FF2B5EF4-FFF2-40B4-BE49-F238E27FC236}">
                <a16:creationId xmlns:a16="http://schemas.microsoft.com/office/drawing/2014/main" id="{A7ACDB1E-0635-D537-DE56-87A9A2DE78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2704076"/>
              </p:ext>
            </p:extLst>
          </p:nvPr>
        </p:nvGraphicFramePr>
        <p:xfrm>
          <a:off x="2333626" y="4583170"/>
          <a:ext cx="8291008" cy="1713150"/>
        </p:xfrm>
        <a:graphic>
          <a:graphicData uri="http://schemas.openxmlformats.org/drawingml/2006/table">
            <a:tbl>
              <a:tblPr>
                <a:noFill/>
                <a:tableStyleId>{3EF29E7D-9136-45D8-AAB8-1E4A301F7CE6}</a:tableStyleId>
              </a:tblPr>
              <a:tblGrid>
                <a:gridCol w="3972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Riesgos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Probabilidad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Impacto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solidFill>
                      <a:srgbClr val="B8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cliente cambiará los requisitos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latin typeface="+mn-lt"/>
                        </a:rPr>
                        <a:t>80%</a:t>
                      </a:r>
                      <a:endParaRPr sz="1800" u="none" strike="noStrike" cap="none" dirty="0">
                        <a:latin typeface="+mn-lt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latin typeface="+mn-lt"/>
                        </a:rPr>
                        <a:t>2</a:t>
                      </a:r>
                      <a:endParaRPr sz="1800" u="none" strike="noStrike" cap="none" dirty="0">
                        <a:latin typeface="+mn-lt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Falta de formación en las herramientas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latin typeface="+mn-lt"/>
                        </a:rPr>
                        <a:t>80%</a:t>
                      </a:r>
                      <a:endParaRPr sz="1800" u="none" strike="noStrike" cap="none" dirty="0">
                        <a:latin typeface="+mn-lt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strike="noStrike" cap="none" dirty="0">
                          <a:latin typeface="+mn-lt"/>
                        </a:rPr>
                        <a:t>3</a:t>
                      </a:r>
                      <a:endParaRPr sz="1800" u="none" strike="noStrike" cap="none" dirty="0">
                        <a:latin typeface="+mn-lt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15F1B656-76A0-17B5-FDB8-FCABA240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Análisis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9250E5-8A2E-9E15-4184-20B6AD03A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9B509EAB-00CB-9EC4-B7F8-89D80E544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A84EF52-2207-0DAB-8EC3-7F2B9473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18</a:t>
            </a:fld>
            <a:endParaRPr lang="es-ES"/>
          </a:p>
        </p:txBody>
      </p:sp>
      <p:sp>
        <p:nvSpPr>
          <p:cNvPr id="9" name="Google Shape;170;p5">
            <a:extLst>
              <a:ext uri="{FF2B5EF4-FFF2-40B4-BE49-F238E27FC236}">
                <a16:creationId xmlns:a16="http://schemas.microsoft.com/office/drawing/2014/main" id="{C588B12C-8B84-50FD-FAE6-297B2A6F94AB}"/>
              </a:ext>
            </a:extLst>
          </p:cNvPr>
          <p:cNvSpPr/>
          <p:nvPr/>
        </p:nvSpPr>
        <p:spPr>
          <a:xfrm>
            <a:off x="1023980" y="2135317"/>
            <a:ext cx="10277674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348160" lvl="0" indent="-34816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Luego, es necesario estimar el impacto en el proyecto</a:t>
            </a:r>
            <a:endParaRPr lang="es-ES" sz="32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460375" lvl="1" indent="-284163"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+mj-lt"/>
              <a:buAutoNum type="arabicPeriod"/>
            </a:pPr>
            <a:r>
              <a:rPr lang="es-ES" sz="2000" b="1" i="0" u="none" strike="noStrike" kern="0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Catastrófico: </a:t>
            </a:r>
            <a:r>
              <a:rPr lang="es-ES" sz="2000" b="0" i="0" u="none" strike="noStrike" kern="0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cancelación del proyecto</a:t>
            </a:r>
            <a:endParaRPr lang="es-ES" sz="2000" b="0" i="0" u="none" strike="noStrike" kern="0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0375" lvl="1" indent="-284163"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+mj-lt"/>
              <a:buAutoNum type="arabicPeriod"/>
            </a:pPr>
            <a:r>
              <a:rPr lang="es-ES" sz="2000" b="1" i="0" u="none" strike="noStrike" kern="0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Serio</a:t>
            </a:r>
            <a:r>
              <a:rPr lang="es-ES" sz="2000" b="0" i="0" u="none" strike="noStrike" kern="0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: reducción de rendimiento, retrasos en la entrega, excesos importantes en costo </a:t>
            </a:r>
            <a:endParaRPr lang="es-ES" sz="2000" b="0" i="0" u="none" strike="noStrike" kern="0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0375" lvl="1" indent="-284163"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+mj-lt"/>
              <a:buAutoNum type="arabicPeriod"/>
            </a:pPr>
            <a:r>
              <a:rPr lang="es-ES" sz="2000" b="1" i="0" u="none" strike="noStrike" kern="0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Tolerable:</a:t>
            </a:r>
            <a:r>
              <a:rPr lang="es-ES" sz="2000" b="0" i="0" u="none" strike="noStrike" kern="0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 reducciones mínimas de rendimiento, posibles retrasos, exceso en costo</a:t>
            </a:r>
            <a:endParaRPr lang="es-ES" sz="2000" b="0" i="0" u="none" strike="noStrike" kern="0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0375" lvl="1" indent="-284163"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+mj-lt"/>
              <a:buAutoNum type="arabicPeriod"/>
            </a:pPr>
            <a:r>
              <a:rPr lang="es-ES" sz="2000" b="1" i="0" u="none" strike="noStrike" kern="0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Insignificante: </a:t>
            </a:r>
            <a:r>
              <a:rPr lang="es-ES" sz="2000" b="0" i="0" u="none" strike="noStrike" kern="0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incidencia mínima en el desarrollo</a:t>
            </a:r>
            <a:endParaRPr lang="es-ES" sz="2000" b="0" i="0" u="none" strike="noStrike" kern="0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22313" lvl="3" indent="-255588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 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D67BFB-F8C6-F694-5346-A0BC68A8ED70}"/>
              </a:ext>
            </a:extLst>
          </p:cNvPr>
          <p:cNvSpPr txBox="1"/>
          <p:nvPr/>
        </p:nvSpPr>
        <p:spPr>
          <a:xfrm>
            <a:off x="10299032" y="4198239"/>
            <a:ext cx="1782427" cy="147732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ordena la lista por probabilidad e impacto y se traza una </a:t>
            </a:r>
            <a:r>
              <a:rPr lang="es-ES" sz="1800" b="1" i="0" u="sng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línea de corte</a:t>
            </a: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278187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>
          <a:extLst>
            <a:ext uri="{FF2B5EF4-FFF2-40B4-BE49-F238E27FC236}">
              <a16:creationId xmlns:a16="http://schemas.microsoft.com/office/drawing/2014/main" id="{BE3980E5-A696-3047-849C-E494DD82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">
            <a:extLst>
              <a:ext uri="{FF2B5EF4-FFF2-40B4-BE49-F238E27FC236}">
                <a16:creationId xmlns:a16="http://schemas.microsoft.com/office/drawing/2014/main" id="{AC05179A-B38D-AC49-902D-1C2009AF8902}"/>
              </a:ext>
            </a:extLst>
          </p:cNvPr>
          <p:cNvSpPr/>
          <p:nvPr/>
        </p:nvSpPr>
        <p:spPr>
          <a:xfrm>
            <a:off x="7973637" y="287338"/>
            <a:ext cx="1927601" cy="7846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0"/>
          </a:gradFill>
          <a:ln w="9525" cap="flat" cmpd="sng">
            <a:solidFill>
              <a:srgbClr val="60871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2.Análisis de riesgos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">
            <a:extLst>
              <a:ext uri="{FF2B5EF4-FFF2-40B4-BE49-F238E27FC236}">
                <a16:creationId xmlns:a16="http://schemas.microsoft.com/office/drawing/2014/main" id="{A8C0A4DB-9DC9-862C-B413-C9F7FDEAFE7E}"/>
              </a:ext>
            </a:extLst>
          </p:cNvPr>
          <p:cNvSpPr/>
          <p:nvPr/>
        </p:nvSpPr>
        <p:spPr>
          <a:xfrm>
            <a:off x="8305397" y="1593324"/>
            <a:ext cx="1181745" cy="610245"/>
          </a:xfrm>
          <a:prstGeom prst="flowChartDocumen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de priorización de riesgos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16">
            <a:extLst>
              <a:ext uri="{FF2B5EF4-FFF2-40B4-BE49-F238E27FC236}">
                <a16:creationId xmlns:a16="http://schemas.microsoft.com/office/drawing/2014/main" id="{783B1853-6624-864B-D970-FB25AFFB7C1C}"/>
              </a:ext>
            </a:extLst>
          </p:cNvPr>
          <p:cNvCxnSpPr/>
          <p:nvPr/>
        </p:nvCxnSpPr>
        <p:spPr>
          <a:xfrm flipH="1">
            <a:off x="8892882" y="113490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5" name="Título 4">
            <a:extLst>
              <a:ext uri="{FF2B5EF4-FFF2-40B4-BE49-F238E27FC236}">
                <a16:creationId xmlns:a16="http://schemas.microsoft.com/office/drawing/2014/main" id="{33778CCC-56A5-68B6-BDB2-3FE37053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Análisis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4B5BC9-CD42-B9A1-C003-CC7189812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ABC99284-E6C7-06BC-03A3-9809BB86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540C14D-521C-A3AF-35B4-228CA89D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19</a:t>
            </a:fld>
            <a:endParaRPr lang="es-ES"/>
          </a:p>
        </p:txBody>
      </p:sp>
      <p:sp>
        <p:nvSpPr>
          <p:cNvPr id="9" name="Google Shape;170;p5">
            <a:extLst>
              <a:ext uri="{FF2B5EF4-FFF2-40B4-BE49-F238E27FC236}">
                <a16:creationId xmlns:a16="http://schemas.microsoft.com/office/drawing/2014/main" id="{CCCF33E2-03B9-7629-2373-DB160D6FC2B2}"/>
              </a:ext>
            </a:extLst>
          </p:cNvPr>
          <p:cNvSpPr/>
          <p:nvPr/>
        </p:nvSpPr>
        <p:spPr>
          <a:xfrm>
            <a:off x="1023980" y="2135317"/>
            <a:ext cx="10277674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32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Boehm recomienda identificar y supervisar los 10 riesgos más altos</a:t>
            </a:r>
            <a:r>
              <a:rPr lang="es-E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​.</a:t>
            </a:r>
          </a:p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3200" b="0" i="0" u="none" strike="noStrike" cap="none" dirty="0">
                <a:latin typeface="Calibri"/>
                <a:ea typeface="Calibri"/>
                <a:cs typeface="Calibri"/>
                <a:sym typeface="Calibri"/>
              </a:rPr>
              <a:t>El número exacto de riesgos debe depender del proyecto. ​</a:t>
            </a:r>
          </a:p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3200" dirty="0">
                <a:latin typeface="Calibri"/>
                <a:ea typeface="Calibri"/>
                <a:cs typeface="Calibri"/>
                <a:sym typeface="Calibri"/>
              </a:rPr>
              <a:t>Los riesgos que queden </a:t>
            </a:r>
            <a:r>
              <a:rPr lang="es-ES" sz="3200" u="sng" dirty="0">
                <a:latin typeface="Calibri"/>
                <a:ea typeface="Calibri"/>
                <a:cs typeface="Calibri"/>
                <a:sym typeface="Calibri"/>
              </a:rPr>
              <a:t>encima de la línea</a:t>
            </a:r>
            <a:r>
              <a:rPr lang="es-ES" sz="3200" dirty="0">
                <a:latin typeface="Calibri"/>
                <a:ea typeface="Calibri"/>
                <a:cs typeface="Calibri"/>
                <a:sym typeface="Calibri"/>
              </a:rPr>
              <a:t> serán los que se les preste atención. </a:t>
            </a:r>
          </a:p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400" dirty="0">
              <a:latin typeface="Calibri"/>
              <a:ea typeface="Calibri"/>
              <a:cs typeface="Calibri"/>
              <a:sym typeface="Calibri"/>
            </a:endParaRPr>
          </a:p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3200" dirty="0">
                <a:latin typeface="Calibri"/>
                <a:ea typeface="Calibri"/>
                <a:cs typeface="Calibri"/>
                <a:sym typeface="Calibri"/>
              </a:rPr>
              <a:t>Los que queden </a:t>
            </a:r>
            <a:r>
              <a:rPr lang="es-ES" sz="3200" u="sng" dirty="0">
                <a:latin typeface="Calibri"/>
                <a:ea typeface="Calibri"/>
                <a:cs typeface="Calibri"/>
                <a:sym typeface="Calibri"/>
              </a:rPr>
              <a:t>debajo de la línea</a:t>
            </a:r>
            <a:r>
              <a:rPr lang="es-ES" sz="3200" dirty="0">
                <a:latin typeface="Calibri"/>
                <a:ea typeface="Calibri"/>
                <a:cs typeface="Calibri"/>
                <a:sym typeface="Calibri"/>
              </a:rPr>
              <a:t> serán reevaluados y tendrán una prioridad de segundo orden. ​​</a:t>
            </a:r>
          </a:p>
          <a:p>
            <a:pPr marL="348160" indent="-34816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4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384;p19">
            <a:extLst>
              <a:ext uri="{FF2B5EF4-FFF2-40B4-BE49-F238E27FC236}">
                <a16:creationId xmlns:a16="http://schemas.microsoft.com/office/drawing/2014/main" id="{54164CD9-913A-08FE-C329-480F300096C6}"/>
              </a:ext>
            </a:extLst>
          </p:cNvPr>
          <p:cNvSpPr txBox="1"/>
          <p:nvPr/>
        </p:nvSpPr>
        <p:spPr>
          <a:xfrm>
            <a:off x="7522172" y="3423435"/>
            <a:ext cx="3963691" cy="677108"/>
          </a:xfrm>
          <a:prstGeom prst="rect">
            <a:avLst/>
          </a:prstGeom>
          <a:solidFill>
            <a:srgbClr val="B8444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parece demasiado arbitrario !!!.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392;p19" descr="Limitless Night by heyner.capera on emaze">
            <a:extLst>
              <a:ext uri="{FF2B5EF4-FFF2-40B4-BE49-F238E27FC236}">
                <a16:creationId xmlns:a16="http://schemas.microsoft.com/office/drawing/2014/main" id="{DA570821-1C87-42FF-E3B1-BE68445EED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2454" y="1647319"/>
            <a:ext cx="243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385;p19">
            <a:extLst>
              <a:ext uri="{FF2B5EF4-FFF2-40B4-BE49-F238E27FC236}">
                <a16:creationId xmlns:a16="http://schemas.microsoft.com/office/drawing/2014/main" id="{A4F3C2DC-D455-9C15-C19A-42D9A84646F2}"/>
              </a:ext>
            </a:extLst>
          </p:cNvPr>
          <p:cNvSpPr txBox="1"/>
          <p:nvPr/>
        </p:nvSpPr>
        <p:spPr>
          <a:xfrm>
            <a:off x="6868100" y="4030436"/>
            <a:ext cx="3130657" cy="707886"/>
          </a:xfrm>
          <a:prstGeom prst="rect">
            <a:avLst/>
          </a:prstGeom>
          <a:solidFill>
            <a:srgbClr val="B8444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obstante, debe ser un número manejable.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393;p19" descr="Tensión Del Hombre De Negocios En El Escritorio Por Mucho Trabajo ...">
            <a:extLst>
              <a:ext uri="{FF2B5EF4-FFF2-40B4-BE49-F238E27FC236}">
                <a16:creationId xmlns:a16="http://schemas.microsoft.com/office/drawing/2014/main" id="{ED86A7BC-04C7-718E-0096-AC1F56BAA2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6722" t="9980" r="1077"/>
          <a:stretch/>
        </p:blipFill>
        <p:spPr>
          <a:xfrm>
            <a:off x="9696199" y="3791875"/>
            <a:ext cx="2443736" cy="1783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132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>
          <a:extLst>
            <a:ext uri="{FF2B5EF4-FFF2-40B4-BE49-F238E27FC236}">
              <a16:creationId xmlns:a16="http://schemas.microsoft.com/office/drawing/2014/main" id="{BFF82A18-D80D-6971-7623-C8408EA9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">
            <a:extLst>
              <a:ext uri="{FF2B5EF4-FFF2-40B4-BE49-F238E27FC236}">
                <a16:creationId xmlns:a16="http://schemas.microsoft.com/office/drawing/2014/main" id="{8600E449-3E5E-0DEF-B66E-DC715D3ED915}"/>
              </a:ext>
            </a:extLst>
          </p:cNvPr>
          <p:cNvSpPr/>
          <p:nvPr/>
        </p:nvSpPr>
        <p:spPr>
          <a:xfrm>
            <a:off x="7973637" y="271296"/>
            <a:ext cx="1927601" cy="7846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0"/>
          </a:gradFill>
          <a:ln w="9525" cap="flat" cmpd="sng">
            <a:solidFill>
              <a:srgbClr val="60871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2.Análisis de riesgos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">
            <a:extLst>
              <a:ext uri="{FF2B5EF4-FFF2-40B4-BE49-F238E27FC236}">
                <a16:creationId xmlns:a16="http://schemas.microsoft.com/office/drawing/2014/main" id="{EA8BFCA5-AD3E-6C39-7F32-EBA1AE5825EF}"/>
              </a:ext>
            </a:extLst>
          </p:cNvPr>
          <p:cNvSpPr/>
          <p:nvPr/>
        </p:nvSpPr>
        <p:spPr>
          <a:xfrm>
            <a:off x="8305397" y="1577282"/>
            <a:ext cx="1181745" cy="610245"/>
          </a:xfrm>
          <a:prstGeom prst="flowChartDocumen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de priorización de riesgos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16">
            <a:extLst>
              <a:ext uri="{FF2B5EF4-FFF2-40B4-BE49-F238E27FC236}">
                <a16:creationId xmlns:a16="http://schemas.microsoft.com/office/drawing/2014/main" id="{D2C94EDF-AFC2-7446-A0BB-956748F5CEDB}"/>
              </a:ext>
            </a:extLst>
          </p:cNvPr>
          <p:cNvCxnSpPr/>
          <p:nvPr/>
        </p:nvCxnSpPr>
        <p:spPr>
          <a:xfrm flipH="1">
            <a:off x="8892882" y="1118862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5" name="Título 4">
            <a:extLst>
              <a:ext uri="{FF2B5EF4-FFF2-40B4-BE49-F238E27FC236}">
                <a16:creationId xmlns:a16="http://schemas.microsoft.com/office/drawing/2014/main" id="{80C7C951-1E56-55ED-64E4-0ABA4DFA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Análisis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D3EFDA-75C4-7B2B-D935-13E8F77CD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989769C-867C-FF8F-E8A7-852DB253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4583169-49F7-7047-42D3-73723D78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20</a:t>
            </a:fld>
            <a:endParaRPr lang="es-ES"/>
          </a:p>
        </p:txBody>
      </p:sp>
      <p:sp>
        <p:nvSpPr>
          <p:cNvPr id="9" name="Google Shape;170;p5">
            <a:extLst>
              <a:ext uri="{FF2B5EF4-FFF2-40B4-BE49-F238E27FC236}">
                <a16:creationId xmlns:a16="http://schemas.microsoft.com/office/drawing/2014/main" id="{14EB953A-2AF2-5FFB-8145-FAEA1C7EF358}"/>
              </a:ext>
            </a:extLst>
          </p:cNvPr>
          <p:cNvSpPr/>
          <p:nvPr/>
        </p:nvSpPr>
        <p:spPr>
          <a:xfrm>
            <a:off x="1023980" y="2103233"/>
            <a:ext cx="10277674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2800" dirty="0">
                <a:latin typeface="Calibri"/>
                <a:ea typeface="Calibri"/>
                <a:cs typeface="Calibri"/>
                <a:sym typeface="Calibri"/>
              </a:rPr>
              <a:t>Los riesgos de </a:t>
            </a:r>
            <a:r>
              <a:rPr lang="es-ES" sz="2800" u="sng" dirty="0">
                <a:latin typeface="Calibri"/>
                <a:ea typeface="Calibri"/>
                <a:cs typeface="Calibri"/>
                <a:sym typeface="Calibri"/>
              </a:rPr>
              <a:t>gran impacto</a:t>
            </a:r>
            <a:r>
              <a:rPr lang="es-ES" sz="2800" dirty="0">
                <a:latin typeface="Calibri"/>
                <a:ea typeface="Calibri"/>
                <a:cs typeface="Calibri"/>
                <a:sym typeface="Calibri"/>
              </a:rPr>
              <a:t> con una </a:t>
            </a:r>
            <a:r>
              <a:rPr lang="es-ES" sz="2800" u="sng" dirty="0">
                <a:latin typeface="Calibri"/>
                <a:ea typeface="Calibri"/>
                <a:cs typeface="Calibri"/>
                <a:sym typeface="Calibri"/>
              </a:rPr>
              <a:t>probabilidad de moderada a alta</a:t>
            </a:r>
            <a:r>
              <a:rPr lang="es-ES" sz="2800" dirty="0">
                <a:latin typeface="Calibri"/>
                <a:ea typeface="Calibri"/>
                <a:cs typeface="Calibri"/>
                <a:sym typeface="Calibri"/>
              </a:rPr>
              <a:t> y los riesgos de </a:t>
            </a:r>
            <a:r>
              <a:rPr lang="es-ES" sz="2800" u="sng" dirty="0">
                <a:latin typeface="Calibri"/>
                <a:ea typeface="Calibri"/>
                <a:cs typeface="Calibri"/>
                <a:sym typeface="Calibri"/>
              </a:rPr>
              <a:t>poco impacto, pero con gran probabilidad</a:t>
            </a:r>
            <a:r>
              <a:rPr lang="es-ES" sz="2800" dirty="0">
                <a:latin typeface="Calibri"/>
                <a:ea typeface="Calibri"/>
                <a:cs typeface="Calibri"/>
                <a:sym typeface="Calibri"/>
              </a:rPr>
              <a:t> deberían tomarse en cuenta.</a:t>
            </a:r>
          </a:p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800" dirty="0">
              <a:latin typeface="Calibri"/>
              <a:ea typeface="Calibri"/>
              <a:cs typeface="Calibri"/>
              <a:sym typeface="Calibri"/>
            </a:endParaRPr>
          </a:p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800" dirty="0">
              <a:latin typeface="Calibri"/>
              <a:ea typeface="Calibri"/>
              <a:cs typeface="Calibri"/>
              <a:sym typeface="Calibri"/>
            </a:endParaRPr>
          </a:p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800" dirty="0">
              <a:latin typeface="Calibri"/>
              <a:ea typeface="Calibri"/>
              <a:cs typeface="Calibri"/>
              <a:sym typeface="Calibri"/>
            </a:endParaRPr>
          </a:p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800" dirty="0">
              <a:latin typeface="Calibri"/>
              <a:ea typeface="Calibri"/>
              <a:cs typeface="Calibri"/>
              <a:sym typeface="Calibri"/>
            </a:endParaRPr>
          </a:p>
          <a:p>
            <a:pPr marL="449263" indent="-44926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800" dirty="0"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</a:pPr>
            <a:endParaRPr lang="es-ES" sz="2800" dirty="0">
              <a:latin typeface="Calibri"/>
              <a:ea typeface="Calibri"/>
              <a:cs typeface="Calibri"/>
              <a:sym typeface="Calibri"/>
            </a:endParaRPr>
          </a:p>
          <a:p>
            <a:pPr marL="348160" indent="-34816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400" dirty="0">
              <a:latin typeface="Calibri"/>
              <a:ea typeface="Calibri"/>
              <a:cs typeface="Calibri"/>
              <a:sym typeface="Calibri"/>
            </a:endParaRPr>
          </a:p>
          <a:p>
            <a:pPr marL="348160" indent="-34816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2400" dirty="0">
                <a:latin typeface="Calibri"/>
                <a:ea typeface="Calibri"/>
                <a:cs typeface="Calibri"/>
                <a:sym typeface="Calibri"/>
              </a:rPr>
              <a:t>Un factor de riesgo que tenga gran impacto, pero poca probabilidad de que ocurra, no debería absorber un tiempo significativo.</a:t>
            </a:r>
          </a:p>
          <a:p>
            <a:pPr marL="348160" indent="-34816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endParaRPr lang="es-ES" sz="24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409;p20" descr="Forma&#10;&#10;El contenido generado por IA puede ser incorrecto.">
            <a:extLst>
              <a:ext uri="{FF2B5EF4-FFF2-40B4-BE49-F238E27FC236}">
                <a16:creationId xmlns:a16="http://schemas.microsoft.com/office/drawing/2014/main" id="{E4CDD91B-46A0-4DEB-75F1-89B0B52E1C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234" b="21943"/>
          <a:stretch>
            <a:fillRect/>
          </a:stretch>
        </p:blipFill>
        <p:spPr>
          <a:xfrm>
            <a:off x="3886220" y="3221726"/>
            <a:ext cx="4419559" cy="2473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423;p21">
            <a:extLst>
              <a:ext uri="{FF2B5EF4-FFF2-40B4-BE49-F238E27FC236}">
                <a16:creationId xmlns:a16="http://schemas.microsoft.com/office/drawing/2014/main" id="{F12987F2-C97A-F387-3F12-7C014EC849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5156" y="2266076"/>
            <a:ext cx="5301686" cy="40173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6331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3" name="Google Shape;433;p22"/>
          <p:cNvGraphicFramePr/>
          <p:nvPr>
            <p:extLst>
              <p:ext uri="{D42A27DB-BD31-4B8C-83A1-F6EECF244321}">
                <p14:modId xmlns:p14="http://schemas.microsoft.com/office/powerpoint/2010/main" val="1001386753"/>
              </p:ext>
            </p:extLst>
          </p:nvPr>
        </p:nvGraphicFramePr>
        <p:xfrm>
          <a:off x="2459911" y="2239476"/>
          <a:ext cx="7272178" cy="4067692"/>
        </p:xfrm>
        <a:graphic>
          <a:graphicData uri="http://schemas.openxmlformats.org/drawingml/2006/table">
            <a:tbl>
              <a:tblPr>
                <a:noFill/>
                <a:tableStyleId>{3EF29E7D-9136-45D8-AAB8-1E4A301F7CE6}</a:tableStyleId>
              </a:tblPr>
              <a:tblGrid>
                <a:gridCol w="354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68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b="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Riesgos</a:t>
                      </a:r>
                      <a:endParaRPr sz="1800" u="none" strike="noStrike" cap="none" dirty="0"/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800" b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Probabilidad</a:t>
                      </a:r>
                      <a:endParaRPr sz="1800" b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Impacto</a:t>
                      </a:r>
                      <a:endParaRPr sz="1800" b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1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ES" sz="15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cliente cambiará los requisitos</a:t>
                      </a:r>
                      <a:endParaRPr sz="15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</a:t>
                      </a:r>
                      <a:endParaRPr sz="16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80%</a:t>
                      </a:r>
                      <a:endParaRPr sz="16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9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ES" sz="15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Falta de formación en las herramientas</a:t>
                      </a:r>
                      <a:endParaRPr sz="15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</a:t>
                      </a:r>
                      <a:endParaRPr sz="16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80%</a:t>
                      </a:r>
                      <a:endParaRPr sz="16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ES" sz="15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Menos reutilización de la prevista</a:t>
                      </a:r>
                      <a:endParaRPr sz="15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</a:t>
                      </a:r>
                      <a:endParaRPr sz="16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70%</a:t>
                      </a:r>
                      <a:endParaRPr sz="16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00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ES" sz="15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estimación del tamaño puede ser muy baja</a:t>
                      </a:r>
                      <a:endParaRPr sz="15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</a:t>
                      </a:r>
                      <a:endParaRPr sz="16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60%</a:t>
                      </a:r>
                      <a:endParaRPr sz="16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78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ES" sz="15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Habrá muchos cambios de personal</a:t>
                      </a:r>
                      <a:endParaRPr sz="15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</a:t>
                      </a:r>
                      <a:endParaRPr sz="16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60%</a:t>
                      </a:r>
                      <a:endParaRPr sz="16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9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ES" sz="15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fecha de entrega estará muy ajustada </a:t>
                      </a:r>
                      <a:endParaRPr sz="15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</a:t>
                      </a:r>
                      <a:endParaRPr sz="16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 sz="16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545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ES" sz="15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perderán los presupuestos</a:t>
                      </a:r>
                      <a:endParaRPr sz="15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</a:t>
                      </a:r>
                      <a:endParaRPr sz="16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 sz="16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2125" marR="42125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434" name="Google Shape;434;p22"/>
          <p:cNvCxnSpPr/>
          <p:nvPr/>
        </p:nvCxnSpPr>
        <p:spPr>
          <a:xfrm>
            <a:off x="1401735" y="5805820"/>
            <a:ext cx="8964720" cy="0"/>
          </a:xfrm>
          <a:prstGeom prst="straightConnector1">
            <a:avLst/>
          </a:prstGeom>
          <a:noFill/>
          <a:ln w="38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435" name="Google Shape;435;p22"/>
          <p:cNvSpPr/>
          <p:nvPr/>
        </p:nvSpPr>
        <p:spPr>
          <a:xfrm>
            <a:off x="10276513" y="4733963"/>
            <a:ext cx="1872000" cy="836280"/>
          </a:xfrm>
          <a:prstGeom prst="borderCallout1">
            <a:avLst>
              <a:gd name="adj1" fmla="val 47524"/>
              <a:gd name="adj2" fmla="val -621"/>
              <a:gd name="adj3" fmla="val 112500"/>
              <a:gd name="adj4" fmla="val -38333"/>
            </a:avLst>
          </a:prstGeom>
          <a:solidFill>
            <a:schemeClr val="accent1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Línea de Corte 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A88518B-DC00-5948-5FF4-A3084DB45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Análisis de riesgos - Ejemplo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1BB691-8630-C943-BBAB-66383D46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173006F-2C47-216C-1C14-32A02C991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D4D6C1A-19D8-634A-5662-F04606C0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21</a:t>
            </a:fld>
            <a:endParaRPr lang="es-ES"/>
          </a:p>
        </p:txBody>
      </p:sp>
      <p:sp>
        <p:nvSpPr>
          <p:cNvPr id="6" name="Google Shape;349;p16">
            <a:extLst>
              <a:ext uri="{FF2B5EF4-FFF2-40B4-BE49-F238E27FC236}">
                <a16:creationId xmlns:a16="http://schemas.microsoft.com/office/drawing/2014/main" id="{F13399D2-DBD9-B32A-4BB9-7CF7CFFA8D69}"/>
              </a:ext>
            </a:extLst>
          </p:cNvPr>
          <p:cNvSpPr/>
          <p:nvPr/>
        </p:nvSpPr>
        <p:spPr>
          <a:xfrm>
            <a:off x="7973637" y="287338"/>
            <a:ext cx="1927601" cy="7846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C3E1A8"/>
              </a:gs>
              <a:gs pos="35000">
                <a:srgbClr val="D3E9C1"/>
              </a:gs>
              <a:gs pos="100000">
                <a:srgbClr val="EDF8E6"/>
              </a:gs>
            </a:gsLst>
            <a:lin ang="16200000" scaled="0"/>
          </a:gradFill>
          <a:ln w="9525" cap="flat" cmpd="sng">
            <a:solidFill>
              <a:srgbClr val="60871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2.Análisis de riesgos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50;p16">
            <a:extLst>
              <a:ext uri="{FF2B5EF4-FFF2-40B4-BE49-F238E27FC236}">
                <a16:creationId xmlns:a16="http://schemas.microsoft.com/office/drawing/2014/main" id="{454576EB-E949-B292-71AE-444A97DB9C75}"/>
              </a:ext>
            </a:extLst>
          </p:cNvPr>
          <p:cNvSpPr/>
          <p:nvPr/>
        </p:nvSpPr>
        <p:spPr>
          <a:xfrm>
            <a:off x="8305397" y="1593324"/>
            <a:ext cx="1181745" cy="610245"/>
          </a:xfrm>
          <a:prstGeom prst="flowChartDocumen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Listado de priorización de riesgos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351;p16">
            <a:extLst>
              <a:ext uri="{FF2B5EF4-FFF2-40B4-BE49-F238E27FC236}">
                <a16:creationId xmlns:a16="http://schemas.microsoft.com/office/drawing/2014/main" id="{C6F65B44-0954-9D8E-1D8E-04A2DCE689CF}"/>
              </a:ext>
            </a:extLst>
          </p:cNvPr>
          <p:cNvCxnSpPr/>
          <p:nvPr/>
        </p:nvCxnSpPr>
        <p:spPr>
          <a:xfrm flipH="1">
            <a:off x="8892882" y="113490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828563B4-2365-B0A0-144B-722105FF7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7267696-4366-A8A2-5E31-D7105D58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Planeación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5125E1-86BC-BFE5-8761-74440C0CE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22A6BEE-4AD7-3915-BFA6-C2D811A6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1547ECE-5EEE-5387-B266-58AA4E13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22</a:t>
            </a:fld>
            <a:endParaRPr lang="es-ES"/>
          </a:p>
        </p:txBody>
      </p:sp>
      <p:cxnSp>
        <p:nvCxnSpPr>
          <p:cNvPr id="8" name="Google Shape;351;p16">
            <a:extLst>
              <a:ext uri="{FF2B5EF4-FFF2-40B4-BE49-F238E27FC236}">
                <a16:creationId xmlns:a16="http://schemas.microsoft.com/office/drawing/2014/main" id="{76293E65-7445-A7FA-D65F-F89E2F765149}"/>
              </a:ext>
            </a:extLst>
          </p:cNvPr>
          <p:cNvCxnSpPr/>
          <p:nvPr/>
        </p:nvCxnSpPr>
        <p:spPr>
          <a:xfrm flipH="1">
            <a:off x="8892882" y="113490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grpSp>
        <p:nvGrpSpPr>
          <p:cNvPr id="9" name="Google Shape;467;p24">
            <a:extLst>
              <a:ext uri="{FF2B5EF4-FFF2-40B4-BE49-F238E27FC236}">
                <a16:creationId xmlns:a16="http://schemas.microsoft.com/office/drawing/2014/main" id="{A6EB82A6-BFD6-C1DC-5BC0-32D07BA3850F}"/>
              </a:ext>
            </a:extLst>
          </p:cNvPr>
          <p:cNvGrpSpPr/>
          <p:nvPr/>
        </p:nvGrpSpPr>
        <p:grpSpPr>
          <a:xfrm>
            <a:off x="7929081" y="341333"/>
            <a:ext cx="1927601" cy="2017219"/>
            <a:chOff x="6448253" y="-25362"/>
            <a:chExt cx="1927601" cy="2017219"/>
          </a:xfrm>
        </p:grpSpPr>
        <p:sp>
          <p:nvSpPr>
            <p:cNvPr id="10" name="Google Shape;468;p24">
              <a:extLst>
                <a:ext uri="{FF2B5EF4-FFF2-40B4-BE49-F238E27FC236}">
                  <a16:creationId xmlns:a16="http://schemas.microsoft.com/office/drawing/2014/main" id="{8797C00D-2248-0C1E-06BD-7155AE9F0A07}"/>
                </a:ext>
              </a:extLst>
            </p:cNvPr>
            <p:cNvSpPr/>
            <p:nvPr/>
          </p:nvSpPr>
          <p:spPr>
            <a:xfrm>
              <a:off x="6448253" y="-25362"/>
              <a:ext cx="1927601" cy="784602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5CED1"/>
                </a:gs>
                <a:gs pos="35000">
                  <a:srgbClr val="D4DBDE"/>
                </a:gs>
                <a:gs pos="100000">
                  <a:srgbClr val="EEF2F2"/>
                </a:gs>
              </a:gsLst>
              <a:lin ang="16200000" scaled="0"/>
            </a:gradFill>
            <a:ln w="9525" cap="flat" cmpd="sng">
              <a:solidFill>
                <a:srgbClr val="717D8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47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3.Planeación de riesgos</a:t>
              </a:r>
              <a:endParaRPr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469;p24">
              <a:extLst>
                <a:ext uri="{FF2B5EF4-FFF2-40B4-BE49-F238E27FC236}">
                  <a16:creationId xmlns:a16="http://schemas.microsoft.com/office/drawing/2014/main" id="{B6427AFA-E8EC-3AAA-03D0-59FF6982AC8D}"/>
                </a:ext>
              </a:extLst>
            </p:cNvPr>
            <p:cNvSpPr/>
            <p:nvPr/>
          </p:nvSpPr>
          <p:spPr>
            <a:xfrm>
              <a:off x="6656511" y="1226629"/>
              <a:ext cx="1511083" cy="765228"/>
            </a:xfrm>
            <a:prstGeom prst="flowChartPredefinedProcess">
              <a:avLst/>
            </a:prstGeom>
            <a:solidFill>
              <a:schemeClr val="lt1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Anulación  de  riesgos  y 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planes  de 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contingencia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70;p5">
            <a:extLst>
              <a:ext uri="{FF2B5EF4-FFF2-40B4-BE49-F238E27FC236}">
                <a16:creationId xmlns:a16="http://schemas.microsoft.com/office/drawing/2014/main" id="{FBE01D00-B30C-BBD5-C3F3-6A67DACF5A28}"/>
              </a:ext>
            </a:extLst>
          </p:cNvPr>
          <p:cNvSpPr/>
          <p:nvPr/>
        </p:nvSpPr>
        <p:spPr>
          <a:xfrm>
            <a:off x="1023980" y="2279695"/>
            <a:ext cx="10277674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348160" lvl="0" indent="-34816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 consideran cada uno de los riesgos por encima de la línea de corte y se determina una estrategia a seguir:</a:t>
            </a:r>
          </a:p>
          <a:p>
            <a:pPr marL="722313" lvl="3" indent="-255588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 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7F65C-313E-82C9-D36B-9FDDBBA54AE9}"/>
              </a:ext>
            </a:extLst>
          </p:cNvPr>
          <p:cNvSpPr txBox="1"/>
          <p:nvPr/>
        </p:nvSpPr>
        <p:spPr>
          <a:xfrm>
            <a:off x="1096963" y="3234565"/>
            <a:ext cx="10204692" cy="2991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0640" marR="0" lvl="1" indent="-25668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 "/>
            </a:pPr>
            <a:r>
              <a:rPr lang="es-ES" sz="2400" b="1" i="0" u="sng" strike="noStrike" cap="none" dirty="0">
                <a:latin typeface="Calibri"/>
                <a:ea typeface="Calibri"/>
                <a:cs typeface="Calibri"/>
                <a:sym typeface="Calibri"/>
              </a:rPr>
              <a:t>Evitar el riesgo</a:t>
            </a:r>
            <a:endParaRPr lang="es-ES" sz="2400" b="0" i="1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411480" marR="0" lvl="2" indent="-41112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 "/>
            </a:pPr>
            <a:r>
              <a:rPr lang="es-ES" sz="2400" b="0" i="1" u="none" strike="noStrike" cap="none" dirty="0">
                <a:latin typeface="Calibri"/>
                <a:ea typeface="Calibri"/>
                <a:cs typeface="Calibri"/>
                <a:sym typeface="Calibri"/>
              </a:rPr>
              <a:t>Siguiendo esta estrategia, el sistema se diseña de modo que no pueda ocurrir el evento. </a:t>
            </a:r>
            <a:endParaRPr lang="es-ES" sz="24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260640" marR="0" lvl="1" indent="-25668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 "/>
            </a:pPr>
            <a:r>
              <a:rPr lang="es-ES" sz="2400" b="1" i="0" u="sng" strike="noStrike" cap="none" dirty="0">
                <a:latin typeface="Calibri"/>
                <a:ea typeface="Calibri"/>
                <a:cs typeface="Calibri"/>
                <a:sym typeface="Calibri"/>
              </a:rPr>
              <a:t>Minimizar el riesgo</a:t>
            </a:r>
            <a:endParaRPr lang="es-ES" sz="2400" b="0" i="1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411480" marR="0" lvl="2" indent="-41112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 "/>
            </a:pPr>
            <a:r>
              <a:rPr lang="es-ES" sz="2400" b="0" i="1" u="none" strike="noStrike" cap="none" dirty="0">
                <a:latin typeface="Calibri"/>
                <a:ea typeface="Calibri"/>
                <a:cs typeface="Calibri"/>
                <a:sym typeface="Calibri"/>
              </a:rPr>
              <a:t>Siguiendo esta estrategia, la probabilidad que el riesgo se presente se reduce.</a:t>
            </a:r>
            <a:endParaRPr lang="es-ES" sz="24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260640" marR="0" lvl="1" indent="-25668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 "/>
            </a:pPr>
            <a:r>
              <a:rPr lang="es-ES" sz="2400" b="1" i="0" u="sng" strike="noStrike" cap="none" dirty="0">
                <a:latin typeface="Calibri"/>
                <a:ea typeface="Calibri"/>
                <a:cs typeface="Calibri"/>
                <a:sym typeface="Calibri"/>
              </a:rPr>
              <a:t>Plan de contingencia</a:t>
            </a:r>
            <a:endParaRPr lang="es-ES" sz="2400" b="0" i="1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411480" marR="0" lvl="2" indent="-411120" algn="l" rtl="0">
              <a:lnSpc>
                <a:spcPct val="85000"/>
              </a:lnSpc>
              <a:spcBef>
                <a:spcPts val="601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 "/>
            </a:pPr>
            <a:r>
              <a:rPr lang="es-ES" sz="2400" b="0" i="1" u="none" strike="noStrike" cap="none" dirty="0">
                <a:latin typeface="Calibri"/>
                <a:ea typeface="Calibri"/>
                <a:cs typeface="Calibri"/>
                <a:sym typeface="Calibri"/>
              </a:rPr>
              <a:t>Siguiendo esta estrategia se está preparado para lo peor. Se acepta la aparición del riesgo y es tratado de manera de minimizar las consecuencias.</a:t>
            </a:r>
            <a:endParaRPr lang="es-ES" sz="24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5224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A48384CF-8829-CD8C-BEE2-326448965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2D7E299-D5B4-5A03-6429-749D65E87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Planeación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1A6B19-25FD-F2D3-3360-1C0D7DC7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4859544-466E-64FD-6775-8DDA6C98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686BE7E-2CD7-9DBA-CFCC-B427CE34C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23</a:t>
            </a:fld>
            <a:endParaRPr lang="es-ES"/>
          </a:p>
        </p:txBody>
      </p:sp>
      <p:cxnSp>
        <p:nvCxnSpPr>
          <p:cNvPr id="8" name="Google Shape;351;p16">
            <a:extLst>
              <a:ext uri="{FF2B5EF4-FFF2-40B4-BE49-F238E27FC236}">
                <a16:creationId xmlns:a16="http://schemas.microsoft.com/office/drawing/2014/main" id="{3592286E-B0C4-3F7C-8ABB-45F2FF5C4171}"/>
              </a:ext>
            </a:extLst>
          </p:cNvPr>
          <p:cNvCxnSpPr/>
          <p:nvPr/>
        </p:nvCxnSpPr>
        <p:spPr>
          <a:xfrm flipH="1">
            <a:off x="8892882" y="113490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grpSp>
        <p:nvGrpSpPr>
          <p:cNvPr id="9" name="Google Shape;467;p24">
            <a:extLst>
              <a:ext uri="{FF2B5EF4-FFF2-40B4-BE49-F238E27FC236}">
                <a16:creationId xmlns:a16="http://schemas.microsoft.com/office/drawing/2014/main" id="{B056ABE4-7ABF-2FAD-8288-C014799BA37A}"/>
              </a:ext>
            </a:extLst>
          </p:cNvPr>
          <p:cNvGrpSpPr/>
          <p:nvPr/>
        </p:nvGrpSpPr>
        <p:grpSpPr>
          <a:xfrm>
            <a:off x="7929081" y="341333"/>
            <a:ext cx="1927601" cy="2017219"/>
            <a:chOff x="6448253" y="-25362"/>
            <a:chExt cx="1927601" cy="2017219"/>
          </a:xfrm>
        </p:grpSpPr>
        <p:sp>
          <p:nvSpPr>
            <p:cNvPr id="10" name="Google Shape;468;p24">
              <a:extLst>
                <a:ext uri="{FF2B5EF4-FFF2-40B4-BE49-F238E27FC236}">
                  <a16:creationId xmlns:a16="http://schemas.microsoft.com/office/drawing/2014/main" id="{C30F420A-7FA3-BB90-5CF9-518E77F3354D}"/>
                </a:ext>
              </a:extLst>
            </p:cNvPr>
            <p:cNvSpPr/>
            <p:nvPr/>
          </p:nvSpPr>
          <p:spPr>
            <a:xfrm>
              <a:off x="6448253" y="-25362"/>
              <a:ext cx="1927601" cy="784602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5CED1"/>
                </a:gs>
                <a:gs pos="35000">
                  <a:srgbClr val="D4DBDE"/>
                </a:gs>
                <a:gs pos="100000">
                  <a:srgbClr val="EEF2F2"/>
                </a:gs>
              </a:gsLst>
              <a:lin ang="16200000" scaled="0"/>
            </a:gradFill>
            <a:ln w="9525" cap="flat" cmpd="sng">
              <a:solidFill>
                <a:srgbClr val="717D8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47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3.Planeación de riesgos</a:t>
              </a:r>
              <a:endParaRPr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469;p24">
              <a:extLst>
                <a:ext uri="{FF2B5EF4-FFF2-40B4-BE49-F238E27FC236}">
                  <a16:creationId xmlns:a16="http://schemas.microsoft.com/office/drawing/2014/main" id="{9F48A0C5-5012-16EE-BABC-395AB1FD0BD0}"/>
                </a:ext>
              </a:extLst>
            </p:cNvPr>
            <p:cNvSpPr/>
            <p:nvPr/>
          </p:nvSpPr>
          <p:spPr>
            <a:xfrm>
              <a:off x="6656511" y="1226629"/>
              <a:ext cx="1511083" cy="765228"/>
            </a:xfrm>
            <a:prstGeom prst="flowChartPredefinedProcess">
              <a:avLst/>
            </a:prstGeom>
            <a:solidFill>
              <a:schemeClr val="lt1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Anulación  de  riesgos  y 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planes  de 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E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contingencia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Google Shape;496;p27">
            <a:extLst>
              <a:ext uri="{FF2B5EF4-FFF2-40B4-BE49-F238E27FC236}">
                <a16:creationId xmlns:a16="http://schemas.microsoft.com/office/drawing/2014/main" id="{540D92C0-403A-0AFA-DD8C-AD4D68A6D1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3625" y="2358552"/>
            <a:ext cx="7514535" cy="3948616"/>
          </a:xfrm>
          <a:prstGeom prst="rect">
            <a:avLst/>
          </a:prstGeom>
          <a:noFill/>
          <a:ln>
            <a:noFill/>
          </a:ln>
          <a:effectLst>
            <a:outerShdw blurRad="292100" dist="139498" dir="2700000" algn="tl" rotWithShape="0">
              <a:srgbClr val="333333">
                <a:alpha val="63529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7587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1EAE099A-C8F3-02D1-FE14-DCFB35C64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F2BE480-BE58-B74E-342E-0FC882A43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Supervisión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1E7820-1D62-09F4-A6DE-7CC3D1AE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F59B0C87-8596-B4C9-AB83-BC766AE79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0B34EB-A7F9-7401-ADDA-32347863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24</a:t>
            </a:fld>
            <a:endParaRPr lang="es-ES"/>
          </a:p>
        </p:txBody>
      </p:sp>
      <p:cxnSp>
        <p:nvCxnSpPr>
          <p:cNvPr id="8" name="Google Shape;351;p16">
            <a:extLst>
              <a:ext uri="{FF2B5EF4-FFF2-40B4-BE49-F238E27FC236}">
                <a16:creationId xmlns:a16="http://schemas.microsoft.com/office/drawing/2014/main" id="{B13B3A97-11C4-186D-CFB6-3B3C1EE1D179}"/>
              </a:ext>
            </a:extLst>
          </p:cNvPr>
          <p:cNvCxnSpPr/>
          <p:nvPr/>
        </p:nvCxnSpPr>
        <p:spPr>
          <a:xfrm flipH="1">
            <a:off x="8892882" y="113490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" name="Google Shape;507;p28">
            <a:extLst>
              <a:ext uri="{FF2B5EF4-FFF2-40B4-BE49-F238E27FC236}">
                <a16:creationId xmlns:a16="http://schemas.microsoft.com/office/drawing/2014/main" id="{5B589B85-2C36-2E13-202E-08618D2CEDF6}"/>
              </a:ext>
            </a:extLst>
          </p:cNvPr>
          <p:cNvSpPr/>
          <p:nvPr/>
        </p:nvSpPr>
        <p:spPr>
          <a:xfrm>
            <a:off x="7929079" y="314735"/>
            <a:ext cx="1927601" cy="7846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B983"/>
              </a:gs>
              <a:gs pos="35000">
                <a:srgbClr val="FFCCA8"/>
              </a:gs>
              <a:gs pos="100000">
                <a:srgbClr val="FFE9DB"/>
              </a:gs>
            </a:gsLst>
            <a:lin ang="16200000" scaled="0"/>
          </a:gradFill>
          <a:ln w="9525" cap="flat" cmpd="sng">
            <a:solidFill>
              <a:srgbClr val="E47F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4.Supervisión de riesgos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509;p28">
            <a:extLst>
              <a:ext uri="{FF2B5EF4-FFF2-40B4-BE49-F238E27FC236}">
                <a16:creationId xmlns:a16="http://schemas.microsoft.com/office/drawing/2014/main" id="{C66E907E-189F-F072-E15E-C338F80EF760}"/>
              </a:ext>
            </a:extLst>
          </p:cNvPr>
          <p:cNvSpPr/>
          <p:nvPr/>
        </p:nvSpPr>
        <p:spPr>
          <a:xfrm>
            <a:off x="8282634" y="1619922"/>
            <a:ext cx="1220489" cy="592534"/>
          </a:xfrm>
          <a:prstGeom prst="flowChartPredefinedProcess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Valoración  de  riesgos 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70;p5">
            <a:extLst>
              <a:ext uri="{FF2B5EF4-FFF2-40B4-BE49-F238E27FC236}">
                <a16:creationId xmlns:a16="http://schemas.microsoft.com/office/drawing/2014/main" id="{0DD615A4-9403-B291-4E04-777244AFAB9C}"/>
              </a:ext>
            </a:extLst>
          </p:cNvPr>
          <p:cNvSpPr/>
          <p:nvPr/>
        </p:nvSpPr>
        <p:spPr>
          <a:xfrm>
            <a:off x="987326" y="2162975"/>
            <a:ext cx="10225188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546100" lvl="0" indent="-546100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Evaluar si ha cambiado la probabilidad de cada riesgo</a:t>
            </a:r>
          </a:p>
          <a:p>
            <a:pPr marL="546100" lvl="0" indent="-546100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Evaluar la efectividad de las estrategias propuestas</a:t>
            </a:r>
          </a:p>
          <a:p>
            <a:pPr marL="546100" lvl="0" indent="-546100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Detectar la ocurrencia de un riesgo que fue previsto</a:t>
            </a:r>
          </a:p>
          <a:p>
            <a:pPr marL="546100" lvl="0" indent="-546100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Asegurar que se están cumpliendo los pasos definidos para cada riesgo</a:t>
            </a:r>
          </a:p>
          <a:p>
            <a:pPr marL="546100" lvl="0" indent="-546100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Recopilar información para el futuro</a:t>
            </a:r>
          </a:p>
          <a:p>
            <a:pPr marL="546100" lvl="0" indent="-546100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Determinar si existen nuevos riesgos</a:t>
            </a:r>
          </a:p>
          <a:p>
            <a:pPr marL="546100" lvl="0" indent="-546100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Reevaluar periódicamente los riesgos</a:t>
            </a:r>
          </a:p>
        </p:txBody>
      </p:sp>
    </p:spTree>
    <p:extLst>
      <p:ext uri="{BB962C8B-B14F-4D97-AF65-F5344CB8AC3E}">
        <p14:creationId xmlns:p14="http://schemas.microsoft.com/office/powerpoint/2010/main" val="4085245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C3A28D01-DB7E-66EA-722D-F0DB199C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8A9657D-4D93-342A-D159-3ED6A33C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Supervisión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84D3F2-71F0-9CDD-BCA5-D12DC114D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3F02CF85-0EA0-A049-060E-594F8CC0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80A881A-EADF-5982-64A1-8F1BC53F7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25</a:t>
            </a:fld>
            <a:endParaRPr lang="es-ES"/>
          </a:p>
        </p:txBody>
      </p:sp>
      <p:cxnSp>
        <p:nvCxnSpPr>
          <p:cNvPr id="8" name="Google Shape;351;p16">
            <a:extLst>
              <a:ext uri="{FF2B5EF4-FFF2-40B4-BE49-F238E27FC236}">
                <a16:creationId xmlns:a16="http://schemas.microsoft.com/office/drawing/2014/main" id="{92AE55CD-6065-30F9-5417-920A91A6F49D}"/>
              </a:ext>
            </a:extLst>
          </p:cNvPr>
          <p:cNvCxnSpPr/>
          <p:nvPr/>
        </p:nvCxnSpPr>
        <p:spPr>
          <a:xfrm flipH="1">
            <a:off x="8892882" y="1134904"/>
            <a:ext cx="5811" cy="44945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  <p:sp>
        <p:nvSpPr>
          <p:cNvPr id="7" name="Google Shape;507;p28">
            <a:extLst>
              <a:ext uri="{FF2B5EF4-FFF2-40B4-BE49-F238E27FC236}">
                <a16:creationId xmlns:a16="http://schemas.microsoft.com/office/drawing/2014/main" id="{3A562A09-FD3A-235D-0323-5C54635D55AA}"/>
              </a:ext>
            </a:extLst>
          </p:cNvPr>
          <p:cNvSpPr/>
          <p:nvPr/>
        </p:nvSpPr>
        <p:spPr>
          <a:xfrm>
            <a:off x="7929079" y="314735"/>
            <a:ext cx="1927601" cy="78460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B983"/>
              </a:gs>
              <a:gs pos="35000">
                <a:srgbClr val="FFCCA8"/>
              </a:gs>
              <a:gs pos="100000">
                <a:srgbClr val="FFE9DB"/>
              </a:gs>
            </a:gsLst>
            <a:lin ang="16200000" scaled="0"/>
          </a:gradFill>
          <a:ln w="9525" cap="flat" cmpd="sng">
            <a:solidFill>
              <a:srgbClr val="E47F1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4.Supervisión de riesgos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509;p28">
            <a:extLst>
              <a:ext uri="{FF2B5EF4-FFF2-40B4-BE49-F238E27FC236}">
                <a16:creationId xmlns:a16="http://schemas.microsoft.com/office/drawing/2014/main" id="{36584451-A046-4E4D-B1AB-8F8004B800A9}"/>
              </a:ext>
            </a:extLst>
          </p:cNvPr>
          <p:cNvSpPr/>
          <p:nvPr/>
        </p:nvSpPr>
        <p:spPr>
          <a:xfrm>
            <a:off x="8282634" y="1619922"/>
            <a:ext cx="1220489" cy="592534"/>
          </a:xfrm>
          <a:prstGeom prst="flowChartPredefinedProcess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Valoración  de  riesgos 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70;p5">
            <a:extLst>
              <a:ext uri="{FF2B5EF4-FFF2-40B4-BE49-F238E27FC236}">
                <a16:creationId xmlns:a16="http://schemas.microsoft.com/office/drawing/2014/main" id="{E3F0EAD7-561E-555F-95FC-A6130E835054}"/>
              </a:ext>
            </a:extLst>
          </p:cNvPr>
          <p:cNvSpPr/>
          <p:nvPr/>
        </p:nvSpPr>
        <p:spPr>
          <a:xfrm>
            <a:off x="987325" y="2162975"/>
            <a:ext cx="10691327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546100" lvl="0" indent="-54610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70;p5">
            <a:extLst>
              <a:ext uri="{FF2B5EF4-FFF2-40B4-BE49-F238E27FC236}">
                <a16:creationId xmlns:a16="http://schemas.microsoft.com/office/drawing/2014/main" id="{B84C14AD-10FC-7C23-7218-D38692D5D70C}"/>
              </a:ext>
            </a:extLst>
          </p:cNvPr>
          <p:cNvSpPr/>
          <p:nvPr/>
        </p:nvSpPr>
        <p:spPr>
          <a:xfrm>
            <a:off x="1139726" y="2187039"/>
            <a:ext cx="10072788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546100" lvl="0" indent="-546100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 riesgos deben monitorizarse comúnmente en todas las etapas del proyecto. En cada revisión administrativa, es necesario reflexionar y estudiar cada uno de los riesgos clave por separado. </a:t>
            </a:r>
          </a:p>
          <a:p>
            <a:pPr marL="546100" lvl="0" indent="-546100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3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También hay que decidir si es más o menos probable que surja el riesgo, y si cambiaron la gravedad y las consecuencias del riesgo.</a:t>
            </a:r>
          </a:p>
        </p:txBody>
      </p:sp>
    </p:spTree>
    <p:extLst>
      <p:ext uri="{BB962C8B-B14F-4D97-AF65-F5344CB8AC3E}">
        <p14:creationId xmlns:p14="http://schemas.microsoft.com/office/powerpoint/2010/main" val="3855259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36D12354-D44C-ECA6-93F6-117C79ECA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de gestión de riesgos</a:t>
            </a:r>
          </a:p>
        </p:txBody>
      </p:sp>
      <p:pic>
        <p:nvPicPr>
          <p:cNvPr id="12" name="Marcador de posición de imagen 11">
            <a:extLst>
              <a:ext uri="{FF2B5EF4-FFF2-40B4-BE49-F238E27FC236}">
                <a16:creationId xmlns:a16="http://schemas.microsoft.com/office/drawing/2014/main" id="{0C24BD7A-2945-5EBB-F9E9-B871F311DA5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9766" b="19766"/>
          <a:stretch>
            <a:fillRect/>
          </a:stretch>
        </p:blipFill>
        <p:spPr/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AE61FC0-F858-0D26-16DE-78D258860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Sistema de Gestión de Stock </a:t>
            </a:r>
          </a:p>
          <a:p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D1688F-AFE9-17D1-C3F1-D4C8CA8D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C854CA-349C-2FF6-B98A-4A9913A6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5E32FF-F2BE-BC69-10D4-6EA684D0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2380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51CCCEBB-BE4B-1EAF-0FBA-8088FD6CB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731520"/>
            <a:ext cx="6720840" cy="5257800"/>
          </a:xfrm>
        </p:spPr>
        <p:txBody>
          <a:bodyPr/>
          <a:lstStyle/>
          <a:p>
            <a:pPr marL="449263" indent="-44926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Estás liderando un equipo de desarrollo de software encargado de construir un Sistema de Gestión de Stock para una cadena de tiendas minoristas de productos de limpieza.  </a:t>
            </a:r>
          </a:p>
          <a:p>
            <a:pPr marL="449263" indent="-44926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Cada tienda utilizará el mismo sistema. </a:t>
            </a:r>
          </a:p>
          <a:p>
            <a:pPr marL="449263" indent="-44926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El sistema debe gestionar el inventario de productos, realizar ventas, actualizar automáticamente el stock, generar informes de ventas e inventario y órdenes de reposición de stock. </a:t>
            </a:r>
          </a:p>
          <a:p>
            <a:pPr marL="449263" indent="-44926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tx1"/>
                </a:solidFill>
                <a:ea typeface="Roboto"/>
                <a:cs typeface="Roboto"/>
                <a:sym typeface="Roboto"/>
              </a:rPr>
              <a:t>Debe integrarse al sistema central para recopilar la información de cada stock de cada tienda.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8" name="Google Shape;531;p31">
            <a:extLst>
              <a:ext uri="{FF2B5EF4-FFF2-40B4-BE49-F238E27FC236}">
                <a16:creationId xmlns:a16="http://schemas.microsoft.com/office/drawing/2014/main" id="{C6510142-6F16-2A78-FF00-4F1247AD2A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 dirty="0"/>
              <a:t>Ejercicio de gestión de riesgos</a:t>
            </a:r>
            <a:endParaRPr dirty="0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213C49FE-4FFA-0B14-5632-8560E268F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/>
          <a:lstStyle/>
          <a:p>
            <a:r>
              <a:rPr lang="es-ES" dirty="0"/>
              <a:t>Sistema de Gestión de Stock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 dirty="0"/>
              <a:t>Ejercicio de gestión de riesgos</a:t>
            </a:r>
            <a:endParaRPr dirty="0"/>
          </a:p>
        </p:txBody>
      </p:sp>
      <p:sp>
        <p:nvSpPr>
          <p:cNvPr id="532" name="Google Shape;532;p3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457200" algn="just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AutoNum type="arabicPeriod"/>
            </a:pPr>
            <a:r>
              <a:rPr lang="es-ES" sz="2400" b="1" dirty="0">
                <a:solidFill>
                  <a:schemeClr val="tx1"/>
                </a:solidFill>
              </a:rPr>
              <a:t>Identificación de riesgos</a:t>
            </a:r>
          </a:p>
          <a:p>
            <a:pPr marL="0" lvl="0" indent="0" algn="just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None/>
            </a:pPr>
            <a:r>
              <a:rPr lang="es-ES" sz="2400" u="sng" dirty="0"/>
              <a:t>Armar listado de posibles riesgos</a:t>
            </a:r>
          </a:p>
          <a:p>
            <a:pPr marL="0" lvl="0" indent="0" algn="just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ES" sz="2400" dirty="0"/>
              <a:t>¿Cuáles pueden ser? Cada uno anota los posibles riesgos y luego comparamos entre todos.</a:t>
            </a:r>
            <a:endParaRPr sz="2400" dirty="0"/>
          </a:p>
          <a:p>
            <a:pPr marL="4572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24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8C599F5-796F-F5F7-291E-F02D1DB35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Sistema de Gestión de Stock 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3C202-614B-E73D-6978-69A8462F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E47056E4-B86F-9C1B-9C72-50735511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8BDBA55-7529-2DF7-D95A-4BFE66F5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28</a:t>
            </a:fld>
            <a:endParaRPr lang="es-E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DBC12EB1-4918-B25D-3E7C-74081A54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835DF11-EE0D-E58A-BEAB-18B094F1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Identificación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F598B7-2746-8A8C-64D1-E02D0E45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1F60645-A5A7-5A5A-408B-1B8A9E391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2F18DE5-083B-EBF5-5FBD-C2053B11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29</a:t>
            </a:fld>
            <a:endParaRPr lang="es-ES"/>
          </a:p>
        </p:txBody>
      </p:sp>
      <p:sp>
        <p:nvSpPr>
          <p:cNvPr id="13" name="Google Shape;170;p5">
            <a:extLst>
              <a:ext uri="{FF2B5EF4-FFF2-40B4-BE49-F238E27FC236}">
                <a16:creationId xmlns:a16="http://schemas.microsoft.com/office/drawing/2014/main" id="{BFEA25F8-4DEC-7F7F-300B-6BFEB3F101DC}"/>
              </a:ext>
            </a:extLst>
          </p:cNvPr>
          <p:cNvSpPr/>
          <p:nvPr/>
        </p:nvSpPr>
        <p:spPr>
          <a:xfrm>
            <a:off x="987325" y="2162975"/>
            <a:ext cx="10691327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546100" lvl="0" indent="-54610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D28F6F1-C25D-0E64-6433-DD361841F26B}"/>
              </a:ext>
            </a:extLst>
          </p:cNvPr>
          <p:cNvSpPr txBox="1"/>
          <p:nvPr/>
        </p:nvSpPr>
        <p:spPr>
          <a:xfrm>
            <a:off x="1036637" y="1736725"/>
            <a:ext cx="9888037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-ES" sz="2000" b="1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Requerimientos Cambiantes:</a:t>
            </a:r>
            <a:endParaRPr lang="es-ES" sz="2000" b="0" i="0" dirty="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i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s-ES" b="0" i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ustificación:</a:t>
            </a:r>
            <a:r>
              <a:rPr lang="es-ES" b="0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La experiencia muestra que los cambios en los requisitos del cliente pueden surgir durante el desarrollo del proyecto debido a una comprensión incompleta de las necesidades iniciales o a cambios en el entorno del negocio. Estos cambios pueden impactar significativamente en la planificación y la ejecución del proyecto.</a:t>
            </a:r>
            <a:endParaRPr lang="es-ES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-ES" sz="2000" b="1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Falta de Experiencia en Tecnologías Nuevas:</a:t>
            </a:r>
            <a:endParaRPr lang="es-ES" sz="2000" b="0" i="0" dirty="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b="0" i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Justificación:</a:t>
            </a:r>
            <a:r>
              <a:rPr lang="es-ES" b="0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La falta de experiencia en las tecnologías seleccionadas aumenta el riesgo de errores técnicos, demoras y problemas de calidad. La adopción de nuevas tecnologías sin un entendimiento adecuado puede llevar a la toma de decisiones incorrectas y afectar negativamente la entrega del producto.</a:t>
            </a:r>
            <a:endParaRPr lang="es-ES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s-ES" sz="2000" b="1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Problemas de Integración:</a:t>
            </a:r>
            <a:endParaRPr lang="es-ES" sz="2000" b="0" i="0" dirty="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b="0" i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Justificación:</a:t>
            </a:r>
            <a:r>
              <a:rPr lang="es-ES" b="0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La integración de sistemas puede ser compleja, especialmente en proyectos que involucran múltiples componentes o sistemas externos. Los problemas de integración pueden generar fallos en el funcionamiento del sistema y afectar la experiencia del usuario y la operatividad del negocio.</a:t>
            </a:r>
            <a:endParaRPr lang="es-ES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6155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EB9F4549-376E-E078-B438-E5259EFC1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AEA6BC4-0BC1-3BB4-6B37-F714DC40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Identificación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B68FF9-43DD-993F-3392-DFE4EE181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FB072C9A-578E-9C0D-5861-056F1190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4CD5030-CC45-E66F-9443-6CEFB3819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30</a:t>
            </a:fld>
            <a:endParaRPr lang="es-ES"/>
          </a:p>
        </p:txBody>
      </p:sp>
      <p:sp>
        <p:nvSpPr>
          <p:cNvPr id="13" name="Google Shape;170;p5">
            <a:extLst>
              <a:ext uri="{FF2B5EF4-FFF2-40B4-BE49-F238E27FC236}">
                <a16:creationId xmlns:a16="http://schemas.microsoft.com/office/drawing/2014/main" id="{8544299A-8F04-4224-5B9F-609B51B3A1AC}"/>
              </a:ext>
            </a:extLst>
          </p:cNvPr>
          <p:cNvSpPr/>
          <p:nvPr/>
        </p:nvSpPr>
        <p:spPr>
          <a:xfrm>
            <a:off x="987325" y="2162975"/>
            <a:ext cx="10691327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546100" lvl="0" indent="-54610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A9A15E8-00CF-E0AE-16C8-624ADCC0A648}"/>
              </a:ext>
            </a:extLst>
          </p:cNvPr>
          <p:cNvSpPr txBox="1"/>
          <p:nvPr/>
        </p:nvSpPr>
        <p:spPr>
          <a:xfrm>
            <a:off x="1036637" y="1736725"/>
            <a:ext cx="992012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9263" lvl="0" indent="-220663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 startAt="4"/>
            </a:pPr>
            <a:r>
              <a:rPr lang="es-ES" sz="2000" b="1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Falta de Recursos Humanos:</a:t>
            </a:r>
            <a:endParaRPr lang="es-ES" sz="2000" b="0" i="0" dirty="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b="0" i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Justificación:</a:t>
            </a:r>
            <a:r>
              <a:rPr lang="es-ES" b="0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La escasez de personal cualificado puede afectar la productividad y la calidad del trabajo. Los proyectos de desarrollo de software requieren un equipo competente, y la falta de recursos humanos adecuados en momentos críticos puede impactar negativamente en la ejecución del proyecto.</a:t>
            </a:r>
          </a:p>
          <a:p>
            <a:pPr marL="228600" lv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sz="2000" b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s-ES" sz="2000" b="1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. Cambio en las Tendencias del Mercado:</a:t>
            </a:r>
            <a:endParaRPr lang="es-ES" sz="2000" b="0" i="0" dirty="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b="0" i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Justificación:</a:t>
            </a:r>
            <a:r>
              <a:rPr lang="es-ES" b="0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Los cambios en las tendencias del mercado pueden afectar la demanda de productos o servicios. La falta de adaptación a estas tendencias puede llevar a la obsolescencia del producto o a la pérdida de cuota de mercado, lo que afectaría directamente al éxito del negocio.</a:t>
            </a:r>
            <a:endParaRPr lang="es-ES" dirty="0">
              <a:latin typeface="Calibri"/>
              <a:ea typeface="Calibri"/>
              <a:cs typeface="Calibri"/>
              <a:sym typeface="Calibri"/>
            </a:endParaRPr>
          </a:p>
          <a:p>
            <a:pPr marL="176213" lvl="1" indent="88900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sz="2000" b="1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6. Fallos en la Seguridad del Producto:</a:t>
            </a:r>
            <a:endParaRPr lang="es-ES" sz="2000" b="0" i="0" dirty="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b="0" i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Justificación:</a:t>
            </a:r>
            <a:r>
              <a:rPr lang="es-ES" b="0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Con el aumento de las amenazas cibernéticas, los fallos en la seguridad del producto pueden resultar en pérdida de datos, violaciones de privacidad y daño a la reputación de la empresa. La seguridad del producto es crucial para proteger la información sensible y mantener la confianza del cliente.</a:t>
            </a:r>
            <a:endParaRPr lang="es-ES" dirty="0">
              <a:latin typeface="Calibri"/>
              <a:ea typeface="Calibri"/>
              <a:cs typeface="Calibri"/>
              <a:sym typeface="Calibri"/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  <a:buSzPts val="1400"/>
            </a:pPr>
            <a:endParaRPr lang="es-ES"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0207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1BE3A0D8-55F8-251C-AC42-A48DEA57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D8FD05-8B82-DF97-6D39-0C96DF4B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Identificación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3F531D-3307-C367-F6C9-BA763893C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49AF8E75-1F7F-EE9E-DD91-8D58A1AC5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89D9D0F-BC05-43D4-C3BD-AA521F6C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31</a:t>
            </a:fld>
            <a:endParaRPr lang="es-ES"/>
          </a:p>
        </p:txBody>
      </p:sp>
      <p:sp>
        <p:nvSpPr>
          <p:cNvPr id="13" name="Google Shape;170;p5">
            <a:extLst>
              <a:ext uri="{FF2B5EF4-FFF2-40B4-BE49-F238E27FC236}">
                <a16:creationId xmlns:a16="http://schemas.microsoft.com/office/drawing/2014/main" id="{6EF01833-E264-F728-FDC7-C77981B77403}"/>
              </a:ext>
            </a:extLst>
          </p:cNvPr>
          <p:cNvSpPr/>
          <p:nvPr/>
        </p:nvSpPr>
        <p:spPr>
          <a:xfrm>
            <a:off x="987325" y="2162975"/>
            <a:ext cx="10691327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546100" lvl="0" indent="-54610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468FA19-4257-7D4A-1338-8B8593B2D6D1}"/>
              </a:ext>
            </a:extLst>
          </p:cNvPr>
          <p:cNvSpPr txBox="1"/>
          <p:nvPr/>
        </p:nvSpPr>
        <p:spPr>
          <a:xfrm>
            <a:off x="1036637" y="1736725"/>
            <a:ext cx="9936163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sz="2000" b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lang="es-ES" sz="2000" b="1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Rendimiento Inadecuado del Sistema:</a:t>
            </a:r>
            <a:endParaRPr lang="es-ES" sz="2000" b="0" i="0" dirty="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b="0" i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Justificación:</a:t>
            </a:r>
            <a:r>
              <a:rPr lang="es-ES" b="0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Un rendimiento deficiente del sistema puede afectar la experiencia del usuario y la eficiencia operativa. La lentitud o los fallos en el rendimiento pueden disminuir la satisfacción del cliente y afectar la percepción del producto.</a:t>
            </a:r>
            <a:endParaRPr lang="es-ES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sz="2000" b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8. </a:t>
            </a:r>
            <a:r>
              <a:rPr lang="es-ES" sz="2000" b="1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Problemas de Escalabilidad:</a:t>
            </a:r>
            <a:endParaRPr lang="es-ES" sz="2000" b="0" i="0" dirty="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b="0" i="1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Justificación:</a:t>
            </a:r>
            <a:r>
              <a:rPr lang="es-ES" b="0" i="0" dirty="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 La falta de escalabilidad puede limitar el crecimiento del sistema y causar problemas cuando la demanda aumenta. La capacidad del sistema para manejar un mayor volumen de usuarios o datos es esencial para el éxito a largo plazo.</a:t>
            </a:r>
            <a:endParaRPr lang="es-ES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sz="2000" b="1" i="0" dirty="0">
                <a:solidFill>
                  <a:srgbClr val="0D0D0D"/>
                </a:solidFill>
                <a:latin typeface="+mn-lt"/>
                <a:ea typeface="Arial"/>
                <a:cs typeface="Arial"/>
                <a:sym typeface="Arial"/>
              </a:rPr>
              <a:t>9.Cambios en la Legislación Fiscal:</a:t>
            </a:r>
            <a:endParaRPr lang="es-ES" sz="2000" b="0" i="0" dirty="0">
              <a:solidFill>
                <a:srgbClr val="0D0D0D"/>
              </a:solidFill>
              <a:latin typeface="+mn-lt"/>
              <a:ea typeface="Arial"/>
              <a:cs typeface="Arial"/>
              <a:sym typeface="Arial"/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b="0" i="1" dirty="0">
                <a:solidFill>
                  <a:srgbClr val="0D0D0D"/>
                </a:solidFill>
                <a:latin typeface="+mn-lt"/>
                <a:ea typeface="Arial"/>
                <a:cs typeface="Arial"/>
                <a:sym typeface="Arial"/>
              </a:rPr>
              <a:t>Justificación:</a:t>
            </a:r>
            <a:r>
              <a:rPr lang="es-ES" b="0" i="0" dirty="0">
                <a:solidFill>
                  <a:srgbClr val="0D0D0D"/>
                </a:solidFill>
                <a:latin typeface="+mn-lt"/>
                <a:ea typeface="Arial"/>
                <a:cs typeface="Arial"/>
                <a:sym typeface="Arial"/>
              </a:rPr>
              <a:t> Los cambios en la legislación fiscal pueden tener un impacto significativo en los costos y la estructura financiera de la empresa. No adaptarse a estos cambios puede resultar en sanciones financieras y problemas legales.</a:t>
            </a:r>
            <a:endParaRPr lang="es-ES" dirty="0">
              <a:solidFill>
                <a:srgbClr val="0D0D0D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176213" lvl="1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sz="2000" b="1" dirty="0">
                <a:solidFill>
                  <a:srgbClr val="0D0D0D"/>
                </a:solidFill>
                <a:latin typeface="+mn-lt"/>
                <a:ea typeface="Arial"/>
                <a:cs typeface="Arial"/>
                <a:sym typeface="Arial"/>
              </a:rPr>
              <a:t>10. </a:t>
            </a:r>
            <a:r>
              <a:rPr lang="es-ES" sz="2000" b="1" i="0" dirty="0">
                <a:solidFill>
                  <a:srgbClr val="0D0D0D"/>
                </a:solidFill>
                <a:latin typeface="+mn-lt"/>
                <a:ea typeface="Arial"/>
                <a:cs typeface="Arial"/>
                <a:sym typeface="Arial"/>
              </a:rPr>
              <a:t>Problemas de Suministro:</a:t>
            </a:r>
            <a:endParaRPr lang="es-ES" sz="2000" b="0" i="0" dirty="0">
              <a:solidFill>
                <a:srgbClr val="0D0D0D"/>
              </a:solidFill>
              <a:latin typeface="+mn-lt"/>
              <a:ea typeface="Arial"/>
              <a:cs typeface="Arial"/>
              <a:sym typeface="Arial"/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s-ES" b="0" i="1" dirty="0">
                <a:solidFill>
                  <a:srgbClr val="0D0D0D"/>
                </a:solidFill>
                <a:latin typeface="+mn-lt"/>
                <a:ea typeface="Arial"/>
                <a:cs typeface="Arial"/>
                <a:sym typeface="Arial"/>
              </a:rPr>
              <a:t>Justificación:</a:t>
            </a:r>
            <a:r>
              <a:rPr lang="es-ES" b="0" i="0" dirty="0">
                <a:solidFill>
                  <a:srgbClr val="0D0D0D"/>
                </a:solidFill>
                <a:latin typeface="+mn-lt"/>
                <a:ea typeface="Arial"/>
                <a:cs typeface="Arial"/>
                <a:sym typeface="Arial"/>
              </a:rPr>
              <a:t> Dependiendo de la cadena de suministro para el aprovisionamiento de materiales críticos, cualquier interrupción en la cadena puede resultar en retrasos en la producción, pérdida de ingresos y afectar la capacidad de cumplir con la demanda del mercado.</a:t>
            </a:r>
            <a:endParaRPr lang="es-ES" dirty="0">
              <a:latin typeface="+mn-lt"/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  <a:buSzPts val="1400"/>
            </a:pPr>
            <a:endParaRPr lang="es-ES"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863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>
          <a:extLst>
            <a:ext uri="{FF2B5EF4-FFF2-40B4-BE49-F238E27FC236}">
              <a16:creationId xmlns:a16="http://schemas.microsoft.com/office/drawing/2014/main" id="{42E05D9C-A138-7EC2-288D-2507668D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1">
            <a:extLst>
              <a:ext uri="{FF2B5EF4-FFF2-40B4-BE49-F238E27FC236}">
                <a16:creationId xmlns:a16="http://schemas.microsoft.com/office/drawing/2014/main" id="{8EDAEC9B-1432-DF8E-8BA3-EC46ACA724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 dirty="0"/>
              <a:t>Ejercicio de gestión de riesgos</a:t>
            </a:r>
            <a:endParaRPr dirty="0"/>
          </a:p>
        </p:txBody>
      </p:sp>
      <p:sp>
        <p:nvSpPr>
          <p:cNvPr id="532" name="Google Shape;532;p31">
            <a:extLst>
              <a:ext uri="{FF2B5EF4-FFF2-40B4-BE49-F238E27FC236}">
                <a16:creationId xmlns:a16="http://schemas.microsoft.com/office/drawing/2014/main" id="{0C889064-A91A-6648-B772-9E8BCBA644A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457200" algn="just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Font typeface="+mj-lt"/>
              <a:buAutoNum type="arabicPeriod" startAt="2"/>
            </a:pPr>
            <a:r>
              <a:rPr lang="es-ES" sz="2400" b="1" dirty="0">
                <a:solidFill>
                  <a:schemeClr val="tx1"/>
                </a:solidFill>
              </a:rPr>
              <a:t>Análisis de riesgos</a:t>
            </a:r>
          </a:p>
          <a:p>
            <a:pPr marL="0" lvl="0" indent="0" algn="just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ES" sz="2400" dirty="0"/>
              <a:t>Analizamos los riesgos, armamos tabla y colocamos: riesgo, categoría, probabilidad e impacto. </a:t>
            </a:r>
            <a:endParaRPr sz="2400" dirty="0"/>
          </a:p>
          <a:p>
            <a:pPr marL="4572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24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192427-A67B-B1C4-FEAC-022065BD1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Sistema de Gestión de Stock 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AE67B2-4C38-5387-5382-8AF36CF4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4834FF1C-EE34-68D2-D7F6-D4EA2BCE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BA08ABF-8A44-2882-B598-F507B9D9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4973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1A7A0935-1BB6-B8B6-9500-EC81071CD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C5760B7-7801-292B-8EBA-6CC30770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Análisis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5641CE-C4D1-AFCC-DCB4-540CA3A10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A1FA1884-E0B8-0170-8B76-DFE61F71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5576C4C-3462-39CE-EC59-487C4464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33</a:t>
            </a:fld>
            <a:endParaRPr lang="es-ES"/>
          </a:p>
        </p:txBody>
      </p:sp>
      <p:sp>
        <p:nvSpPr>
          <p:cNvPr id="13" name="Google Shape;170;p5">
            <a:extLst>
              <a:ext uri="{FF2B5EF4-FFF2-40B4-BE49-F238E27FC236}">
                <a16:creationId xmlns:a16="http://schemas.microsoft.com/office/drawing/2014/main" id="{02798ED1-C0E9-A079-2C47-5004EB950A93}"/>
              </a:ext>
            </a:extLst>
          </p:cNvPr>
          <p:cNvSpPr/>
          <p:nvPr/>
        </p:nvSpPr>
        <p:spPr>
          <a:xfrm>
            <a:off x="987325" y="2162975"/>
            <a:ext cx="10691327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546100" lvl="0" indent="-54610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Google Shape;563;p36">
            <a:extLst>
              <a:ext uri="{FF2B5EF4-FFF2-40B4-BE49-F238E27FC236}">
                <a16:creationId xmlns:a16="http://schemas.microsoft.com/office/drawing/2014/main" id="{E060E41E-CC8B-9A31-B9D0-E5BB68F73B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0823402"/>
              </p:ext>
            </p:extLst>
          </p:nvPr>
        </p:nvGraphicFramePr>
        <p:xfrm>
          <a:off x="1592750" y="1849020"/>
          <a:ext cx="8964125" cy="4439614"/>
        </p:xfrm>
        <a:graphic>
          <a:graphicData uri="http://schemas.openxmlformats.org/drawingml/2006/table">
            <a:tbl>
              <a:tblPr>
                <a:noFill/>
                <a:tableStyleId>{3EF29E7D-9136-45D8-AAB8-1E4A301F7CE6}</a:tableStyleId>
              </a:tblPr>
              <a:tblGrid>
                <a:gridCol w="42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2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3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22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No.</a:t>
                      </a:r>
                      <a:endParaRPr sz="1600" u="none" strike="noStrike" cap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Riesgo</a:t>
                      </a:r>
                      <a:endParaRPr sz="1600" u="none" strike="noStrike" cap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Categoría</a:t>
                      </a:r>
                      <a:endParaRPr sz="1600" u="none" strike="noStrike" cap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Probabilidad</a:t>
                      </a:r>
                      <a:endParaRPr sz="1600" u="none" strike="noStrike" cap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Impacto</a:t>
                      </a:r>
                      <a:endParaRPr sz="1600" u="none" strike="noStrike" cap="non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683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Requerimientos Cambiantes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Proyecto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Falta de Experiencia en Tecnologías Nuevas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Producto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70%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Catastrófico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Problemas de Integración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Proyecto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75%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Falta de Recursos Humanos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Proyecto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70%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Cambio en las Tendencias del Mercado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Negocio/Empresa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80%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Fallos en la Seguridad del Producto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Producto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Rendimiento Inadecuado del Sistema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Producto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70%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Problemas de Escalabilidad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Producto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40%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800"/>
                        <a:buFont typeface="Roboto"/>
                        <a:buNone/>
                      </a:pPr>
                      <a:r>
                        <a:rPr lang="es-ES" sz="160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Moderado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Cambios en la Legislación Fiscal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Negocio/Empresa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40%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Problemas de Suministro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Negocio/Empresa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800"/>
                        <a:buFont typeface="Roboto"/>
                        <a:buNone/>
                      </a:pPr>
                      <a:r>
                        <a:rPr lang="es-ES" sz="160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931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FC7E8660-34FD-4C50-0542-6187390F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E156A8A-B17B-C54D-FACB-F253D82B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Análisis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CFD11B-69B4-AD66-E69C-EA4BDE9FF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E14D722C-588A-27FE-1080-48F23F0DC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8987E3B-EA19-AEFE-D96C-057847FD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34</a:t>
            </a:fld>
            <a:endParaRPr lang="es-ES"/>
          </a:p>
        </p:txBody>
      </p:sp>
      <p:sp>
        <p:nvSpPr>
          <p:cNvPr id="13" name="Google Shape;170;p5">
            <a:extLst>
              <a:ext uri="{FF2B5EF4-FFF2-40B4-BE49-F238E27FC236}">
                <a16:creationId xmlns:a16="http://schemas.microsoft.com/office/drawing/2014/main" id="{E23C1B38-CFAD-E1FC-2C1B-4134F300A7D7}"/>
              </a:ext>
            </a:extLst>
          </p:cNvPr>
          <p:cNvSpPr/>
          <p:nvPr/>
        </p:nvSpPr>
        <p:spPr>
          <a:xfrm>
            <a:off x="987325" y="2162975"/>
            <a:ext cx="10691327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546100" lvl="0" indent="-54610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Google Shape;563;p36">
            <a:extLst>
              <a:ext uri="{FF2B5EF4-FFF2-40B4-BE49-F238E27FC236}">
                <a16:creationId xmlns:a16="http://schemas.microsoft.com/office/drawing/2014/main" id="{DE2D3028-57D9-25EF-525A-4466E9E561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609155"/>
              </p:ext>
            </p:extLst>
          </p:nvPr>
        </p:nvGraphicFramePr>
        <p:xfrm>
          <a:off x="1922855" y="2204836"/>
          <a:ext cx="8346289" cy="4028171"/>
        </p:xfrm>
        <a:graphic>
          <a:graphicData uri="http://schemas.openxmlformats.org/drawingml/2006/table">
            <a:tbl>
              <a:tblPr>
                <a:noFill/>
                <a:tableStyleId>{3EF29E7D-9136-45D8-AAB8-1E4A301F7CE6}</a:tableStyleId>
              </a:tblPr>
              <a:tblGrid>
                <a:gridCol w="396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4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4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7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2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6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No.</a:t>
                      </a:r>
                      <a:endParaRPr sz="1600" u="none" strike="noStrike" cap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Riesgo</a:t>
                      </a:r>
                      <a:endParaRPr sz="1600" u="none" strike="noStrike" cap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Categoría</a:t>
                      </a:r>
                      <a:endParaRPr sz="1600" u="none" strike="noStrike" cap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Probabilidad</a:t>
                      </a:r>
                      <a:endParaRPr sz="1600" u="none" strike="noStrike" cap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Impacto</a:t>
                      </a:r>
                      <a:endParaRPr sz="1600" u="none" strike="noStrike" cap="non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9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Cambio en las Tendencias del Mercado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Negocio/Empresa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80%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28368"/>
                  </a:ext>
                </a:extLst>
              </a:tr>
              <a:tr h="3379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Problemas de Integración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Proyecto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75%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564105"/>
                  </a:ext>
                </a:extLst>
              </a:tr>
              <a:tr h="465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Falta de Experiencia en Tecnologías Nuevas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Producto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70%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Catastrófico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9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Falta de Recursos Humanos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Proyecto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70%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9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Rendimiento Inadecuado del Sistema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Producto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70%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549707"/>
                  </a:ext>
                </a:extLst>
              </a:tr>
              <a:tr h="3379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9683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Requerimientos Cambiantes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Proyecto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450634"/>
                  </a:ext>
                </a:extLst>
              </a:tr>
              <a:tr h="3379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Fallos en la Seguridad del Producto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Producto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9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Problemas de Suministro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Negocio/Empresa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800"/>
                        <a:buFont typeface="Roboto"/>
                        <a:buNone/>
                      </a:pPr>
                      <a:r>
                        <a:rPr lang="es-ES" sz="160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555475"/>
                  </a:ext>
                </a:extLst>
              </a:tr>
              <a:tr h="3379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u="none" strike="noStrike" cap="none" dirty="0">
                          <a:latin typeface="+mn-lt"/>
                        </a:rPr>
                        <a:t>9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Cambios en la Legislación Fiscal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Negocio/Empresa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40%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Serio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116965"/>
                  </a:ext>
                </a:extLst>
              </a:tr>
              <a:tr h="3379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Problemas de Escalabilidad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Producto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40%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800"/>
                        <a:buFont typeface="Roboto"/>
                        <a:buNone/>
                      </a:pPr>
                      <a:r>
                        <a:rPr lang="es-ES" sz="160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Moderado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Google Shape;170;p5">
            <a:extLst>
              <a:ext uri="{FF2B5EF4-FFF2-40B4-BE49-F238E27FC236}">
                <a16:creationId xmlns:a16="http://schemas.microsoft.com/office/drawing/2014/main" id="{7A5EC83E-DB99-573E-1F19-0AB7EAC94C13}"/>
              </a:ext>
            </a:extLst>
          </p:cNvPr>
          <p:cNvSpPr/>
          <p:nvPr/>
        </p:nvSpPr>
        <p:spPr>
          <a:xfrm>
            <a:off x="983406" y="1736725"/>
            <a:ext cx="10225188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546100" lvl="0" indent="-546100" algn="just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r>
              <a:rPr lang="es-E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Ordenamos la tabla por probabilidad / impacto y trazamos la línea de corte</a:t>
            </a:r>
          </a:p>
        </p:txBody>
      </p:sp>
      <p:cxnSp>
        <p:nvCxnSpPr>
          <p:cNvPr id="8" name="Google Shape;434;p22">
            <a:extLst>
              <a:ext uri="{FF2B5EF4-FFF2-40B4-BE49-F238E27FC236}">
                <a16:creationId xmlns:a16="http://schemas.microsoft.com/office/drawing/2014/main" id="{BF4D5E28-D101-B35C-6B83-E46B9EB62431}"/>
              </a:ext>
            </a:extLst>
          </p:cNvPr>
          <p:cNvCxnSpPr/>
          <p:nvPr/>
        </p:nvCxnSpPr>
        <p:spPr>
          <a:xfrm>
            <a:off x="1613640" y="4554536"/>
            <a:ext cx="8964720" cy="0"/>
          </a:xfrm>
          <a:prstGeom prst="straightConnector1">
            <a:avLst/>
          </a:prstGeom>
          <a:noFill/>
          <a:ln w="38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59863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>
          <a:extLst>
            <a:ext uri="{FF2B5EF4-FFF2-40B4-BE49-F238E27FC236}">
              <a16:creationId xmlns:a16="http://schemas.microsoft.com/office/drawing/2014/main" id="{B7ED5350-6CA1-EC2B-00D7-9422AA6BC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1">
            <a:extLst>
              <a:ext uri="{FF2B5EF4-FFF2-40B4-BE49-F238E27FC236}">
                <a16:creationId xmlns:a16="http://schemas.microsoft.com/office/drawing/2014/main" id="{00BAA8B0-AC7B-CB67-F9A7-32F6A6D157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 dirty="0"/>
              <a:t>Ejercicio de gestión de riesgos</a:t>
            </a:r>
            <a:endParaRPr dirty="0"/>
          </a:p>
        </p:txBody>
      </p:sp>
      <p:sp>
        <p:nvSpPr>
          <p:cNvPr id="532" name="Google Shape;532;p31">
            <a:extLst>
              <a:ext uri="{FF2B5EF4-FFF2-40B4-BE49-F238E27FC236}">
                <a16:creationId xmlns:a16="http://schemas.microsoft.com/office/drawing/2014/main" id="{09D57845-258F-69C2-EED0-4A63ECC4265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457200" algn="just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Font typeface="+mj-lt"/>
              <a:buAutoNum type="arabicPeriod" startAt="3"/>
            </a:pPr>
            <a:r>
              <a:rPr lang="es-ES" sz="2400" b="1" dirty="0">
                <a:solidFill>
                  <a:schemeClr val="tx1"/>
                </a:solidFill>
              </a:rPr>
              <a:t>Planeación de riesgos</a:t>
            </a:r>
          </a:p>
          <a:p>
            <a:pPr marL="0" lvl="0" indent="0" algn="just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ES" sz="2400" dirty="0"/>
              <a:t>¿Cuales son las estrategias de mitigación para cada uno de los riegos por encima de la línea de corte?</a:t>
            </a:r>
            <a:endParaRPr sz="2400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F9874B3-7586-C7C6-D141-ECD0F0622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Sistema de Gestión de Stock 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B1237E-48E2-CB7A-082F-B67F1E826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CA1F2599-E678-1301-FF14-CCBBF0D9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03A05BE-EB13-256B-537A-0B38462E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4080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B923B497-2984-CBE8-E104-E84B86D9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6462AFB-1E00-49B8-660D-77EDB2BA6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Planeación de riesgos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FF8D4F-01CA-380D-6112-AA41977CB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79712B7-43A7-1192-EC15-E8C3875E8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119335B-5125-7B86-B69A-B0DDE0BF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36</a:t>
            </a:fld>
            <a:endParaRPr lang="es-ES"/>
          </a:p>
        </p:txBody>
      </p:sp>
      <p:sp>
        <p:nvSpPr>
          <p:cNvPr id="13" name="Google Shape;170;p5">
            <a:extLst>
              <a:ext uri="{FF2B5EF4-FFF2-40B4-BE49-F238E27FC236}">
                <a16:creationId xmlns:a16="http://schemas.microsoft.com/office/drawing/2014/main" id="{A20B696B-E006-3485-51DB-431A29B0DE78}"/>
              </a:ext>
            </a:extLst>
          </p:cNvPr>
          <p:cNvSpPr/>
          <p:nvPr/>
        </p:nvSpPr>
        <p:spPr>
          <a:xfrm>
            <a:off x="987325" y="2162975"/>
            <a:ext cx="10691327" cy="2269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8075" tIns="59025" rIns="118075" bIns="59025" anchor="t" anchorCtr="0">
            <a:noAutofit/>
          </a:bodyPr>
          <a:lstStyle/>
          <a:p>
            <a:pPr marL="546100" lvl="0" indent="-54610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Noto Sans Symbols"/>
              <a:buChar char="❖"/>
            </a:pPr>
            <a:endParaRPr lang="es-ES" sz="3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Google Shape;563;p36">
            <a:extLst>
              <a:ext uri="{FF2B5EF4-FFF2-40B4-BE49-F238E27FC236}">
                <a16:creationId xmlns:a16="http://schemas.microsoft.com/office/drawing/2014/main" id="{A17AE9CE-3C02-4251-5490-23D6C825C1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1803280"/>
              </p:ext>
            </p:extLst>
          </p:nvPr>
        </p:nvGraphicFramePr>
        <p:xfrm>
          <a:off x="1025001" y="1913190"/>
          <a:ext cx="10202323" cy="4108334"/>
        </p:xfrm>
        <a:graphic>
          <a:graphicData uri="http://schemas.openxmlformats.org/drawingml/2006/table">
            <a:tbl>
              <a:tblPr>
                <a:noFill/>
                <a:tableStyleId>{3EF29E7D-9136-45D8-AAB8-1E4A301F7CE6}</a:tableStyleId>
              </a:tblPr>
              <a:tblGrid>
                <a:gridCol w="480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2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No.</a:t>
                      </a:r>
                      <a:endParaRPr sz="1600" u="none" strike="noStrike" cap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Riesgo</a:t>
                      </a:r>
                      <a:endParaRPr sz="1600" u="none" strike="noStrike" cap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Estrategias de Mitigación</a:t>
                      </a: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Cambio en las Tendencias del Mercado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Formar un equipo de inteligencia de mercado.  </a:t>
                      </a:r>
                    </a:p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Diseñar el producto de manera flexible.  </a:t>
                      </a:r>
                    </a:p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Diversificar la oferta de productos.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Problemas de Integración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Implementar pruebas continuas de integración. </a:t>
                      </a:r>
                    </a:p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Mantener una comunicación constante con propietarios de sistemas externos.</a:t>
                      </a:r>
                    </a:p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Designar un equipo dedicado para la gestión de la integración.</a:t>
                      </a: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 u="none" strike="noStrike" cap="none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Falta de Experiencia en Tecnologías Nuevas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Contratar o capacitar al personal con experiencia relevante.  </a:t>
                      </a:r>
                    </a:p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Realizar pruebas de concepto y prototipos. </a:t>
                      </a:r>
                    </a:p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Establecer colaboraciones con expertos externos.</a:t>
                      </a: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Falta de Recursos Humanos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Implementar una estrategia de adquisición temprana.</a:t>
                      </a:r>
                    </a:p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Desarrollar planes de contingencia.</a:t>
                      </a:r>
                    </a:p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Distribuir tareas críticas entre varios miembros del equipo.</a:t>
                      </a: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55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 typeface="Roboto"/>
                        <a:buNone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Rendimiento Inadecuado del Sistema</a:t>
                      </a:r>
                      <a:endParaRPr sz="1600" u="none" strike="noStrike" cap="none" dirty="0">
                        <a:latin typeface="+mn-lt"/>
                      </a:endParaRPr>
                    </a:p>
                  </a:txBody>
                  <a:tcPr marL="7850" marR="7850" marT="7850" marB="7850" anchor="ctr">
                    <a:lnL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Realizar pruebas de rendimiento exhaustivas.</a:t>
                      </a:r>
                    </a:p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Implementar herramientas de monitoreo continuo. </a:t>
                      </a:r>
                    </a:p>
                    <a:p>
                      <a:pPr marL="285750" marR="0" lvl="0" indent="-1889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400"/>
                        <a:buFontTx/>
                        <a:buChar char="-"/>
                      </a:pPr>
                      <a:r>
                        <a:rPr lang="es-ES" sz="1600" b="0" i="0" u="none" strike="noStrike" cap="none" dirty="0">
                          <a:solidFill>
                            <a:srgbClr val="0D0D0D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Mantener un enfoque proactivo en la optimización del código y la arquitectura.</a:t>
                      </a:r>
                    </a:p>
                  </a:txBody>
                  <a:tcPr marL="7850" marR="7850" marT="7850" marB="7850" anchor="ctr">
                    <a:lnL w="119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E3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3259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Naranja roj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Clase 1_Comunicacion_SRS.pptx" id="{F39401A9-85DB-4349-A76B-94D95506DA4C}" vid="{1FC3EF6D-30C9-4320-8FF3-A71339F5A8A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 Ingenieria de software 2</Template>
  <TotalTime>259</TotalTime>
  <Words>3128</Words>
  <Application>Microsoft Office PowerPoint</Application>
  <PresentationFormat>Panorámica</PresentationFormat>
  <Paragraphs>614</Paragraphs>
  <Slides>36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3" baseType="lpstr">
      <vt:lpstr>Wingdings</vt:lpstr>
      <vt:lpstr>Arial</vt:lpstr>
      <vt:lpstr>Calibri</vt:lpstr>
      <vt:lpstr>Noto Sans Symbols</vt:lpstr>
      <vt:lpstr>Times New Roman</vt:lpstr>
      <vt:lpstr>Roboto</vt:lpstr>
      <vt:lpstr>Retrospección</vt:lpstr>
      <vt:lpstr>Ingeniería de Software II</vt:lpstr>
      <vt:lpstr>Contenidos</vt:lpstr>
      <vt:lpstr>Riesgos</vt:lpstr>
      <vt:lpstr>Gestión de Riesgos</vt:lpstr>
      <vt:lpstr>Gestión de Riesgos en el Desarrollo de Software</vt:lpstr>
      <vt:lpstr>Gestión de Riesgos en el Desarrollo de Software</vt:lpstr>
      <vt:lpstr>Gestión de Riesgos - Estrategias</vt:lpstr>
      <vt:lpstr>Riesgos de Software</vt:lpstr>
      <vt:lpstr>Categorización de los riegos en el  Desarrollo de Software</vt:lpstr>
      <vt:lpstr>Tipos de Riesgos</vt:lpstr>
      <vt:lpstr>Gestión de Riesgos - Proceso</vt:lpstr>
      <vt:lpstr>1. Identificación de riegos</vt:lpstr>
      <vt:lpstr>1. Identificación de riegos</vt:lpstr>
      <vt:lpstr>1. Identificación de riegos</vt:lpstr>
      <vt:lpstr>Categorización de los riesgos</vt:lpstr>
      <vt:lpstr>2. Análisis de riesgos</vt:lpstr>
      <vt:lpstr>2. Análisis de riesgos</vt:lpstr>
      <vt:lpstr>2. Análisis de riesgos</vt:lpstr>
      <vt:lpstr>2. Análisis de riesgos</vt:lpstr>
      <vt:lpstr>2. Análisis de riesgos</vt:lpstr>
      <vt:lpstr>2. Análisis de riesgos - Ejemplo</vt:lpstr>
      <vt:lpstr>3. Planeación de riesgos</vt:lpstr>
      <vt:lpstr>3. Planeación de riesgos</vt:lpstr>
      <vt:lpstr>4. Supervisión de riesgos</vt:lpstr>
      <vt:lpstr>4. Supervisión de riesgos</vt:lpstr>
      <vt:lpstr>Ejercicio de gestión de riesgos</vt:lpstr>
      <vt:lpstr>Ejercicio de gestión de riesgos</vt:lpstr>
      <vt:lpstr>Ejercicio de gestión de riesgos</vt:lpstr>
      <vt:lpstr>1. Identificación de riesgos</vt:lpstr>
      <vt:lpstr>1. Identificación de riesgos</vt:lpstr>
      <vt:lpstr>1. Identificación de riesgos</vt:lpstr>
      <vt:lpstr>Ejercicio de gestión de riesgos</vt:lpstr>
      <vt:lpstr>2. Análisis de riesgos</vt:lpstr>
      <vt:lpstr>2. Análisis de riesgos</vt:lpstr>
      <vt:lpstr>Ejercicio de gestión de riesgos</vt:lpstr>
      <vt:lpstr>3. Planeación de riesgos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Alejandro Gonzalez</dc:creator>
  <cp:lastModifiedBy>Rocio Muñoz</cp:lastModifiedBy>
  <cp:revision>30</cp:revision>
  <dcterms:created xsi:type="dcterms:W3CDTF">2025-03-18T14:00:00Z</dcterms:created>
  <dcterms:modified xsi:type="dcterms:W3CDTF">2026-04-01T17:07:53Z</dcterms:modified>
</cp:coreProperties>
</file>